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309" r:id="rId35"/>
    <p:sldId id="290" r:id="rId36"/>
    <p:sldId id="291" r:id="rId37"/>
    <p:sldId id="292" r:id="rId38"/>
    <p:sldId id="308"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10"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1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zh-CN" altLang="en-US"/>
              <a:t>单击此处编辑母版标题样式</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12/15/2021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Content Placeholder 3"/>
          <p:cNvSpPr>
            <a:spLocks noGrp="1"/>
          </p:cNvSpPr>
          <p:nvPr>
            <p:ph sz="quarter" idx="13"/>
          </p:nvPr>
        </p:nvSpPr>
        <p:spPr>
          <a:xfrm>
            <a:off x="913774" y="3051012"/>
            <a:ext cx="5106027" cy="27401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3" name="Content Placeholder 5"/>
          <p:cNvSpPr>
            <a:spLocks noGrp="1"/>
          </p:cNvSpPr>
          <p:nvPr>
            <p:ph sz="quarter" idx="14"/>
          </p:nvPr>
        </p:nvSpPr>
        <p:spPr>
          <a:xfrm>
            <a:off x="6172200" y="3051012"/>
            <a:ext cx="5105401" cy="27401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12/15/2021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12/15/2021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zh-CN" altLang="en-US"/>
              <a:t>单击此处编辑母版标题样式</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12/15/2021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12/15/2021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12/15/2021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12/15/2021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12/15/2021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12/15/2021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48A87A34-81AB-432B-8DAE-1953F412C126}" type="datetimeFigureOut">
              <a:rPr lang="en-US" dirty="0"/>
              <a:t>12/15/2021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48A87A34-81AB-432B-8DAE-1953F412C126}" type="datetimeFigureOut">
              <a:rPr lang="en-US" dirty="0"/>
              <a:t>12/15/2021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zh-CN" altLang="en-US"/>
              <a:t>单击此处编辑母版标题样式</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srcRect/>
          <a:tile tx="0" ty="0" sx="100000" sy="100000" flip="none" algn="tl"/>
        </a:blip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solidFill>
            <a:srgbClr val="92D050"/>
          </a:solidFill>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12/15/2021</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E0619D58-E390-40D1-B42A-7C41488F0C55}"/>
              </a:ext>
            </a:extLst>
          </p:cNvPr>
          <p:cNvSpPr>
            <a:spLocks noGrp="1"/>
          </p:cNvSpPr>
          <p:nvPr>
            <p:ph type="ctrTitle"/>
          </p:nvPr>
        </p:nvSpPr>
        <p:spPr>
          <a:xfrm>
            <a:off x="1529070" y="1600201"/>
            <a:ext cx="8689976" cy="1144271"/>
          </a:xfrm>
        </p:spPr>
        <p:txBody>
          <a:bodyPr>
            <a:normAutofit/>
          </a:bodyPr>
          <a:lstStyle/>
          <a:p>
            <a:r>
              <a:rPr lang="zh-CN" altLang="en-US" sz="7200" dirty="0">
                <a:solidFill>
                  <a:srgbClr val="FF0000"/>
                </a:solidFill>
              </a:rPr>
              <a:t>第</a:t>
            </a:r>
            <a:r>
              <a:rPr lang="en-US" altLang="zh-CN" sz="7200" dirty="0">
                <a:solidFill>
                  <a:srgbClr val="FF0000"/>
                </a:solidFill>
              </a:rPr>
              <a:t>11</a:t>
            </a:r>
            <a:r>
              <a:rPr lang="zh-CN" altLang="en-US" sz="7200" dirty="0">
                <a:solidFill>
                  <a:srgbClr val="FF0000"/>
                </a:solidFill>
              </a:rPr>
              <a:t>章</a:t>
            </a:r>
          </a:p>
        </p:txBody>
      </p:sp>
      <p:sp>
        <p:nvSpPr>
          <p:cNvPr id="3" name="副标题 2">
            <a:extLst>
              <a:ext uri="{FF2B5EF4-FFF2-40B4-BE49-F238E27FC236}">
                <a16:creationId xmlns:a16="http://schemas.microsoft.com/office/drawing/2014/main" xmlns="" id="{1C007A0D-E130-4EB8-9614-55ED1FB8AA92}"/>
              </a:ext>
            </a:extLst>
          </p:cNvPr>
          <p:cNvSpPr>
            <a:spLocks noGrp="1"/>
          </p:cNvSpPr>
          <p:nvPr>
            <p:ph type="subTitle" idx="1"/>
          </p:nvPr>
        </p:nvSpPr>
        <p:spPr>
          <a:xfrm>
            <a:off x="1751012" y="2938510"/>
            <a:ext cx="8689976" cy="2319290"/>
          </a:xfrm>
        </p:spPr>
        <p:txBody>
          <a:bodyPr>
            <a:normAutofit/>
          </a:bodyPr>
          <a:lstStyle/>
          <a:p>
            <a:r>
              <a:rPr lang="zh-CN" altLang="en-US" sz="8800" dirty="0">
                <a:solidFill>
                  <a:srgbClr val="FF0000"/>
                </a:solidFill>
              </a:rPr>
              <a:t>彩色图像的处理</a:t>
            </a:r>
          </a:p>
        </p:txBody>
      </p:sp>
    </p:spTree>
    <p:extLst>
      <p:ext uri="{BB962C8B-B14F-4D97-AF65-F5344CB8AC3E}">
        <p14:creationId xmlns:p14="http://schemas.microsoft.com/office/powerpoint/2010/main" val="3210928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5FA2FC40-E584-4D55-8630-1F82D6387B7F}"/>
              </a:ext>
            </a:extLst>
          </p:cNvPr>
          <p:cNvSpPr>
            <a:spLocks noGrp="1"/>
          </p:cNvSpPr>
          <p:nvPr>
            <p:ph sz="quarter" idx="13"/>
          </p:nvPr>
        </p:nvSpPr>
        <p:spPr>
          <a:xfrm>
            <a:off x="649114" y="644084"/>
            <a:ext cx="11097401" cy="6454066"/>
          </a:xfrm>
        </p:spPr>
        <p:txBody>
          <a:bodyPr>
            <a:normAutofit fontScale="55000" lnSpcReduction="20000"/>
          </a:bodyPr>
          <a:lstStyle/>
          <a:p>
            <a:pPr marL="0" indent="468000">
              <a:lnSpc>
                <a:spcPct val="170000"/>
              </a:lnSpc>
              <a:buNone/>
            </a:pPr>
            <a:r>
              <a:rPr lang="zh-CN" altLang="en-US" sz="4600" b="1" dirty="0">
                <a:solidFill>
                  <a:srgbClr val="FF0000"/>
                </a:solidFill>
                <a:latin typeface="+mj-ea"/>
                <a:ea typeface="+mj-ea"/>
              </a:rPr>
              <a:t>彩色图像</a:t>
            </a:r>
            <a:r>
              <a:rPr lang="zh-CN" altLang="en-US" sz="4600" b="1" dirty="0">
                <a:latin typeface="+mj-ea"/>
                <a:ea typeface="+mj-ea"/>
              </a:rPr>
              <a:t>（</a:t>
            </a:r>
            <a:r>
              <a:rPr lang="en-US" altLang="zh-CN" sz="4600" b="1" dirty="0">
                <a:latin typeface="+mj-ea"/>
                <a:ea typeface="+mj-ea"/>
                <a:cs typeface="Times New Roman" panose="02020603050405020304" pitchFamily="18" charset="0"/>
              </a:rPr>
              <a:t>color image</a:t>
            </a:r>
            <a:r>
              <a:rPr lang="zh-CN" altLang="en-US" sz="4600" b="1" dirty="0">
                <a:latin typeface="+mj-ea"/>
                <a:ea typeface="+mj-ea"/>
              </a:rPr>
              <a:t>）直观的说对应我们周围彩色环境的感知（即人的视觉器官的感知）。从计算的角度，一幅彩色图像被看作一个向量函数（一般具有三个分量），设函数的范围是一个具有范数的向量空间，也称为</a:t>
            </a:r>
            <a:r>
              <a:rPr lang="zh-CN" altLang="en-US" sz="4600" b="1" dirty="0">
                <a:solidFill>
                  <a:srgbClr val="FF0000"/>
                </a:solidFill>
                <a:latin typeface="+mj-ea"/>
                <a:ea typeface="+mj-ea"/>
              </a:rPr>
              <a:t>彩色空间</a:t>
            </a:r>
            <a:r>
              <a:rPr lang="zh-CN" altLang="en-US" sz="4600" b="1" dirty="0">
                <a:latin typeface="+mj-ea"/>
                <a:ea typeface="+mj-ea"/>
              </a:rPr>
              <a:t>（</a:t>
            </a:r>
            <a:r>
              <a:rPr lang="en-US" altLang="zh-CN" sz="4600" b="1" dirty="0">
                <a:latin typeface="+mj-ea"/>
                <a:ea typeface="+mj-ea"/>
                <a:cs typeface="Times New Roman" panose="02020603050405020304" pitchFamily="18" charset="0"/>
              </a:rPr>
              <a:t>color space</a:t>
            </a:r>
            <a:r>
              <a:rPr lang="zh-CN" altLang="en-US" sz="4600" b="1" dirty="0">
                <a:latin typeface="+mj-ea"/>
                <a:ea typeface="+mj-ea"/>
              </a:rPr>
              <a:t>）。</a:t>
            </a:r>
          </a:p>
          <a:p>
            <a:pPr marL="0" indent="457200">
              <a:buNone/>
            </a:pPr>
            <a:r>
              <a:rPr lang="en-US" altLang="zh-CN" sz="4600" b="1" dirty="0" smtClean="0">
                <a:latin typeface="+mj-ea"/>
                <a:ea typeface="+mj-ea"/>
              </a:rPr>
              <a:t>1666</a:t>
            </a:r>
            <a:r>
              <a:rPr lang="zh-CN" altLang="en-US" sz="4600" b="1" dirty="0" smtClean="0">
                <a:latin typeface="+mj-ea"/>
                <a:ea typeface="+mj-ea"/>
              </a:rPr>
              <a:t>年牛顿</a:t>
            </a:r>
            <a:r>
              <a:rPr lang="zh-CN" altLang="en-US" sz="4600" b="1" dirty="0">
                <a:latin typeface="+mj-ea"/>
                <a:ea typeface="+mj-ea"/>
              </a:rPr>
              <a:t>发现了一个现象，当一束太阳光穿过一个玻璃棱镜时，出现的光束不是白色，而是由从一端为紫色到另一端为红色的连续彩色谱组成。</a:t>
            </a:r>
          </a:p>
          <a:p>
            <a:pPr marL="0" indent="457200">
              <a:buNone/>
            </a:pPr>
            <a:r>
              <a:rPr lang="zh-CN" altLang="en-US" sz="4600" b="1" dirty="0">
                <a:latin typeface="+mj-ea"/>
                <a:ea typeface="+mj-ea"/>
              </a:rPr>
              <a:t>彩色谱可分为六个宽的区域：</a:t>
            </a:r>
            <a:r>
              <a:rPr lang="zh-CN" altLang="en-US" sz="4600" b="1" dirty="0">
                <a:solidFill>
                  <a:srgbClr val="FF0000"/>
                </a:solidFill>
                <a:latin typeface="+mj-ea"/>
                <a:ea typeface="+mj-ea"/>
              </a:rPr>
              <a:t>紫色、蓝色、绿色、黄色、橘红色和红色</a:t>
            </a:r>
            <a:r>
              <a:rPr lang="zh-CN" altLang="en-US" sz="4600" b="1" dirty="0" smtClean="0">
                <a:latin typeface="+mj-ea"/>
                <a:ea typeface="+mj-ea"/>
              </a:rPr>
              <a:t>。</a:t>
            </a:r>
            <a:endParaRPr lang="en-US" altLang="zh-CN" sz="4600" b="1" dirty="0" smtClean="0">
              <a:latin typeface="+mj-ea"/>
              <a:ea typeface="+mj-ea"/>
            </a:endParaRPr>
          </a:p>
          <a:p>
            <a:pPr marL="0" indent="457200">
              <a:buNone/>
            </a:pPr>
            <a:r>
              <a:rPr lang="zh-CN" altLang="en-US" sz="4600" b="1" dirty="0" smtClean="0">
                <a:solidFill>
                  <a:srgbClr val="FF0000"/>
                </a:solidFill>
                <a:latin typeface="+mj-ea"/>
                <a:ea typeface="+mj-ea"/>
              </a:rPr>
              <a:t>彩色</a:t>
            </a:r>
            <a:r>
              <a:rPr lang="zh-CN" altLang="en-US" sz="4600" b="1" dirty="0">
                <a:solidFill>
                  <a:srgbClr val="FF0000"/>
                </a:solidFill>
                <a:latin typeface="+mj-ea"/>
                <a:ea typeface="+mj-ea"/>
              </a:rPr>
              <a:t>定义：</a:t>
            </a:r>
            <a:r>
              <a:rPr lang="zh-CN" altLang="en-US" sz="4600" b="1" dirty="0">
                <a:solidFill>
                  <a:srgbClr val="0033CC"/>
                </a:solidFill>
                <a:latin typeface="+mj-ea"/>
                <a:ea typeface="+mj-ea"/>
              </a:rPr>
              <a:t>彩色是物体的一种属性，它依赖于以下三个方面的因素。</a:t>
            </a:r>
          </a:p>
          <a:p>
            <a:pPr marL="0" indent="0">
              <a:buNone/>
            </a:pPr>
            <a:r>
              <a:rPr lang="zh-CN" altLang="en-US" sz="4600" b="1" dirty="0">
                <a:solidFill>
                  <a:srgbClr val="0033CC"/>
                </a:solidFill>
                <a:latin typeface="+mj-ea"/>
                <a:ea typeface="+mj-ea"/>
              </a:rPr>
              <a:t>（</a:t>
            </a:r>
            <a:r>
              <a:rPr lang="en-US" altLang="zh-CN" sz="4600" b="1" dirty="0">
                <a:solidFill>
                  <a:srgbClr val="0033CC"/>
                </a:solidFill>
                <a:latin typeface="+mj-ea"/>
                <a:ea typeface="+mj-ea"/>
              </a:rPr>
              <a:t>1</a:t>
            </a:r>
            <a:r>
              <a:rPr lang="zh-CN" altLang="en-US" sz="4600" b="1" dirty="0">
                <a:solidFill>
                  <a:srgbClr val="0033CC"/>
                </a:solidFill>
                <a:latin typeface="+mj-ea"/>
                <a:ea typeface="+mj-ea"/>
              </a:rPr>
              <a:t>）光源</a:t>
            </a:r>
            <a:r>
              <a:rPr lang="en-US" altLang="zh-CN" sz="4600" b="1" dirty="0">
                <a:solidFill>
                  <a:srgbClr val="0033CC"/>
                </a:solidFill>
                <a:latin typeface="+mj-ea"/>
                <a:ea typeface="+mj-ea"/>
              </a:rPr>
              <a:t>——</a:t>
            </a:r>
            <a:r>
              <a:rPr lang="zh-CN" altLang="en-US" sz="4600" b="1" dirty="0">
                <a:solidFill>
                  <a:srgbClr val="0033CC"/>
                </a:solidFill>
                <a:latin typeface="+mj-ea"/>
                <a:ea typeface="+mj-ea"/>
              </a:rPr>
              <a:t>照射光的谱性质或谱能量分布；</a:t>
            </a:r>
          </a:p>
          <a:p>
            <a:pPr marL="0" indent="0">
              <a:buNone/>
            </a:pPr>
            <a:r>
              <a:rPr lang="zh-CN" altLang="en-US" sz="4600" b="1" dirty="0">
                <a:solidFill>
                  <a:srgbClr val="0033CC"/>
                </a:solidFill>
                <a:latin typeface="+mj-ea"/>
                <a:ea typeface="+mj-ea"/>
              </a:rPr>
              <a:t>（</a:t>
            </a:r>
            <a:r>
              <a:rPr lang="en-US" altLang="zh-CN" sz="4600" b="1" dirty="0">
                <a:solidFill>
                  <a:srgbClr val="0033CC"/>
                </a:solidFill>
                <a:latin typeface="+mj-ea"/>
                <a:ea typeface="+mj-ea"/>
              </a:rPr>
              <a:t>2</a:t>
            </a:r>
            <a:r>
              <a:rPr lang="zh-CN" altLang="en-US" sz="4600" b="1" dirty="0">
                <a:solidFill>
                  <a:srgbClr val="0033CC"/>
                </a:solidFill>
                <a:latin typeface="+mj-ea"/>
                <a:ea typeface="+mj-ea"/>
              </a:rPr>
              <a:t>）物体</a:t>
            </a:r>
            <a:r>
              <a:rPr lang="en-US" altLang="zh-CN" sz="4600" b="1" dirty="0">
                <a:solidFill>
                  <a:srgbClr val="0033CC"/>
                </a:solidFill>
                <a:latin typeface="+mj-ea"/>
                <a:ea typeface="+mj-ea"/>
              </a:rPr>
              <a:t>——</a:t>
            </a:r>
            <a:r>
              <a:rPr lang="zh-CN" altLang="en-US" sz="4600" b="1" dirty="0">
                <a:solidFill>
                  <a:srgbClr val="0033CC"/>
                </a:solidFill>
                <a:latin typeface="+mj-ea"/>
                <a:ea typeface="+mj-ea"/>
              </a:rPr>
              <a:t>被照射物体的反射性质；</a:t>
            </a:r>
          </a:p>
          <a:p>
            <a:pPr marL="0" indent="0">
              <a:buNone/>
            </a:pPr>
            <a:r>
              <a:rPr lang="zh-CN" altLang="en-US" sz="4600" b="1" dirty="0">
                <a:solidFill>
                  <a:srgbClr val="0033CC"/>
                </a:solidFill>
                <a:latin typeface="+mj-ea"/>
                <a:ea typeface="+mj-ea"/>
              </a:rPr>
              <a:t>（</a:t>
            </a:r>
            <a:r>
              <a:rPr lang="en-US" altLang="zh-CN" sz="4600" b="1" dirty="0">
                <a:solidFill>
                  <a:srgbClr val="0033CC"/>
                </a:solidFill>
                <a:latin typeface="+mj-ea"/>
                <a:ea typeface="+mj-ea"/>
              </a:rPr>
              <a:t>3</a:t>
            </a:r>
            <a:r>
              <a:rPr lang="zh-CN" altLang="en-US" sz="4600" b="1" dirty="0">
                <a:solidFill>
                  <a:srgbClr val="0033CC"/>
                </a:solidFill>
                <a:latin typeface="+mj-ea"/>
                <a:ea typeface="+mj-ea"/>
              </a:rPr>
              <a:t>）成像接收器（眼睛或成像传感器）</a:t>
            </a:r>
            <a:r>
              <a:rPr lang="en-US" altLang="zh-CN" sz="4600" b="1" dirty="0">
                <a:solidFill>
                  <a:srgbClr val="0033CC"/>
                </a:solidFill>
                <a:latin typeface="+mj-ea"/>
                <a:ea typeface="+mj-ea"/>
              </a:rPr>
              <a:t>——</a:t>
            </a:r>
            <a:r>
              <a:rPr lang="zh-CN" altLang="en-US" sz="4600" b="1" dirty="0">
                <a:solidFill>
                  <a:srgbClr val="0033CC"/>
                </a:solidFill>
                <a:latin typeface="+mj-ea"/>
                <a:ea typeface="+mj-ea"/>
              </a:rPr>
              <a:t>光谱能量吸收性质。</a:t>
            </a:r>
          </a:p>
          <a:p>
            <a:pPr marL="0" indent="0">
              <a:buNone/>
            </a:pPr>
            <a:endParaRPr lang="zh-CN" altLang="en-US" dirty="0"/>
          </a:p>
        </p:txBody>
      </p:sp>
    </p:spTree>
    <p:extLst>
      <p:ext uri="{BB962C8B-B14F-4D97-AF65-F5344CB8AC3E}">
        <p14:creationId xmlns:p14="http://schemas.microsoft.com/office/powerpoint/2010/main" val="530517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FA67C1E-014F-46D4-B394-6254935A9E2E}"/>
              </a:ext>
            </a:extLst>
          </p:cNvPr>
          <p:cNvSpPr>
            <a:spLocks noGrp="1"/>
          </p:cNvSpPr>
          <p:nvPr>
            <p:ph type="title"/>
          </p:nvPr>
        </p:nvSpPr>
        <p:spPr>
          <a:xfrm>
            <a:off x="425503" y="148001"/>
            <a:ext cx="10364451" cy="739766"/>
          </a:xfrm>
        </p:spPr>
        <p:txBody>
          <a:bodyPr/>
          <a:lstStyle/>
          <a:p>
            <a:r>
              <a:rPr lang="en-US" altLang="zh-CN" b="1" dirty="0">
                <a:solidFill>
                  <a:srgbClr val="C00000"/>
                </a:solidFill>
              </a:rPr>
              <a:t>11.1 </a:t>
            </a:r>
            <a:r>
              <a:rPr lang="zh-CN" altLang="en-US" b="1" dirty="0">
                <a:solidFill>
                  <a:srgbClr val="C00000"/>
                </a:solidFill>
              </a:rPr>
              <a:t>彩色模型</a:t>
            </a:r>
          </a:p>
        </p:txBody>
      </p:sp>
      <p:sp>
        <p:nvSpPr>
          <p:cNvPr id="3" name="内容占位符 2">
            <a:extLst>
              <a:ext uri="{FF2B5EF4-FFF2-40B4-BE49-F238E27FC236}">
                <a16:creationId xmlns:a16="http://schemas.microsoft.com/office/drawing/2014/main" xmlns="" id="{60EC59F5-735C-4C33-B4EF-145EAF582AED}"/>
              </a:ext>
            </a:extLst>
          </p:cNvPr>
          <p:cNvSpPr>
            <a:spLocks noGrp="1"/>
          </p:cNvSpPr>
          <p:nvPr>
            <p:ph sz="quarter" idx="13"/>
          </p:nvPr>
        </p:nvSpPr>
        <p:spPr>
          <a:xfrm>
            <a:off x="691379" y="1206366"/>
            <a:ext cx="10609442" cy="5110458"/>
          </a:xfrm>
        </p:spPr>
        <p:txBody>
          <a:bodyPr>
            <a:normAutofit/>
          </a:bodyPr>
          <a:lstStyle/>
          <a:p>
            <a:pPr marL="0" indent="0">
              <a:buNone/>
            </a:pPr>
            <a:r>
              <a:rPr lang="zh-CN" altLang="en-US" sz="2400" b="1" dirty="0">
                <a:solidFill>
                  <a:srgbClr val="FF0000"/>
                </a:solidFill>
                <a:latin typeface="+mj-ea"/>
                <a:ea typeface="+mj-ea"/>
              </a:rPr>
              <a:t>彩色模型也称彩色空间或彩色系统</a:t>
            </a:r>
            <a:r>
              <a:rPr lang="zh-CN" altLang="en-US" sz="2400" b="1" dirty="0">
                <a:latin typeface="+mj-ea"/>
                <a:ea typeface="+mj-ea"/>
              </a:rPr>
              <a:t>，是用来精确标定和生成各种颜色的一套规则和定义，它的用途是在某些标准下用通常可接受的方式简化彩色规范</a:t>
            </a:r>
            <a:r>
              <a:rPr lang="zh-CN" altLang="en-US" sz="2400" b="1" dirty="0" smtClean="0">
                <a:latin typeface="+mj-ea"/>
                <a:ea typeface="+mj-ea"/>
              </a:rPr>
              <a:t>。</a:t>
            </a:r>
            <a:endParaRPr lang="en-US" altLang="zh-CN" sz="2400" b="1" dirty="0" smtClean="0">
              <a:latin typeface="+mj-ea"/>
              <a:ea typeface="+mj-ea"/>
            </a:endParaRPr>
          </a:p>
          <a:p>
            <a:pPr marL="0" indent="0">
              <a:buNone/>
            </a:pPr>
            <a:r>
              <a:rPr lang="zh-CN" altLang="en-US" sz="2400" b="1" dirty="0" smtClean="0">
                <a:latin typeface="+mj-ea"/>
                <a:ea typeface="+mj-ea"/>
              </a:rPr>
              <a:t>彩色</a:t>
            </a:r>
            <a:r>
              <a:rPr lang="zh-CN" altLang="en-US" sz="2400" b="1" dirty="0">
                <a:latin typeface="+mj-ea"/>
                <a:ea typeface="+mj-ea"/>
              </a:rPr>
              <a:t>模型通常可以采用坐标系统来描述，而位于系统中的每种颜色都可由坐标空间中的单个点来表示。</a:t>
            </a:r>
          </a:p>
          <a:p>
            <a:pPr marL="0" indent="0">
              <a:buNone/>
            </a:pPr>
            <a:r>
              <a:rPr lang="zh-CN" altLang="en-US" sz="2400" b="1" dirty="0" smtClean="0">
                <a:latin typeface="+mj-ea"/>
                <a:ea typeface="+mj-ea"/>
              </a:rPr>
              <a:t>在</a:t>
            </a:r>
            <a:r>
              <a:rPr lang="zh-CN" altLang="en-US" sz="2400" b="1" dirty="0">
                <a:latin typeface="+mj-ea"/>
                <a:ea typeface="+mj-ea"/>
              </a:rPr>
              <a:t>数字图像处理中，实际最通用的面向硬件的模型是</a:t>
            </a:r>
            <a:r>
              <a:rPr lang="en-US" altLang="zh-CN" sz="2400" b="1" dirty="0">
                <a:solidFill>
                  <a:srgbClr val="FF0000"/>
                </a:solidFill>
                <a:latin typeface="+mj-ea"/>
                <a:ea typeface="+mj-ea"/>
              </a:rPr>
              <a:t>RGB</a:t>
            </a:r>
            <a:r>
              <a:rPr lang="zh-CN" altLang="en-US" sz="2400" b="1" dirty="0">
                <a:solidFill>
                  <a:srgbClr val="FF0000"/>
                </a:solidFill>
                <a:latin typeface="+mj-ea"/>
                <a:ea typeface="+mj-ea"/>
              </a:rPr>
              <a:t>（红、绿、蓝）</a:t>
            </a:r>
            <a:r>
              <a:rPr lang="zh-CN" altLang="en-US" sz="2400" b="1" dirty="0">
                <a:latin typeface="+mj-ea"/>
                <a:ea typeface="+mj-ea"/>
              </a:rPr>
              <a:t>模型。该模型用于彩色监视器和一大类彩色视频摄像机。</a:t>
            </a:r>
            <a:r>
              <a:rPr lang="en-US" altLang="zh-CN" sz="2400" b="1" dirty="0">
                <a:solidFill>
                  <a:srgbClr val="FF0000"/>
                </a:solidFill>
                <a:latin typeface="+mj-ea"/>
                <a:ea typeface="+mj-ea"/>
              </a:rPr>
              <a:t>CMY</a:t>
            </a:r>
            <a:r>
              <a:rPr lang="zh-CN" altLang="en-US" sz="2400" b="1" dirty="0">
                <a:solidFill>
                  <a:srgbClr val="FF0000"/>
                </a:solidFill>
                <a:latin typeface="+mj-ea"/>
                <a:ea typeface="+mj-ea"/>
              </a:rPr>
              <a:t>（青、</a:t>
            </a:r>
            <a:r>
              <a:rPr lang="zh-CN" altLang="en-US" sz="2400" b="1" dirty="0" smtClean="0">
                <a:solidFill>
                  <a:srgbClr val="FF0000"/>
                </a:solidFill>
                <a:latin typeface="+mj-ea"/>
                <a:ea typeface="+mj-ea"/>
              </a:rPr>
              <a:t>品红、</a:t>
            </a:r>
            <a:r>
              <a:rPr lang="zh-CN" altLang="en-US" sz="2400" b="1" dirty="0">
                <a:solidFill>
                  <a:srgbClr val="FF0000"/>
                </a:solidFill>
                <a:latin typeface="+mj-ea"/>
                <a:ea typeface="+mj-ea"/>
              </a:rPr>
              <a:t>黄）</a:t>
            </a:r>
            <a:r>
              <a:rPr lang="zh-CN" altLang="en-US" sz="2400" b="1" dirty="0">
                <a:latin typeface="+mj-ea"/>
                <a:ea typeface="+mj-ea"/>
              </a:rPr>
              <a:t>、</a:t>
            </a:r>
            <a:r>
              <a:rPr lang="en-US" altLang="zh-CN" sz="2400" b="1" dirty="0">
                <a:solidFill>
                  <a:srgbClr val="FF0000"/>
                </a:solidFill>
                <a:latin typeface="+mj-ea"/>
                <a:ea typeface="+mj-ea"/>
              </a:rPr>
              <a:t>CMYK</a:t>
            </a:r>
            <a:r>
              <a:rPr lang="zh-CN" altLang="en-US" sz="2400" b="1" dirty="0">
                <a:solidFill>
                  <a:srgbClr val="FF0000"/>
                </a:solidFill>
                <a:latin typeface="+mj-ea"/>
                <a:ea typeface="+mj-ea"/>
              </a:rPr>
              <a:t>（青、</a:t>
            </a:r>
            <a:r>
              <a:rPr lang="zh-CN" altLang="en-US" sz="2400" b="1" dirty="0" smtClean="0">
                <a:solidFill>
                  <a:srgbClr val="FF0000"/>
                </a:solidFill>
                <a:latin typeface="+mj-ea"/>
                <a:ea typeface="+mj-ea"/>
              </a:rPr>
              <a:t>品红</a:t>
            </a:r>
            <a:r>
              <a:rPr lang="zh-CN" altLang="en-US" sz="2400" b="1" dirty="0">
                <a:solidFill>
                  <a:srgbClr val="FF0000"/>
                </a:solidFill>
                <a:latin typeface="+mj-ea"/>
                <a:ea typeface="+mj-ea"/>
              </a:rPr>
              <a:t>、黄、黑）</a:t>
            </a:r>
            <a:r>
              <a:rPr lang="zh-CN" altLang="en-US" sz="2400" b="1" dirty="0">
                <a:latin typeface="+mj-ea"/>
                <a:ea typeface="+mj-ea"/>
              </a:rPr>
              <a:t>模型是针对彩色打印机的。</a:t>
            </a:r>
            <a:r>
              <a:rPr lang="en-US" altLang="zh-CN" sz="2400" b="1" dirty="0">
                <a:solidFill>
                  <a:srgbClr val="FF0000"/>
                </a:solidFill>
                <a:latin typeface="+mj-ea"/>
                <a:ea typeface="+mj-ea"/>
              </a:rPr>
              <a:t>HSI</a:t>
            </a:r>
            <a:r>
              <a:rPr lang="zh-CN" altLang="en-US" sz="2400" b="1" dirty="0">
                <a:solidFill>
                  <a:srgbClr val="FF0000"/>
                </a:solidFill>
                <a:latin typeface="+mj-ea"/>
                <a:ea typeface="+mj-ea"/>
              </a:rPr>
              <a:t>（色调、饱和度、亮度）</a:t>
            </a:r>
            <a:r>
              <a:rPr lang="zh-CN" altLang="en-US" sz="2400" b="1" dirty="0">
                <a:latin typeface="+mj-ea"/>
                <a:ea typeface="+mj-ea"/>
              </a:rPr>
              <a:t>模型符合人类描述和解释颜色的方式。</a:t>
            </a:r>
            <a:r>
              <a:rPr lang="en-US" altLang="zh-CN" sz="2400" b="1" dirty="0">
                <a:latin typeface="+mj-ea"/>
                <a:ea typeface="+mj-ea"/>
              </a:rPr>
              <a:t>HSI</a:t>
            </a:r>
            <a:r>
              <a:rPr lang="zh-CN" altLang="en-US" sz="2400" b="1" dirty="0">
                <a:latin typeface="+mj-ea"/>
                <a:ea typeface="+mj-ea"/>
              </a:rPr>
              <a:t>模型还有一个优点，就是把图像分成彩色和灰度信息，这将更便于许多灰度处理技术的应用</a:t>
            </a:r>
            <a:r>
              <a:rPr lang="zh-CN" altLang="en-US" sz="2400" b="1" dirty="0" smtClean="0">
                <a:latin typeface="+mj-ea"/>
                <a:ea typeface="+mj-ea"/>
              </a:rPr>
              <a:t>。</a:t>
            </a:r>
            <a:endParaRPr lang="en-US" altLang="zh-CN" sz="2400" b="1" dirty="0" smtClean="0">
              <a:latin typeface="+mj-ea"/>
              <a:ea typeface="+mj-ea"/>
            </a:endParaRPr>
          </a:p>
          <a:p>
            <a:pPr marL="0" indent="0">
              <a:buNone/>
            </a:pPr>
            <a:r>
              <a:rPr lang="en-US" altLang="zh-CN" sz="2400" b="1" dirty="0" smtClean="0">
                <a:solidFill>
                  <a:srgbClr val="0033CC"/>
                </a:solidFill>
                <a:latin typeface="+mj-ea"/>
                <a:ea typeface="+mj-ea"/>
              </a:rPr>
              <a:t>CIE</a:t>
            </a:r>
            <a:r>
              <a:rPr lang="zh-CN" altLang="en-US" sz="2400" b="1" dirty="0">
                <a:solidFill>
                  <a:srgbClr val="0033CC"/>
                </a:solidFill>
                <a:latin typeface="+mj-ea"/>
                <a:ea typeface="+mj-ea"/>
              </a:rPr>
              <a:t>颜色空间（</a:t>
            </a:r>
            <a:r>
              <a:rPr lang="en-US" altLang="zh-CN" sz="2400" b="1" dirty="0">
                <a:solidFill>
                  <a:srgbClr val="0033CC"/>
                </a:solidFill>
                <a:latin typeface="+mj-ea"/>
                <a:ea typeface="+mj-ea"/>
              </a:rPr>
              <a:t>CIE Luv</a:t>
            </a:r>
            <a:r>
              <a:rPr lang="zh-CN" altLang="en-US" sz="2400" b="1" dirty="0">
                <a:solidFill>
                  <a:srgbClr val="0033CC"/>
                </a:solidFill>
                <a:latin typeface="+mj-ea"/>
                <a:ea typeface="+mj-ea"/>
              </a:rPr>
              <a:t>、</a:t>
            </a:r>
            <a:r>
              <a:rPr lang="en-US" altLang="zh-CN" sz="2400" b="1" dirty="0">
                <a:solidFill>
                  <a:srgbClr val="0033CC"/>
                </a:solidFill>
                <a:latin typeface="+mj-ea"/>
                <a:ea typeface="+mj-ea"/>
              </a:rPr>
              <a:t>CIE Lab</a:t>
            </a:r>
            <a:r>
              <a:rPr lang="zh-CN" altLang="en-US" sz="2400" b="1" dirty="0">
                <a:solidFill>
                  <a:srgbClr val="0033CC"/>
                </a:solidFill>
                <a:latin typeface="+mj-ea"/>
                <a:ea typeface="+mj-ea"/>
              </a:rPr>
              <a:t>）是另一种符合人类描述和解释颜色的方式</a:t>
            </a:r>
            <a:r>
              <a:rPr lang="zh-CN" altLang="en-US" sz="2400" b="1" dirty="0" smtClean="0">
                <a:solidFill>
                  <a:srgbClr val="0033CC"/>
                </a:solidFill>
                <a:latin typeface="+mj-ea"/>
                <a:ea typeface="+mj-ea"/>
              </a:rPr>
              <a:t>。</a:t>
            </a:r>
            <a:endParaRPr lang="en-US" altLang="zh-CN" sz="2400" b="1" dirty="0" smtClean="0">
              <a:solidFill>
                <a:srgbClr val="0033CC"/>
              </a:solidFill>
              <a:latin typeface="+mj-ea"/>
              <a:ea typeface="+mj-ea"/>
            </a:endParaRPr>
          </a:p>
        </p:txBody>
      </p:sp>
    </p:spTree>
    <p:extLst>
      <p:ext uri="{BB962C8B-B14F-4D97-AF65-F5344CB8AC3E}">
        <p14:creationId xmlns:p14="http://schemas.microsoft.com/office/powerpoint/2010/main" val="2974290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3CB2563-87D4-4085-B589-D49E3D18A642}"/>
              </a:ext>
            </a:extLst>
          </p:cNvPr>
          <p:cNvSpPr>
            <a:spLocks noGrp="1"/>
          </p:cNvSpPr>
          <p:nvPr>
            <p:ph type="title"/>
          </p:nvPr>
        </p:nvSpPr>
        <p:spPr>
          <a:xfrm>
            <a:off x="700711" y="245655"/>
            <a:ext cx="10364451" cy="713133"/>
          </a:xfrm>
        </p:spPr>
        <p:txBody>
          <a:bodyPr/>
          <a:lstStyle/>
          <a:p>
            <a:r>
              <a:rPr lang="en-US" altLang="zh-CN" b="1" dirty="0">
                <a:solidFill>
                  <a:srgbClr val="C00000"/>
                </a:solidFill>
              </a:rPr>
              <a:t>11.1.1 RGB</a:t>
            </a:r>
            <a:r>
              <a:rPr lang="zh-CN" altLang="en-US" b="1" dirty="0">
                <a:solidFill>
                  <a:srgbClr val="C00000"/>
                </a:solidFill>
              </a:rPr>
              <a:t>彩色模型</a:t>
            </a:r>
          </a:p>
        </p:txBody>
      </p:sp>
      <p:sp>
        <p:nvSpPr>
          <p:cNvPr id="3" name="内容占位符 2">
            <a:extLst>
              <a:ext uri="{FF2B5EF4-FFF2-40B4-BE49-F238E27FC236}">
                <a16:creationId xmlns:a16="http://schemas.microsoft.com/office/drawing/2014/main" xmlns="" id="{4639653F-1E08-4A60-AD81-E03107D24B6E}"/>
              </a:ext>
            </a:extLst>
          </p:cNvPr>
          <p:cNvSpPr>
            <a:spLocks noGrp="1"/>
          </p:cNvSpPr>
          <p:nvPr>
            <p:ph sz="quarter" idx="13"/>
          </p:nvPr>
        </p:nvSpPr>
        <p:spPr>
          <a:xfrm>
            <a:off x="559293" y="825624"/>
            <a:ext cx="10931996" cy="4965576"/>
          </a:xfrm>
        </p:spPr>
        <p:txBody>
          <a:bodyPr/>
          <a:lstStyle/>
          <a:p>
            <a:pPr marL="0" indent="0">
              <a:lnSpc>
                <a:spcPct val="100000"/>
              </a:lnSpc>
              <a:buNone/>
            </a:pPr>
            <a:r>
              <a:rPr lang="en-US" altLang="zh-CN" sz="2400" b="1" dirty="0">
                <a:solidFill>
                  <a:srgbClr val="FF0000"/>
                </a:solidFill>
                <a:latin typeface="+mn-ea"/>
              </a:rPr>
              <a:t>RGB</a:t>
            </a:r>
            <a:r>
              <a:rPr lang="zh-CN" altLang="en-US" sz="2400" b="1" dirty="0">
                <a:solidFill>
                  <a:srgbClr val="FF0000"/>
                </a:solidFill>
                <a:latin typeface="+mn-ea"/>
              </a:rPr>
              <a:t>彩色模型</a:t>
            </a:r>
            <a:r>
              <a:rPr lang="zh-CN" altLang="en-US" sz="2400" b="1" dirty="0">
                <a:latin typeface="+mn-ea"/>
              </a:rPr>
              <a:t>是工业界的一种颜色标准，是通过对红绿蓝三个颜色亮度的变化以及他们相互之间的叠加来得到各种各样的</a:t>
            </a:r>
            <a:r>
              <a:rPr lang="zh-CN" altLang="en-US" sz="2400" b="1" dirty="0" smtClean="0">
                <a:latin typeface="+mn-ea"/>
              </a:rPr>
              <a:t>颜色。</a:t>
            </a:r>
            <a:endParaRPr lang="zh-CN" altLang="en-US" sz="2400" b="1" dirty="0">
              <a:latin typeface="+mn-ea"/>
            </a:endParaRPr>
          </a:p>
          <a:p>
            <a:pPr marL="0" indent="0">
              <a:lnSpc>
                <a:spcPct val="100000"/>
              </a:lnSpc>
              <a:buNone/>
            </a:pPr>
            <a:r>
              <a:rPr lang="en-US" altLang="zh-CN" sz="2400" b="1" dirty="0">
                <a:latin typeface="+mn-ea"/>
              </a:rPr>
              <a:t>RGB</a:t>
            </a:r>
            <a:r>
              <a:rPr lang="zh-CN" altLang="en-US" sz="2400" b="1" dirty="0">
                <a:latin typeface="+mn-ea"/>
              </a:rPr>
              <a:t>彩色模型基于笛卡尔坐标系统，它的轴表示光的三种原色（</a:t>
            </a:r>
            <a:r>
              <a:rPr lang="en-US" altLang="zh-CN" sz="2400" b="1" dirty="0">
                <a:latin typeface="+mn-ea"/>
              </a:rPr>
              <a:t>R</a:t>
            </a:r>
            <a:r>
              <a:rPr lang="zh-CN" altLang="en-US" sz="2400" b="1" dirty="0">
                <a:latin typeface="+mn-ea"/>
              </a:rPr>
              <a:t>、</a:t>
            </a:r>
            <a:r>
              <a:rPr lang="en-US" altLang="zh-CN" sz="2400" b="1" dirty="0">
                <a:latin typeface="+mn-ea"/>
              </a:rPr>
              <a:t>G</a:t>
            </a:r>
            <a:r>
              <a:rPr lang="zh-CN" altLang="en-US" sz="2400" b="1" dirty="0">
                <a:latin typeface="+mn-ea"/>
              </a:rPr>
              <a:t>和</a:t>
            </a:r>
            <a:r>
              <a:rPr lang="en-US" altLang="zh-CN" sz="2400" b="1" dirty="0">
                <a:latin typeface="+mn-ea"/>
              </a:rPr>
              <a:t>B</a:t>
            </a:r>
            <a:r>
              <a:rPr lang="zh-CN" altLang="en-US" sz="2400" b="1" dirty="0">
                <a:latin typeface="+mn-ea"/>
              </a:rPr>
              <a:t>），一般将它们归一化到</a:t>
            </a:r>
            <a:r>
              <a:rPr lang="en-US" altLang="zh-CN" sz="2400" b="1" dirty="0">
                <a:latin typeface="+mn-ea"/>
              </a:rPr>
              <a:t>[0,1]</a:t>
            </a:r>
            <a:r>
              <a:rPr lang="zh-CN" altLang="en-US" sz="2400" b="1" dirty="0">
                <a:latin typeface="+mn-ea"/>
              </a:rPr>
              <a:t>范围，如图</a:t>
            </a:r>
            <a:r>
              <a:rPr lang="en-US" altLang="zh-CN" sz="2400" b="1" dirty="0">
                <a:latin typeface="+mn-ea"/>
              </a:rPr>
              <a:t>11-1(a)</a:t>
            </a:r>
            <a:r>
              <a:rPr lang="zh-CN" altLang="en-US" sz="2400" b="1" dirty="0">
                <a:latin typeface="+mn-ea"/>
              </a:rPr>
              <a:t>所示。所得到的立方体的</a:t>
            </a:r>
            <a:r>
              <a:rPr lang="en-US" altLang="zh-CN" sz="2400" b="1" dirty="0">
                <a:latin typeface="+mn-ea"/>
              </a:rPr>
              <a:t>8</a:t>
            </a:r>
            <a:r>
              <a:rPr lang="zh-CN" altLang="en-US" sz="2400" b="1" dirty="0">
                <a:latin typeface="+mn-ea"/>
              </a:rPr>
              <a:t>个顶点对应光的</a:t>
            </a:r>
            <a:r>
              <a:rPr lang="en-US" altLang="zh-CN" sz="2400" b="1" dirty="0">
                <a:latin typeface="+mn-ea"/>
              </a:rPr>
              <a:t>3</a:t>
            </a:r>
            <a:r>
              <a:rPr lang="zh-CN" altLang="en-US" sz="2400" b="1" dirty="0">
                <a:latin typeface="+mn-ea"/>
              </a:rPr>
              <a:t>种原色、</a:t>
            </a:r>
            <a:r>
              <a:rPr lang="en-US" altLang="zh-CN" sz="2400" b="1" dirty="0">
                <a:latin typeface="+mn-ea"/>
              </a:rPr>
              <a:t>3</a:t>
            </a:r>
            <a:r>
              <a:rPr lang="zh-CN" altLang="en-US" sz="2400" b="1" dirty="0">
                <a:latin typeface="+mn-ea"/>
              </a:rPr>
              <a:t>种二次色、纯白色和纯黑色。表</a:t>
            </a:r>
            <a:r>
              <a:rPr lang="en-US" altLang="zh-CN" sz="2400" b="1" dirty="0">
                <a:latin typeface="+mn-ea"/>
              </a:rPr>
              <a:t>11-1</a:t>
            </a:r>
            <a:r>
              <a:rPr lang="zh-CN" altLang="en-US" sz="2400" b="1" dirty="0">
                <a:latin typeface="+mn-ea"/>
              </a:rPr>
              <a:t>列出这</a:t>
            </a:r>
            <a:r>
              <a:rPr lang="en-US" altLang="zh-CN" sz="2400" b="1" dirty="0">
                <a:latin typeface="+mn-ea"/>
              </a:rPr>
              <a:t>8</a:t>
            </a:r>
            <a:r>
              <a:rPr lang="zh-CN" altLang="en-US" sz="2400" b="1" dirty="0">
                <a:latin typeface="+mn-ea"/>
              </a:rPr>
              <a:t>个顶点中每个顶点的</a:t>
            </a:r>
            <a:r>
              <a:rPr lang="en-US" altLang="zh-CN" sz="2400" b="1" dirty="0">
                <a:latin typeface="+mn-ea"/>
              </a:rPr>
              <a:t>R</a:t>
            </a:r>
            <a:r>
              <a:rPr lang="zh-CN" altLang="en-US" sz="2400" b="1" dirty="0">
                <a:latin typeface="+mn-ea"/>
              </a:rPr>
              <a:t>、</a:t>
            </a:r>
            <a:r>
              <a:rPr lang="en-US" altLang="zh-CN" sz="2400" b="1" dirty="0">
                <a:latin typeface="+mn-ea"/>
              </a:rPr>
              <a:t>G</a:t>
            </a:r>
            <a:r>
              <a:rPr lang="zh-CN" altLang="en-US" sz="2400" b="1" dirty="0">
                <a:latin typeface="+mn-ea"/>
              </a:rPr>
              <a:t>和</a:t>
            </a:r>
            <a:r>
              <a:rPr lang="en-US" altLang="zh-CN" sz="2400" b="1" dirty="0">
                <a:latin typeface="+mn-ea"/>
              </a:rPr>
              <a:t>B</a:t>
            </a:r>
            <a:r>
              <a:rPr lang="zh-CN" altLang="en-US" sz="2400" b="1" dirty="0">
                <a:latin typeface="+mn-ea"/>
              </a:rPr>
              <a:t>值。</a:t>
            </a:r>
          </a:p>
          <a:p>
            <a:pPr marL="0" indent="0">
              <a:buNone/>
            </a:pPr>
            <a:endParaRPr lang="zh-CN" altLang="en-US" dirty="0"/>
          </a:p>
        </p:txBody>
      </p:sp>
      <p:pic>
        <p:nvPicPr>
          <p:cNvPr id="4" name="图片 3">
            <a:extLst>
              <a:ext uri="{FF2B5EF4-FFF2-40B4-BE49-F238E27FC236}">
                <a16:creationId xmlns:a16="http://schemas.microsoft.com/office/drawing/2014/main" xmlns="" id="{387BBD7B-02EE-4A35-BF59-BC62BD2F0466}"/>
              </a:ext>
            </a:extLst>
          </p:cNvPr>
          <p:cNvPicPr>
            <a:picLocks noChangeAspect="1"/>
          </p:cNvPicPr>
          <p:nvPr/>
        </p:nvPicPr>
        <p:blipFill>
          <a:blip r:embed="rId2"/>
          <a:stretch>
            <a:fillRect/>
          </a:stretch>
        </p:blipFill>
        <p:spPr>
          <a:xfrm>
            <a:off x="1580606" y="3308412"/>
            <a:ext cx="2907417" cy="2244758"/>
          </a:xfrm>
          <a:prstGeom prst="rect">
            <a:avLst/>
          </a:prstGeom>
        </p:spPr>
      </p:pic>
      <p:sp>
        <p:nvSpPr>
          <p:cNvPr id="7" name="文本框 6">
            <a:extLst>
              <a:ext uri="{FF2B5EF4-FFF2-40B4-BE49-F238E27FC236}">
                <a16:creationId xmlns:a16="http://schemas.microsoft.com/office/drawing/2014/main" xmlns="" id="{E59A79A7-7DC7-4A68-AD1F-DDE14551D3A2}"/>
              </a:ext>
            </a:extLst>
          </p:cNvPr>
          <p:cNvSpPr txBox="1"/>
          <p:nvPr/>
        </p:nvSpPr>
        <p:spPr>
          <a:xfrm>
            <a:off x="1974942" y="5711853"/>
            <a:ext cx="1869060" cy="369332"/>
          </a:xfrm>
          <a:prstGeom prst="rect">
            <a:avLst/>
          </a:prstGeom>
          <a:noFill/>
        </p:spPr>
        <p:txBody>
          <a:bodyPr wrap="square">
            <a:spAutoFit/>
          </a:bodyPr>
          <a:lstStyle/>
          <a:p>
            <a:r>
              <a:rPr lang="en-US" altLang="zh-CN" dirty="0"/>
              <a:t>(a) RGB</a:t>
            </a:r>
            <a:r>
              <a:rPr lang="zh-CN" altLang="en-US" dirty="0"/>
              <a:t>彩色模型</a:t>
            </a:r>
          </a:p>
        </p:txBody>
      </p:sp>
      <p:sp>
        <p:nvSpPr>
          <p:cNvPr id="11" name="文本框 10">
            <a:extLst>
              <a:ext uri="{FF2B5EF4-FFF2-40B4-BE49-F238E27FC236}">
                <a16:creationId xmlns:a16="http://schemas.microsoft.com/office/drawing/2014/main" xmlns="" id="{6D980269-1A83-4B19-BCD9-98130988E964}"/>
              </a:ext>
            </a:extLst>
          </p:cNvPr>
          <p:cNvSpPr txBox="1"/>
          <p:nvPr/>
        </p:nvSpPr>
        <p:spPr>
          <a:xfrm>
            <a:off x="1316114" y="6001837"/>
            <a:ext cx="3406806" cy="369332"/>
          </a:xfrm>
          <a:prstGeom prst="rect">
            <a:avLst/>
          </a:prstGeom>
          <a:noFill/>
        </p:spPr>
        <p:txBody>
          <a:bodyPr wrap="square">
            <a:spAutoFit/>
          </a:bodyPr>
          <a:lstStyle/>
          <a:p>
            <a:r>
              <a:rPr lang="zh-CN" altLang="en-US" dirty="0"/>
              <a:t>图</a:t>
            </a:r>
            <a:r>
              <a:rPr lang="en-US" altLang="zh-CN" dirty="0"/>
              <a:t>11-1  RGB</a:t>
            </a:r>
            <a:r>
              <a:rPr lang="zh-CN" altLang="en-US" dirty="0"/>
              <a:t>彩色模型和立方体</a:t>
            </a:r>
          </a:p>
        </p:txBody>
      </p:sp>
      <p:pic>
        <p:nvPicPr>
          <p:cNvPr id="12" name="图片 11">
            <a:extLst>
              <a:ext uri="{FF2B5EF4-FFF2-40B4-BE49-F238E27FC236}">
                <a16:creationId xmlns:a16="http://schemas.microsoft.com/office/drawing/2014/main" xmlns="" id="{C9C21128-5A0B-49C3-8D5D-0FE74A00F763}"/>
              </a:ext>
            </a:extLst>
          </p:cNvPr>
          <p:cNvPicPr>
            <a:picLocks noChangeAspect="1"/>
          </p:cNvPicPr>
          <p:nvPr/>
        </p:nvPicPr>
        <p:blipFill>
          <a:blip r:embed="rId3"/>
          <a:stretch>
            <a:fillRect/>
          </a:stretch>
        </p:blipFill>
        <p:spPr>
          <a:xfrm>
            <a:off x="5838564" y="3480076"/>
            <a:ext cx="6092184" cy="2416443"/>
          </a:xfrm>
          <a:prstGeom prst="rect">
            <a:avLst/>
          </a:prstGeom>
          <a:solidFill>
            <a:srgbClr val="FFFF00"/>
          </a:solidFill>
        </p:spPr>
      </p:pic>
      <p:pic>
        <p:nvPicPr>
          <p:cNvPr id="14" name="图片 13">
            <a:extLst>
              <a:ext uri="{FF2B5EF4-FFF2-40B4-BE49-F238E27FC236}">
                <a16:creationId xmlns:a16="http://schemas.microsoft.com/office/drawing/2014/main" xmlns="" id="{8DE44F27-2DAC-4558-9EAD-CA418C3B1B01}"/>
              </a:ext>
            </a:extLst>
          </p:cNvPr>
          <p:cNvPicPr>
            <a:picLocks noChangeAspect="1"/>
          </p:cNvPicPr>
          <p:nvPr/>
        </p:nvPicPr>
        <p:blipFill>
          <a:blip r:embed="rId4"/>
          <a:stretch>
            <a:fillRect/>
          </a:stretch>
        </p:blipFill>
        <p:spPr>
          <a:xfrm>
            <a:off x="5838564" y="3122993"/>
            <a:ext cx="6092183" cy="357083"/>
          </a:xfrm>
          <a:prstGeom prst="rect">
            <a:avLst/>
          </a:prstGeom>
          <a:solidFill>
            <a:srgbClr val="FFFF00"/>
          </a:solidFill>
        </p:spPr>
      </p:pic>
    </p:spTree>
    <p:extLst>
      <p:ext uri="{BB962C8B-B14F-4D97-AF65-F5344CB8AC3E}">
        <p14:creationId xmlns:p14="http://schemas.microsoft.com/office/powerpoint/2010/main" val="3944116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927BD5AC-3D18-4135-923B-A95BADAEA4CF}"/>
                  </a:ext>
                </a:extLst>
              </p:cNvPr>
              <p:cNvSpPr>
                <a:spLocks noGrp="1"/>
              </p:cNvSpPr>
              <p:nvPr>
                <p:ph sz="quarter" idx="13"/>
              </p:nvPr>
            </p:nvSpPr>
            <p:spPr>
              <a:xfrm>
                <a:off x="1089325" y="977178"/>
                <a:ext cx="5610688" cy="3270476"/>
              </a:xfrm>
            </p:spPr>
            <p:txBody>
              <a:bodyPr>
                <a:noAutofit/>
              </a:bodyPr>
              <a:lstStyle/>
              <a:p>
                <a:pPr marL="0" indent="0" algn="just">
                  <a:buNone/>
                </a:pPr>
                <a:r>
                  <a:rPr lang="en-US" altLang="zh-CN" sz="2400" b="1" dirty="0">
                    <a:latin typeface="+mn-ea"/>
                  </a:rPr>
                  <a:t>RGB</a:t>
                </a:r>
                <a:r>
                  <a:rPr lang="zh-CN" altLang="en-US" sz="2400" b="1" dirty="0">
                    <a:latin typeface="+mn-ea"/>
                  </a:rPr>
                  <a:t>模型表示的图像由</a:t>
                </a:r>
                <a:r>
                  <a:rPr lang="en-US" altLang="zh-CN" sz="2400" b="1" dirty="0">
                    <a:latin typeface="+mn-ea"/>
                  </a:rPr>
                  <a:t>3</a:t>
                </a:r>
                <a:r>
                  <a:rPr lang="zh-CN" altLang="en-US" sz="2400" b="1" dirty="0">
                    <a:latin typeface="+mn-ea"/>
                  </a:rPr>
                  <a:t>个分量图像组成，每种原色一幅分量图像。当送入</a:t>
                </a:r>
                <a:r>
                  <a:rPr lang="en-US" altLang="zh-CN" sz="2400" b="1" dirty="0">
                    <a:latin typeface="+mn-ea"/>
                  </a:rPr>
                  <a:t>RGB</a:t>
                </a:r>
                <a:r>
                  <a:rPr lang="zh-CN" altLang="en-US" sz="2400" b="1" dirty="0">
                    <a:latin typeface="+mn-ea"/>
                  </a:rPr>
                  <a:t>监视器时，这</a:t>
                </a:r>
                <a:r>
                  <a:rPr lang="en-US" altLang="zh-CN" sz="2400" b="1" dirty="0">
                    <a:latin typeface="+mn-ea"/>
                  </a:rPr>
                  <a:t>3</a:t>
                </a:r>
                <a:r>
                  <a:rPr lang="zh-CN" altLang="en-US" sz="2400" b="1" dirty="0">
                    <a:latin typeface="+mn-ea"/>
                  </a:rPr>
                  <a:t>幅图像在屏幕上混合生成一幅合成的彩色图像</a:t>
                </a:r>
                <a:r>
                  <a:rPr lang="zh-CN" altLang="en-US" sz="2400" b="1" dirty="0" smtClean="0">
                    <a:latin typeface="+mn-ea"/>
                  </a:rPr>
                  <a:t>。</a:t>
                </a:r>
                <a:endParaRPr lang="en-US" altLang="zh-CN" sz="2400" b="1" dirty="0" smtClean="0">
                  <a:latin typeface="+mn-ea"/>
                </a:endParaRPr>
              </a:p>
              <a:p>
                <a:pPr marL="0" indent="0" algn="just">
                  <a:buNone/>
                </a:pPr>
                <a:r>
                  <a:rPr lang="zh-CN" altLang="en-US" sz="2400" b="1" dirty="0" smtClean="0">
                    <a:solidFill>
                      <a:srgbClr val="0033CC"/>
                    </a:solidFill>
                    <a:latin typeface="+mn-ea"/>
                  </a:rPr>
                  <a:t>一</a:t>
                </a:r>
                <a:r>
                  <a:rPr lang="zh-CN" altLang="en-US" sz="2400" b="1" dirty="0">
                    <a:solidFill>
                      <a:srgbClr val="0033CC"/>
                    </a:solidFill>
                    <a:latin typeface="+mn-ea"/>
                  </a:rPr>
                  <a:t>幅</a:t>
                </a:r>
                <a:r>
                  <a:rPr lang="en-US" altLang="zh-CN" sz="2400" b="1" dirty="0">
                    <a:solidFill>
                      <a:srgbClr val="0033CC"/>
                    </a:solidFill>
                    <a:latin typeface="+mn-ea"/>
                  </a:rPr>
                  <a:t>RGB</a:t>
                </a:r>
                <a:r>
                  <a:rPr lang="zh-CN" altLang="en-US" sz="2400" b="1" dirty="0">
                    <a:solidFill>
                      <a:srgbClr val="0033CC"/>
                    </a:solidFill>
                    <a:latin typeface="+mn-ea"/>
                  </a:rPr>
                  <a:t>图像，</a:t>
                </a:r>
                <a:r>
                  <a:rPr lang="zh-CN" altLang="en-US" sz="2400" b="1" dirty="0" smtClean="0">
                    <a:solidFill>
                      <a:srgbClr val="0033CC"/>
                    </a:solidFill>
                    <a:latin typeface="+mn-ea"/>
                  </a:rPr>
                  <a:t>其中红</a:t>
                </a:r>
                <a:r>
                  <a:rPr lang="zh-CN" altLang="en-US" sz="2400" b="1" dirty="0">
                    <a:solidFill>
                      <a:srgbClr val="0033CC"/>
                    </a:solidFill>
                    <a:latin typeface="+mn-ea"/>
                  </a:rPr>
                  <a:t>、绿、</a:t>
                </a:r>
                <a:r>
                  <a:rPr lang="zh-CN" altLang="en-US" sz="2400" b="1" dirty="0" smtClean="0">
                    <a:solidFill>
                      <a:srgbClr val="0033CC"/>
                    </a:solidFill>
                    <a:latin typeface="+mn-ea"/>
                  </a:rPr>
                  <a:t>蓝都是</a:t>
                </a:r>
                <a:r>
                  <a:rPr lang="zh-CN" altLang="en-US" sz="2400" b="1" dirty="0">
                    <a:solidFill>
                      <a:srgbClr val="0033CC"/>
                    </a:solidFill>
                    <a:latin typeface="+mn-ea"/>
                  </a:rPr>
                  <a:t>一幅</a:t>
                </a:r>
                <a:r>
                  <a:rPr lang="en-US" altLang="zh-CN" sz="2400" b="1" dirty="0">
                    <a:solidFill>
                      <a:srgbClr val="0033CC"/>
                    </a:solidFill>
                    <a:latin typeface="+mn-ea"/>
                  </a:rPr>
                  <a:t>8</a:t>
                </a:r>
                <a:r>
                  <a:rPr lang="zh-CN" altLang="en-US" sz="2400" b="1" dirty="0">
                    <a:solidFill>
                      <a:srgbClr val="0033CC"/>
                    </a:solidFill>
                    <a:latin typeface="+mn-ea"/>
                  </a:rPr>
                  <a:t>比特图像</a:t>
                </a:r>
                <a:r>
                  <a:rPr lang="zh-CN" altLang="en-US" sz="2400" b="1" dirty="0" smtClean="0">
                    <a:solidFill>
                      <a:srgbClr val="0033CC"/>
                    </a:solidFill>
                    <a:latin typeface="+mn-ea"/>
                  </a:rPr>
                  <a:t>。每个</a:t>
                </a:r>
                <a:r>
                  <a:rPr lang="en-US" altLang="zh-CN" sz="2400" b="1" dirty="0">
                    <a:solidFill>
                      <a:srgbClr val="0033CC"/>
                    </a:solidFill>
                    <a:latin typeface="+mn-ea"/>
                  </a:rPr>
                  <a:t>RGB</a:t>
                </a:r>
                <a:r>
                  <a:rPr lang="zh-CN" altLang="en-US" sz="2400" b="1" dirty="0">
                    <a:solidFill>
                      <a:srgbClr val="0033CC"/>
                    </a:solidFill>
                    <a:latin typeface="+mn-ea"/>
                  </a:rPr>
                  <a:t>彩色像素有</a:t>
                </a:r>
                <a:r>
                  <a:rPr lang="en-US" altLang="zh-CN" sz="2400" b="1" dirty="0">
                    <a:solidFill>
                      <a:srgbClr val="0033CC"/>
                    </a:solidFill>
                    <a:latin typeface="+mn-ea"/>
                  </a:rPr>
                  <a:t>24</a:t>
                </a:r>
                <a:r>
                  <a:rPr lang="zh-CN" altLang="en-US" sz="2400" b="1" dirty="0">
                    <a:solidFill>
                      <a:srgbClr val="0033CC"/>
                    </a:solidFill>
                    <a:latin typeface="+mn-ea"/>
                  </a:rPr>
                  <a:t>比特的深度（</a:t>
                </a:r>
                <a:r>
                  <a:rPr lang="en-US" altLang="zh-CN" sz="2400" b="1" dirty="0">
                    <a:solidFill>
                      <a:srgbClr val="0033CC"/>
                    </a:solidFill>
                    <a:latin typeface="+mn-ea"/>
                  </a:rPr>
                  <a:t>3</a:t>
                </a:r>
                <a:r>
                  <a:rPr lang="zh-CN" altLang="en-US" sz="2400" b="1" dirty="0">
                    <a:solidFill>
                      <a:srgbClr val="0033CC"/>
                    </a:solidFill>
                    <a:latin typeface="+mn-ea"/>
                  </a:rPr>
                  <a:t>个图像平面乘以每平面比特数，即</a:t>
                </a:r>
                <a:r>
                  <a:rPr lang="en-US" altLang="zh-CN" sz="2400" b="1" dirty="0">
                    <a:solidFill>
                      <a:srgbClr val="0033CC"/>
                    </a:solidFill>
                    <a:latin typeface="+mn-ea"/>
                  </a:rPr>
                  <a:t>3×8</a:t>
                </a:r>
                <a:r>
                  <a:rPr lang="zh-CN" altLang="en-US" sz="2400" b="1" dirty="0">
                    <a:solidFill>
                      <a:srgbClr val="0033CC"/>
                    </a:solidFill>
                    <a:latin typeface="+mn-ea"/>
                  </a:rPr>
                  <a:t>）。在</a:t>
                </a:r>
                <a:r>
                  <a:rPr lang="en-US" altLang="zh-CN" sz="2400" b="1" dirty="0">
                    <a:solidFill>
                      <a:srgbClr val="0033CC"/>
                    </a:solidFill>
                    <a:latin typeface="+mn-ea"/>
                  </a:rPr>
                  <a:t>24</a:t>
                </a:r>
                <a:r>
                  <a:rPr lang="zh-CN" altLang="en-US" sz="2400" b="1" dirty="0">
                    <a:solidFill>
                      <a:srgbClr val="0033CC"/>
                    </a:solidFill>
                    <a:latin typeface="+mn-ea"/>
                  </a:rPr>
                  <a:t>比特</a:t>
                </a:r>
                <a:r>
                  <a:rPr lang="en-US" altLang="zh-CN" sz="2400" b="1" dirty="0">
                    <a:solidFill>
                      <a:srgbClr val="0033CC"/>
                    </a:solidFill>
                    <a:latin typeface="+mn-ea"/>
                  </a:rPr>
                  <a:t>RGB</a:t>
                </a:r>
                <a:r>
                  <a:rPr lang="zh-CN" altLang="en-US" sz="2400" b="1" dirty="0">
                    <a:solidFill>
                      <a:srgbClr val="0033CC"/>
                    </a:solidFill>
                    <a:latin typeface="+mn-ea"/>
                  </a:rPr>
                  <a:t>图像中，颜色总数是</a:t>
                </a:r>
                <a14:m>
                  <m:oMath xmlns:m="http://schemas.openxmlformats.org/officeDocument/2006/math">
                    <m:sSup>
                      <m:sSupPr>
                        <m:ctrlPr>
                          <a:rPr lang="zh-CN" altLang="zh-CN" sz="2400" b="1" i="1" kern="0" smtClean="0">
                            <a:solidFill>
                              <a:srgbClr val="0033CC"/>
                            </a:solidFill>
                            <a:effectLst/>
                            <a:latin typeface="Cambria Math" panose="02040503050406030204" pitchFamily="18" charset="0"/>
                            <a:cs typeface="Arial" panose="020B0604020202020204" pitchFamily="34" charset="0"/>
                          </a:rPr>
                        </m:ctrlPr>
                      </m:sSupPr>
                      <m:e>
                        <m:r>
                          <a:rPr lang="en-US" altLang="zh-CN" sz="2400" b="1" i="1">
                            <a:solidFill>
                              <a:srgbClr val="0033CC"/>
                            </a:solidFill>
                            <a:effectLst/>
                            <a:latin typeface="Cambria Math" panose="02040503050406030204" pitchFamily="18" charset="0"/>
                            <a:cs typeface="Arial" panose="020B0604020202020204" pitchFamily="34" charset="0"/>
                          </a:rPr>
                          <m:t>(</m:t>
                        </m:r>
                        <m:sSup>
                          <m:sSupPr>
                            <m:ctrlPr>
                              <a:rPr lang="zh-CN" altLang="zh-CN" sz="2400" b="1" i="1" kern="0">
                                <a:solidFill>
                                  <a:srgbClr val="0033CC"/>
                                </a:solidFill>
                                <a:effectLst/>
                                <a:latin typeface="Cambria Math" panose="02040503050406030204" pitchFamily="18" charset="0"/>
                                <a:cs typeface="Arial" panose="020B0604020202020204" pitchFamily="34" charset="0"/>
                              </a:rPr>
                            </m:ctrlPr>
                          </m:sSupPr>
                          <m:e>
                            <m:r>
                              <a:rPr lang="en-US" altLang="zh-CN" sz="2400" b="1" i="1">
                                <a:solidFill>
                                  <a:srgbClr val="0033CC"/>
                                </a:solidFill>
                                <a:effectLst/>
                                <a:latin typeface="Cambria Math" panose="02040503050406030204" pitchFamily="18" charset="0"/>
                                <a:cs typeface="Arial" panose="020B0604020202020204" pitchFamily="34" charset="0"/>
                              </a:rPr>
                              <m:t>𝟐</m:t>
                            </m:r>
                          </m:e>
                          <m:sup>
                            <m:r>
                              <a:rPr lang="en-US" altLang="zh-CN" sz="2400" b="1" i="1">
                                <a:solidFill>
                                  <a:srgbClr val="0033CC"/>
                                </a:solidFill>
                                <a:effectLst/>
                                <a:latin typeface="Cambria Math" panose="02040503050406030204" pitchFamily="18" charset="0"/>
                                <a:cs typeface="Arial" panose="020B0604020202020204" pitchFamily="34" charset="0"/>
                              </a:rPr>
                              <m:t>𝟖</m:t>
                            </m:r>
                          </m:sup>
                        </m:sSup>
                        <m:r>
                          <a:rPr lang="en-US" altLang="zh-CN" sz="2400" b="1" i="1">
                            <a:solidFill>
                              <a:srgbClr val="0033CC"/>
                            </a:solidFill>
                            <a:effectLst/>
                            <a:latin typeface="Cambria Math" panose="02040503050406030204" pitchFamily="18" charset="0"/>
                            <a:cs typeface="Arial" panose="020B0604020202020204" pitchFamily="34" charset="0"/>
                          </a:rPr>
                          <m:t>)</m:t>
                        </m:r>
                      </m:e>
                      <m:sup>
                        <m:r>
                          <a:rPr lang="en-US" altLang="zh-CN" sz="2400" b="1" i="1">
                            <a:solidFill>
                              <a:srgbClr val="0033CC"/>
                            </a:solidFill>
                            <a:effectLst/>
                            <a:latin typeface="Cambria Math" panose="02040503050406030204" pitchFamily="18" charset="0"/>
                            <a:cs typeface="Arial" panose="020B0604020202020204" pitchFamily="34" charset="0"/>
                          </a:rPr>
                          <m:t>𝟑</m:t>
                        </m:r>
                      </m:sup>
                    </m:sSup>
                    <m:r>
                      <a:rPr lang="en-US" altLang="zh-CN" sz="2400" b="1" i="1">
                        <a:solidFill>
                          <a:srgbClr val="0033CC"/>
                        </a:solidFill>
                        <a:effectLst/>
                        <a:latin typeface="Cambria Math" panose="02040503050406030204" pitchFamily="18" charset="0"/>
                        <a:cs typeface="Arial" panose="020B0604020202020204" pitchFamily="34" charset="0"/>
                      </a:rPr>
                      <m:t>=</m:t>
                    </m:r>
                    <m:r>
                      <a:rPr lang="en-US" altLang="zh-CN" sz="2400" b="1" i="1">
                        <a:solidFill>
                          <a:srgbClr val="0033CC"/>
                        </a:solidFill>
                        <a:effectLst/>
                        <a:latin typeface="Cambria Math" panose="02040503050406030204" pitchFamily="18" charset="0"/>
                        <a:cs typeface="Arial" panose="020B0604020202020204" pitchFamily="34" charset="0"/>
                      </a:rPr>
                      <m:t>𝟏𝟔𝟕𝟕𝟕𝟐𝟏𝟔</m:t>
                    </m:r>
                  </m:oMath>
                </a14:m>
                <a:r>
                  <a:rPr lang="zh-CN" altLang="en-US" sz="2400" b="1" dirty="0" smtClean="0">
                    <a:solidFill>
                      <a:srgbClr val="0033CC"/>
                    </a:solidFill>
                    <a:latin typeface="+mn-ea"/>
                  </a:rPr>
                  <a:t>。</a:t>
                </a:r>
                <a:endParaRPr lang="en-US" altLang="zh-CN" sz="2400" b="1" dirty="0" smtClean="0">
                  <a:solidFill>
                    <a:srgbClr val="0033CC"/>
                  </a:solidFill>
                  <a:latin typeface="+mn-ea"/>
                </a:endParaRPr>
              </a:p>
              <a:p>
                <a:pPr marL="0" indent="0" algn="just">
                  <a:buNone/>
                </a:pPr>
                <a:r>
                  <a:rPr lang="zh-CN" altLang="en-US" sz="2400" b="1" dirty="0" smtClean="0">
                    <a:latin typeface="+mn-ea"/>
                  </a:rPr>
                  <a:t>图</a:t>
                </a:r>
                <a:r>
                  <a:rPr lang="en-US" altLang="zh-CN" sz="2400" b="1" dirty="0">
                    <a:latin typeface="+mn-ea"/>
                  </a:rPr>
                  <a:t>11-1(b)</a:t>
                </a:r>
                <a:r>
                  <a:rPr lang="zh-CN" altLang="en-US" sz="2400" b="1" dirty="0">
                    <a:latin typeface="+mn-ea"/>
                  </a:rPr>
                  <a:t>显示了与图</a:t>
                </a:r>
                <a:r>
                  <a:rPr lang="en-US" altLang="zh-CN" sz="2400" b="1" dirty="0">
                    <a:latin typeface="+mn-ea"/>
                  </a:rPr>
                  <a:t>11-1(a)</a:t>
                </a:r>
                <a:r>
                  <a:rPr lang="zh-CN" altLang="en-US" sz="2400" b="1" dirty="0">
                    <a:latin typeface="+mn-ea"/>
                  </a:rPr>
                  <a:t>相对应的</a:t>
                </a:r>
                <a:r>
                  <a:rPr lang="en-US" altLang="zh-CN" sz="2400" b="1" dirty="0">
                    <a:latin typeface="+mn-ea"/>
                  </a:rPr>
                  <a:t>24</a:t>
                </a:r>
                <a:r>
                  <a:rPr lang="zh-CN" altLang="en-US" sz="2400" b="1" dirty="0">
                    <a:latin typeface="+mn-ea"/>
                  </a:rPr>
                  <a:t>比特彩色立方体</a:t>
                </a:r>
                <a:r>
                  <a:rPr lang="zh-CN" altLang="en-US" sz="2400" b="1" dirty="0" smtClean="0">
                    <a:latin typeface="+mn-ea"/>
                  </a:rPr>
                  <a:t>。</a:t>
                </a:r>
                <a:endParaRPr lang="zh-CN" altLang="en-US" sz="2400" dirty="0"/>
              </a:p>
            </p:txBody>
          </p:sp>
        </mc:Choice>
        <mc:Fallback xmlns="">
          <p:sp>
            <p:nvSpPr>
              <p:cNvPr id="3" name="内容占位符 2">
                <a:extLst>
                  <a:ext uri="{FF2B5EF4-FFF2-40B4-BE49-F238E27FC236}">
                    <a16:creationId xmlns="" xmlns:a16="http://schemas.microsoft.com/office/drawing/2014/main" xmlns:a14="http://schemas.microsoft.com/office/drawing/2010/main" id="{927BD5AC-3D18-4135-923B-A95BADAEA4CF}"/>
                  </a:ext>
                </a:extLst>
              </p:cNvPr>
              <p:cNvSpPr>
                <a:spLocks noGrp="1" noRot="1" noChangeAspect="1" noMove="1" noResize="1" noEditPoints="1" noAdjustHandles="1" noChangeArrowheads="1" noChangeShapeType="1" noTextEdit="1"/>
              </p:cNvSpPr>
              <p:nvPr>
                <p:ph sz="quarter" idx="13"/>
              </p:nvPr>
            </p:nvSpPr>
            <p:spPr>
              <a:xfrm>
                <a:off x="1089325" y="977178"/>
                <a:ext cx="5610688" cy="3270476"/>
              </a:xfrm>
              <a:blipFill rotWithShape="0">
                <a:blip r:embed="rId2"/>
                <a:stretch>
                  <a:fillRect l="-1739" t="-1117" r="-7065" b="-60708"/>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xmlns="" id="{99221294-7D9B-4244-BCB6-750675491F94}"/>
              </a:ext>
            </a:extLst>
          </p:cNvPr>
          <p:cNvPicPr>
            <a:picLocks noChangeAspect="1"/>
          </p:cNvPicPr>
          <p:nvPr/>
        </p:nvPicPr>
        <p:blipFill>
          <a:blip r:embed="rId3"/>
          <a:stretch>
            <a:fillRect/>
          </a:stretch>
        </p:blipFill>
        <p:spPr>
          <a:xfrm>
            <a:off x="7255264" y="880872"/>
            <a:ext cx="3539981" cy="3170838"/>
          </a:xfrm>
          <a:prstGeom prst="rect">
            <a:avLst/>
          </a:prstGeom>
        </p:spPr>
      </p:pic>
      <p:sp>
        <p:nvSpPr>
          <p:cNvPr id="6" name="文本框 5">
            <a:extLst>
              <a:ext uri="{FF2B5EF4-FFF2-40B4-BE49-F238E27FC236}">
                <a16:creationId xmlns:a16="http://schemas.microsoft.com/office/drawing/2014/main" xmlns="" id="{56B7C13B-D05D-4612-9429-EE14B43B54ED}"/>
              </a:ext>
            </a:extLst>
          </p:cNvPr>
          <p:cNvSpPr txBox="1"/>
          <p:nvPr/>
        </p:nvSpPr>
        <p:spPr>
          <a:xfrm>
            <a:off x="7255264" y="4613715"/>
            <a:ext cx="3841812" cy="369332"/>
          </a:xfrm>
          <a:prstGeom prst="rect">
            <a:avLst/>
          </a:prstGeom>
          <a:noFill/>
        </p:spPr>
        <p:txBody>
          <a:bodyPr wrap="square">
            <a:spAutoFit/>
          </a:bodyPr>
          <a:lstStyle/>
          <a:p>
            <a:r>
              <a:rPr lang="zh-CN" altLang="en-US" dirty="0"/>
              <a:t>图</a:t>
            </a:r>
            <a:r>
              <a:rPr lang="en-US" altLang="zh-CN" dirty="0"/>
              <a:t>11-1  RGB</a:t>
            </a:r>
            <a:r>
              <a:rPr lang="zh-CN" altLang="en-US" dirty="0"/>
              <a:t>彩色模型和立方体</a:t>
            </a:r>
          </a:p>
        </p:txBody>
      </p:sp>
      <p:pic>
        <p:nvPicPr>
          <p:cNvPr id="7" name="图片 6">
            <a:extLst>
              <a:ext uri="{FF2B5EF4-FFF2-40B4-BE49-F238E27FC236}">
                <a16:creationId xmlns:a16="http://schemas.microsoft.com/office/drawing/2014/main" xmlns="" id="{2576274C-4357-4304-9735-14303FBFEB9F}"/>
              </a:ext>
            </a:extLst>
          </p:cNvPr>
          <p:cNvPicPr>
            <a:picLocks noChangeAspect="1"/>
          </p:cNvPicPr>
          <p:nvPr/>
        </p:nvPicPr>
        <p:blipFill>
          <a:blip r:embed="rId4"/>
          <a:stretch>
            <a:fillRect/>
          </a:stretch>
        </p:blipFill>
        <p:spPr>
          <a:xfrm>
            <a:off x="7561757" y="4073610"/>
            <a:ext cx="2164268" cy="518205"/>
          </a:xfrm>
          <a:prstGeom prst="rect">
            <a:avLst/>
          </a:prstGeom>
        </p:spPr>
      </p:pic>
    </p:spTree>
    <p:extLst>
      <p:ext uri="{BB962C8B-B14F-4D97-AF65-F5344CB8AC3E}">
        <p14:creationId xmlns:p14="http://schemas.microsoft.com/office/powerpoint/2010/main" val="3922652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E9F7C3B4-DA7A-4452-83F5-842CF679F5A5}"/>
              </a:ext>
            </a:extLst>
          </p:cNvPr>
          <p:cNvSpPr>
            <a:spLocks noGrp="1"/>
          </p:cNvSpPr>
          <p:nvPr>
            <p:ph type="title"/>
          </p:nvPr>
        </p:nvSpPr>
        <p:spPr>
          <a:xfrm>
            <a:off x="647445" y="247135"/>
            <a:ext cx="10364451" cy="819666"/>
          </a:xfrm>
        </p:spPr>
        <p:txBody>
          <a:bodyPr>
            <a:normAutofit/>
          </a:bodyPr>
          <a:lstStyle/>
          <a:p>
            <a:r>
              <a:rPr lang="en-US" altLang="zh-CN" sz="3200" b="1" dirty="0">
                <a:solidFill>
                  <a:srgbClr val="C00000"/>
                </a:solidFill>
              </a:rPr>
              <a:t>11.1.2 CMY</a:t>
            </a:r>
            <a:r>
              <a:rPr lang="zh-CN" altLang="en-US" sz="3200" b="1" dirty="0">
                <a:solidFill>
                  <a:srgbClr val="C00000"/>
                </a:solidFill>
              </a:rPr>
              <a:t>和</a:t>
            </a:r>
            <a:r>
              <a:rPr lang="en-US" altLang="zh-CN" sz="3200" b="1" dirty="0">
                <a:solidFill>
                  <a:srgbClr val="C00000"/>
                </a:solidFill>
              </a:rPr>
              <a:t>CMYK</a:t>
            </a:r>
            <a:r>
              <a:rPr lang="zh-CN" altLang="en-US" sz="3200" b="1" dirty="0">
                <a:solidFill>
                  <a:srgbClr val="C00000"/>
                </a:solidFill>
              </a:rPr>
              <a:t>彩色模型</a:t>
            </a:r>
          </a:p>
        </p:txBody>
      </p:sp>
      <p:sp>
        <p:nvSpPr>
          <p:cNvPr id="3" name="内容占位符 2">
            <a:extLst>
              <a:ext uri="{FF2B5EF4-FFF2-40B4-BE49-F238E27FC236}">
                <a16:creationId xmlns:a16="http://schemas.microsoft.com/office/drawing/2014/main" xmlns="" id="{BA0D2DA3-A7B7-4066-8C07-702E9A4E7C56}"/>
              </a:ext>
            </a:extLst>
          </p:cNvPr>
          <p:cNvSpPr>
            <a:spLocks noGrp="1"/>
          </p:cNvSpPr>
          <p:nvPr>
            <p:ph sz="quarter" idx="13"/>
          </p:nvPr>
        </p:nvSpPr>
        <p:spPr>
          <a:xfrm>
            <a:off x="908702" y="1191211"/>
            <a:ext cx="10363826" cy="4859044"/>
          </a:xfrm>
        </p:spPr>
        <p:txBody>
          <a:bodyPr>
            <a:normAutofit lnSpcReduction="10000"/>
          </a:bodyPr>
          <a:lstStyle/>
          <a:p>
            <a:pPr marL="0" indent="0">
              <a:buNone/>
            </a:pPr>
            <a:r>
              <a:rPr lang="en-US" altLang="zh-CN" sz="2400" b="1" dirty="0">
                <a:latin typeface="+mn-ea"/>
              </a:rPr>
              <a:t>CMY</a:t>
            </a:r>
            <a:r>
              <a:rPr lang="zh-CN" altLang="en-US" sz="2400" b="1" dirty="0">
                <a:latin typeface="+mn-ea"/>
              </a:rPr>
              <a:t>模型基于三种颜料的原色</a:t>
            </a:r>
            <a:r>
              <a:rPr lang="zh-CN" altLang="en-US" sz="2400" b="1" dirty="0">
                <a:solidFill>
                  <a:srgbClr val="FF0000"/>
                </a:solidFill>
                <a:latin typeface="+mn-ea"/>
              </a:rPr>
              <a:t>（蓝绿、品红和黄），</a:t>
            </a:r>
            <a:r>
              <a:rPr lang="zh-CN" altLang="en-US" sz="2400" b="1" dirty="0">
                <a:latin typeface="+mn-ea"/>
              </a:rPr>
              <a:t>它用于彩色打印机，其中每个原色常对应一种墨水（或墨粉）盒。因为相同数量的各个原色相加来产生黑色会得到不可接受的浑浊的黑色，所以实际中要加上</a:t>
            </a:r>
            <a:r>
              <a:rPr lang="zh-CN" altLang="en-US" sz="2400" b="1" dirty="0">
                <a:solidFill>
                  <a:srgbClr val="FF0000"/>
                </a:solidFill>
                <a:latin typeface="+mn-ea"/>
              </a:rPr>
              <a:t>第</a:t>
            </a:r>
            <a:r>
              <a:rPr lang="en-US" altLang="zh-CN" sz="2400" b="1" dirty="0">
                <a:solidFill>
                  <a:srgbClr val="FF0000"/>
                </a:solidFill>
                <a:latin typeface="+mn-ea"/>
              </a:rPr>
              <a:t>4</a:t>
            </a:r>
            <a:r>
              <a:rPr lang="zh-CN" altLang="en-US" sz="2400" b="1" dirty="0">
                <a:solidFill>
                  <a:srgbClr val="FF0000"/>
                </a:solidFill>
                <a:latin typeface="+mn-ea"/>
              </a:rPr>
              <a:t>种彩色</a:t>
            </a:r>
            <a:r>
              <a:rPr lang="en-US" altLang="zh-CN" sz="2400" b="1" dirty="0">
                <a:solidFill>
                  <a:srgbClr val="FF0000"/>
                </a:solidFill>
                <a:latin typeface="+mn-ea"/>
              </a:rPr>
              <a:t>K</a:t>
            </a:r>
            <a:r>
              <a:rPr lang="zh-CN" altLang="en-US" sz="2400" b="1" dirty="0">
                <a:solidFill>
                  <a:srgbClr val="FF0000"/>
                </a:solidFill>
                <a:latin typeface="+mn-ea"/>
              </a:rPr>
              <a:t>（黑色），</a:t>
            </a:r>
            <a:r>
              <a:rPr lang="zh-CN" altLang="en-US" sz="2400" b="1" dirty="0">
                <a:latin typeface="+mn-ea"/>
              </a:rPr>
              <a:t>这样的模型称为</a:t>
            </a:r>
            <a:r>
              <a:rPr lang="en-US" altLang="zh-CN" sz="2400" b="1" dirty="0">
                <a:solidFill>
                  <a:srgbClr val="FF0000"/>
                </a:solidFill>
                <a:latin typeface="+mn-ea"/>
              </a:rPr>
              <a:t>CMYK</a:t>
            </a:r>
            <a:r>
              <a:rPr lang="zh-CN" altLang="en-US" sz="2400" b="1" dirty="0">
                <a:solidFill>
                  <a:srgbClr val="FF0000"/>
                </a:solidFill>
                <a:latin typeface="+mn-ea"/>
              </a:rPr>
              <a:t>模型</a:t>
            </a:r>
            <a:r>
              <a:rPr lang="zh-CN" altLang="en-US" sz="2400" b="1" dirty="0">
                <a:latin typeface="+mn-ea"/>
              </a:rPr>
              <a:t>。</a:t>
            </a:r>
          </a:p>
          <a:p>
            <a:pPr marL="0" indent="0">
              <a:buNone/>
            </a:pPr>
            <a:r>
              <a:rPr lang="zh-CN" altLang="en-US" sz="2400" b="1" dirty="0">
                <a:latin typeface="+mn-ea"/>
              </a:rPr>
              <a:t>其实，</a:t>
            </a:r>
            <a:r>
              <a:rPr lang="en-US" altLang="zh-CN" sz="2400" b="1" dirty="0">
                <a:latin typeface="+mn-ea"/>
              </a:rPr>
              <a:t>CMY</a:t>
            </a:r>
            <a:r>
              <a:rPr lang="zh-CN" altLang="en-US" sz="2400" b="1" dirty="0">
                <a:latin typeface="+mn-ea"/>
              </a:rPr>
              <a:t>值可以很容易通过</a:t>
            </a:r>
            <a:r>
              <a:rPr lang="en-US" altLang="zh-CN" sz="2400" b="1" dirty="0">
                <a:latin typeface="+mn-ea"/>
              </a:rPr>
              <a:t>1</a:t>
            </a:r>
            <a:r>
              <a:rPr lang="zh-CN" altLang="en-US" sz="2400" b="1" dirty="0">
                <a:latin typeface="+mn-ea"/>
              </a:rPr>
              <a:t>减去</a:t>
            </a:r>
            <a:r>
              <a:rPr lang="en-US" altLang="zh-CN" sz="2400" b="1" dirty="0">
                <a:latin typeface="+mn-ea"/>
              </a:rPr>
              <a:t>RGB</a:t>
            </a:r>
            <a:r>
              <a:rPr lang="zh-CN" altLang="en-US" sz="2400" b="1" dirty="0">
                <a:latin typeface="+mn-ea"/>
              </a:rPr>
              <a:t>值得到。即：</a:t>
            </a:r>
            <a:endParaRPr lang="en-US" altLang="zh-CN" sz="2400" b="1" dirty="0">
              <a:latin typeface="+mn-ea"/>
            </a:endParaRPr>
          </a:p>
          <a:p>
            <a:pPr marL="0" indent="0">
              <a:buNone/>
            </a:pPr>
            <a:r>
              <a:rPr lang="en-US" altLang="zh-CN" sz="2400" b="1" dirty="0">
                <a:latin typeface="+mn-ea"/>
              </a:rPr>
              <a:t>                                                                                              </a:t>
            </a:r>
          </a:p>
          <a:p>
            <a:pPr marL="0" indent="0">
              <a:buNone/>
            </a:pPr>
            <a:endParaRPr lang="en-US" altLang="zh-CN" sz="2400" b="1" dirty="0">
              <a:latin typeface="+mn-ea"/>
            </a:endParaRPr>
          </a:p>
          <a:p>
            <a:pPr marL="0" indent="0">
              <a:buNone/>
            </a:pPr>
            <a:endParaRPr lang="en-US" altLang="zh-CN" sz="2400" b="1" dirty="0">
              <a:latin typeface="+mn-ea"/>
            </a:endParaRPr>
          </a:p>
          <a:p>
            <a:pPr marL="0" indent="0">
              <a:buNone/>
            </a:pPr>
            <a:r>
              <a:rPr lang="zh-CN" altLang="en-US" sz="2400" b="1" dirty="0">
                <a:latin typeface="+mn-ea"/>
              </a:rPr>
              <a:t>在实际图像处理中，这种彩色模型主要用于产生硬拷贝输出，因此从</a:t>
            </a:r>
            <a:r>
              <a:rPr lang="en-US" altLang="zh-CN" sz="2400" b="1" dirty="0">
                <a:latin typeface="+mn-ea"/>
              </a:rPr>
              <a:t>CMY</a:t>
            </a:r>
            <a:r>
              <a:rPr lang="zh-CN" altLang="en-US" sz="2400" b="1" dirty="0">
                <a:latin typeface="+mn-ea"/>
              </a:rPr>
              <a:t>到</a:t>
            </a:r>
            <a:r>
              <a:rPr lang="en-US" altLang="zh-CN" sz="2400" b="1" dirty="0">
                <a:latin typeface="+mn-ea"/>
              </a:rPr>
              <a:t>RGB</a:t>
            </a:r>
            <a:r>
              <a:rPr lang="zh-CN" altLang="en-US" sz="2400" b="1" dirty="0">
                <a:latin typeface="+mn-ea"/>
              </a:rPr>
              <a:t>的反向操作通常没有实际意义。</a:t>
            </a:r>
          </a:p>
          <a:p>
            <a:pPr marL="0" indent="0">
              <a:buNone/>
            </a:pPr>
            <a:endParaRPr lang="zh-CN" altLang="en-US" dirty="0"/>
          </a:p>
        </p:txBody>
      </p:sp>
      <p:pic>
        <p:nvPicPr>
          <p:cNvPr id="5" name="图片 4">
            <a:extLst>
              <a:ext uri="{FF2B5EF4-FFF2-40B4-BE49-F238E27FC236}">
                <a16:creationId xmlns:a16="http://schemas.microsoft.com/office/drawing/2014/main" xmlns="" id="{795DAB24-BF54-4D70-8F18-3F8992838DA8}"/>
              </a:ext>
            </a:extLst>
          </p:cNvPr>
          <p:cNvPicPr>
            <a:picLocks noChangeAspect="1"/>
          </p:cNvPicPr>
          <p:nvPr/>
        </p:nvPicPr>
        <p:blipFill>
          <a:blip r:embed="rId2"/>
          <a:stretch>
            <a:fillRect/>
          </a:stretch>
        </p:blipFill>
        <p:spPr>
          <a:xfrm>
            <a:off x="1571348" y="3218553"/>
            <a:ext cx="7466120" cy="1353445"/>
          </a:xfrm>
          <a:prstGeom prst="rect">
            <a:avLst/>
          </a:prstGeom>
        </p:spPr>
      </p:pic>
    </p:spTree>
    <p:extLst>
      <p:ext uri="{BB962C8B-B14F-4D97-AF65-F5344CB8AC3E}">
        <p14:creationId xmlns:p14="http://schemas.microsoft.com/office/powerpoint/2010/main" val="3307678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5AA20B1C-0731-4252-AFD5-81389FF3B60B}"/>
              </a:ext>
            </a:extLst>
          </p:cNvPr>
          <p:cNvSpPr>
            <a:spLocks noGrp="1"/>
          </p:cNvSpPr>
          <p:nvPr>
            <p:ph sz="quarter" idx="13"/>
          </p:nvPr>
        </p:nvSpPr>
        <p:spPr>
          <a:xfrm>
            <a:off x="1016724" y="829882"/>
            <a:ext cx="10363826" cy="5285172"/>
          </a:xfrm>
        </p:spPr>
        <p:txBody>
          <a:bodyPr>
            <a:normAutofit/>
          </a:bodyPr>
          <a:lstStyle/>
          <a:p>
            <a:pPr marL="0" indent="0">
              <a:buNone/>
            </a:pPr>
            <a:r>
              <a:rPr lang="en-US" altLang="zh-CN" sz="2400" b="1" dirty="0">
                <a:solidFill>
                  <a:srgbClr val="FF0000"/>
                </a:solidFill>
                <a:latin typeface="+mn-ea"/>
                <a:cs typeface="Times New Roman" panose="02020603050405020304" pitchFamily="18" charset="0"/>
              </a:rPr>
              <a:t>CMYK(Cyan, </a:t>
            </a:r>
            <a:r>
              <a:rPr lang="en-US" altLang="zh-CN" sz="2400" b="1" dirty="0" err="1">
                <a:solidFill>
                  <a:srgbClr val="FF0000"/>
                </a:solidFill>
                <a:latin typeface="+mn-ea"/>
                <a:cs typeface="Times New Roman" panose="02020603050405020304" pitchFamily="18" charset="0"/>
              </a:rPr>
              <a:t>Magenta,Yellow</a:t>
            </a:r>
            <a:r>
              <a:rPr lang="en-US" altLang="zh-CN" sz="2400" b="1" dirty="0">
                <a:solidFill>
                  <a:srgbClr val="FF0000"/>
                </a:solidFill>
                <a:latin typeface="+mn-ea"/>
                <a:cs typeface="Times New Roman" panose="02020603050405020304" pitchFamily="18" charset="0"/>
              </a:rPr>
              <a:t>, </a:t>
            </a:r>
            <a:r>
              <a:rPr lang="en-US" altLang="zh-CN" sz="2400" b="1" dirty="0" err="1">
                <a:solidFill>
                  <a:srgbClr val="FF0000"/>
                </a:solidFill>
                <a:latin typeface="+mn-ea"/>
                <a:cs typeface="Times New Roman" panose="02020603050405020304" pitchFamily="18" charset="0"/>
              </a:rPr>
              <a:t>blacK</a:t>
            </a:r>
            <a:r>
              <a:rPr lang="en-US" altLang="zh-CN" sz="2400" b="1" dirty="0">
                <a:solidFill>
                  <a:srgbClr val="FF0000"/>
                </a:solidFill>
                <a:latin typeface="+mn-ea"/>
                <a:cs typeface="Times New Roman" panose="02020603050405020304" pitchFamily="18" charset="0"/>
              </a:rPr>
              <a:t>)</a:t>
            </a:r>
            <a:r>
              <a:rPr lang="zh-CN" altLang="en-US" sz="2400" b="1" dirty="0">
                <a:solidFill>
                  <a:srgbClr val="FF0000"/>
                </a:solidFill>
                <a:latin typeface="+mn-ea"/>
              </a:rPr>
              <a:t>颜色空间</a:t>
            </a:r>
            <a:r>
              <a:rPr lang="zh-CN" altLang="en-US" sz="2400" b="1" dirty="0">
                <a:latin typeface="+mn-ea"/>
              </a:rPr>
              <a:t>应用于印刷工业</a:t>
            </a:r>
            <a:r>
              <a:rPr lang="en-US" altLang="zh-CN" sz="2400" b="1" dirty="0">
                <a:latin typeface="+mn-ea"/>
              </a:rPr>
              <a:t>,</a:t>
            </a:r>
            <a:r>
              <a:rPr lang="zh-CN" altLang="en-US" sz="2400" b="1" dirty="0">
                <a:latin typeface="+mn-ea"/>
              </a:rPr>
              <a:t>印刷业通过青</a:t>
            </a:r>
            <a:r>
              <a:rPr lang="en-US" altLang="zh-CN" sz="2400" b="1" dirty="0">
                <a:latin typeface="+mn-ea"/>
              </a:rPr>
              <a:t>(C)</a:t>
            </a:r>
            <a:r>
              <a:rPr lang="zh-CN" altLang="en-US" sz="2400" b="1" dirty="0">
                <a:latin typeface="+mn-ea"/>
              </a:rPr>
              <a:t>、品</a:t>
            </a:r>
            <a:r>
              <a:rPr lang="en-US" altLang="zh-CN" sz="2400" b="1" dirty="0">
                <a:latin typeface="+mn-ea"/>
              </a:rPr>
              <a:t>(M)</a:t>
            </a:r>
            <a:r>
              <a:rPr lang="zh-CN" altLang="en-US" sz="2400" b="1" dirty="0">
                <a:latin typeface="+mn-ea"/>
              </a:rPr>
              <a:t>、黄</a:t>
            </a:r>
            <a:r>
              <a:rPr lang="en-US" altLang="zh-CN" sz="2400" b="1" dirty="0">
                <a:latin typeface="+mn-ea"/>
              </a:rPr>
              <a:t>(Y)</a:t>
            </a:r>
            <a:r>
              <a:rPr lang="zh-CN" altLang="en-US" sz="2400" b="1" dirty="0">
                <a:latin typeface="+mn-ea"/>
              </a:rPr>
              <a:t>三原色油墨的不同，网点面积率的叠印来表现丰富多彩的颜色和阶调，这便是三原色的</a:t>
            </a:r>
            <a:r>
              <a:rPr lang="en-US" altLang="zh-CN" sz="2400" b="1" dirty="0">
                <a:latin typeface="+mn-ea"/>
              </a:rPr>
              <a:t>CMY</a:t>
            </a:r>
            <a:r>
              <a:rPr lang="zh-CN" altLang="en-US" sz="2400" b="1" dirty="0">
                <a:latin typeface="+mn-ea"/>
              </a:rPr>
              <a:t>颜色空间</a:t>
            </a:r>
            <a:r>
              <a:rPr lang="zh-CN" altLang="en-US" sz="2400" b="1" dirty="0" smtClean="0">
                <a:latin typeface="+mn-ea"/>
              </a:rPr>
              <a:t>。</a:t>
            </a:r>
            <a:endParaRPr lang="en-US" altLang="zh-CN" sz="2400" b="1" dirty="0" smtClean="0">
              <a:latin typeface="+mn-ea"/>
            </a:endParaRPr>
          </a:p>
          <a:p>
            <a:pPr marL="0" indent="0">
              <a:buNone/>
            </a:pPr>
            <a:r>
              <a:rPr lang="zh-CN" altLang="en-US" sz="2400" b="1" dirty="0" smtClean="0">
                <a:latin typeface="+mn-ea"/>
              </a:rPr>
              <a:t>实际</a:t>
            </a:r>
            <a:r>
              <a:rPr lang="zh-CN" altLang="en-US" sz="2400" b="1" dirty="0">
                <a:latin typeface="+mn-ea"/>
              </a:rPr>
              <a:t>印刷中，一般采用青 </a:t>
            </a:r>
            <a:r>
              <a:rPr lang="en-US" altLang="zh-CN" sz="2400" b="1" dirty="0">
                <a:latin typeface="+mn-ea"/>
              </a:rPr>
              <a:t>(C)</a:t>
            </a:r>
            <a:r>
              <a:rPr lang="zh-CN" altLang="en-US" sz="2400" b="1" dirty="0">
                <a:latin typeface="+mn-ea"/>
              </a:rPr>
              <a:t>、品</a:t>
            </a:r>
            <a:r>
              <a:rPr lang="en-US" altLang="zh-CN" sz="2400" b="1" dirty="0">
                <a:latin typeface="+mn-ea"/>
              </a:rPr>
              <a:t>(M)</a:t>
            </a:r>
            <a:r>
              <a:rPr lang="zh-CN" altLang="en-US" sz="2400" b="1" dirty="0">
                <a:latin typeface="+mn-ea"/>
              </a:rPr>
              <a:t>、黄</a:t>
            </a:r>
            <a:r>
              <a:rPr lang="en-US" altLang="zh-CN" sz="2400" b="1" dirty="0">
                <a:latin typeface="+mn-ea"/>
              </a:rPr>
              <a:t>(Y)</a:t>
            </a:r>
            <a:r>
              <a:rPr lang="zh-CN" altLang="en-US" sz="2400" b="1" dirty="0">
                <a:latin typeface="+mn-ea"/>
              </a:rPr>
              <a:t>、黑</a:t>
            </a:r>
            <a:r>
              <a:rPr lang="en-US" altLang="zh-CN" sz="2400" b="1" dirty="0">
                <a:latin typeface="+mn-ea"/>
              </a:rPr>
              <a:t>(BK)</a:t>
            </a:r>
            <a:r>
              <a:rPr lang="zh-CN" altLang="en-US" sz="2400" b="1" dirty="0">
                <a:latin typeface="+mn-ea"/>
              </a:rPr>
              <a:t>四色印刷，在印刷的中间调至暗调增加黑版。</a:t>
            </a:r>
            <a:r>
              <a:rPr lang="zh-CN" altLang="en-US" sz="2400" b="1" dirty="0">
                <a:solidFill>
                  <a:srgbClr val="FF0000"/>
                </a:solidFill>
                <a:latin typeface="+mn-ea"/>
              </a:rPr>
              <a:t>当红绿蓝三原色被混合时，会产生白色，但是当混合青、品红和黄三原色时会产生黑色。因为相同数量的各个原色相加产生的黑色不纯正，为了生成纯正的黑色，所以实际中要加上第</a:t>
            </a:r>
            <a:r>
              <a:rPr lang="en-US" altLang="zh-CN" sz="2400" b="1" dirty="0">
                <a:solidFill>
                  <a:srgbClr val="FF0000"/>
                </a:solidFill>
                <a:latin typeface="+mn-ea"/>
              </a:rPr>
              <a:t>4</a:t>
            </a:r>
            <a:r>
              <a:rPr lang="zh-CN" altLang="en-US" sz="2400" b="1" dirty="0">
                <a:solidFill>
                  <a:srgbClr val="FF0000"/>
                </a:solidFill>
                <a:latin typeface="+mn-ea"/>
              </a:rPr>
              <a:t>种彩色</a:t>
            </a:r>
            <a:r>
              <a:rPr lang="en-US" altLang="zh-CN" sz="2400" b="1" dirty="0">
                <a:solidFill>
                  <a:srgbClr val="FF0000"/>
                </a:solidFill>
                <a:latin typeface="+mn-ea"/>
              </a:rPr>
              <a:t>K</a:t>
            </a:r>
            <a:r>
              <a:rPr lang="zh-CN" altLang="en-US" sz="2400" b="1" dirty="0">
                <a:solidFill>
                  <a:srgbClr val="FF0000"/>
                </a:solidFill>
                <a:latin typeface="+mn-ea"/>
              </a:rPr>
              <a:t>（黑色）</a:t>
            </a:r>
            <a:r>
              <a:rPr lang="en-US" altLang="zh-CN" sz="2400" b="1" dirty="0">
                <a:solidFill>
                  <a:srgbClr val="FF0000"/>
                </a:solidFill>
                <a:latin typeface="+mn-ea"/>
              </a:rPr>
              <a:t>,</a:t>
            </a:r>
            <a:r>
              <a:rPr lang="zh-CN" altLang="en-US" sz="2400" b="1" dirty="0">
                <a:solidFill>
                  <a:srgbClr val="FF0000"/>
                </a:solidFill>
                <a:latin typeface="+mn-ea"/>
              </a:rPr>
              <a:t>这样的模型称之为</a:t>
            </a:r>
            <a:r>
              <a:rPr lang="en-US" altLang="zh-CN" sz="2400" b="1" dirty="0">
                <a:solidFill>
                  <a:srgbClr val="FF0000"/>
                </a:solidFill>
                <a:latin typeface="+mn-ea"/>
              </a:rPr>
              <a:t>CMYK</a:t>
            </a:r>
            <a:r>
              <a:rPr lang="zh-CN" altLang="en-US" sz="2400" b="1" dirty="0">
                <a:solidFill>
                  <a:srgbClr val="FF0000"/>
                </a:solidFill>
                <a:latin typeface="+mn-ea"/>
              </a:rPr>
              <a:t>。</a:t>
            </a:r>
            <a:endParaRPr lang="en-US" altLang="zh-CN" sz="2400" b="1" dirty="0">
              <a:solidFill>
                <a:srgbClr val="FF0000"/>
              </a:solidFill>
              <a:latin typeface="+mn-ea"/>
            </a:endParaRPr>
          </a:p>
          <a:p>
            <a:pPr marL="0" indent="0">
              <a:buNone/>
            </a:pPr>
            <a:r>
              <a:rPr lang="zh-CN" altLang="en-US" sz="2400" b="1" dirty="0">
                <a:latin typeface="+mn-ea"/>
              </a:rPr>
              <a:t>从</a:t>
            </a:r>
            <a:r>
              <a:rPr lang="en-US" altLang="zh-CN" sz="2400" b="1" dirty="0">
                <a:latin typeface="+mn-ea"/>
              </a:rPr>
              <a:t>CMY</a:t>
            </a:r>
            <a:r>
              <a:rPr lang="zh-CN" altLang="en-US" sz="2400" b="1" dirty="0">
                <a:latin typeface="+mn-ea"/>
              </a:rPr>
              <a:t>到</a:t>
            </a:r>
            <a:r>
              <a:rPr lang="en-US" altLang="zh-CN" sz="2400" b="1" dirty="0">
                <a:latin typeface="+mn-ea"/>
              </a:rPr>
              <a:t>CMYK</a:t>
            </a:r>
            <a:r>
              <a:rPr lang="zh-CN" altLang="en-US" sz="2400" b="1" dirty="0">
                <a:latin typeface="+mn-ea"/>
              </a:rPr>
              <a:t>的转换公式为：</a:t>
            </a:r>
          </a:p>
        </p:txBody>
      </p:sp>
      <p:pic>
        <p:nvPicPr>
          <p:cNvPr id="5" name="图片 4">
            <a:extLst>
              <a:ext uri="{FF2B5EF4-FFF2-40B4-BE49-F238E27FC236}">
                <a16:creationId xmlns:a16="http://schemas.microsoft.com/office/drawing/2014/main" xmlns="" id="{AD15AFFA-3FA1-4FCC-858F-8D41849F03F5}"/>
              </a:ext>
            </a:extLst>
          </p:cNvPr>
          <p:cNvPicPr>
            <a:picLocks noChangeAspect="1"/>
          </p:cNvPicPr>
          <p:nvPr/>
        </p:nvPicPr>
        <p:blipFill>
          <a:blip r:embed="rId2"/>
          <a:stretch>
            <a:fillRect/>
          </a:stretch>
        </p:blipFill>
        <p:spPr>
          <a:xfrm>
            <a:off x="2225396" y="4287480"/>
            <a:ext cx="7696939" cy="1361043"/>
          </a:xfrm>
          <a:prstGeom prst="rect">
            <a:avLst/>
          </a:prstGeom>
        </p:spPr>
      </p:pic>
    </p:spTree>
    <p:extLst>
      <p:ext uri="{BB962C8B-B14F-4D97-AF65-F5344CB8AC3E}">
        <p14:creationId xmlns:p14="http://schemas.microsoft.com/office/powerpoint/2010/main" val="1222312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D1934D8-5958-411F-A347-40DDB10F84AA}"/>
              </a:ext>
            </a:extLst>
          </p:cNvPr>
          <p:cNvSpPr>
            <a:spLocks noGrp="1"/>
          </p:cNvSpPr>
          <p:nvPr>
            <p:ph type="title"/>
          </p:nvPr>
        </p:nvSpPr>
        <p:spPr>
          <a:xfrm>
            <a:off x="434382" y="148000"/>
            <a:ext cx="10364451" cy="775277"/>
          </a:xfrm>
        </p:spPr>
        <p:txBody>
          <a:bodyPr/>
          <a:lstStyle/>
          <a:p>
            <a:r>
              <a:rPr lang="en-US" altLang="zh-CN" b="1" dirty="0">
                <a:solidFill>
                  <a:srgbClr val="00B0F0"/>
                </a:solidFill>
              </a:rPr>
              <a:t>11.1.3 HSI</a:t>
            </a:r>
            <a:r>
              <a:rPr lang="zh-CN" altLang="en-US" b="1" dirty="0">
                <a:solidFill>
                  <a:srgbClr val="00B0F0"/>
                </a:solidFill>
              </a:rPr>
              <a:t>彩色模型</a:t>
            </a:r>
          </a:p>
        </p:txBody>
      </p:sp>
      <p:sp>
        <p:nvSpPr>
          <p:cNvPr id="3" name="内容占位符 2">
            <a:extLst>
              <a:ext uri="{FF2B5EF4-FFF2-40B4-BE49-F238E27FC236}">
                <a16:creationId xmlns:a16="http://schemas.microsoft.com/office/drawing/2014/main" xmlns="" id="{34BB97A6-7883-4084-B6D0-777427957E3F}"/>
              </a:ext>
            </a:extLst>
          </p:cNvPr>
          <p:cNvSpPr>
            <a:spLocks noGrp="1"/>
          </p:cNvSpPr>
          <p:nvPr>
            <p:ph sz="quarter" idx="13"/>
          </p:nvPr>
        </p:nvSpPr>
        <p:spPr>
          <a:xfrm>
            <a:off x="858416" y="1263956"/>
            <a:ext cx="10328987" cy="1927113"/>
          </a:xfrm>
        </p:spPr>
        <p:txBody>
          <a:bodyPr>
            <a:noAutofit/>
          </a:bodyPr>
          <a:lstStyle/>
          <a:p>
            <a:pPr marL="0" indent="0">
              <a:buNone/>
            </a:pPr>
            <a:r>
              <a:rPr lang="en-US" altLang="zh-CN" sz="2400" b="1" dirty="0" smtClean="0">
                <a:solidFill>
                  <a:srgbClr val="FF0000"/>
                </a:solidFill>
                <a:latin typeface="+mj-ea"/>
                <a:ea typeface="+mj-ea"/>
              </a:rPr>
              <a:t>HSI(Hue</a:t>
            </a:r>
            <a:r>
              <a:rPr lang="en-US" altLang="zh-CN" sz="2400" b="1" dirty="0">
                <a:solidFill>
                  <a:srgbClr val="FF0000"/>
                </a:solidFill>
                <a:latin typeface="+mj-ea"/>
                <a:ea typeface="+mj-ea"/>
              </a:rPr>
              <a:t>, Saturation, Intensity )</a:t>
            </a:r>
            <a:r>
              <a:rPr lang="zh-CN" altLang="en-US" sz="2400" b="1" dirty="0">
                <a:latin typeface="+mj-ea"/>
                <a:ea typeface="+mj-ea"/>
              </a:rPr>
              <a:t>模型是从人的视觉系统出发，用</a:t>
            </a:r>
            <a:r>
              <a:rPr lang="zh-CN" altLang="en-US" sz="2400" b="1" dirty="0">
                <a:solidFill>
                  <a:srgbClr val="FF0000"/>
                </a:solidFill>
                <a:latin typeface="+mj-ea"/>
                <a:ea typeface="+mj-ea"/>
              </a:rPr>
              <a:t>色调</a:t>
            </a:r>
            <a:r>
              <a:rPr lang="en-US" altLang="zh-CN" sz="2400" b="1" dirty="0">
                <a:solidFill>
                  <a:srgbClr val="FF0000"/>
                </a:solidFill>
                <a:latin typeface="+mj-ea"/>
                <a:ea typeface="+mj-ea"/>
              </a:rPr>
              <a:t>(Hue)</a:t>
            </a:r>
            <a:r>
              <a:rPr lang="zh-CN" altLang="en-US" sz="2400" b="1" dirty="0">
                <a:solidFill>
                  <a:srgbClr val="FF0000"/>
                </a:solidFill>
                <a:latin typeface="+mj-ea"/>
                <a:ea typeface="+mj-ea"/>
              </a:rPr>
              <a:t>、色饱和度</a:t>
            </a:r>
            <a:r>
              <a:rPr lang="en-US" altLang="zh-CN" sz="2400" b="1" dirty="0">
                <a:solidFill>
                  <a:srgbClr val="FF0000"/>
                </a:solidFill>
                <a:latin typeface="+mj-ea"/>
                <a:ea typeface="+mj-ea"/>
              </a:rPr>
              <a:t>(Saturation)</a:t>
            </a:r>
            <a:r>
              <a:rPr lang="zh-CN" altLang="en-US" sz="2400" b="1" dirty="0">
                <a:solidFill>
                  <a:srgbClr val="FF0000"/>
                </a:solidFill>
                <a:latin typeface="+mj-ea"/>
                <a:ea typeface="+mj-ea"/>
              </a:rPr>
              <a:t>和亮度</a:t>
            </a:r>
            <a:r>
              <a:rPr lang="en-US" altLang="zh-CN" sz="2400" b="1" dirty="0">
                <a:solidFill>
                  <a:srgbClr val="FF0000"/>
                </a:solidFill>
                <a:latin typeface="+mj-ea"/>
                <a:ea typeface="+mj-ea"/>
              </a:rPr>
              <a:t>(Intensity)</a:t>
            </a:r>
            <a:r>
              <a:rPr lang="zh-CN" altLang="en-US" sz="2400" b="1" dirty="0">
                <a:latin typeface="+mj-ea"/>
                <a:ea typeface="+mj-ea"/>
              </a:rPr>
              <a:t>来描述色彩</a:t>
            </a:r>
            <a:r>
              <a:rPr lang="zh-CN" altLang="en-US" sz="2400" b="1" dirty="0" smtClean="0">
                <a:latin typeface="+mj-ea"/>
                <a:ea typeface="+mj-ea"/>
              </a:rPr>
              <a:t>。</a:t>
            </a:r>
            <a:endParaRPr lang="en-US" altLang="zh-CN" sz="2400" b="1" dirty="0" smtClean="0">
              <a:latin typeface="+mj-ea"/>
              <a:ea typeface="+mj-ea"/>
            </a:endParaRPr>
          </a:p>
          <a:p>
            <a:pPr marL="457200" lvl="1" indent="0">
              <a:buNone/>
            </a:pPr>
            <a:r>
              <a:rPr lang="zh-CN" altLang="en-US" sz="2200" b="1" dirty="0" smtClean="0">
                <a:solidFill>
                  <a:srgbClr val="0033CC"/>
                </a:solidFill>
                <a:latin typeface="+mj-ea"/>
                <a:ea typeface="+mj-ea"/>
              </a:rPr>
              <a:t>色调</a:t>
            </a:r>
            <a:r>
              <a:rPr lang="zh-CN" altLang="en-US" sz="2200" b="1" dirty="0">
                <a:latin typeface="+mj-ea"/>
                <a:ea typeface="+mj-ea"/>
              </a:rPr>
              <a:t>是描述纯色</a:t>
            </a:r>
            <a:r>
              <a:rPr lang="en-US" altLang="zh-CN" sz="2200" b="1" dirty="0">
                <a:latin typeface="+mj-ea"/>
                <a:ea typeface="+mj-ea"/>
              </a:rPr>
              <a:t>(</a:t>
            </a:r>
            <a:r>
              <a:rPr lang="zh-CN" altLang="en-US" sz="2200" b="1" dirty="0">
                <a:latin typeface="+mj-ea"/>
                <a:ea typeface="+mj-ea"/>
              </a:rPr>
              <a:t>纯黄色、纯橙色或纯红色</a:t>
            </a:r>
            <a:r>
              <a:rPr lang="en-US" altLang="zh-CN" sz="2200" b="1" dirty="0">
                <a:latin typeface="+mj-ea"/>
                <a:ea typeface="+mj-ea"/>
              </a:rPr>
              <a:t>)</a:t>
            </a:r>
            <a:r>
              <a:rPr lang="zh-CN" altLang="en-US" sz="2200" b="1" dirty="0">
                <a:latin typeface="+mj-ea"/>
                <a:ea typeface="+mj-ea"/>
              </a:rPr>
              <a:t>的颜色属性；</a:t>
            </a:r>
            <a:r>
              <a:rPr lang="zh-CN" altLang="en-US" sz="2200" b="1" dirty="0">
                <a:solidFill>
                  <a:srgbClr val="0033CC"/>
                </a:solidFill>
                <a:latin typeface="+mj-ea"/>
                <a:ea typeface="+mj-ea"/>
              </a:rPr>
              <a:t>饱和度</a:t>
            </a:r>
            <a:r>
              <a:rPr lang="zh-CN" altLang="en-US" sz="2200" b="1" dirty="0">
                <a:latin typeface="+mj-ea"/>
                <a:ea typeface="+mj-ea"/>
              </a:rPr>
              <a:t>是一种纯色被白光稀释一定程度的度量；</a:t>
            </a:r>
            <a:r>
              <a:rPr lang="zh-CN" altLang="en-US" sz="2200" b="1" dirty="0">
                <a:solidFill>
                  <a:srgbClr val="0033CC"/>
                </a:solidFill>
                <a:latin typeface="+mj-ea"/>
                <a:ea typeface="+mj-ea"/>
              </a:rPr>
              <a:t>亮度</a:t>
            </a:r>
            <a:r>
              <a:rPr lang="zh-CN" altLang="en-US" sz="2200" b="1" dirty="0">
                <a:latin typeface="+mj-ea"/>
                <a:ea typeface="+mj-ea"/>
              </a:rPr>
              <a:t>是一个主观描述子，体现无色的强度概念</a:t>
            </a:r>
            <a:r>
              <a:rPr lang="zh-CN" altLang="en-US" sz="2200" b="1" dirty="0" smtClean="0">
                <a:latin typeface="+mj-ea"/>
                <a:ea typeface="+mj-ea"/>
              </a:rPr>
              <a:t>。</a:t>
            </a:r>
            <a:endParaRPr lang="en-US" altLang="zh-CN" sz="2200" b="1" dirty="0" smtClean="0">
              <a:latin typeface="+mj-ea"/>
              <a:ea typeface="+mj-ea"/>
            </a:endParaRPr>
          </a:p>
        </p:txBody>
      </p:sp>
      <p:sp>
        <p:nvSpPr>
          <p:cNvPr id="4" name="文本框 3"/>
          <p:cNvSpPr txBox="1"/>
          <p:nvPr/>
        </p:nvSpPr>
        <p:spPr>
          <a:xfrm>
            <a:off x="783772" y="3359020"/>
            <a:ext cx="5999583" cy="2954655"/>
          </a:xfrm>
          <a:prstGeom prst="rect">
            <a:avLst/>
          </a:prstGeom>
          <a:noFill/>
        </p:spPr>
        <p:txBody>
          <a:bodyPr wrap="square" rtlCol="0">
            <a:spAutoFit/>
          </a:bodyPr>
          <a:lstStyle/>
          <a:p>
            <a:pPr algn="just"/>
            <a:r>
              <a:rPr lang="en-US" altLang="zh-CN" sz="2400" b="1" dirty="0">
                <a:latin typeface="+mj-ea"/>
              </a:rPr>
              <a:t>HSI</a:t>
            </a:r>
            <a:r>
              <a:rPr lang="zh-CN" altLang="en-US" sz="2400" b="1" dirty="0">
                <a:latin typeface="+mj-ea"/>
              </a:rPr>
              <a:t>色彩空间可以用一个圆锥空间模型来描述，如图</a:t>
            </a:r>
            <a:r>
              <a:rPr lang="en-US" altLang="zh-CN" sz="2400" b="1" dirty="0">
                <a:latin typeface="+mj-ea"/>
              </a:rPr>
              <a:t>12-2</a:t>
            </a:r>
            <a:r>
              <a:rPr lang="zh-CN" altLang="en-US" sz="2400" b="1" dirty="0">
                <a:latin typeface="+mj-ea"/>
              </a:rPr>
              <a:t>所示。色彩空间的圆锥模型相当复杂，但确能把色调、亮度和色饱和度的变化情形表现得很清楚。</a:t>
            </a:r>
            <a:endParaRPr lang="en-US" altLang="zh-CN" sz="2400" b="1" dirty="0">
              <a:latin typeface="+mj-ea"/>
            </a:endParaRPr>
          </a:p>
          <a:p>
            <a:pPr algn="just"/>
            <a:r>
              <a:rPr lang="en-US" altLang="zh-CN" sz="2400" b="1" dirty="0">
                <a:latin typeface="+mj-ea"/>
              </a:rPr>
              <a:t>HSI</a:t>
            </a:r>
            <a:r>
              <a:rPr lang="zh-CN" altLang="en-US" sz="2400" b="1" dirty="0">
                <a:latin typeface="+mj-ea"/>
              </a:rPr>
              <a:t>色彩空间和</a:t>
            </a:r>
            <a:r>
              <a:rPr lang="en-US" altLang="zh-CN" sz="2400" b="1" dirty="0">
                <a:latin typeface="+mj-ea"/>
              </a:rPr>
              <a:t>RGB</a:t>
            </a:r>
            <a:r>
              <a:rPr lang="zh-CN" altLang="en-US" sz="2400" b="1" dirty="0">
                <a:latin typeface="+mj-ea"/>
              </a:rPr>
              <a:t>色彩空间只是同一物理量的不同表示法，因而它们之间存在着转换关系。</a:t>
            </a:r>
          </a:p>
          <a:p>
            <a:endParaRPr lang="zh-CN" altLang="en-US" dirty="0"/>
          </a:p>
        </p:txBody>
      </p:sp>
      <p:pic>
        <p:nvPicPr>
          <p:cNvPr id="5" name="图片 4">
            <a:extLst>
              <a:ext uri="{FF2B5EF4-FFF2-40B4-BE49-F238E27FC236}">
                <a16:creationId xmlns:a16="http://schemas.microsoft.com/office/drawing/2014/main" xmlns="" id="{50EEFC4C-23EF-4C96-AD1B-1B8280BDBCA8}"/>
              </a:ext>
            </a:extLst>
          </p:cNvPr>
          <p:cNvPicPr>
            <a:picLocks noChangeAspect="1"/>
          </p:cNvPicPr>
          <p:nvPr/>
        </p:nvPicPr>
        <p:blipFill>
          <a:blip r:embed="rId2"/>
          <a:stretch>
            <a:fillRect/>
          </a:stretch>
        </p:blipFill>
        <p:spPr>
          <a:xfrm>
            <a:off x="9491127" y="3442995"/>
            <a:ext cx="2251275" cy="2513242"/>
          </a:xfrm>
          <a:prstGeom prst="rect">
            <a:avLst/>
          </a:prstGeom>
        </p:spPr>
      </p:pic>
      <p:pic>
        <p:nvPicPr>
          <p:cNvPr id="6" name="内容占位符 3">
            <a:extLst>
              <a:ext uri="{FF2B5EF4-FFF2-40B4-BE49-F238E27FC236}">
                <a16:creationId xmlns:a16="http://schemas.microsoft.com/office/drawing/2014/main" xmlns="" id="{794A70A5-A1D4-40E7-A4AE-295CD9E2A696}"/>
              </a:ext>
            </a:extLst>
          </p:cNvPr>
          <p:cNvPicPr>
            <a:picLocks noChangeAspect="1"/>
          </p:cNvPicPr>
          <p:nvPr/>
        </p:nvPicPr>
        <p:blipFill>
          <a:blip r:embed="rId3"/>
          <a:stretch>
            <a:fillRect/>
          </a:stretch>
        </p:blipFill>
        <p:spPr>
          <a:xfrm>
            <a:off x="6956549" y="3442995"/>
            <a:ext cx="2361384" cy="2513242"/>
          </a:xfrm>
          <a:prstGeom prst="rect">
            <a:avLst/>
          </a:prstGeom>
        </p:spPr>
      </p:pic>
      <p:sp>
        <p:nvSpPr>
          <p:cNvPr id="7" name="矩形 6"/>
          <p:cNvSpPr/>
          <p:nvPr/>
        </p:nvSpPr>
        <p:spPr>
          <a:xfrm>
            <a:off x="8137241" y="6129009"/>
            <a:ext cx="2230098" cy="369332"/>
          </a:xfrm>
          <a:prstGeom prst="rect">
            <a:avLst/>
          </a:prstGeom>
        </p:spPr>
        <p:txBody>
          <a:bodyPr wrap="none">
            <a:spAutoFit/>
          </a:bodyPr>
          <a:lstStyle/>
          <a:p>
            <a:r>
              <a:rPr lang="zh-CN" altLang="zh-CN" dirty="0">
                <a:solidFill>
                  <a:srgbClr val="000000"/>
                </a:solidFill>
                <a:latin typeface="Tw Cen MT" panose="020B0602020104020603" pitchFamily="34" charset="0"/>
              </a:rPr>
              <a:t>图</a:t>
            </a:r>
            <a:r>
              <a:rPr lang="en-US" altLang="zh-CN" dirty="0">
                <a:solidFill>
                  <a:srgbClr val="000000"/>
                </a:solidFill>
                <a:latin typeface="Tw Cen MT" panose="020B0602020104020603" pitchFamily="34" charset="0"/>
              </a:rPr>
              <a:t>11-2  HSI</a:t>
            </a:r>
            <a:r>
              <a:rPr lang="zh-CN" altLang="zh-CN" dirty="0">
                <a:solidFill>
                  <a:srgbClr val="000000"/>
                </a:solidFill>
                <a:latin typeface="Tw Cen MT" panose="020B0602020104020603" pitchFamily="34" charset="0"/>
              </a:rPr>
              <a:t>彩色模型</a:t>
            </a:r>
            <a:endParaRPr lang="zh-CN" altLang="zh-CN" dirty="0">
              <a:effectLst/>
            </a:endParaRPr>
          </a:p>
        </p:txBody>
      </p:sp>
    </p:spTree>
    <p:extLst>
      <p:ext uri="{BB962C8B-B14F-4D97-AF65-F5344CB8AC3E}">
        <p14:creationId xmlns:p14="http://schemas.microsoft.com/office/powerpoint/2010/main" val="1153796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xmlns="" id="{38F57036-1949-4CC8-9152-5EFD2CFBBF9C}"/>
              </a:ext>
            </a:extLst>
          </p:cNvPr>
          <p:cNvSpPr txBox="1"/>
          <p:nvPr/>
        </p:nvSpPr>
        <p:spPr>
          <a:xfrm>
            <a:off x="1137843" y="832220"/>
            <a:ext cx="10139757" cy="1846659"/>
          </a:xfrm>
          <a:prstGeom prst="rect">
            <a:avLst/>
          </a:prstGeom>
          <a:noFill/>
        </p:spPr>
        <p:txBody>
          <a:bodyPr wrap="square">
            <a:spAutoFit/>
          </a:bodyPr>
          <a:lstStyle/>
          <a:p>
            <a:pPr>
              <a:lnSpc>
                <a:spcPct val="150000"/>
              </a:lnSpc>
            </a:pPr>
            <a:r>
              <a:rPr lang="en-US" altLang="zh-CN" sz="2800" b="1" dirty="0">
                <a:solidFill>
                  <a:srgbClr val="FF0000"/>
                </a:solidFill>
              </a:rPr>
              <a:t>1.</a:t>
            </a:r>
            <a:r>
              <a:rPr lang="zh-CN" altLang="en-US" sz="2800" b="1" dirty="0">
                <a:solidFill>
                  <a:srgbClr val="FF0000"/>
                </a:solidFill>
              </a:rPr>
              <a:t>颜色从</a:t>
            </a:r>
            <a:r>
              <a:rPr lang="en-US" altLang="zh-CN" sz="2800" b="1" dirty="0">
                <a:solidFill>
                  <a:srgbClr val="FF0000"/>
                </a:solidFill>
              </a:rPr>
              <a:t>RGB</a:t>
            </a:r>
            <a:r>
              <a:rPr lang="zh-CN" altLang="en-US" sz="2800" b="1" dirty="0">
                <a:solidFill>
                  <a:srgbClr val="FF0000"/>
                </a:solidFill>
              </a:rPr>
              <a:t>转换为</a:t>
            </a:r>
            <a:r>
              <a:rPr lang="en-US" altLang="zh-CN" sz="2800" b="1" dirty="0">
                <a:solidFill>
                  <a:srgbClr val="FF0000"/>
                </a:solidFill>
              </a:rPr>
              <a:t>HIS</a:t>
            </a:r>
          </a:p>
          <a:p>
            <a:pPr>
              <a:lnSpc>
                <a:spcPct val="150000"/>
              </a:lnSpc>
            </a:pPr>
            <a:r>
              <a:rPr lang="zh-CN" altLang="en-US" sz="2400" b="1" dirty="0">
                <a:latin typeface="+mn-ea"/>
              </a:rPr>
              <a:t>从</a:t>
            </a:r>
            <a:r>
              <a:rPr lang="en-US" altLang="zh-CN" sz="2400" b="1" dirty="0">
                <a:latin typeface="+mn-ea"/>
              </a:rPr>
              <a:t>RGB</a:t>
            </a:r>
            <a:r>
              <a:rPr lang="zh-CN" altLang="en-US" sz="2400" b="1" dirty="0">
                <a:latin typeface="+mn-ea"/>
              </a:rPr>
              <a:t>到</a:t>
            </a:r>
            <a:r>
              <a:rPr lang="en-US" altLang="zh-CN" sz="2400" b="1" dirty="0">
                <a:latin typeface="+mn-ea"/>
              </a:rPr>
              <a:t>HSI</a:t>
            </a:r>
            <a:r>
              <a:rPr lang="zh-CN" altLang="en-US" sz="2400" b="1" dirty="0">
                <a:latin typeface="+mn-ea"/>
              </a:rPr>
              <a:t>的转换是一个非线性变换。对任何一个在</a:t>
            </a:r>
            <a:r>
              <a:rPr lang="en-US" altLang="zh-CN" sz="2400" b="1" dirty="0">
                <a:latin typeface="+mn-ea"/>
              </a:rPr>
              <a:t>[0,1]</a:t>
            </a:r>
            <a:r>
              <a:rPr lang="zh-CN" altLang="en-US" sz="2400" b="1" dirty="0">
                <a:latin typeface="+mn-ea"/>
              </a:rPr>
              <a:t>范围内的</a:t>
            </a:r>
            <a:r>
              <a:rPr lang="en-US" altLang="zh-CN" sz="2400" b="1" dirty="0">
                <a:latin typeface="+mn-ea"/>
              </a:rPr>
              <a:t>R</a:t>
            </a:r>
            <a:r>
              <a:rPr lang="zh-CN" altLang="en-US" sz="2400" b="1" dirty="0">
                <a:latin typeface="+mn-ea"/>
              </a:rPr>
              <a:t>、</a:t>
            </a:r>
            <a:r>
              <a:rPr lang="en-US" altLang="zh-CN" sz="2400" b="1" dirty="0">
                <a:latin typeface="+mn-ea"/>
              </a:rPr>
              <a:t>G</a:t>
            </a:r>
            <a:r>
              <a:rPr lang="zh-CN" altLang="en-US" sz="2400" b="1" dirty="0">
                <a:latin typeface="+mn-ea"/>
              </a:rPr>
              <a:t>、</a:t>
            </a:r>
            <a:r>
              <a:rPr lang="en-US" altLang="zh-CN" sz="2400" b="1" dirty="0">
                <a:latin typeface="+mn-ea"/>
              </a:rPr>
              <a:t>B</a:t>
            </a:r>
            <a:r>
              <a:rPr lang="zh-CN" altLang="en-US" sz="2400" b="1" dirty="0">
                <a:latin typeface="+mn-ea"/>
              </a:rPr>
              <a:t>值，其对应</a:t>
            </a:r>
            <a:r>
              <a:rPr lang="en-US" altLang="zh-CN" sz="2400" b="1" dirty="0">
                <a:latin typeface="+mn-ea"/>
              </a:rPr>
              <a:t>HSI</a:t>
            </a:r>
            <a:r>
              <a:rPr lang="zh-CN" altLang="en-US" sz="2400" b="1" dirty="0">
                <a:latin typeface="+mn-ea"/>
              </a:rPr>
              <a:t>模型中的</a:t>
            </a:r>
            <a:r>
              <a:rPr lang="en-US" altLang="zh-CN" sz="2400" b="1" dirty="0">
                <a:latin typeface="+mn-ea"/>
              </a:rPr>
              <a:t>I</a:t>
            </a:r>
            <a:r>
              <a:rPr lang="zh-CN" altLang="en-US" sz="2400" b="1" dirty="0">
                <a:latin typeface="+mn-ea"/>
              </a:rPr>
              <a:t>、</a:t>
            </a:r>
            <a:r>
              <a:rPr lang="en-US" altLang="zh-CN" sz="2400" b="1" dirty="0">
                <a:latin typeface="+mn-ea"/>
              </a:rPr>
              <a:t>S</a:t>
            </a:r>
            <a:r>
              <a:rPr lang="zh-CN" altLang="en-US" sz="2400" b="1" dirty="0">
                <a:latin typeface="+mn-ea"/>
              </a:rPr>
              <a:t>、</a:t>
            </a:r>
            <a:r>
              <a:rPr lang="en-US" altLang="zh-CN" sz="2400" b="1" dirty="0">
                <a:latin typeface="+mn-ea"/>
              </a:rPr>
              <a:t>H</a:t>
            </a:r>
            <a:r>
              <a:rPr lang="zh-CN" altLang="en-US" sz="2400" b="1" dirty="0">
                <a:latin typeface="+mn-ea"/>
              </a:rPr>
              <a:t>分量可由下面的公式计算。</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xmlns="" id="{1795982D-3F6E-430C-A17D-329B3D6E260E}"/>
                  </a:ext>
                </a:extLst>
              </p:cNvPr>
              <p:cNvSpPr txBox="1"/>
              <p:nvPr/>
            </p:nvSpPr>
            <p:spPr>
              <a:xfrm>
                <a:off x="2672156" y="2586546"/>
                <a:ext cx="6096000" cy="1735411"/>
              </a:xfrm>
              <a:prstGeom prst="rect">
                <a:avLst/>
              </a:prstGeom>
              <a:noFill/>
            </p:spPr>
            <p:txBody>
              <a:bodyPr wrap="square">
                <a:spAutoFit/>
              </a:bodyPr>
              <a:lstStyle/>
              <a:p>
                <a:pPr indent="133350" algn="ctr"/>
                <a14:m>
                  <m:oMath xmlns:m="http://schemas.openxmlformats.org/officeDocument/2006/math">
                    <m:r>
                      <m:rPr>
                        <m:sty m:val="p"/>
                      </m:rPr>
                      <a:rPr lang="en-US" altLang="zh-CN" sz="1800" kern="100" smtClean="0">
                        <a:effectLst/>
                        <a:latin typeface="Cambria Math" panose="02040503050406030204" pitchFamily="18" charset="0"/>
                        <a:ea typeface="等线" panose="02010600030101010101" pitchFamily="2" charset="-122"/>
                        <a:cs typeface="Arial" panose="020B0604020202020204" pitchFamily="34" charset="0"/>
                      </a:rPr>
                      <m:t>I</m:t>
                    </m:r>
                    <m:r>
                      <a:rPr lang="en-US" altLang="zh-CN" sz="1800" kern="100" smtClean="0">
                        <a:effectLst/>
                        <a:latin typeface="Cambria Math" panose="02040503050406030204" pitchFamily="18" charset="0"/>
                        <a:ea typeface="等线" panose="02010600030101010101" pitchFamily="2" charset="-122"/>
                        <a:cs typeface="Arial" panose="020B0604020202020204" pitchFamily="34" charset="0"/>
                      </a:rPr>
                      <m:t>=</m:t>
                    </m:r>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num>
                      <m:den>
                        <m:r>
                          <a:rPr lang="en-US" altLang="zh-CN" sz="1800" kern="100">
                            <a:effectLst/>
                            <a:latin typeface="Cambria Math" panose="02040503050406030204" pitchFamily="18" charset="0"/>
                            <a:ea typeface="等线" panose="02010600030101010101" pitchFamily="2" charset="-122"/>
                            <a:cs typeface="Arial" panose="020B0604020202020204" pitchFamily="34" charset="0"/>
                          </a:rPr>
                          <m:t>3</m:t>
                        </m:r>
                      </m:den>
                    </m:f>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11-3</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33350" algn="ct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S</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a:rPr lang="en-US" altLang="zh-CN" sz="1800" kern="100">
                            <a:effectLst/>
                            <a:latin typeface="Cambria Math" panose="02040503050406030204" pitchFamily="18" charset="0"/>
                            <a:ea typeface="等线" panose="02010600030101010101" pitchFamily="2" charset="-122"/>
                            <a:cs typeface="Arial" panose="020B0604020202020204" pitchFamily="34" charset="0"/>
                          </a:rPr>
                          <m:t>3</m:t>
                        </m:r>
                      </m:num>
                      <m:den>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e>
                        </m:d>
                      </m:den>
                    </m:f>
                    <m:d>
                      <m:dPr>
                        <m:begChr m:val="["/>
                        <m:endChr m:val="]"/>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func>
                          <m:func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min</m:t>
                            </m:r>
                          </m:fName>
                          <m:e>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e>
                            </m:d>
                          </m:e>
                        </m:func>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11-4</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33350" algn="ct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H</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d>
                      <m:dPr>
                        <m:begChr m:val="{"/>
                        <m:endChr m:val=""/>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eqArr>
                          <m:eqArr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eqArr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θ</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               </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e>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2</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π</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θ</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      </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&lt;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e>
                        </m:eqArr>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11-5</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1600"/>
                  </a:lnSpc>
                </a:pP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其中：</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3" name="文本框 12">
                <a:extLst>
                  <a:ext uri="{FF2B5EF4-FFF2-40B4-BE49-F238E27FC236}">
                    <a16:creationId xmlns="" xmlns:a16="http://schemas.microsoft.com/office/drawing/2014/main" xmlns:a14="http://schemas.microsoft.com/office/drawing/2010/main" id="{1795982D-3F6E-430C-A17D-329B3D6E260E}"/>
                  </a:ext>
                </a:extLst>
              </p:cNvPr>
              <p:cNvSpPr txBox="1">
                <a:spLocks noRot="1" noChangeAspect="1" noMove="1" noResize="1" noEditPoints="1" noAdjustHandles="1" noChangeArrowheads="1" noChangeShapeType="1" noTextEdit="1"/>
              </p:cNvSpPr>
              <p:nvPr/>
            </p:nvSpPr>
            <p:spPr>
              <a:xfrm>
                <a:off x="2672156" y="2586546"/>
                <a:ext cx="6096000" cy="1735411"/>
              </a:xfrm>
              <a:prstGeom prst="rect">
                <a:avLst/>
              </a:prstGeom>
              <a:blipFill rotWithShape="0">
                <a:blip r:embed="rId2"/>
                <a:stretch>
                  <a:fillRect b="-35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xmlns="" id="{D54FE3F1-3703-4CEB-8AF9-ABA89F212CCF}"/>
                  </a:ext>
                </a:extLst>
              </p:cNvPr>
              <p:cNvSpPr txBox="1"/>
              <p:nvPr/>
            </p:nvSpPr>
            <p:spPr>
              <a:xfrm>
                <a:off x="2672156" y="4321957"/>
                <a:ext cx="6096000" cy="731867"/>
              </a:xfrm>
              <a:prstGeom prst="rect">
                <a:avLst/>
              </a:prstGeom>
              <a:noFill/>
            </p:spPr>
            <p:txBody>
              <a:bodyPr wrap="square">
                <a:spAutoFit/>
              </a:bodyPr>
              <a:lstStyle/>
              <a:p>
                <a:pPr indent="133350" algn="ctr"/>
                <a14:m>
                  <m:oMath xmlns:m="http://schemas.openxmlformats.org/officeDocument/2006/math">
                    <m:r>
                      <m:rPr>
                        <m:sty m:val="p"/>
                      </m:rPr>
                      <a:rPr lang="en-US" altLang="zh-CN" sz="1800" kern="100" smtClean="0">
                        <a:effectLst/>
                        <a:latin typeface="Cambria Math" panose="02040503050406030204" pitchFamily="18" charset="0"/>
                        <a:ea typeface="等线" panose="02010600030101010101" pitchFamily="2" charset="-122"/>
                        <a:cs typeface="Arial" panose="020B0604020202020204" pitchFamily="34" charset="0"/>
                      </a:rPr>
                      <m:t>θ</m:t>
                    </m:r>
                    <m:r>
                      <a:rPr lang="en-US" altLang="zh-CN" sz="1800" kern="100" smtClean="0">
                        <a:effectLst/>
                        <a:latin typeface="Cambria Math" panose="02040503050406030204" pitchFamily="18" charset="0"/>
                        <a:ea typeface="等线" panose="02010600030101010101" pitchFamily="2" charset="-122"/>
                        <a:cs typeface="Arial" panose="020B0604020202020204" pitchFamily="34" charset="0"/>
                      </a:rPr>
                      <m:t>=</m:t>
                    </m:r>
                    <m:func>
                      <m:func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arccos</m:t>
                        </m:r>
                      </m:fName>
                      <m:e>
                        <m:d>
                          <m:dPr>
                            <m:begChr m:val="{"/>
                            <m:endChr m:val="}"/>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num>
                                  <m:den>
                                    <m:r>
                                      <a:rPr lang="en-US" altLang="zh-CN" sz="1800" kern="100">
                                        <a:effectLst/>
                                        <a:latin typeface="Cambria Math" panose="02040503050406030204" pitchFamily="18" charset="0"/>
                                        <a:ea typeface="等线" panose="02010600030101010101" pitchFamily="2" charset="-122"/>
                                        <a:cs typeface="Arial" panose="020B0604020202020204" pitchFamily="34" charset="0"/>
                                      </a:rPr>
                                      <m:t>2</m:t>
                                    </m:r>
                                  </m:den>
                                </m:f>
                                <m:d>
                                  <m:dPr>
                                    <m:begChr m:val="["/>
                                    <m:endChr m:val="]"/>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e>
                                    </m:d>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e>
                                </m:d>
                              </m:num>
                              <m:den>
                                <m:sSup>
                                  <m:sSup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sSupPr>
                                  <m:e>
                                    <m:d>
                                      <m:dPr>
                                        <m:begChr m:val="["/>
                                        <m:endChr m:val="]"/>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e>
                                    </m:d>
                                  </m:e>
                                  <m:sup>
                                    <m:r>
                                      <a:rPr lang="en-US" altLang="zh-CN" sz="1800" kern="100">
                                        <a:effectLst/>
                                        <a:latin typeface="Cambria Math" panose="02040503050406030204" pitchFamily="18" charset="0"/>
                                        <a:ea typeface="等线" panose="02010600030101010101" pitchFamily="2" charset="-122"/>
                                        <a:cs typeface="Arial" panose="020B0604020202020204" pitchFamily="34" charset="0"/>
                                      </a:rPr>
                                      <m:t>2</m:t>
                                    </m:r>
                                  </m:sup>
                                </m:sSup>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e>
                                </m:d>
                                <m:sSup>
                                  <m:sSup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sSupPr>
                                  <m:e>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e>
                                    </m:d>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e>
                                  <m:sup>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num>
                                      <m:den>
                                        <m:r>
                                          <a:rPr lang="en-US" altLang="zh-CN" sz="1800" kern="100">
                                            <a:effectLst/>
                                            <a:latin typeface="Cambria Math" panose="02040503050406030204" pitchFamily="18" charset="0"/>
                                            <a:ea typeface="等线" panose="02010600030101010101" pitchFamily="2" charset="-122"/>
                                            <a:cs typeface="Arial" panose="020B0604020202020204" pitchFamily="34" charset="0"/>
                                          </a:rPr>
                                          <m:t>2</m:t>
                                        </m:r>
                                      </m:den>
                                    </m:f>
                                  </m:sup>
                                </m:sSup>
                              </m:den>
                            </m:f>
                          </m:e>
                        </m:d>
                      </m:e>
                    </m:func>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11-6</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5" name="文本框 14">
                <a:extLst>
                  <a:ext uri="{FF2B5EF4-FFF2-40B4-BE49-F238E27FC236}">
                    <a16:creationId xmlns="" xmlns:a16="http://schemas.microsoft.com/office/drawing/2014/main" xmlns:a14="http://schemas.microsoft.com/office/drawing/2010/main" id="{D54FE3F1-3703-4CEB-8AF9-ABA89F212CCF}"/>
                  </a:ext>
                </a:extLst>
              </p:cNvPr>
              <p:cNvSpPr txBox="1">
                <a:spLocks noRot="1" noChangeAspect="1" noMove="1" noResize="1" noEditPoints="1" noAdjustHandles="1" noChangeArrowheads="1" noChangeShapeType="1" noTextEdit="1"/>
              </p:cNvSpPr>
              <p:nvPr/>
            </p:nvSpPr>
            <p:spPr>
              <a:xfrm>
                <a:off x="2672156" y="4321957"/>
                <a:ext cx="6096000" cy="731867"/>
              </a:xfrm>
              <a:prstGeom prst="rect">
                <a:avLst/>
              </a:prstGeom>
              <a:blipFill rotWithShape="0">
                <a:blip r:embed="rId3"/>
                <a:stretch>
                  <a:fillRect/>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xmlns="" id="{3A0A8C3E-28D1-4782-B68C-C554CD1E298C}"/>
              </a:ext>
            </a:extLst>
          </p:cNvPr>
          <p:cNvSpPr txBox="1"/>
          <p:nvPr/>
        </p:nvSpPr>
        <p:spPr>
          <a:xfrm>
            <a:off x="1276521" y="5245286"/>
            <a:ext cx="10001079" cy="830997"/>
          </a:xfrm>
          <a:prstGeom prst="rect">
            <a:avLst/>
          </a:prstGeom>
          <a:noFill/>
        </p:spPr>
        <p:txBody>
          <a:bodyPr wrap="square">
            <a:spAutoFit/>
          </a:bodyPr>
          <a:lstStyle/>
          <a:p>
            <a:r>
              <a:rPr lang="zh-CN" altLang="en-US" sz="2400" b="1" dirty="0">
                <a:latin typeface="+mn-ea"/>
              </a:rPr>
              <a:t>当</a:t>
            </a:r>
            <a:r>
              <a:rPr lang="en-US" altLang="zh-CN" sz="2400" b="1" dirty="0">
                <a:latin typeface="+mn-ea"/>
              </a:rPr>
              <a:t>S=0</a:t>
            </a:r>
            <a:r>
              <a:rPr lang="zh-CN" altLang="en-US" sz="2400" b="1" dirty="0">
                <a:latin typeface="+mn-ea"/>
              </a:rPr>
              <a:t>时对应的是无色的中心点，这时</a:t>
            </a:r>
            <a:r>
              <a:rPr lang="en-US" altLang="zh-CN" sz="2400" b="1" dirty="0">
                <a:latin typeface="+mn-ea"/>
              </a:rPr>
              <a:t>H</a:t>
            </a:r>
            <a:r>
              <a:rPr lang="zh-CN" altLang="en-US" sz="2400" b="1" dirty="0">
                <a:latin typeface="+mn-ea"/>
              </a:rPr>
              <a:t>就没有意义了，此时定义</a:t>
            </a:r>
            <a:r>
              <a:rPr lang="en-US" altLang="zh-CN" sz="2400" b="1" dirty="0">
                <a:latin typeface="+mn-ea"/>
              </a:rPr>
              <a:t>H</a:t>
            </a:r>
            <a:r>
              <a:rPr lang="zh-CN" altLang="en-US" sz="2400" b="1" dirty="0">
                <a:latin typeface="+mn-ea"/>
              </a:rPr>
              <a:t>为</a:t>
            </a:r>
            <a:r>
              <a:rPr lang="en-US" altLang="zh-CN" sz="2400" b="1" dirty="0">
                <a:latin typeface="+mn-ea"/>
              </a:rPr>
              <a:t>0</a:t>
            </a:r>
            <a:r>
              <a:rPr lang="zh-CN" altLang="en-US" sz="2400" b="1" dirty="0">
                <a:latin typeface="+mn-ea"/>
              </a:rPr>
              <a:t>。当</a:t>
            </a:r>
            <a:r>
              <a:rPr lang="en-US" altLang="zh-CN" sz="2400" b="1" dirty="0">
                <a:latin typeface="+mn-ea"/>
              </a:rPr>
              <a:t>I=0</a:t>
            </a:r>
            <a:r>
              <a:rPr lang="zh-CN" altLang="en-US" sz="2400" b="1" dirty="0">
                <a:latin typeface="+mn-ea"/>
              </a:rPr>
              <a:t>时，</a:t>
            </a:r>
            <a:r>
              <a:rPr lang="en-US" altLang="zh-CN" sz="2400" b="1" dirty="0">
                <a:latin typeface="+mn-ea"/>
              </a:rPr>
              <a:t>S</a:t>
            </a:r>
            <a:r>
              <a:rPr lang="zh-CN" altLang="en-US" sz="2400" b="1" dirty="0">
                <a:latin typeface="+mn-ea"/>
              </a:rPr>
              <a:t>也没有意义。</a:t>
            </a:r>
          </a:p>
        </p:txBody>
      </p:sp>
    </p:spTree>
    <p:extLst>
      <p:ext uri="{BB962C8B-B14F-4D97-AF65-F5344CB8AC3E}">
        <p14:creationId xmlns:p14="http://schemas.microsoft.com/office/powerpoint/2010/main" val="2689575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798053D0-8097-4266-87F9-2538DEA26DD9}"/>
                  </a:ext>
                </a:extLst>
              </p:cNvPr>
              <p:cNvSpPr>
                <a:spLocks noGrp="1"/>
              </p:cNvSpPr>
              <p:nvPr>
                <p:ph sz="quarter" idx="13"/>
              </p:nvPr>
            </p:nvSpPr>
            <p:spPr>
              <a:xfrm>
                <a:off x="1082351" y="830424"/>
                <a:ext cx="10357174" cy="3097764"/>
              </a:xfrm>
            </p:spPr>
            <p:txBody>
              <a:bodyPr>
                <a:normAutofit fontScale="92500" lnSpcReduction="20000"/>
              </a:bodyPr>
              <a:lstStyle/>
              <a:p>
                <a:pPr marL="0" indent="0">
                  <a:buNone/>
                </a:pPr>
                <a:r>
                  <a:rPr lang="en-US" altLang="zh-CN" sz="2800" b="1" dirty="0">
                    <a:solidFill>
                      <a:srgbClr val="FF0000"/>
                    </a:solidFill>
                    <a:latin typeface="+mn-ea"/>
                  </a:rPr>
                  <a:t>2.</a:t>
                </a:r>
                <a:r>
                  <a:rPr lang="zh-CN" altLang="en-US" sz="2800" b="1" dirty="0">
                    <a:solidFill>
                      <a:srgbClr val="FF0000"/>
                    </a:solidFill>
                    <a:latin typeface="+mn-ea"/>
                  </a:rPr>
                  <a:t>颜色从</a:t>
                </a:r>
                <a:r>
                  <a:rPr lang="en-US" altLang="zh-CN" sz="2800" b="1" dirty="0">
                    <a:solidFill>
                      <a:srgbClr val="FF0000"/>
                    </a:solidFill>
                    <a:latin typeface="+mn-ea"/>
                  </a:rPr>
                  <a:t>HSI</a:t>
                </a:r>
                <a:r>
                  <a:rPr lang="zh-CN" altLang="en-US" sz="2800" b="1" dirty="0">
                    <a:solidFill>
                      <a:srgbClr val="FF0000"/>
                    </a:solidFill>
                    <a:latin typeface="+mn-ea"/>
                  </a:rPr>
                  <a:t>转换为</a:t>
                </a:r>
                <a:r>
                  <a:rPr lang="en-US" altLang="zh-CN" sz="2800" b="1" dirty="0">
                    <a:solidFill>
                      <a:srgbClr val="FF0000"/>
                    </a:solidFill>
                    <a:latin typeface="+mn-ea"/>
                  </a:rPr>
                  <a:t>RGB</a:t>
                </a:r>
              </a:p>
              <a:p>
                <a:pPr marL="0" indent="0">
                  <a:buNone/>
                </a:pPr>
                <a:r>
                  <a:rPr lang="zh-CN" altLang="en-US" sz="2400" b="1" dirty="0">
                    <a:latin typeface="+mn-ea"/>
                  </a:rPr>
                  <a:t>若设</a:t>
                </a:r>
                <a:r>
                  <a:rPr lang="en-US" altLang="zh-CN" sz="2400" b="1" dirty="0">
                    <a:latin typeface="+mn-ea"/>
                  </a:rPr>
                  <a:t>H</a:t>
                </a:r>
                <a:r>
                  <a:rPr lang="zh-CN" altLang="en-US" sz="2400" b="1" dirty="0">
                    <a:latin typeface="+mn-ea"/>
                  </a:rPr>
                  <a:t>、</a:t>
                </a:r>
                <a:r>
                  <a:rPr lang="en-US" altLang="zh-CN" sz="2400" b="1" dirty="0">
                    <a:latin typeface="+mn-ea"/>
                  </a:rPr>
                  <a:t>S</a:t>
                </a:r>
                <a:r>
                  <a:rPr lang="zh-CN" altLang="en-US" sz="2400" b="1" dirty="0">
                    <a:latin typeface="+mn-ea"/>
                  </a:rPr>
                  <a:t>、</a:t>
                </a:r>
                <a:r>
                  <a:rPr lang="en-US" altLang="zh-CN" sz="2400" b="1" dirty="0">
                    <a:latin typeface="+mn-ea"/>
                  </a:rPr>
                  <a:t>I</a:t>
                </a:r>
                <a:r>
                  <a:rPr lang="zh-CN" altLang="en-US" sz="2400" b="1" dirty="0">
                    <a:latin typeface="+mn-ea"/>
                  </a:rPr>
                  <a:t>的值在</a:t>
                </a:r>
                <a:r>
                  <a:rPr lang="en-US" altLang="zh-CN" sz="2400" b="1" dirty="0">
                    <a:latin typeface="+mn-ea"/>
                  </a:rPr>
                  <a:t>[0,1]</a:t>
                </a:r>
                <a:r>
                  <a:rPr lang="zh-CN" altLang="en-US" sz="2400" b="1" dirty="0">
                    <a:latin typeface="+mn-ea"/>
                  </a:rPr>
                  <a:t>之间，</a:t>
                </a:r>
                <a:r>
                  <a:rPr lang="en-US" altLang="zh-CN" sz="2400" b="1" dirty="0">
                    <a:latin typeface="+mn-ea"/>
                  </a:rPr>
                  <a:t>R</a:t>
                </a:r>
                <a:r>
                  <a:rPr lang="zh-CN" altLang="en-US" sz="2400" b="1" dirty="0">
                    <a:latin typeface="+mn-ea"/>
                  </a:rPr>
                  <a:t>、</a:t>
                </a:r>
                <a:r>
                  <a:rPr lang="en-US" altLang="zh-CN" sz="2400" b="1" dirty="0">
                    <a:latin typeface="+mn-ea"/>
                  </a:rPr>
                  <a:t>G</a:t>
                </a:r>
                <a:r>
                  <a:rPr lang="zh-CN" altLang="en-US" sz="2400" b="1" dirty="0">
                    <a:latin typeface="+mn-ea"/>
                  </a:rPr>
                  <a:t>、</a:t>
                </a:r>
                <a:r>
                  <a:rPr lang="en-US" altLang="zh-CN" sz="2400" b="1" dirty="0">
                    <a:latin typeface="+mn-ea"/>
                  </a:rPr>
                  <a:t>B</a:t>
                </a:r>
                <a:r>
                  <a:rPr lang="zh-CN" altLang="en-US" sz="2400" b="1" dirty="0">
                    <a:latin typeface="+mn-ea"/>
                  </a:rPr>
                  <a:t>的值也在</a:t>
                </a:r>
                <a:r>
                  <a:rPr lang="en-US" altLang="zh-CN" sz="2400" b="1" dirty="0">
                    <a:latin typeface="+mn-ea"/>
                  </a:rPr>
                  <a:t>[0,1]</a:t>
                </a:r>
                <a:r>
                  <a:rPr lang="zh-CN" altLang="en-US" sz="2400" b="1" dirty="0">
                    <a:latin typeface="+mn-ea"/>
                  </a:rPr>
                  <a:t>之间，则从</a:t>
                </a:r>
                <a:r>
                  <a:rPr lang="en-US" altLang="zh-CN" sz="2400" b="1" dirty="0">
                    <a:latin typeface="+mn-ea"/>
                  </a:rPr>
                  <a:t>HSI</a:t>
                </a:r>
                <a:r>
                  <a:rPr lang="zh-CN" altLang="en-US" sz="2400" b="1" dirty="0">
                    <a:latin typeface="+mn-ea"/>
                  </a:rPr>
                  <a:t>转到</a:t>
                </a:r>
                <a:r>
                  <a:rPr lang="en-US" altLang="zh-CN" sz="2400" b="1" dirty="0">
                    <a:latin typeface="+mn-ea"/>
                  </a:rPr>
                  <a:t>RGB</a:t>
                </a:r>
                <a:r>
                  <a:rPr lang="zh-CN" altLang="en-US" sz="2400" b="1" dirty="0">
                    <a:latin typeface="+mn-ea"/>
                  </a:rPr>
                  <a:t>的转换公式如下。</a:t>
                </a:r>
                <a:endParaRPr lang="en-US" altLang="zh-CN" sz="2400" b="1" dirty="0">
                  <a:latin typeface="+mn-ea"/>
                </a:endParaRPr>
              </a:p>
              <a:p>
                <a:pPr marL="0" lvl="0" indent="0" algn="just">
                  <a:lnSpc>
                    <a:spcPts val="1600"/>
                  </a:lnSpc>
                  <a:buNone/>
                </a:pPr>
                <a:r>
                  <a:rPr lang="en-US" altLang="zh-CN" sz="2200" kern="100" dirty="0">
                    <a:solidFill>
                      <a:srgbClr val="0033CC"/>
                    </a:solidFill>
                    <a:effectLst/>
                    <a:latin typeface="+mn-ea"/>
                    <a:cs typeface="Times New Roman" panose="02020603050405020304" pitchFamily="18" charset="0"/>
                  </a:rPr>
                  <a:t>  </a:t>
                </a:r>
                <a:r>
                  <a:rPr lang="en-US" altLang="zh-CN" sz="2200" kern="100" dirty="0">
                    <a:solidFill>
                      <a:srgbClr val="0033CC"/>
                    </a:solidFill>
                    <a:latin typeface="等线" panose="02010600030101010101" pitchFamily="2" charset="-122"/>
                    <a:ea typeface="宋体" panose="02010600030101010101" pitchFamily="2" charset="-122"/>
                    <a:cs typeface="Times New Roman" panose="02020603050405020304" pitchFamily="18" charset="0"/>
                  </a:rPr>
                  <a:t>(1)</a:t>
                </a:r>
                <a:r>
                  <a:rPr lang="zh-CN" altLang="zh-CN" sz="2200" kern="100" dirty="0">
                    <a:solidFill>
                      <a:srgbClr val="0033CC"/>
                    </a:solidFill>
                    <a:latin typeface="等线" panose="02010600030101010101" pitchFamily="2" charset="-122"/>
                    <a:ea typeface="宋体" panose="02010600030101010101" pitchFamily="2" charset="-122"/>
                    <a:cs typeface="Times New Roman" panose="02020603050405020304" pitchFamily="18" charset="0"/>
                  </a:rPr>
                  <a:t>当</a:t>
                </a:r>
                <a:r>
                  <a:rPr lang="en-US" altLang="zh-CN" sz="2200" kern="100" dirty="0">
                    <a:solidFill>
                      <a:srgbClr val="0033CC"/>
                    </a:solidFill>
                    <a:latin typeface="等线" panose="02010600030101010101" pitchFamily="2" charset="-122"/>
                    <a:ea typeface="宋体" panose="02010600030101010101" pitchFamily="2" charset="-122"/>
                    <a:cs typeface="Times New Roman" panose="02020603050405020304" pitchFamily="18" charset="0"/>
                  </a:rPr>
                  <a:t>H</a:t>
                </a:r>
                <a:r>
                  <a:rPr lang="zh-CN" altLang="zh-CN" sz="2200" kern="100" dirty="0">
                    <a:solidFill>
                      <a:srgbClr val="0033CC"/>
                    </a:solidFill>
                    <a:latin typeface="等线" panose="02010600030101010101" pitchFamily="2" charset="-122"/>
                    <a:ea typeface="宋体" panose="02010600030101010101" pitchFamily="2" charset="-122"/>
                    <a:cs typeface="Times New Roman" panose="02020603050405020304" pitchFamily="18" charset="0"/>
                  </a:rPr>
                  <a:t>在</a:t>
                </a:r>
                <a:r>
                  <a:rPr lang="en-US" altLang="zh-CN" sz="2200" kern="100" dirty="0">
                    <a:solidFill>
                      <a:srgbClr val="0033CC"/>
                    </a:solidFill>
                    <a:latin typeface="等线" panose="02010600030101010101" pitchFamily="2" charset="-122"/>
                    <a:ea typeface="宋体" panose="02010600030101010101" pitchFamily="2" charset="-122"/>
                    <a:cs typeface="Times New Roman" panose="02020603050405020304" pitchFamily="18" charset="0"/>
                  </a:rPr>
                  <a:t>[0,2</a:t>
                </a:r>
                <a:r>
                  <a:rPr lang="el-GR" altLang="zh-CN" sz="2200" kern="100" dirty="0" smtClean="0">
                    <a:solidFill>
                      <a:srgbClr val="0033CC"/>
                    </a:solidFill>
                    <a:latin typeface="等线" panose="02010600030101010101" pitchFamily="2" charset="-122"/>
                    <a:ea typeface="宋体" panose="02010600030101010101" pitchFamily="2" charset="-122"/>
                    <a:cs typeface="Times New Roman" panose="02020603050405020304" pitchFamily="18" charset="0"/>
                  </a:rPr>
                  <a:t>π</a:t>
                </a:r>
                <a:r>
                  <a:rPr lang="en-US" altLang="zh-CN" sz="2200" kern="100" dirty="0" smtClean="0">
                    <a:solidFill>
                      <a:srgbClr val="0033CC"/>
                    </a:solidFill>
                    <a:latin typeface="等线" panose="02010600030101010101" pitchFamily="2" charset="-122"/>
                    <a:ea typeface="宋体" panose="02010600030101010101" pitchFamily="2" charset="-122"/>
                    <a:cs typeface="Times New Roman" panose="02020603050405020304" pitchFamily="18" charset="0"/>
                  </a:rPr>
                  <a:t>/3</a:t>
                </a:r>
                <a:r>
                  <a:rPr lang="en-US" altLang="zh-CN" sz="2200" kern="100" dirty="0">
                    <a:solidFill>
                      <a:srgbClr val="0033CC"/>
                    </a:solidFill>
                    <a:latin typeface="等线" panose="02010600030101010101" pitchFamily="2" charset="-122"/>
                    <a:ea typeface="宋体" panose="02010600030101010101" pitchFamily="2" charset="-122"/>
                    <a:cs typeface="Times New Roman" panose="02020603050405020304" pitchFamily="18" charset="0"/>
                  </a:rPr>
                  <a:t>]</a:t>
                </a:r>
                <a:r>
                  <a:rPr lang="zh-CN" altLang="zh-CN" sz="2200" kern="100" dirty="0">
                    <a:solidFill>
                      <a:srgbClr val="0033CC"/>
                    </a:solidFill>
                    <a:latin typeface="等线" panose="02010600030101010101" pitchFamily="2" charset="-122"/>
                    <a:ea typeface="宋体" panose="02010600030101010101" pitchFamily="2" charset="-122"/>
                    <a:cs typeface="Times New Roman" panose="02020603050405020304" pitchFamily="18" charset="0"/>
                  </a:rPr>
                  <a:t>之间时：</a:t>
                </a:r>
              </a:p>
              <a:p>
                <a:pPr indent="0" algn="ctr">
                  <a:buNone/>
                </a:pP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I</m:t>
                    </m:r>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S</m:t>
                        </m:r>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11-7</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ctr">
                  <a:buNone/>
                </a:pP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I</m:t>
                    </m:r>
                    <m:d>
                      <m:dPr>
                        <m:begChr m:val="["/>
                        <m:endChr m:val="]"/>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S</m:t>
                            </m:r>
                            <m:func>
                              <m:func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cos</m:t>
                                </m:r>
                              </m:fName>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H</m:t>
                                </m:r>
                              </m:e>
                            </m:func>
                          </m:num>
                          <m:den>
                            <m:func>
                              <m:func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cos</m:t>
                                </m:r>
                              </m:fName>
                              <m:e>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π</m:t>
                                        </m:r>
                                      </m:num>
                                      <m:den>
                                        <m:r>
                                          <a:rPr lang="en-US" altLang="zh-CN" sz="1800" kern="100">
                                            <a:effectLst/>
                                            <a:latin typeface="Cambria Math" panose="02040503050406030204" pitchFamily="18" charset="0"/>
                                            <a:ea typeface="等线" panose="02010600030101010101" pitchFamily="2" charset="-122"/>
                                            <a:cs typeface="Arial" panose="020B0604020202020204" pitchFamily="34" charset="0"/>
                                          </a:rPr>
                                          <m:t>3</m:t>
                                        </m:r>
                                      </m:den>
                                    </m:f>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H</m:t>
                                    </m:r>
                                  </m:e>
                                </m:d>
                              </m:e>
                            </m:func>
                          </m:den>
                        </m:f>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11-8</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lgn="ctr">
                  <a:buNone/>
                </a:pP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=3</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I</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11-9</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buNone/>
                </a:pPr>
                <a:endParaRPr lang="zh-CN" altLang="en-US" dirty="0"/>
              </a:p>
            </p:txBody>
          </p:sp>
        </mc:Choice>
        <mc:Fallback xmlns="">
          <p:sp>
            <p:nvSpPr>
              <p:cNvPr id="3" name="内容占位符 2">
                <a:extLst>
                  <a:ext uri="{FF2B5EF4-FFF2-40B4-BE49-F238E27FC236}">
                    <a16:creationId xmlns="" xmlns:a16="http://schemas.microsoft.com/office/drawing/2014/main" xmlns:a14="http://schemas.microsoft.com/office/drawing/2010/main" id="{798053D0-8097-4266-87F9-2538DEA26DD9}"/>
                  </a:ext>
                </a:extLst>
              </p:cNvPr>
              <p:cNvSpPr>
                <a:spLocks noGrp="1" noRot="1" noChangeAspect="1" noMove="1" noResize="1" noEditPoints="1" noAdjustHandles="1" noChangeArrowheads="1" noChangeShapeType="1" noTextEdit="1"/>
              </p:cNvSpPr>
              <p:nvPr>
                <p:ph sz="quarter" idx="13"/>
              </p:nvPr>
            </p:nvSpPr>
            <p:spPr>
              <a:xfrm>
                <a:off x="1082351" y="830424"/>
                <a:ext cx="10357174" cy="3097764"/>
              </a:xfrm>
              <a:blipFill rotWithShape="0">
                <a:blip r:embed="rId2"/>
                <a:stretch>
                  <a:fillRect l="-1059" t="-1575" r="-5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xmlns="" id="{0ECA8213-55A1-446E-9737-ADB31A9014FE}"/>
                  </a:ext>
                </a:extLst>
              </p:cNvPr>
              <p:cNvSpPr txBox="1"/>
              <p:nvPr/>
            </p:nvSpPr>
            <p:spPr>
              <a:xfrm>
                <a:off x="1393663" y="3837214"/>
                <a:ext cx="9734550" cy="3129639"/>
              </a:xfrm>
              <a:prstGeom prst="rect">
                <a:avLst/>
              </a:prstGeom>
              <a:noFill/>
            </p:spPr>
            <p:txBody>
              <a:bodyPr wrap="square">
                <a:spAutoFit/>
              </a:bodyPr>
              <a:lstStyle/>
              <a:p>
                <a:pPr lvl="0" algn="just">
                  <a:lnSpc>
                    <a:spcPts val="1600"/>
                  </a:lnSpc>
                </a:pPr>
                <a:r>
                  <a:rPr lang="en-US"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(2)</a:t>
                </a:r>
                <a:r>
                  <a:rPr lang="zh-CN"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当</a:t>
                </a:r>
                <a:r>
                  <a:rPr lang="en-US"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H</a:t>
                </a:r>
                <a:r>
                  <a:rPr lang="zh-CN"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在</a:t>
                </a:r>
                <a:r>
                  <a:rPr lang="en-US"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[2π/3</a:t>
                </a:r>
                <a:r>
                  <a:rPr lang="zh-CN"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4π/3]</a:t>
                </a:r>
                <a:r>
                  <a:rPr lang="zh-CN"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之间时：</a:t>
                </a:r>
                <a:endParaRPr lang="zh-CN" alt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p>
                <a:pPr indent="133350" algn="ct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I</m:t>
                    </m:r>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S</m:t>
                        </m:r>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11-10</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33350" algn="ct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I</m:t>
                    </m:r>
                    <m:d>
                      <m:dPr>
                        <m:begChr m:val="["/>
                        <m:endChr m:val="]"/>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S</m:t>
                            </m:r>
                            <m:func>
                              <m:func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cos</m:t>
                                </m:r>
                              </m:fName>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H</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a:rPr lang="en-US" altLang="zh-CN" sz="1800" kern="100">
                                        <a:effectLst/>
                                        <a:latin typeface="Cambria Math" panose="02040503050406030204" pitchFamily="18" charset="0"/>
                                        <a:ea typeface="等线" panose="02010600030101010101" pitchFamily="2" charset="-122"/>
                                        <a:cs typeface="Arial" panose="020B0604020202020204" pitchFamily="34" charset="0"/>
                                      </a:rPr>
                                      <m:t>2</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π</m:t>
                                    </m:r>
                                  </m:num>
                                  <m:den>
                                    <m:r>
                                      <a:rPr lang="en-US" altLang="zh-CN" sz="1800" kern="100">
                                        <a:effectLst/>
                                        <a:latin typeface="Cambria Math" panose="02040503050406030204" pitchFamily="18" charset="0"/>
                                        <a:ea typeface="等线" panose="02010600030101010101" pitchFamily="2" charset="-122"/>
                                        <a:cs typeface="Arial" panose="020B0604020202020204" pitchFamily="34" charset="0"/>
                                      </a:rPr>
                                      <m:t>3</m:t>
                                    </m:r>
                                  </m:den>
                                </m:f>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e>
                            </m:func>
                          </m:num>
                          <m:den>
                            <m:func>
                              <m:func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cos</m:t>
                                </m:r>
                              </m:fName>
                              <m:e>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π</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H</m:t>
                                    </m:r>
                                  </m:e>
                                </m:d>
                              </m:e>
                            </m:func>
                          </m:den>
                        </m:f>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11-11</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33350" algn="ct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=3</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I</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11-12</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lvl="0" algn="just">
                  <a:lnSpc>
                    <a:spcPts val="1600"/>
                  </a:lnSpc>
                </a:pPr>
                <a:r>
                  <a:rPr lang="en-US"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(3)</a:t>
                </a:r>
                <a:r>
                  <a:rPr lang="zh-CN"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当</a:t>
                </a:r>
                <a:r>
                  <a:rPr lang="en-US"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H</a:t>
                </a:r>
                <a:r>
                  <a:rPr lang="zh-CN"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在</a:t>
                </a:r>
                <a:r>
                  <a:rPr lang="en-US"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[4π/3</a:t>
                </a:r>
                <a:r>
                  <a:rPr lang="zh-CN"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2π]</a:t>
                </a:r>
                <a:r>
                  <a:rPr lang="zh-CN" altLang="zh-CN" sz="1800" kern="100" dirty="0">
                    <a:solidFill>
                      <a:srgbClr val="0033CC"/>
                    </a:solidFill>
                    <a:effectLst/>
                    <a:latin typeface="等线" panose="02010600030101010101" pitchFamily="2" charset="-122"/>
                    <a:ea typeface="宋体" panose="02010600030101010101" pitchFamily="2" charset="-122"/>
                    <a:cs typeface="Times New Roman" panose="02020603050405020304" pitchFamily="18" charset="0"/>
                  </a:rPr>
                  <a:t>之间时：</a:t>
                </a:r>
                <a:endParaRPr lang="zh-CN" alt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p>
                <a:pPr indent="133350" algn="ct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I</m:t>
                    </m:r>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S</m:t>
                        </m:r>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11-13</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33350" algn="ct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I</m:t>
                    </m:r>
                    <m:d>
                      <m:dPr>
                        <m:begChr m:val="["/>
                        <m:endChr m:val="]"/>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1+</m:t>
                        </m:r>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S</m:t>
                            </m:r>
                            <m:func>
                              <m:func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cos</m:t>
                                </m:r>
                              </m:fName>
                              <m:e>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H</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a:rPr lang="en-US" altLang="zh-CN" sz="1800" kern="100">
                                        <a:effectLst/>
                                        <a:latin typeface="Cambria Math" panose="02040503050406030204" pitchFamily="18" charset="0"/>
                                        <a:ea typeface="等线" panose="02010600030101010101" pitchFamily="2" charset="-122"/>
                                        <a:cs typeface="Arial" panose="020B0604020202020204" pitchFamily="34" charset="0"/>
                                      </a:rPr>
                                      <m:t>4</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π</m:t>
                                    </m:r>
                                  </m:num>
                                  <m:den>
                                    <m:r>
                                      <a:rPr lang="en-US" altLang="zh-CN" sz="1800" kern="100">
                                        <a:effectLst/>
                                        <a:latin typeface="Cambria Math" panose="02040503050406030204" pitchFamily="18" charset="0"/>
                                        <a:ea typeface="等线" panose="02010600030101010101" pitchFamily="2" charset="-122"/>
                                        <a:cs typeface="Arial" panose="020B0604020202020204" pitchFamily="34" charset="0"/>
                                      </a:rPr>
                                      <m:t>3</m:t>
                                    </m:r>
                                  </m:den>
                                </m:f>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e>
                            </m:func>
                          </m:num>
                          <m:den>
                            <m:func>
                              <m:func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cos</m:t>
                                </m:r>
                              </m:fName>
                              <m:e>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f>
                                      <m:f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fPr>
                                      <m:num>
                                        <m:r>
                                          <a:rPr lang="en-US" altLang="zh-CN" sz="1800" kern="100">
                                            <a:effectLst/>
                                            <a:latin typeface="Cambria Math" panose="02040503050406030204" pitchFamily="18" charset="0"/>
                                            <a:ea typeface="等线" panose="02010600030101010101" pitchFamily="2" charset="-122"/>
                                            <a:cs typeface="Arial" panose="020B0604020202020204" pitchFamily="34" charset="0"/>
                                          </a:rPr>
                                          <m:t>5</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π</m:t>
                                        </m:r>
                                      </m:num>
                                      <m:den>
                                        <m:r>
                                          <a:rPr lang="en-US" altLang="zh-CN" sz="1800" kern="100">
                                            <a:effectLst/>
                                            <a:latin typeface="Cambria Math" panose="02040503050406030204" pitchFamily="18" charset="0"/>
                                            <a:ea typeface="等线" panose="02010600030101010101" pitchFamily="2" charset="-122"/>
                                            <a:cs typeface="Arial" panose="020B0604020202020204" pitchFamily="34" charset="0"/>
                                          </a:rPr>
                                          <m:t>3</m:t>
                                        </m:r>
                                      </m:den>
                                    </m:f>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H</m:t>
                                    </m:r>
                                  </m:e>
                                </m:d>
                              </m:e>
                            </m:func>
                          </m:den>
                        </m:f>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11-14</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33350" algn="ct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R</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=3</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I</m:t>
                    </m:r>
                    <m:r>
                      <a:rPr lang="en-US" altLang="zh-CN" sz="1800" i="1" kern="100">
                        <a:effectLst/>
                        <a:latin typeface="Cambria Math" panose="02040503050406030204" pitchFamily="18" charset="0"/>
                        <a:ea typeface="等线" panose="02010600030101010101" pitchFamily="2" charset="-122"/>
                        <a:cs typeface="Arial" panose="020B0604020202020204" pitchFamily="34" charset="0"/>
                      </a:rPr>
                      <m:t>−</m:t>
                    </m:r>
                    <m:d>
                      <m:dPr>
                        <m:ctrlPr>
                          <a:rPr lang="zh-CN" altLang="zh-CN" sz="1800" i="1" kern="100">
                            <a:effectLst/>
                            <a:latin typeface="Cambria Math" panose="02040503050406030204" pitchFamily="18" charset="0"/>
                            <a:ea typeface="Cambria Math" panose="02040503050406030204" pitchFamily="18" charset="0"/>
                            <a:cs typeface="Arial" panose="020B0604020202020204" pitchFamily="34" charset="0"/>
                          </a:rPr>
                        </m:ctrlPr>
                      </m:dPr>
                      <m:e>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G</m:t>
                        </m:r>
                        <m:r>
                          <a:rPr lang="en-US" altLang="zh-CN" sz="1800" kern="100">
                            <a:effectLst/>
                            <a:latin typeface="Cambria Math" panose="02040503050406030204" pitchFamily="18" charset="0"/>
                            <a:ea typeface="等线" panose="02010600030101010101" pitchFamily="2" charset="-122"/>
                            <a:cs typeface="Arial" panose="020B0604020202020204" pitchFamily="34" charset="0"/>
                          </a:rPr>
                          <m:t>+</m:t>
                        </m:r>
                        <m:r>
                          <m:rPr>
                            <m:sty m:val="p"/>
                          </m:rPr>
                          <a:rPr lang="en-US" altLang="zh-CN" sz="1800" kern="100">
                            <a:effectLst/>
                            <a:latin typeface="Cambria Math" panose="02040503050406030204" pitchFamily="18" charset="0"/>
                            <a:ea typeface="等线" panose="02010600030101010101" pitchFamily="2" charset="-122"/>
                            <a:cs typeface="Arial" panose="020B0604020202020204" pitchFamily="34" charset="0"/>
                          </a:rPr>
                          <m:t>B</m:t>
                        </m:r>
                      </m:e>
                    </m:d>
                  </m:oMath>
                </a14:m>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                 11-15</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33350" algn="ctr"/>
                <a:r>
                  <a:rPr lang="en-US" altLang="zh-CN" sz="1800" kern="100" dirty="0">
                    <a:effectLst/>
                    <a:latin typeface="Arial" panose="020B0604020202020204" pitchFamily="34" charset="0"/>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文本框 6">
                <a:extLst>
                  <a:ext uri="{FF2B5EF4-FFF2-40B4-BE49-F238E27FC236}">
                    <a16:creationId xmlns="" xmlns:a16="http://schemas.microsoft.com/office/drawing/2014/main" xmlns:a14="http://schemas.microsoft.com/office/drawing/2010/main" id="{0ECA8213-55A1-446E-9737-ADB31A9014FE}"/>
                  </a:ext>
                </a:extLst>
              </p:cNvPr>
              <p:cNvSpPr txBox="1">
                <a:spLocks noRot="1" noChangeAspect="1" noMove="1" noResize="1" noEditPoints="1" noAdjustHandles="1" noChangeArrowheads="1" noChangeShapeType="1" noTextEdit="1"/>
              </p:cNvSpPr>
              <p:nvPr/>
            </p:nvSpPr>
            <p:spPr>
              <a:xfrm>
                <a:off x="1393663" y="3837214"/>
                <a:ext cx="9734550" cy="3129639"/>
              </a:xfrm>
              <a:prstGeom prst="rect">
                <a:avLst/>
              </a:prstGeom>
              <a:blipFill rotWithShape="0">
                <a:blip r:embed="rId3"/>
                <a:stretch>
                  <a:fillRect l="-564" t="-36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5577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0893D73-CE07-4B66-92C5-742C13BAEFC2}"/>
              </a:ext>
            </a:extLst>
          </p:cNvPr>
          <p:cNvSpPr>
            <a:spLocks noGrp="1"/>
          </p:cNvSpPr>
          <p:nvPr>
            <p:ph type="title"/>
          </p:nvPr>
        </p:nvSpPr>
        <p:spPr>
          <a:xfrm>
            <a:off x="629688" y="641166"/>
            <a:ext cx="10364451" cy="704256"/>
          </a:xfrm>
        </p:spPr>
        <p:txBody>
          <a:bodyPr>
            <a:normAutofit/>
          </a:bodyPr>
          <a:lstStyle/>
          <a:p>
            <a:r>
              <a:rPr lang="en-US" altLang="zh-CN" sz="3200" b="1" dirty="0">
                <a:solidFill>
                  <a:srgbClr val="C00000"/>
                </a:solidFill>
                <a:latin typeface="Times New Roman" panose="02020603050405020304" pitchFamily="18" charset="0"/>
                <a:cs typeface="Times New Roman" panose="02020603050405020304" pitchFamily="18" charset="0"/>
              </a:rPr>
              <a:t>11.1.4 </a:t>
            </a:r>
            <a:r>
              <a:rPr lang="en-US" altLang="zh-CN" sz="3200" b="1" dirty="0" smtClean="0">
                <a:solidFill>
                  <a:srgbClr val="C00000"/>
                </a:solidFill>
                <a:latin typeface="Times New Roman" panose="02020603050405020304" pitchFamily="18" charset="0"/>
                <a:cs typeface="Times New Roman" panose="02020603050405020304" pitchFamily="18" charset="0"/>
              </a:rPr>
              <a:t> YIQ</a:t>
            </a:r>
            <a:r>
              <a:rPr lang="zh-CN" altLang="en-US" sz="3200" b="1" dirty="0">
                <a:solidFill>
                  <a:srgbClr val="C00000"/>
                </a:solidFill>
                <a:latin typeface="Times New Roman" panose="02020603050405020304" pitchFamily="18" charset="0"/>
                <a:cs typeface="Times New Roman" panose="02020603050405020304" pitchFamily="18" charset="0"/>
              </a:rPr>
              <a:t>（</a:t>
            </a:r>
            <a:r>
              <a:rPr lang="en-US" altLang="zh-CN" sz="3200" b="1" dirty="0">
                <a:solidFill>
                  <a:srgbClr val="C00000"/>
                </a:solidFill>
                <a:latin typeface="Times New Roman" panose="02020603050405020304" pitchFamily="18" charset="0"/>
                <a:cs typeface="Times New Roman" panose="02020603050405020304" pitchFamily="18" charset="0"/>
              </a:rPr>
              <a:t>NTSC</a:t>
            </a:r>
            <a:r>
              <a:rPr lang="zh-CN" altLang="en-US" sz="3200" b="1" dirty="0">
                <a:solidFill>
                  <a:srgbClr val="C00000"/>
                </a:solidFill>
                <a:latin typeface="Times New Roman" panose="02020603050405020304" pitchFamily="18" charset="0"/>
                <a:cs typeface="Times New Roman" panose="02020603050405020304" pitchFamily="18" charset="0"/>
              </a:rPr>
              <a:t>）彩色模型</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D8B46447-62AE-4321-B00C-073B0B45D050}"/>
                  </a:ext>
                </a:extLst>
              </p:cNvPr>
              <p:cNvSpPr>
                <a:spLocks noGrp="1"/>
              </p:cNvSpPr>
              <p:nvPr>
                <p:ph sz="quarter" idx="13"/>
              </p:nvPr>
            </p:nvSpPr>
            <p:spPr>
              <a:xfrm>
                <a:off x="346229" y="1558212"/>
                <a:ext cx="10931371" cy="4949120"/>
              </a:xfrm>
            </p:spPr>
            <p:txBody>
              <a:bodyPr/>
              <a:lstStyle/>
              <a:p>
                <a:pPr marL="0" indent="457200">
                  <a:buNone/>
                </a:pPr>
                <a:r>
                  <a:rPr lang="en-US" altLang="zh-CN" sz="2400" b="1" dirty="0">
                    <a:latin typeface="+mn-ea"/>
                  </a:rPr>
                  <a:t>NTSC</a:t>
                </a:r>
                <a:r>
                  <a:rPr lang="zh-CN" altLang="en-US" sz="2400" b="1" dirty="0">
                    <a:latin typeface="+mn-ea"/>
                  </a:rPr>
                  <a:t>彩色模型是一些国家的模拟电视标准，这个模型的主要优点之一是将灰度内容从彩色数据中区分出来的能力，这也是当年彩色电视机和传输设备出现时的一个主要设计要求，即要与先前黑白的设备向下兼容。在</a:t>
                </a:r>
                <a:r>
                  <a:rPr lang="en-US" altLang="zh-CN" sz="2400" b="1" dirty="0">
                    <a:latin typeface="+mn-ea"/>
                  </a:rPr>
                  <a:t>NTSC</a:t>
                </a:r>
                <a:r>
                  <a:rPr lang="zh-CN" altLang="en-US" sz="2400" b="1" dirty="0">
                    <a:latin typeface="+mn-ea"/>
                  </a:rPr>
                  <a:t>彩色模型中，</a:t>
                </a:r>
                <a:r>
                  <a:rPr lang="en-US" altLang="zh-CN" sz="2400" b="1" dirty="0">
                    <a:latin typeface="+mn-ea"/>
                  </a:rPr>
                  <a:t>3</a:t>
                </a:r>
                <a:r>
                  <a:rPr lang="zh-CN" altLang="en-US" sz="2400" b="1" dirty="0">
                    <a:latin typeface="+mn-ea"/>
                  </a:rPr>
                  <a:t>个分量是</a:t>
                </a:r>
                <a:r>
                  <a:rPr lang="zh-CN" altLang="en-US" sz="2400" b="1" dirty="0">
                    <a:solidFill>
                      <a:srgbClr val="FF0000"/>
                    </a:solidFill>
                    <a:latin typeface="+mn-ea"/>
                  </a:rPr>
                  <a:t>亮度（</a:t>
                </a:r>
                <a:r>
                  <a:rPr lang="en-US" altLang="zh-CN" sz="2400" b="1" dirty="0">
                    <a:solidFill>
                      <a:srgbClr val="FF0000"/>
                    </a:solidFill>
                    <a:latin typeface="+mn-ea"/>
                  </a:rPr>
                  <a:t>Y</a:t>
                </a:r>
                <a:r>
                  <a:rPr lang="zh-CN" altLang="en-US" sz="2400" b="1" dirty="0">
                    <a:solidFill>
                      <a:srgbClr val="FF0000"/>
                    </a:solidFill>
                    <a:latin typeface="+mn-ea"/>
                  </a:rPr>
                  <a:t>）</a:t>
                </a:r>
                <a:r>
                  <a:rPr lang="zh-CN" altLang="en-US" sz="2400" b="1" dirty="0">
                    <a:latin typeface="+mn-ea"/>
                  </a:rPr>
                  <a:t>和两个色差信号：</a:t>
                </a:r>
                <a:r>
                  <a:rPr lang="zh-CN" altLang="en-US" sz="2400" b="1" dirty="0">
                    <a:solidFill>
                      <a:srgbClr val="FF0000"/>
                    </a:solidFill>
                    <a:latin typeface="+mn-ea"/>
                  </a:rPr>
                  <a:t>色调（</a:t>
                </a:r>
                <a:r>
                  <a:rPr lang="en-US" altLang="zh-CN" sz="2400" b="1" dirty="0">
                    <a:solidFill>
                      <a:srgbClr val="FF0000"/>
                    </a:solidFill>
                    <a:latin typeface="+mn-ea"/>
                  </a:rPr>
                  <a:t>I</a:t>
                </a:r>
                <a:r>
                  <a:rPr lang="zh-CN" altLang="en-US" sz="2400" b="1" dirty="0">
                    <a:solidFill>
                      <a:srgbClr val="FF0000"/>
                    </a:solidFill>
                    <a:latin typeface="+mn-ea"/>
                  </a:rPr>
                  <a:t>）和饱和度（</a:t>
                </a:r>
                <a:r>
                  <a:rPr lang="en-US" altLang="zh-CN" sz="2400" b="1" dirty="0">
                    <a:solidFill>
                      <a:srgbClr val="FF0000"/>
                    </a:solidFill>
                    <a:latin typeface="+mn-ea"/>
                  </a:rPr>
                  <a:t>Q</a:t>
                </a:r>
                <a:r>
                  <a:rPr lang="zh-CN" altLang="en-US" sz="2400" b="1" dirty="0">
                    <a:solidFill>
                      <a:srgbClr val="FF0000"/>
                    </a:solidFill>
                    <a:latin typeface="+mn-ea"/>
                  </a:rPr>
                  <a:t>）</a:t>
                </a:r>
                <a:r>
                  <a:rPr lang="zh-CN" altLang="en-US" dirty="0"/>
                  <a:t>。  </a:t>
                </a:r>
              </a:p>
              <a:p>
                <a:pPr marL="0" indent="457200">
                  <a:buNone/>
                </a:pPr>
                <a:r>
                  <a:rPr lang="zh-CN" altLang="en-US" sz="2400" b="1" dirty="0">
                    <a:latin typeface="+mn-ea"/>
                  </a:rPr>
                  <a:t>从</a:t>
                </a:r>
                <a:r>
                  <a:rPr lang="en-US" altLang="zh-CN" sz="2400" b="1" dirty="0">
                    <a:latin typeface="+mn-ea"/>
                  </a:rPr>
                  <a:t>RGB</a:t>
                </a:r>
                <a:r>
                  <a:rPr lang="zh-CN" altLang="en-US" sz="2400" b="1" dirty="0">
                    <a:latin typeface="+mn-ea"/>
                  </a:rPr>
                  <a:t>到</a:t>
                </a:r>
                <a:r>
                  <a:rPr lang="en-US" altLang="zh-CN" sz="2400" b="1" dirty="0">
                    <a:latin typeface="+mn-ea"/>
                  </a:rPr>
                  <a:t>YIQ</a:t>
                </a:r>
                <a:r>
                  <a:rPr lang="zh-CN" altLang="en-US" sz="2400" b="1" dirty="0">
                    <a:latin typeface="+mn-ea"/>
                  </a:rPr>
                  <a:t>的转换可用下列变换公式来实现：</a:t>
                </a:r>
              </a:p>
              <a:p>
                <a:pPr marL="0" indent="0">
                  <a:buNone/>
                </a:pPr>
                <a:r>
                  <a:rPr lang="en-US" altLang="zh-CN" sz="1800" kern="100" dirty="0">
                    <a:effectLst/>
                    <a:ea typeface="Cambria Math" panose="02040503050406030204" pitchFamily="18" charset="0"/>
                    <a:cs typeface="Arial" panose="020B0604020202020204" pitchFamily="34" charset="0"/>
                  </a:rPr>
                  <a:t>                              </a:t>
                </a:r>
                <a14:m>
                  <m:oMath xmlns:m="http://schemas.openxmlformats.org/officeDocument/2006/math">
                    <m:d>
                      <m:dPr>
                        <m:begChr m:val="["/>
                        <m:endChr m:val="]"/>
                        <m:ctrlPr>
                          <a:rPr lang="zh-CN" altLang="zh-CN" sz="3200" i="1" kern="100" smtClean="0">
                            <a:effectLst/>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zh-CN" altLang="zh-CN" sz="3200" i="1" kern="100">
                                <a:effectLst/>
                                <a:latin typeface="Cambria Math" panose="02040503050406030204" pitchFamily="18" charset="0"/>
                                <a:ea typeface="Cambria Math" panose="02040503050406030204" pitchFamily="18" charset="0"/>
                                <a:cs typeface="Arial" panose="020B0604020202020204" pitchFamily="34" charset="0"/>
                              </a:rPr>
                            </m:ctrlPr>
                          </m:mPr>
                          <m:mr>
                            <m:e>
                              <m:r>
                                <m:rPr>
                                  <m:sty m:val="p"/>
                                </m:rPr>
                                <a:rPr lang="en-US" altLang="zh-CN" sz="3200" kern="100">
                                  <a:effectLst/>
                                  <a:latin typeface="Cambria Math" panose="02040503050406030204" pitchFamily="18" charset="0"/>
                                  <a:ea typeface="等线" panose="02010600030101010101" pitchFamily="2" charset="-122"/>
                                  <a:cs typeface="Arial" panose="020B0604020202020204" pitchFamily="34" charset="0"/>
                                </a:rPr>
                                <m:t>Y</m:t>
                              </m:r>
                            </m:e>
                          </m:mr>
                          <m:mr>
                            <m:e>
                              <m:r>
                                <m:rPr>
                                  <m:sty m:val="p"/>
                                </m:rPr>
                                <a:rPr lang="en-US" altLang="zh-CN" sz="3200" kern="100">
                                  <a:effectLst/>
                                  <a:latin typeface="Cambria Math" panose="02040503050406030204" pitchFamily="18" charset="0"/>
                                  <a:ea typeface="等线" panose="02010600030101010101" pitchFamily="2" charset="-122"/>
                                  <a:cs typeface="Arial" panose="020B0604020202020204" pitchFamily="34" charset="0"/>
                                </a:rPr>
                                <m:t>I</m:t>
                              </m:r>
                            </m:e>
                          </m:mr>
                          <m:mr>
                            <m:e>
                              <m:r>
                                <m:rPr>
                                  <m:sty m:val="p"/>
                                </m:rPr>
                                <a:rPr lang="en-US" altLang="zh-CN" sz="3200" kern="100">
                                  <a:effectLst/>
                                  <a:latin typeface="Cambria Math" panose="02040503050406030204" pitchFamily="18" charset="0"/>
                                  <a:ea typeface="等线" panose="02010600030101010101" pitchFamily="2" charset="-122"/>
                                  <a:cs typeface="Arial" panose="020B0604020202020204" pitchFamily="34" charset="0"/>
                                </a:rPr>
                                <m:t>Q</m:t>
                              </m:r>
                            </m:e>
                          </m:mr>
                        </m:m>
                      </m:e>
                    </m:d>
                    <m:r>
                      <a:rPr lang="en-US" altLang="zh-CN" sz="3200" kern="100">
                        <a:effectLst/>
                        <a:latin typeface="Cambria Math" panose="02040503050406030204" pitchFamily="18" charset="0"/>
                        <a:ea typeface="等线" panose="02010600030101010101" pitchFamily="2" charset="-122"/>
                        <a:cs typeface="Arial" panose="020B0604020202020204" pitchFamily="34" charset="0"/>
                      </a:rPr>
                      <m:t>=</m:t>
                    </m:r>
                    <m:d>
                      <m:dPr>
                        <m:begChr m:val="["/>
                        <m:endChr m:val="]"/>
                        <m:ctrlPr>
                          <a:rPr lang="zh-CN" altLang="zh-CN" sz="3200" i="1" kern="100">
                            <a:effectLst/>
                            <a:latin typeface="Cambria Math" panose="02040503050406030204" pitchFamily="18" charset="0"/>
                            <a:ea typeface="Cambria Math" panose="02040503050406030204" pitchFamily="18" charset="0"/>
                            <a:cs typeface="Arial" panose="020B0604020202020204" pitchFamily="34" charset="0"/>
                          </a:rPr>
                        </m:ctrlPr>
                      </m:dPr>
                      <m:e>
                        <m:m>
                          <m:mPr>
                            <m:mcs>
                              <m:mc>
                                <m:mcPr>
                                  <m:count m:val="3"/>
                                  <m:mcJc m:val="center"/>
                                </m:mcPr>
                              </m:mc>
                            </m:mcs>
                            <m:ctrlPr>
                              <a:rPr lang="zh-CN" altLang="zh-CN" sz="3200" i="1" kern="100">
                                <a:effectLst/>
                                <a:latin typeface="Cambria Math" panose="02040503050406030204" pitchFamily="18" charset="0"/>
                                <a:ea typeface="Cambria Math" panose="02040503050406030204" pitchFamily="18" charset="0"/>
                                <a:cs typeface="Arial" panose="020B0604020202020204" pitchFamily="34" charset="0"/>
                              </a:rPr>
                            </m:ctrlPr>
                          </m:mPr>
                          <m:mr>
                            <m:e>
                              <m:r>
                                <a:rPr lang="en-US" altLang="zh-CN" sz="3200" kern="100">
                                  <a:effectLst/>
                                  <a:latin typeface="Cambria Math" panose="02040503050406030204" pitchFamily="18" charset="0"/>
                                  <a:ea typeface="等线" panose="02010600030101010101" pitchFamily="2" charset="-122"/>
                                  <a:cs typeface="Arial" panose="020B0604020202020204" pitchFamily="34" charset="0"/>
                                </a:rPr>
                                <m:t>0.299</m:t>
                              </m:r>
                            </m:e>
                            <m:e>
                              <m:r>
                                <a:rPr lang="en-US" altLang="zh-CN" sz="3200" kern="100">
                                  <a:effectLst/>
                                  <a:latin typeface="Cambria Math" panose="02040503050406030204" pitchFamily="18" charset="0"/>
                                  <a:ea typeface="等线" panose="02010600030101010101" pitchFamily="2" charset="-122"/>
                                  <a:cs typeface="Arial" panose="020B0604020202020204" pitchFamily="34" charset="0"/>
                                </a:rPr>
                                <m:t>0.587</m:t>
                              </m:r>
                            </m:e>
                            <m:e>
                              <m:r>
                                <a:rPr lang="en-US" altLang="zh-CN" sz="3200" kern="100">
                                  <a:effectLst/>
                                  <a:latin typeface="Cambria Math" panose="02040503050406030204" pitchFamily="18" charset="0"/>
                                  <a:ea typeface="等线" panose="02010600030101010101" pitchFamily="2" charset="-122"/>
                                  <a:cs typeface="Arial" panose="020B0604020202020204" pitchFamily="34" charset="0"/>
                                </a:rPr>
                                <m:t>0.114</m:t>
                              </m:r>
                            </m:e>
                          </m:mr>
                          <m:mr>
                            <m:e>
                              <m:r>
                                <a:rPr lang="en-US" altLang="zh-CN" sz="3200" kern="100">
                                  <a:effectLst/>
                                  <a:latin typeface="Cambria Math" panose="02040503050406030204" pitchFamily="18" charset="0"/>
                                  <a:ea typeface="等线" panose="02010600030101010101" pitchFamily="2" charset="-122"/>
                                  <a:cs typeface="Arial" panose="020B0604020202020204" pitchFamily="34" charset="0"/>
                                </a:rPr>
                                <m:t>0.596</m:t>
                              </m:r>
                            </m:e>
                            <m:e>
                              <m:r>
                                <a:rPr lang="en-US" altLang="zh-CN" sz="3200" i="1" kern="100">
                                  <a:effectLst/>
                                  <a:latin typeface="Cambria Math" panose="02040503050406030204" pitchFamily="18" charset="0"/>
                                  <a:ea typeface="等线" panose="02010600030101010101" pitchFamily="2" charset="-122"/>
                                  <a:cs typeface="Arial" panose="020B0604020202020204" pitchFamily="34" charset="0"/>
                                </a:rPr>
                                <m:t>−</m:t>
                              </m:r>
                              <m:r>
                                <a:rPr lang="en-US" altLang="zh-CN" sz="3200" kern="100">
                                  <a:effectLst/>
                                  <a:latin typeface="Cambria Math" panose="02040503050406030204" pitchFamily="18" charset="0"/>
                                  <a:ea typeface="等线" panose="02010600030101010101" pitchFamily="2" charset="-122"/>
                                  <a:cs typeface="Arial" panose="020B0604020202020204" pitchFamily="34" charset="0"/>
                                </a:rPr>
                                <m:t>0.274</m:t>
                              </m:r>
                            </m:e>
                            <m:e>
                              <m:r>
                                <a:rPr lang="en-US" altLang="zh-CN" sz="3200" i="1" kern="100">
                                  <a:effectLst/>
                                  <a:latin typeface="Cambria Math" panose="02040503050406030204" pitchFamily="18" charset="0"/>
                                  <a:ea typeface="等线" panose="02010600030101010101" pitchFamily="2" charset="-122"/>
                                  <a:cs typeface="Arial" panose="020B0604020202020204" pitchFamily="34" charset="0"/>
                                </a:rPr>
                                <m:t>−</m:t>
                              </m:r>
                              <m:r>
                                <a:rPr lang="en-US" altLang="zh-CN" sz="3200" kern="100">
                                  <a:effectLst/>
                                  <a:latin typeface="Cambria Math" panose="02040503050406030204" pitchFamily="18" charset="0"/>
                                  <a:ea typeface="等线" panose="02010600030101010101" pitchFamily="2" charset="-122"/>
                                  <a:cs typeface="Arial" panose="020B0604020202020204" pitchFamily="34" charset="0"/>
                                </a:rPr>
                                <m:t>0.322</m:t>
                              </m:r>
                            </m:e>
                          </m:mr>
                          <m:mr>
                            <m:e>
                              <m:r>
                                <a:rPr lang="en-US" altLang="zh-CN" sz="3200" kern="100">
                                  <a:effectLst/>
                                  <a:latin typeface="Cambria Math" panose="02040503050406030204" pitchFamily="18" charset="0"/>
                                  <a:ea typeface="等线" panose="02010600030101010101" pitchFamily="2" charset="-122"/>
                                  <a:cs typeface="Arial" panose="020B0604020202020204" pitchFamily="34" charset="0"/>
                                </a:rPr>
                                <m:t>0.211</m:t>
                              </m:r>
                            </m:e>
                            <m:e>
                              <m:r>
                                <a:rPr lang="en-US" altLang="zh-CN" sz="3200" i="1" kern="100">
                                  <a:effectLst/>
                                  <a:latin typeface="Cambria Math" panose="02040503050406030204" pitchFamily="18" charset="0"/>
                                  <a:ea typeface="等线" panose="02010600030101010101" pitchFamily="2" charset="-122"/>
                                  <a:cs typeface="Arial" panose="020B0604020202020204" pitchFamily="34" charset="0"/>
                                </a:rPr>
                                <m:t>−</m:t>
                              </m:r>
                              <m:r>
                                <a:rPr lang="en-US" altLang="zh-CN" sz="3200" kern="100">
                                  <a:effectLst/>
                                  <a:latin typeface="Cambria Math" panose="02040503050406030204" pitchFamily="18" charset="0"/>
                                  <a:ea typeface="等线" panose="02010600030101010101" pitchFamily="2" charset="-122"/>
                                  <a:cs typeface="Arial" panose="020B0604020202020204" pitchFamily="34" charset="0"/>
                                </a:rPr>
                                <m:t>0.253</m:t>
                              </m:r>
                            </m:e>
                            <m:e>
                              <m:r>
                                <a:rPr lang="en-US" altLang="zh-CN" sz="3200" kern="100">
                                  <a:effectLst/>
                                  <a:latin typeface="Cambria Math" panose="02040503050406030204" pitchFamily="18" charset="0"/>
                                  <a:ea typeface="等线" panose="02010600030101010101" pitchFamily="2" charset="-122"/>
                                  <a:cs typeface="Arial" panose="020B0604020202020204" pitchFamily="34" charset="0"/>
                                </a:rPr>
                                <m:t>0.312</m:t>
                              </m:r>
                            </m:e>
                          </m:mr>
                        </m:m>
                      </m:e>
                    </m:d>
                    <m:d>
                      <m:dPr>
                        <m:begChr m:val="["/>
                        <m:endChr m:val="]"/>
                        <m:ctrlPr>
                          <a:rPr lang="zh-CN" altLang="zh-CN" sz="3200" i="1" kern="100">
                            <a:effectLst/>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zh-CN" altLang="zh-CN" sz="3200" i="1" kern="100">
                                <a:effectLst/>
                                <a:latin typeface="Cambria Math" panose="02040503050406030204" pitchFamily="18" charset="0"/>
                                <a:ea typeface="Cambria Math" panose="02040503050406030204" pitchFamily="18" charset="0"/>
                                <a:cs typeface="Arial" panose="020B0604020202020204" pitchFamily="34" charset="0"/>
                              </a:rPr>
                            </m:ctrlPr>
                          </m:mPr>
                          <m:mr>
                            <m:e>
                              <m:r>
                                <m:rPr>
                                  <m:sty m:val="p"/>
                                </m:rPr>
                                <a:rPr lang="en-US" altLang="zh-CN" sz="3200" kern="100">
                                  <a:effectLst/>
                                  <a:latin typeface="Cambria Math" panose="02040503050406030204" pitchFamily="18" charset="0"/>
                                  <a:ea typeface="等线" panose="02010600030101010101" pitchFamily="2" charset="-122"/>
                                  <a:cs typeface="Arial" panose="020B0604020202020204" pitchFamily="34" charset="0"/>
                                </a:rPr>
                                <m:t>R</m:t>
                              </m:r>
                            </m:e>
                          </m:mr>
                          <m:mr>
                            <m:e>
                              <m:r>
                                <m:rPr>
                                  <m:sty m:val="p"/>
                                </m:rPr>
                                <a:rPr lang="en-US" altLang="zh-CN" sz="3200" kern="100">
                                  <a:effectLst/>
                                  <a:latin typeface="Cambria Math" panose="02040503050406030204" pitchFamily="18" charset="0"/>
                                  <a:ea typeface="等线" panose="02010600030101010101" pitchFamily="2" charset="-122"/>
                                  <a:cs typeface="Arial" panose="020B0604020202020204" pitchFamily="34" charset="0"/>
                                </a:rPr>
                                <m:t>G</m:t>
                              </m:r>
                            </m:e>
                          </m:mr>
                          <m:mr>
                            <m:e>
                              <m:r>
                                <m:rPr>
                                  <m:sty m:val="p"/>
                                </m:rPr>
                                <a:rPr lang="en-US" altLang="zh-CN" sz="3200" kern="100">
                                  <a:effectLst/>
                                  <a:latin typeface="Cambria Math" panose="02040503050406030204" pitchFamily="18" charset="0"/>
                                  <a:ea typeface="等线" panose="02010600030101010101" pitchFamily="2" charset="-122"/>
                                  <a:cs typeface="Arial" panose="020B0604020202020204" pitchFamily="34" charset="0"/>
                                </a:rPr>
                                <m:t>B</m:t>
                              </m:r>
                            </m:e>
                          </m:mr>
                        </m:m>
                      </m:e>
                    </m:d>
                  </m:oMath>
                </a14:m>
                <a:r>
                  <a:rPr lang="en-US" altLang="zh-CN" sz="3200" kern="100" dirty="0">
                    <a:effectLst/>
                    <a:latin typeface="Times New Roman" panose="02020603050405020304" pitchFamily="18" charset="0"/>
                    <a:ea typeface="等线" panose="02010600030101010101" pitchFamily="2" charset="-122"/>
                    <a:cs typeface="Times New Roman" panose="02020603050405020304" pitchFamily="18" charset="0"/>
                  </a:rPr>
                  <a:t>    11-16</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buNone/>
                </a:pPr>
                <a:endParaRPr lang="zh-CN" altLang="en-US" dirty="0"/>
              </a:p>
            </p:txBody>
          </p:sp>
        </mc:Choice>
        <mc:Fallback xmlns="">
          <p:sp>
            <p:nvSpPr>
              <p:cNvPr id="3" name="内容占位符 2">
                <a:extLst>
                  <a:ext uri="{FF2B5EF4-FFF2-40B4-BE49-F238E27FC236}">
                    <a16:creationId xmlns="" xmlns:a16="http://schemas.microsoft.com/office/drawing/2014/main" xmlns:a14="http://schemas.microsoft.com/office/drawing/2010/main" id="{D8B46447-62AE-4321-B00C-073B0B45D050}"/>
                  </a:ext>
                </a:extLst>
              </p:cNvPr>
              <p:cNvSpPr>
                <a:spLocks noGrp="1" noRot="1" noChangeAspect="1" noMove="1" noResize="1" noEditPoints="1" noAdjustHandles="1" noChangeArrowheads="1" noChangeShapeType="1" noTextEdit="1"/>
              </p:cNvSpPr>
              <p:nvPr>
                <p:ph sz="quarter" idx="13"/>
              </p:nvPr>
            </p:nvSpPr>
            <p:spPr>
              <a:xfrm>
                <a:off x="346229" y="1558212"/>
                <a:ext cx="10931371" cy="4949120"/>
              </a:xfrm>
              <a:blipFill rotWithShape="0">
                <a:blip r:embed="rId2"/>
                <a:stretch>
                  <a:fillRect l="-892" t="-740" r="-7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43104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E727952D-12AE-4A87-97DD-69824CD280A0}"/>
              </a:ext>
            </a:extLst>
          </p:cNvPr>
          <p:cNvSpPr txBox="1"/>
          <p:nvPr/>
        </p:nvSpPr>
        <p:spPr>
          <a:xfrm>
            <a:off x="3240351" y="335418"/>
            <a:ext cx="4660776" cy="646331"/>
          </a:xfrm>
          <a:prstGeom prst="rect">
            <a:avLst/>
          </a:prstGeom>
          <a:noFill/>
        </p:spPr>
        <p:txBody>
          <a:bodyPr wrap="square" rtlCol="0">
            <a:spAutoFit/>
          </a:bodyPr>
          <a:lstStyle/>
          <a:p>
            <a:r>
              <a:rPr lang="en-US" altLang="zh-CN" sz="3600" b="1" dirty="0">
                <a:solidFill>
                  <a:srgbClr val="C00000"/>
                </a:solidFill>
              </a:rPr>
              <a:t>11.1.5 </a:t>
            </a:r>
            <a:r>
              <a:rPr lang="en-US" altLang="zh-CN" sz="3600" b="1" dirty="0" err="1">
                <a:solidFill>
                  <a:srgbClr val="C00000"/>
                </a:solidFill>
              </a:rPr>
              <a:t>YCrCb</a:t>
            </a:r>
            <a:r>
              <a:rPr lang="zh-CN" altLang="en-US" sz="3600" b="1" dirty="0">
                <a:solidFill>
                  <a:srgbClr val="C00000"/>
                </a:solidFill>
              </a:rPr>
              <a:t>彩色模型</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xmlns="" id="{A57C0D21-FC23-485D-891D-F4A278F7A7F7}"/>
                  </a:ext>
                </a:extLst>
              </p:cNvPr>
              <p:cNvSpPr txBox="1"/>
              <p:nvPr/>
            </p:nvSpPr>
            <p:spPr>
              <a:xfrm>
                <a:off x="1083076" y="1054509"/>
                <a:ext cx="9499107" cy="4441409"/>
              </a:xfrm>
              <a:prstGeom prst="rect">
                <a:avLst/>
              </a:prstGeom>
              <a:noFill/>
            </p:spPr>
            <p:txBody>
              <a:bodyPr wrap="square" rtlCol="0">
                <a:spAutoFit/>
              </a:bodyPr>
              <a:lstStyle/>
              <a:p>
                <a:pPr>
                  <a:lnSpc>
                    <a:spcPct val="150000"/>
                  </a:lnSpc>
                </a:pPr>
                <a:r>
                  <a:rPr lang="en-US" altLang="zh-CN" sz="2400" b="1" dirty="0" err="1">
                    <a:latin typeface="+mn-ea"/>
                  </a:rPr>
                  <a:t>YCrCb</a:t>
                </a:r>
                <a:r>
                  <a:rPr lang="zh-CN" altLang="en-US" sz="2400" b="1" dirty="0">
                    <a:latin typeface="+mn-ea"/>
                  </a:rPr>
                  <a:t>彩色模型是数字视频中最流行的彩色表达，在这个格式中，一个分量代表</a:t>
                </a:r>
                <a:r>
                  <a:rPr lang="zh-CN" altLang="en-US" sz="2400" b="1" dirty="0">
                    <a:solidFill>
                      <a:srgbClr val="FF0000"/>
                    </a:solidFill>
                    <a:latin typeface="+mn-ea"/>
                  </a:rPr>
                  <a:t>亮度（</a:t>
                </a:r>
                <a:r>
                  <a:rPr lang="en-US" altLang="zh-CN" sz="2400" b="1" dirty="0">
                    <a:solidFill>
                      <a:srgbClr val="FF0000"/>
                    </a:solidFill>
                    <a:latin typeface="+mn-ea"/>
                  </a:rPr>
                  <a:t>Y</a:t>
                </a:r>
                <a:r>
                  <a:rPr lang="zh-CN" altLang="en-US" sz="2400" b="1" dirty="0">
                    <a:solidFill>
                      <a:srgbClr val="FF0000"/>
                    </a:solidFill>
                    <a:latin typeface="+mn-ea"/>
                  </a:rPr>
                  <a:t>）</a:t>
                </a:r>
                <a:r>
                  <a:rPr lang="zh-CN" altLang="en-US" sz="2400" b="1" dirty="0">
                    <a:latin typeface="+mn-ea"/>
                  </a:rPr>
                  <a:t>，而另两个是色差信号：</a:t>
                </a:r>
                <a:r>
                  <a:rPr lang="en-US" altLang="zh-CN" sz="2400" b="1" dirty="0" err="1">
                    <a:solidFill>
                      <a:srgbClr val="FF0000"/>
                    </a:solidFill>
                    <a:latin typeface="+mn-ea"/>
                  </a:rPr>
                  <a:t>Cb</a:t>
                </a:r>
                <a:r>
                  <a:rPr lang="zh-CN" altLang="en-US" sz="2400" b="1" dirty="0">
                    <a:latin typeface="+mn-ea"/>
                  </a:rPr>
                  <a:t> （蓝色分量和一个参考值之间的差）和 </a:t>
                </a:r>
                <a:r>
                  <a:rPr lang="en-US" altLang="zh-CN" sz="2400" b="1" dirty="0">
                    <a:solidFill>
                      <a:srgbClr val="FF0000"/>
                    </a:solidFill>
                    <a:latin typeface="+mn-ea"/>
                  </a:rPr>
                  <a:t>Cr</a:t>
                </a:r>
                <a:r>
                  <a:rPr lang="zh-CN" altLang="en-US" sz="2400" b="1" dirty="0">
                    <a:latin typeface="+mn-ea"/>
                  </a:rPr>
                  <a:t> （红色分量和一个参考值之间的差）</a:t>
                </a:r>
                <a:r>
                  <a:rPr lang="zh-CN" altLang="en-US" sz="2400" b="1" dirty="0" smtClean="0">
                    <a:latin typeface="+mn-ea"/>
                  </a:rPr>
                  <a:t>。</a:t>
                </a:r>
                <a:endParaRPr lang="en-US" altLang="zh-CN" sz="2400" b="1" dirty="0" smtClean="0">
                  <a:latin typeface="+mn-ea"/>
                </a:endParaRPr>
              </a:p>
              <a:p>
                <a:pPr>
                  <a:lnSpc>
                    <a:spcPct val="150000"/>
                  </a:lnSpc>
                </a:pPr>
                <a:endParaRPr lang="en-US" altLang="zh-CN" sz="2400" b="1" dirty="0">
                  <a:latin typeface="+mn-ea"/>
                </a:endParaRPr>
              </a:p>
              <a:p>
                <a:pPr>
                  <a:lnSpc>
                    <a:spcPct val="150000"/>
                  </a:lnSpc>
                </a:pPr>
                <a:r>
                  <a:rPr lang="zh-CN" altLang="en-US" sz="2400" b="1" dirty="0">
                    <a:solidFill>
                      <a:srgbClr val="0033CC"/>
                    </a:solidFill>
                    <a:latin typeface="+mn-ea"/>
                  </a:rPr>
                  <a:t>从</a:t>
                </a:r>
                <a:r>
                  <a:rPr lang="en-US" altLang="zh-CN" sz="2400" b="1" dirty="0">
                    <a:solidFill>
                      <a:srgbClr val="0033CC"/>
                    </a:solidFill>
                    <a:latin typeface="+mn-ea"/>
                  </a:rPr>
                  <a:t>RGB</a:t>
                </a:r>
                <a:r>
                  <a:rPr lang="zh-CN" altLang="en-US" sz="2400" b="1" dirty="0">
                    <a:solidFill>
                      <a:srgbClr val="0033CC"/>
                    </a:solidFill>
                    <a:latin typeface="+mn-ea"/>
                  </a:rPr>
                  <a:t>到</a:t>
                </a:r>
                <a:r>
                  <a:rPr lang="en-US" altLang="zh-CN" sz="2400" b="1" dirty="0" err="1">
                    <a:solidFill>
                      <a:srgbClr val="0033CC"/>
                    </a:solidFill>
                    <a:latin typeface="+mn-ea"/>
                  </a:rPr>
                  <a:t>YCrCb</a:t>
                </a:r>
                <a:r>
                  <a:rPr lang="zh-CN" altLang="en-US" sz="2400" b="1" dirty="0">
                    <a:solidFill>
                      <a:srgbClr val="0033CC"/>
                    </a:solidFill>
                    <a:latin typeface="+mn-ea"/>
                  </a:rPr>
                  <a:t>的转换可用下列变换公式来实现</a:t>
                </a:r>
                <a:r>
                  <a:rPr lang="en-US" altLang="zh-CN" sz="2400" b="1" dirty="0">
                    <a:solidFill>
                      <a:srgbClr val="0033CC"/>
                    </a:solidFill>
                    <a:latin typeface="+mn-ea"/>
                  </a:rPr>
                  <a:t>:</a:t>
                </a:r>
              </a:p>
              <a:p>
                <a:pPr algn="ctr"/>
                <a:endParaRPr lang="en-US" altLang="zh-CN" sz="2800" b="1" dirty="0">
                  <a:latin typeface="+mn-ea"/>
                </a:endParaRPr>
              </a:p>
              <a:p>
                <a:pPr algn="ctr"/>
                <a:r>
                  <a:rPr lang="en-US" altLang="zh-CN" sz="2800" kern="100" dirty="0">
                    <a:effectLst/>
                    <a:ea typeface="Cambria Math" panose="02040503050406030204" pitchFamily="18" charset="0"/>
                    <a:cs typeface="Arial" panose="020B0604020202020204" pitchFamily="34" charset="0"/>
                  </a:rPr>
                  <a:t> </a:t>
                </a:r>
                <a14:m>
                  <m:oMath xmlns:m="http://schemas.openxmlformats.org/officeDocument/2006/math">
                    <m:d>
                      <m:dPr>
                        <m:begChr m:val="["/>
                        <m:endChr m:val="]"/>
                        <m:ctrlPr>
                          <a:rPr lang="zh-CN" altLang="zh-CN" sz="2800" i="1" kern="100" smtClean="0">
                            <a:effectLst/>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zh-CN" altLang="zh-CN" sz="2800" i="1" kern="100">
                                <a:effectLst/>
                                <a:latin typeface="Cambria Math" panose="02040503050406030204" pitchFamily="18" charset="0"/>
                                <a:ea typeface="Cambria Math" panose="02040503050406030204" pitchFamily="18" charset="0"/>
                                <a:cs typeface="Arial" panose="020B0604020202020204" pitchFamily="34" charset="0"/>
                              </a:rPr>
                            </m:ctrlPr>
                          </m:mPr>
                          <m:mr>
                            <m:e>
                              <m:r>
                                <m:rPr>
                                  <m:sty m:val="p"/>
                                </m:rPr>
                                <a:rPr lang="en-US" altLang="zh-CN" sz="2800" kern="100">
                                  <a:effectLst/>
                                  <a:latin typeface="Cambria Math" panose="02040503050406030204" pitchFamily="18" charset="0"/>
                                  <a:ea typeface="等线" panose="02010600030101010101" pitchFamily="2" charset="-122"/>
                                  <a:cs typeface="Arial" panose="020B0604020202020204" pitchFamily="34" charset="0"/>
                                </a:rPr>
                                <m:t>Y</m:t>
                              </m:r>
                            </m:e>
                          </m:mr>
                          <m:mr>
                            <m:e>
                              <m:r>
                                <m:rPr>
                                  <m:sty m:val="p"/>
                                </m:rPr>
                                <a:rPr lang="en-US" altLang="zh-CN" sz="2800" kern="100">
                                  <a:effectLst/>
                                  <a:latin typeface="Cambria Math" panose="02040503050406030204" pitchFamily="18" charset="0"/>
                                  <a:ea typeface="等线" panose="02010600030101010101" pitchFamily="2" charset="-122"/>
                                  <a:cs typeface="Arial" panose="020B0604020202020204" pitchFamily="34" charset="0"/>
                                </a:rPr>
                                <m:t>Cb</m:t>
                              </m:r>
                            </m:e>
                          </m:mr>
                          <m:mr>
                            <m:e>
                              <m:r>
                                <m:rPr>
                                  <m:sty m:val="p"/>
                                </m:rPr>
                                <a:rPr lang="en-US" altLang="zh-CN" sz="2800" kern="100">
                                  <a:effectLst/>
                                  <a:latin typeface="Cambria Math" panose="02040503050406030204" pitchFamily="18" charset="0"/>
                                  <a:ea typeface="等线" panose="02010600030101010101" pitchFamily="2" charset="-122"/>
                                  <a:cs typeface="Arial" panose="020B0604020202020204" pitchFamily="34" charset="0"/>
                                </a:rPr>
                                <m:t>Cr</m:t>
                              </m:r>
                            </m:e>
                          </m:mr>
                        </m:m>
                      </m:e>
                    </m:d>
                    <m:r>
                      <a:rPr lang="en-US" altLang="zh-CN" sz="2800" kern="100">
                        <a:effectLst/>
                        <a:latin typeface="Cambria Math" panose="02040503050406030204" pitchFamily="18" charset="0"/>
                        <a:ea typeface="等线" panose="02010600030101010101" pitchFamily="2" charset="-122"/>
                        <a:cs typeface="Arial" panose="020B0604020202020204" pitchFamily="34" charset="0"/>
                      </a:rPr>
                      <m:t>=</m:t>
                    </m:r>
                    <m:d>
                      <m:dPr>
                        <m:begChr m:val="["/>
                        <m:endChr m:val="]"/>
                        <m:ctrlPr>
                          <a:rPr lang="zh-CN" altLang="zh-CN" sz="2800" i="1" kern="100">
                            <a:effectLst/>
                            <a:latin typeface="Cambria Math" panose="02040503050406030204" pitchFamily="18" charset="0"/>
                            <a:ea typeface="Cambria Math" panose="02040503050406030204" pitchFamily="18" charset="0"/>
                            <a:cs typeface="Arial" panose="020B0604020202020204" pitchFamily="34" charset="0"/>
                          </a:rPr>
                        </m:ctrlPr>
                      </m:dPr>
                      <m:e>
                        <m:m>
                          <m:mPr>
                            <m:mcs>
                              <m:mc>
                                <m:mcPr>
                                  <m:count m:val="3"/>
                                  <m:mcJc m:val="center"/>
                                </m:mcPr>
                              </m:mc>
                            </m:mcs>
                            <m:ctrlPr>
                              <a:rPr lang="zh-CN" altLang="zh-CN" sz="2800" i="1" kern="100">
                                <a:effectLst/>
                                <a:latin typeface="Cambria Math" panose="02040503050406030204" pitchFamily="18" charset="0"/>
                                <a:ea typeface="Cambria Math" panose="02040503050406030204" pitchFamily="18" charset="0"/>
                                <a:cs typeface="Arial" panose="020B0604020202020204" pitchFamily="34" charset="0"/>
                              </a:rPr>
                            </m:ctrlPr>
                          </m:mPr>
                          <m:mr>
                            <m:e>
                              <m:r>
                                <a:rPr lang="en-US" altLang="zh-CN" sz="2800" kern="100">
                                  <a:effectLst/>
                                  <a:latin typeface="Cambria Math" panose="02040503050406030204" pitchFamily="18" charset="0"/>
                                  <a:ea typeface="等线" panose="02010600030101010101" pitchFamily="2" charset="-122"/>
                                  <a:cs typeface="Arial" panose="020B0604020202020204" pitchFamily="34" charset="0"/>
                                </a:rPr>
                                <m:t>0.299</m:t>
                              </m:r>
                            </m:e>
                            <m:e>
                              <m:r>
                                <a:rPr lang="en-US" altLang="zh-CN" sz="2800" kern="100">
                                  <a:effectLst/>
                                  <a:latin typeface="Cambria Math" panose="02040503050406030204" pitchFamily="18" charset="0"/>
                                  <a:ea typeface="等线" panose="02010600030101010101" pitchFamily="2" charset="-122"/>
                                  <a:cs typeface="Arial" panose="020B0604020202020204" pitchFamily="34" charset="0"/>
                                </a:rPr>
                                <m:t>0.587</m:t>
                              </m:r>
                            </m:e>
                            <m:e>
                              <m:r>
                                <a:rPr lang="en-US" altLang="zh-CN" sz="2800" kern="100">
                                  <a:effectLst/>
                                  <a:latin typeface="Cambria Math" panose="02040503050406030204" pitchFamily="18" charset="0"/>
                                  <a:ea typeface="等线" panose="02010600030101010101" pitchFamily="2" charset="-122"/>
                                  <a:cs typeface="Arial" panose="020B0604020202020204" pitchFamily="34" charset="0"/>
                                </a:rPr>
                                <m:t>0.114</m:t>
                              </m:r>
                            </m:e>
                          </m:mr>
                          <m:mr>
                            <m:e>
                              <m:r>
                                <a:rPr lang="en-US" altLang="zh-CN" sz="2800" i="1" kern="100">
                                  <a:effectLst/>
                                  <a:latin typeface="Cambria Math" panose="02040503050406030204" pitchFamily="18" charset="0"/>
                                  <a:ea typeface="等线" panose="02010600030101010101" pitchFamily="2" charset="-122"/>
                                  <a:cs typeface="Arial" panose="020B0604020202020204" pitchFamily="34" charset="0"/>
                                </a:rPr>
                                <m:t>−</m:t>
                              </m:r>
                              <m:r>
                                <a:rPr lang="en-US" altLang="zh-CN" sz="2800" kern="100">
                                  <a:effectLst/>
                                  <a:latin typeface="Cambria Math" panose="02040503050406030204" pitchFamily="18" charset="0"/>
                                  <a:ea typeface="等线" panose="02010600030101010101" pitchFamily="2" charset="-122"/>
                                  <a:cs typeface="Arial" panose="020B0604020202020204" pitchFamily="34" charset="0"/>
                                </a:rPr>
                                <m:t>0.169</m:t>
                              </m:r>
                            </m:e>
                            <m:e>
                              <m:r>
                                <a:rPr lang="en-US" altLang="zh-CN" sz="2800" i="1" kern="100">
                                  <a:effectLst/>
                                  <a:latin typeface="Cambria Math" panose="02040503050406030204" pitchFamily="18" charset="0"/>
                                  <a:ea typeface="等线" panose="02010600030101010101" pitchFamily="2" charset="-122"/>
                                  <a:cs typeface="Arial" panose="020B0604020202020204" pitchFamily="34" charset="0"/>
                                </a:rPr>
                                <m:t>−</m:t>
                              </m:r>
                              <m:r>
                                <a:rPr lang="en-US" altLang="zh-CN" sz="2800" kern="100">
                                  <a:effectLst/>
                                  <a:latin typeface="Cambria Math" panose="02040503050406030204" pitchFamily="18" charset="0"/>
                                  <a:ea typeface="等线" panose="02010600030101010101" pitchFamily="2" charset="-122"/>
                                  <a:cs typeface="Arial" panose="020B0604020202020204" pitchFamily="34" charset="0"/>
                                </a:rPr>
                                <m:t>0.331</m:t>
                              </m:r>
                            </m:e>
                            <m:e>
                              <m:r>
                                <a:rPr lang="en-US" altLang="zh-CN" sz="2800" kern="100">
                                  <a:effectLst/>
                                  <a:latin typeface="Cambria Math" panose="02040503050406030204" pitchFamily="18" charset="0"/>
                                  <a:ea typeface="等线" panose="02010600030101010101" pitchFamily="2" charset="-122"/>
                                  <a:cs typeface="Arial" panose="020B0604020202020204" pitchFamily="34" charset="0"/>
                                </a:rPr>
                                <m:t>0.500</m:t>
                              </m:r>
                            </m:e>
                          </m:mr>
                          <m:mr>
                            <m:e>
                              <m:r>
                                <a:rPr lang="en-US" altLang="zh-CN" sz="2800" kern="100">
                                  <a:effectLst/>
                                  <a:latin typeface="Cambria Math" panose="02040503050406030204" pitchFamily="18" charset="0"/>
                                  <a:ea typeface="等线" panose="02010600030101010101" pitchFamily="2" charset="-122"/>
                                  <a:cs typeface="Arial" panose="020B0604020202020204" pitchFamily="34" charset="0"/>
                                </a:rPr>
                                <m:t>0.500</m:t>
                              </m:r>
                            </m:e>
                            <m:e>
                              <m:r>
                                <a:rPr lang="en-US" altLang="zh-CN" sz="2800" i="1" kern="100">
                                  <a:effectLst/>
                                  <a:latin typeface="Cambria Math" panose="02040503050406030204" pitchFamily="18" charset="0"/>
                                  <a:ea typeface="等线" panose="02010600030101010101" pitchFamily="2" charset="-122"/>
                                  <a:cs typeface="Arial" panose="020B0604020202020204" pitchFamily="34" charset="0"/>
                                </a:rPr>
                                <m:t>−</m:t>
                              </m:r>
                              <m:r>
                                <a:rPr lang="en-US" altLang="zh-CN" sz="2800" kern="100">
                                  <a:effectLst/>
                                  <a:latin typeface="Cambria Math" panose="02040503050406030204" pitchFamily="18" charset="0"/>
                                  <a:ea typeface="等线" panose="02010600030101010101" pitchFamily="2" charset="-122"/>
                                  <a:cs typeface="Arial" panose="020B0604020202020204" pitchFamily="34" charset="0"/>
                                </a:rPr>
                                <m:t>0.419</m:t>
                              </m:r>
                            </m:e>
                            <m:e>
                              <m:r>
                                <a:rPr lang="en-US" altLang="zh-CN" sz="2800" i="1" kern="100">
                                  <a:effectLst/>
                                  <a:latin typeface="Cambria Math" panose="02040503050406030204" pitchFamily="18" charset="0"/>
                                  <a:ea typeface="等线" panose="02010600030101010101" pitchFamily="2" charset="-122"/>
                                  <a:cs typeface="Arial" panose="020B0604020202020204" pitchFamily="34" charset="0"/>
                                </a:rPr>
                                <m:t>−</m:t>
                              </m:r>
                              <m:r>
                                <a:rPr lang="en-US" altLang="zh-CN" sz="2800" kern="100">
                                  <a:effectLst/>
                                  <a:latin typeface="Cambria Math" panose="02040503050406030204" pitchFamily="18" charset="0"/>
                                  <a:ea typeface="等线" panose="02010600030101010101" pitchFamily="2" charset="-122"/>
                                  <a:cs typeface="Arial" panose="020B0604020202020204" pitchFamily="34" charset="0"/>
                                </a:rPr>
                                <m:t>0.081</m:t>
                              </m:r>
                            </m:e>
                          </m:mr>
                        </m:m>
                      </m:e>
                    </m:d>
                    <m:d>
                      <m:dPr>
                        <m:begChr m:val="["/>
                        <m:endChr m:val="]"/>
                        <m:ctrlPr>
                          <a:rPr lang="zh-CN" altLang="zh-CN" sz="2800" i="1" kern="100">
                            <a:effectLst/>
                            <a:latin typeface="Cambria Math" panose="02040503050406030204" pitchFamily="18" charset="0"/>
                            <a:ea typeface="Cambria Math" panose="02040503050406030204" pitchFamily="18" charset="0"/>
                            <a:cs typeface="Arial" panose="020B0604020202020204" pitchFamily="34" charset="0"/>
                          </a:rPr>
                        </m:ctrlPr>
                      </m:dPr>
                      <m:e>
                        <m:m>
                          <m:mPr>
                            <m:mcs>
                              <m:mc>
                                <m:mcPr>
                                  <m:count m:val="1"/>
                                  <m:mcJc m:val="center"/>
                                </m:mcPr>
                              </m:mc>
                            </m:mcs>
                            <m:ctrlPr>
                              <a:rPr lang="zh-CN" altLang="zh-CN" sz="2800" i="1" kern="100">
                                <a:effectLst/>
                                <a:latin typeface="Cambria Math" panose="02040503050406030204" pitchFamily="18" charset="0"/>
                                <a:ea typeface="Cambria Math" panose="02040503050406030204" pitchFamily="18" charset="0"/>
                                <a:cs typeface="Arial" panose="020B0604020202020204" pitchFamily="34" charset="0"/>
                              </a:rPr>
                            </m:ctrlPr>
                          </m:mPr>
                          <m:mr>
                            <m:e>
                              <m:r>
                                <m:rPr>
                                  <m:sty m:val="p"/>
                                </m:rPr>
                                <a:rPr lang="en-US" altLang="zh-CN" sz="2800" kern="100">
                                  <a:effectLst/>
                                  <a:latin typeface="Cambria Math" panose="02040503050406030204" pitchFamily="18" charset="0"/>
                                  <a:ea typeface="等线" panose="02010600030101010101" pitchFamily="2" charset="-122"/>
                                  <a:cs typeface="Arial" panose="020B0604020202020204" pitchFamily="34" charset="0"/>
                                </a:rPr>
                                <m:t>R</m:t>
                              </m:r>
                            </m:e>
                          </m:mr>
                          <m:mr>
                            <m:e>
                              <m:r>
                                <m:rPr>
                                  <m:sty m:val="p"/>
                                </m:rPr>
                                <a:rPr lang="en-US" altLang="zh-CN" sz="2800" kern="100">
                                  <a:effectLst/>
                                  <a:latin typeface="Cambria Math" panose="02040503050406030204" pitchFamily="18" charset="0"/>
                                  <a:ea typeface="等线" panose="02010600030101010101" pitchFamily="2" charset="-122"/>
                                  <a:cs typeface="Arial" panose="020B0604020202020204" pitchFamily="34" charset="0"/>
                                </a:rPr>
                                <m:t>G</m:t>
                              </m:r>
                            </m:e>
                          </m:mr>
                          <m:mr>
                            <m:e>
                              <m:r>
                                <m:rPr>
                                  <m:sty m:val="p"/>
                                </m:rPr>
                                <a:rPr lang="en-US" altLang="zh-CN" sz="2800" kern="100">
                                  <a:effectLst/>
                                  <a:latin typeface="Cambria Math" panose="02040503050406030204" pitchFamily="18" charset="0"/>
                                  <a:ea typeface="等线" panose="02010600030101010101" pitchFamily="2" charset="-122"/>
                                  <a:cs typeface="Arial" panose="020B0604020202020204" pitchFamily="34" charset="0"/>
                                </a:rPr>
                                <m:t>B</m:t>
                              </m:r>
                            </m:e>
                          </m:mr>
                        </m:m>
                      </m:e>
                    </m:d>
                  </m:oMath>
                </a14:m>
                <a:r>
                  <a:rPr lang="en-US" altLang="zh-CN" sz="2800" kern="100" dirty="0">
                    <a:effectLst/>
                    <a:latin typeface="Times New Roman" panose="02020603050405020304" pitchFamily="18" charset="0"/>
                    <a:ea typeface="等线" panose="02010600030101010101" pitchFamily="2" charset="-122"/>
                    <a:cs typeface="Times New Roman" panose="02020603050405020304" pitchFamily="18" charset="0"/>
                  </a:rPr>
                  <a:t>    11-17</a:t>
                </a:r>
                <a:endParaRPr lang="zh-CN" altLang="en-US" sz="2800" dirty="0"/>
              </a:p>
            </p:txBody>
          </p:sp>
        </mc:Choice>
        <mc:Fallback xmlns="">
          <p:sp>
            <p:nvSpPr>
              <p:cNvPr id="7" name="文本框 6">
                <a:extLst>
                  <a:ext uri="{FF2B5EF4-FFF2-40B4-BE49-F238E27FC236}">
                    <a16:creationId xmlns="" xmlns:a16="http://schemas.microsoft.com/office/drawing/2014/main" xmlns:a14="http://schemas.microsoft.com/office/drawing/2010/main" id="{A57C0D21-FC23-485D-891D-F4A278F7A7F7}"/>
                  </a:ext>
                </a:extLst>
              </p:cNvPr>
              <p:cNvSpPr txBox="1">
                <a:spLocks noRot="1" noChangeAspect="1" noMove="1" noResize="1" noEditPoints="1" noAdjustHandles="1" noChangeArrowheads="1" noChangeShapeType="1" noTextEdit="1"/>
              </p:cNvSpPr>
              <p:nvPr/>
            </p:nvSpPr>
            <p:spPr>
              <a:xfrm>
                <a:off x="1083076" y="1054509"/>
                <a:ext cx="9499107" cy="4441409"/>
              </a:xfrm>
              <a:prstGeom prst="rect">
                <a:avLst/>
              </a:prstGeom>
              <a:blipFill rotWithShape="0">
                <a:blip r:embed="rId2"/>
                <a:stretch>
                  <a:fillRect l="-10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07460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23AEF83-3981-4B56-88D2-20FF9607590C}"/>
              </a:ext>
            </a:extLst>
          </p:cNvPr>
          <p:cNvSpPr>
            <a:spLocks noGrp="1"/>
          </p:cNvSpPr>
          <p:nvPr>
            <p:ph type="title"/>
          </p:nvPr>
        </p:nvSpPr>
        <p:spPr>
          <a:xfrm>
            <a:off x="745100" y="361064"/>
            <a:ext cx="10364451" cy="952831"/>
          </a:xfrm>
        </p:spPr>
        <p:txBody>
          <a:bodyPr/>
          <a:lstStyle/>
          <a:p>
            <a:r>
              <a:rPr lang="en-US" altLang="zh-CN" b="1" dirty="0" smtClean="0">
                <a:solidFill>
                  <a:srgbClr val="C00000"/>
                </a:solidFill>
              </a:rPr>
              <a:t>11.2  </a:t>
            </a:r>
            <a:r>
              <a:rPr lang="zh-CN" altLang="en-US" b="1" dirty="0" smtClean="0">
                <a:solidFill>
                  <a:srgbClr val="C00000"/>
                </a:solidFill>
              </a:rPr>
              <a:t>色彩</a:t>
            </a:r>
            <a:r>
              <a:rPr lang="zh-CN" altLang="en-US" b="1" dirty="0">
                <a:solidFill>
                  <a:srgbClr val="C00000"/>
                </a:solidFill>
              </a:rPr>
              <a:t>空间的转换</a:t>
            </a:r>
          </a:p>
        </p:txBody>
      </p:sp>
      <p:sp>
        <p:nvSpPr>
          <p:cNvPr id="3" name="内容占位符 2">
            <a:extLst>
              <a:ext uri="{FF2B5EF4-FFF2-40B4-BE49-F238E27FC236}">
                <a16:creationId xmlns:a16="http://schemas.microsoft.com/office/drawing/2014/main" xmlns="" id="{6D0CF315-F016-4509-90B9-B02F5E1421AB}"/>
              </a:ext>
            </a:extLst>
          </p:cNvPr>
          <p:cNvSpPr>
            <a:spLocks noGrp="1"/>
          </p:cNvSpPr>
          <p:nvPr>
            <p:ph sz="quarter" idx="13"/>
          </p:nvPr>
        </p:nvSpPr>
        <p:spPr>
          <a:xfrm>
            <a:off x="1239975" y="1313895"/>
            <a:ext cx="9620858" cy="3332371"/>
          </a:xfrm>
        </p:spPr>
        <p:txBody>
          <a:bodyPr/>
          <a:lstStyle/>
          <a:p>
            <a:pPr marL="0" indent="0">
              <a:buNone/>
            </a:pPr>
            <a:r>
              <a:rPr lang="zh-CN" altLang="en-US" sz="2400" dirty="0"/>
              <a:t>上节我们介绍了一些常用的色彩空间类型，除此之外，还有一些其他的色彩空间。每个色彩空间都有自己擅长的处理问题的领域，因此，为了更方便地处理某个具体问题，就要用到色彩空间类型之间的转换。色彩空间类型转换是指将图像从一个色彩空间转换到另一个色彩空间。</a:t>
            </a:r>
          </a:p>
          <a:p>
            <a:endParaRPr lang="zh-CN" altLang="en-US" sz="2400" dirty="0"/>
          </a:p>
          <a:p>
            <a:pPr marL="0" indent="0">
              <a:buNone/>
            </a:pPr>
            <a:endParaRPr lang="zh-CN" altLang="en-US" dirty="0"/>
          </a:p>
        </p:txBody>
      </p:sp>
    </p:spTree>
    <p:extLst>
      <p:ext uri="{BB962C8B-B14F-4D97-AF65-F5344CB8AC3E}">
        <p14:creationId xmlns:p14="http://schemas.microsoft.com/office/powerpoint/2010/main" val="872977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50A9A7B-D9D5-4BC3-A1D7-B950E7EA8E5B}"/>
              </a:ext>
            </a:extLst>
          </p:cNvPr>
          <p:cNvSpPr>
            <a:spLocks noGrp="1"/>
          </p:cNvSpPr>
          <p:nvPr>
            <p:ph type="title"/>
          </p:nvPr>
        </p:nvSpPr>
        <p:spPr>
          <a:xfrm>
            <a:off x="256827" y="112490"/>
            <a:ext cx="10364451" cy="1148139"/>
          </a:xfrm>
        </p:spPr>
        <p:txBody>
          <a:bodyPr/>
          <a:lstStyle/>
          <a:p>
            <a:r>
              <a:rPr lang="en-US" altLang="zh-CN" b="1" dirty="0" smtClean="0">
                <a:solidFill>
                  <a:srgbClr val="C00000"/>
                </a:solidFill>
              </a:rPr>
              <a:t>11.2.1 </a:t>
            </a:r>
            <a:r>
              <a:rPr lang="zh-CN" altLang="en-US" b="1" dirty="0" smtClean="0">
                <a:solidFill>
                  <a:srgbClr val="C00000"/>
                </a:solidFill>
              </a:rPr>
              <a:t>色彩</a:t>
            </a:r>
            <a:r>
              <a:rPr lang="zh-CN" altLang="en-US" b="1" dirty="0">
                <a:solidFill>
                  <a:srgbClr val="C00000"/>
                </a:solidFill>
              </a:rPr>
              <a:t>空间类型转换函数</a:t>
            </a:r>
          </a:p>
        </p:txBody>
      </p:sp>
      <p:sp>
        <p:nvSpPr>
          <p:cNvPr id="5" name="文本框 4">
            <a:extLst>
              <a:ext uri="{FF2B5EF4-FFF2-40B4-BE49-F238E27FC236}">
                <a16:creationId xmlns:a16="http://schemas.microsoft.com/office/drawing/2014/main" xmlns="" id="{526C9AE0-4C56-4C78-8055-93B8CCCF7DB6}"/>
              </a:ext>
            </a:extLst>
          </p:cNvPr>
          <p:cNvSpPr txBox="1"/>
          <p:nvPr/>
        </p:nvSpPr>
        <p:spPr>
          <a:xfrm>
            <a:off x="3004625" y="3772162"/>
            <a:ext cx="3978126" cy="461665"/>
          </a:xfrm>
          <a:prstGeom prst="rect">
            <a:avLst/>
          </a:prstGeom>
          <a:noFill/>
        </p:spPr>
        <p:txBody>
          <a:bodyPr wrap="square">
            <a:spAutoFit/>
          </a:bodyPr>
          <a:lstStyle/>
          <a:p>
            <a:r>
              <a:rPr lang="zh-CN" altLang="en-US" sz="2400" dirty="0">
                <a:solidFill>
                  <a:srgbClr val="C00000"/>
                </a:solidFill>
              </a:rPr>
              <a:t>表</a:t>
            </a:r>
            <a:r>
              <a:rPr lang="en-US" altLang="zh-CN" sz="2400" dirty="0">
                <a:solidFill>
                  <a:srgbClr val="C00000"/>
                </a:solidFill>
              </a:rPr>
              <a:t>12-2 </a:t>
            </a:r>
            <a:r>
              <a:rPr lang="zh-CN" altLang="en-US" sz="2400" dirty="0">
                <a:solidFill>
                  <a:srgbClr val="C00000"/>
                </a:solidFill>
              </a:rPr>
              <a:t>常用色彩空间转换码</a:t>
            </a:r>
          </a:p>
        </p:txBody>
      </p:sp>
      <p:graphicFrame>
        <p:nvGraphicFramePr>
          <p:cNvPr id="6" name="表格 5">
            <a:extLst>
              <a:ext uri="{FF2B5EF4-FFF2-40B4-BE49-F238E27FC236}">
                <a16:creationId xmlns:a16="http://schemas.microsoft.com/office/drawing/2014/main" xmlns="" id="{BDE8299B-ABF7-4DB7-85DC-779708BE7052}"/>
              </a:ext>
            </a:extLst>
          </p:cNvPr>
          <p:cNvGraphicFramePr>
            <a:graphicFrameLocks noGrp="1"/>
          </p:cNvGraphicFramePr>
          <p:nvPr>
            <p:extLst>
              <p:ext uri="{D42A27DB-BD31-4B8C-83A1-F6EECF244321}">
                <p14:modId xmlns:p14="http://schemas.microsoft.com/office/powerpoint/2010/main" val="1238975978"/>
              </p:ext>
            </p:extLst>
          </p:nvPr>
        </p:nvGraphicFramePr>
        <p:xfrm>
          <a:off x="1349405" y="4233827"/>
          <a:ext cx="7288565" cy="2405848"/>
        </p:xfrm>
        <a:graphic>
          <a:graphicData uri="http://schemas.openxmlformats.org/drawingml/2006/table">
            <a:tbl>
              <a:tblPr firstRow="1" firstCol="1" bandRow="1"/>
              <a:tblGrid>
                <a:gridCol w="3531804">
                  <a:extLst>
                    <a:ext uri="{9D8B030D-6E8A-4147-A177-3AD203B41FA5}">
                      <a16:colId xmlns:a16="http://schemas.microsoft.com/office/drawing/2014/main" xmlns="" val="2668960585"/>
                    </a:ext>
                  </a:extLst>
                </a:gridCol>
                <a:gridCol w="3756761">
                  <a:extLst>
                    <a:ext uri="{9D8B030D-6E8A-4147-A177-3AD203B41FA5}">
                      <a16:colId xmlns:a16="http://schemas.microsoft.com/office/drawing/2014/main" xmlns="" val="3069297993"/>
                    </a:ext>
                  </a:extLst>
                </a:gridCol>
              </a:tblGrid>
              <a:tr h="397793">
                <a:tc>
                  <a:txBody>
                    <a:bodyPr/>
                    <a:lstStyle/>
                    <a:p>
                      <a:pPr algn="ctr">
                        <a:lnSpc>
                          <a:spcPts val="1600"/>
                        </a:lnSpc>
                      </a:pP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转换码</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pP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解</a:t>
                      </a: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释</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520906286"/>
                  </a:ext>
                </a:extLst>
              </a:tr>
              <a:tr h="401611">
                <a:tc>
                  <a:txBody>
                    <a:bodyPr/>
                    <a:lstStyle/>
                    <a:p>
                      <a:pPr algn="ctr">
                        <a:lnSpc>
                          <a:spcPts val="1600"/>
                        </a:lnSpc>
                      </a:pPr>
                      <a:r>
                        <a:rPr lang="en-US" sz="1800" kern="100" dirty="0" smtClean="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cv2.COLOR_BGR2RGB</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pP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BGR</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色彩空间转</a:t>
                      </a: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RGB</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50865462"/>
                  </a:ext>
                </a:extLst>
              </a:tr>
              <a:tr h="401611">
                <a:tc>
                  <a:txBody>
                    <a:bodyPr/>
                    <a:lstStyle/>
                    <a:p>
                      <a:pPr algn="ctr">
                        <a:lnSpc>
                          <a:spcPts val="1600"/>
                        </a:lnSpc>
                      </a:pP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cv2</a:t>
                      </a:r>
                      <a:r>
                        <a:rPr lang="en-US" sz="1800" kern="100" dirty="0" smtClean="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smtClean="0">
                          <a:solidFill>
                            <a:srgbClr val="0033CC"/>
                          </a:solidFill>
                          <a:effectLst/>
                          <a:latin typeface="Times New Roman" panose="02020603050405020304" pitchFamily="18" charset="0"/>
                          <a:ea typeface="+mn-ea"/>
                          <a:cs typeface="Times New Roman" panose="02020603050405020304" pitchFamily="18" charset="0"/>
                        </a:rPr>
                        <a:t> COLOR</a:t>
                      </a:r>
                      <a:r>
                        <a:rPr lang="en-US" sz="1800" kern="100" dirty="0" smtClean="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_BGR2GRAY</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pP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BGR</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色彩空间转</a:t>
                      </a: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GRAY</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21575738"/>
                  </a:ext>
                </a:extLst>
              </a:tr>
              <a:tr h="401611">
                <a:tc>
                  <a:txBody>
                    <a:bodyPr/>
                    <a:lstStyle/>
                    <a:p>
                      <a:pPr algn="ctr">
                        <a:lnSpc>
                          <a:spcPts val="1600"/>
                        </a:lnSpc>
                      </a:pP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cv2</a:t>
                      </a:r>
                      <a:r>
                        <a:rPr lang="en-US" sz="1800" kern="100" dirty="0" smtClean="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smtClean="0">
                          <a:solidFill>
                            <a:srgbClr val="0033CC"/>
                          </a:solidFill>
                          <a:effectLst/>
                          <a:latin typeface="Times New Roman" panose="02020603050405020304" pitchFamily="18" charset="0"/>
                          <a:ea typeface="+mn-ea"/>
                          <a:cs typeface="Times New Roman" panose="02020603050405020304" pitchFamily="18" charset="0"/>
                        </a:rPr>
                        <a:t> COLOR</a:t>
                      </a:r>
                      <a:r>
                        <a:rPr lang="en-US" sz="1800" kern="100" dirty="0" smtClean="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_BGR2HSV</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pP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BGR</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色彩空间转</a:t>
                      </a: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HSV</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48572141"/>
                  </a:ext>
                </a:extLst>
              </a:tr>
              <a:tr h="401611">
                <a:tc>
                  <a:txBody>
                    <a:bodyPr/>
                    <a:lstStyle/>
                    <a:p>
                      <a:pPr algn="ctr">
                        <a:lnSpc>
                          <a:spcPts val="1600"/>
                        </a:lnSpc>
                      </a:pP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cv2</a:t>
                      </a:r>
                      <a:r>
                        <a:rPr lang="en-US" sz="1800" kern="100" dirty="0" smtClean="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smtClean="0">
                          <a:solidFill>
                            <a:srgbClr val="0033CC"/>
                          </a:solidFill>
                          <a:effectLst/>
                          <a:latin typeface="Times New Roman" panose="02020603050405020304" pitchFamily="18" charset="0"/>
                          <a:ea typeface="+mn-ea"/>
                          <a:cs typeface="Times New Roman" panose="02020603050405020304" pitchFamily="18" charset="0"/>
                        </a:rPr>
                        <a:t> COLOR</a:t>
                      </a:r>
                      <a:r>
                        <a:rPr lang="en-US" sz="1800" kern="100" dirty="0" smtClean="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_BGR2YCrCb</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pP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BGR</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色彩空间转</a:t>
                      </a:r>
                      <a:r>
                        <a:rPr lang="en-US" sz="1800" kern="100" dirty="0" err="1">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YCrCb</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87605613"/>
                  </a:ext>
                </a:extLst>
              </a:tr>
              <a:tr h="401611">
                <a:tc>
                  <a:txBody>
                    <a:bodyPr/>
                    <a:lstStyle/>
                    <a:p>
                      <a:pPr algn="ctr">
                        <a:lnSpc>
                          <a:spcPts val="1600"/>
                        </a:lnSpc>
                      </a:pP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cv2</a:t>
                      </a:r>
                      <a:r>
                        <a:rPr lang="en-US" sz="1800" kern="100" dirty="0" smtClean="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smtClean="0">
                          <a:solidFill>
                            <a:srgbClr val="0033CC"/>
                          </a:solidFill>
                          <a:effectLst/>
                          <a:latin typeface="Times New Roman" panose="02020603050405020304" pitchFamily="18" charset="0"/>
                          <a:ea typeface="+mn-ea"/>
                          <a:cs typeface="Times New Roman" panose="02020603050405020304" pitchFamily="18" charset="0"/>
                        </a:rPr>
                        <a:t> COLOR</a:t>
                      </a:r>
                      <a:r>
                        <a:rPr lang="en-US" sz="1800" kern="100" dirty="0" smtClean="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_BGR2HLS</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600"/>
                        </a:lnSpc>
                      </a:pP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BGR</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色彩空间转</a:t>
                      </a:r>
                      <a:r>
                        <a:rPr lang="en-US"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HLS</a:t>
                      </a:r>
                      <a:r>
                        <a:rPr lang="zh-CN" sz="1800" kern="100" dirty="0">
                          <a:solidFill>
                            <a:srgbClr val="0033CC"/>
                          </a:solidFill>
                          <a:effectLst/>
                          <a:latin typeface="Times New Roman" panose="02020603050405020304" pitchFamily="18" charset="0"/>
                          <a:ea typeface="宋体" panose="02010600030101010101" pitchFamily="2" charset="-122"/>
                          <a:cs typeface="Times New Roman" panose="02020603050405020304" pitchFamily="18" charset="0"/>
                        </a:rPr>
                        <a:t>色彩空间</a:t>
                      </a:r>
                      <a:endParaRPr lang="zh-CN" sz="1800" kern="100" dirty="0">
                        <a:solidFill>
                          <a:srgbClr val="0033CC"/>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78415391"/>
                  </a:ext>
                </a:extLst>
              </a:tr>
            </a:tbl>
          </a:graphicData>
        </a:graphic>
      </p:graphicFrame>
      <p:sp>
        <p:nvSpPr>
          <p:cNvPr id="8" name="文本框 7">
            <a:extLst>
              <a:ext uri="{FF2B5EF4-FFF2-40B4-BE49-F238E27FC236}">
                <a16:creationId xmlns:a16="http://schemas.microsoft.com/office/drawing/2014/main" xmlns="" id="{26D64732-E7A9-482E-B416-FEBC5E3BF1E5}"/>
              </a:ext>
            </a:extLst>
          </p:cNvPr>
          <p:cNvSpPr txBox="1"/>
          <p:nvPr/>
        </p:nvSpPr>
        <p:spPr>
          <a:xfrm>
            <a:off x="712433" y="1071639"/>
            <a:ext cx="10189346" cy="1200329"/>
          </a:xfrm>
          <a:prstGeom prst="rect">
            <a:avLst/>
          </a:prstGeom>
          <a:noFill/>
        </p:spPr>
        <p:txBody>
          <a:bodyPr wrap="square">
            <a:spAutoFit/>
          </a:bodyPr>
          <a:lstStyle/>
          <a:p>
            <a:r>
              <a:rPr lang="zh-CN" altLang="en-US" sz="2400" b="1" dirty="0">
                <a:latin typeface="+mn-ea"/>
              </a:rPr>
              <a:t>在</a:t>
            </a:r>
            <a:r>
              <a:rPr lang="en-US" altLang="zh-CN" sz="2400" b="1" dirty="0">
                <a:latin typeface="+mn-ea"/>
              </a:rPr>
              <a:t>OpenCV</a:t>
            </a:r>
            <a:r>
              <a:rPr lang="zh-CN" altLang="en-US" sz="2400" b="1" dirty="0">
                <a:latin typeface="+mn-ea"/>
              </a:rPr>
              <a:t>中，</a:t>
            </a:r>
            <a:r>
              <a:rPr lang="en-US" altLang="zh-CN" sz="2400" b="1" dirty="0">
                <a:latin typeface="+mn-ea"/>
              </a:rPr>
              <a:t>cv2.cvtColor()</a:t>
            </a:r>
            <a:r>
              <a:rPr lang="zh-CN" altLang="en-US" sz="2400" b="1" dirty="0">
                <a:latin typeface="+mn-ea"/>
              </a:rPr>
              <a:t>函数用于实现色彩空间转换，其一般格式为：</a:t>
            </a:r>
          </a:p>
          <a:p>
            <a:pPr algn="ctr"/>
            <a:r>
              <a:rPr lang="en-US" altLang="zh-CN" sz="2400" b="1" dirty="0">
                <a:solidFill>
                  <a:srgbClr val="FF0000"/>
                </a:solidFill>
                <a:latin typeface="+mn-ea"/>
              </a:rPr>
              <a:t>image = cv2.cvtColor(</a:t>
            </a:r>
            <a:r>
              <a:rPr lang="en-US" altLang="zh-CN" sz="2400" b="1" dirty="0" err="1">
                <a:solidFill>
                  <a:srgbClr val="FF0000"/>
                </a:solidFill>
                <a:latin typeface="+mn-ea"/>
              </a:rPr>
              <a:t>src</a:t>
            </a:r>
            <a:r>
              <a:rPr lang="en-US" altLang="zh-CN" sz="2400" b="1" dirty="0">
                <a:solidFill>
                  <a:srgbClr val="FF0000"/>
                </a:solidFill>
                <a:latin typeface="+mn-ea"/>
              </a:rPr>
              <a:t>, code, </a:t>
            </a:r>
            <a:r>
              <a:rPr lang="en-US" altLang="zh-CN" sz="2400" b="1" dirty="0" err="1">
                <a:solidFill>
                  <a:srgbClr val="FF0000"/>
                </a:solidFill>
                <a:latin typeface="+mn-ea"/>
              </a:rPr>
              <a:t>dstCn</a:t>
            </a:r>
            <a:r>
              <a:rPr lang="en-US" altLang="zh-CN" sz="2400" b="1" dirty="0">
                <a:solidFill>
                  <a:srgbClr val="FF0000"/>
                </a:solidFill>
                <a:latin typeface="+mn-ea"/>
              </a:rPr>
              <a:t>])</a:t>
            </a:r>
          </a:p>
          <a:p>
            <a:r>
              <a:rPr lang="zh-CN" altLang="en-US" sz="2400" b="1" dirty="0">
                <a:latin typeface="+mn-ea"/>
              </a:rPr>
              <a:t>其中输入输出参数为：</a:t>
            </a:r>
          </a:p>
        </p:txBody>
      </p:sp>
      <p:sp>
        <p:nvSpPr>
          <p:cNvPr id="10" name="文本框 9">
            <a:extLst>
              <a:ext uri="{FF2B5EF4-FFF2-40B4-BE49-F238E27FC236}">
                <a16:creationId xmlns:a16="http://schemas.microsoft.com/office/drawing/2014/main" xmlns="" id="{1156859B-9E48-4643-B6D1-40ED7D31CB60}"/>
              </a:ext>
            </a:extLst>
          </p:cNvPr>
          <p:cNvSpPr txBox="1"/>
          <p:nvPr/>
        </p:nvSpPr>
        <p:spPr>
          <a:xfrm>
            <a:off x="712433" y="2219778"/>
            <a:ext cx="10228443" cy="1446550"/>
          </a:xfrm>
          <a:prstGeom prst="rect">
            <a:avLst/>
          </a:prstGeom>
          <a:noFill/>
        </p:spPr>
        <p:txBody>
          <a:bodyPr wrap="square">
            <a:spAutoFit/>
          </a:bodyPr>
          <a:lstStyle/>
          <a:p>
            <a:pPr lvl="1"/>
            <a:r>
              <a:rPr lang="zh-CN" altLang="en-US" sz="2200" dirty="0">
                <a:solidFill>
                  <a:srgbClr val="0033CC"/>
                </a:solidFill>
                <a:latin typeface="+mn-ea"/>
              </a:rPr>
              <a:t>	</a:t>
            </a:r>
            <a:r>
              <a:rPr lang="en-US" altLang="zh-CN" sz="2200" dirty="0">
                <a:solidFill>
                  <a:srgbClr val="0033CC"/>
                </a:solidFill>
                <a:latin typeface="+mn-ea"/>
              </a:rPr>
              <a:t>image</a:t>
            </a:r>
            <a:r>
              <a:rPr lang="zh-CN" altLang="en-US" sz="2200" dirty="0">
                <a:solidFill>
                  <a:srgbClr val="0033CC"/>
                </a:solidFill>
                <a:latin typeface="+mn-ea"/>
              </a:rPr>
              <a:t>：表示与输入值具有相同类型和深度的输出图像；</a:t>
            </a:r>
          </a:p>
          <a:p>
            <a:pPr lvl="1"/>
            <a:r>
              <a:rPr lang="zh-CN" altLang="en-US" sz="2200" dirty="0">
                <a:solidFill>
                  <a:srgbClr val="0033CC"/>
                </a:solidFill>
                <a:latin typeface="+mn-ea"/>
              </a:rPr>
              <a:t>	</a:t>
            </a:r>
            <a:r>
              <a:rPr lang="en-US" altLang="zh-CN" sz="2200" dirty="0" err="1">
                <a:solidFill>
                  <a:srgbClr val="0033CC"/>
                </a:solidFill>
                <a:latin typeface="+mn-ea"/>
              </a:rPr>
              <a:t>src</a:t>
            </a:r>
            <a:r>
              <a:rPr lang="zh-CN" altLang="en-US" sz="2200" dirty="0">
                <a:solidFill>
                  <a:srgbClr val="0033CC"/>
                </a:solidFill>
                <a:latin typeface="+mn-ea"/>
              </a:rPr>
              <a:t>：表示原始输入图像；</a:t>
            </a:r>
          </a:p>
          <a:p>
            <a:pPr lvl="1"/>
            <a:r>
              <a:rPr lang="zh-CN" altLang="en-US" sz="2200" dirty="0">
                <a:solidFill>
                  <a:srgbClr val="0033CC"/>
                </a:solidFill>
                <a:latin typeface="+mn-ea"/>
              </a:rPr>
              <a:t>	</a:t>
            </a:r>
            <a:r>
              <a:rPr lang="en-US" altLang="zh-CN" sz="2200" dirty="0">
                <a:solidFill>
                  <a:srgbClr val="0033CC"/>
                </a:solidFill>
                <a:latin typeface="+mn-ea"/>
              </a:rPr>
              <a:t>code</a:t>
            </a:r>
            <a:r>
              <a:rPr lang="zh-CN" altLang="en-US" sz="2200" dirty="0">
                <a:solidFill>
                  <a:srgbClr val="0033CC"/>
                </a:solidFill>
                <a:latin typeface="+mn-ea"/>
              </a:rPr>
              <a:t>：是色彩空间转换码，常见的枚举值如表</a:t>
            </a:r>
            <a:r>
              <a:rPr lang="en-US" altLang="zh-CN" sz="2200" dirty="0">
                <a:solidFill>
                  <a:srgbClr val="0033CC"/>
                </a:solidFill>
                <a:latin typeface="+mn-ea"/>
              </a:rPr>
              <a:t>12-2</a:t>
            </a:r>
            <a:r>
              <a:rPr lang="zh-CN" altLang="en-US" sz="2200" dirty="0">
                <a:solidFill>
                  <a:srgbClr val="0033CC"/>
                </a:solidFill>
                <a:latin typeface="+mn-ea"/>
              </a:rPr>
              <a:t>所示；</a:t>
            </a:r>
          </a:p>
          <a:p>
            <a:pPr lvl="1"/>
            <a:r>
              <a:rPr lang="zh-CN" altLang="en-US" sz="2200" dirty="0">
                <a:solidFill>
                  <a:srgbClr val="0033CC"/>
                </a:solidFill>
                <a:latin typeface="+mn-ea"/>
              </a:rPr>
              <a:t>	</a:t>
            </a:r>
            <a:r>
              <a:rPr lang="en-US" altLang="zh-CN" sz="2200" dirty="0" err="1">
                <a:solidFill>
                  <a:srgbClr val="0033CC"/>
                </a:solidFill>
                <a:latin typeface="+mn-ea"/>
              </a:rPr>
              <a:t>dstCn</a:t>
            </a:r>
            <a:r>
              <a:rPr lang="zh-CN" altLang="en-US" sz="2200" dirty="0">
                <a:solidFill>
                  <a:srgbClr val="0033CC"/>
                </a:solidFill>
                <a:latin typeface="+mn-ea"/>
              </a:rPr>
              <a:t>：表示目标图像的通道数。</a:t>
            </a:r>
          </a:p>
        </p:txBody>
      </p:sp>
    </p:spTree>
    <p:extLst>
      <p:ext uri="{BB962C8B-B14F-4D97-AF65-F5344CB8AC3E}">
        <p14:creationId xmlns:p14="http://schemas.microsoft.com/office/powerpoint/2010/main" val="3500328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8547201-33FC-4572-9D18-74FE6A3AC85A}"/>
              </a:ext>
            </a:extLst>
          </p:cNvPr>
          <p:cNvSpPr>
            <a:spLocks noGrp="1"/>
          </p:cNvSpPr>
          <p:nvPr>
            <p:ph type="title"/>
          </p:nvPr>
        </p:nvSpPr>
        <p:spPr>
          <a:xfrm>
            <a:off x="549790" y="272288"/>
            <a:ext cx="10364451" cy="917320"/>
          </a:xfrm>
        </p:spPr>
        <p:txBody>
          <a:bodyPr/>
          <a:lstStyle/>
          <a:p>
            <a:r>
              <a:rPr lang="en-US" altLang="zh-CN" b="1" dirty="0">
                <a:solidFill>
                  <a:srgbClr val="C00000"/>
                </a:solidFill>
              </a:rPr>
              <a:t>11.2.2 RGB</a:t>
            </a:r>
            <a:r>
              <a:rPr lang="zh-CN" altLang="en-US" b="1" dirty="0">
                <a:solidFill>
                  <a:srgbClr val="C00000"/>
                </a:solidFill>
              </a:rPr>
              <a:t>色彩空间</a:t>
            </a:r>
          </a:p>
        </p:txBody>
      </p:sp>
      <p:sp>
        <p:nvSpPr>
          <p:cNvPr id="3" name="内容占位符 2">
            <a:extLst>
              <a:ext uri="{FF2B5EF4-FFF2-40B4-BE49-F238E27FC236}">
                <a16:creationId xmlns:a16="http://schemas.microsoft.com/office/drawing/2014/main" xmlns="" id="{2970E547-8C9D-4087-A4F8-BDB4EF131AFF}"/>
              </a:ext>
            </a:extLst>
          </p:cNvPr>
          <p:cNvSpPr>
            <a:spLocks noGrp="1"/>
          </p:cNvSpPr>
          <p:nvPr>
            <p:ph sz="quarter" idx="13"/>
          </p:nvPr>
        </p:nvSpPr>
        <p:spPr>
          <a:xfrm>
            <a:off x="549790" y="1473693"/>
            <a:ext cx="10211653" cy="4429957"/>
          </a:xfrm>
        </p:spPr>
        <p:txBody>
          <a:bodyPr>
            <a:normAutofit/>
          </a:bodyPr>
          <a:lstStyle/>
          <a:p>
            <a:pPr marL="0" indent="457200">
              <a:lnSpc>
                <a:spcPct val="150000"/>
              </a:lnSpc>
              <a:buNone/>
            </a:pPr>
            <a:r>
              <a:rPr lang="en-US" altLang="zh-CN" sz="2400" b="1" dirty="0">
                <a:solidFill>
                  <a:srgbClr val="0033CC"/>
                </a:solidFill>
                <a:latin typeface="+mn-ea"/>
              </a:rPr>
              <a:t>RGB</a:t>
            </a:r>
            <a:r>
              <a:rPr lang="zh-CN" altLang="en-US" sz="2400" b="1" dirty="0">
                <a:solidFill>
                  <a:srgbClr val="0033CC"/>
                </a:solidFill>
                <a:latin typeface="+mn-ea"/>
              </a:rPr>
              <a:t>色彩空间</a:t>
            </a:r>
            <a:r>
              <a:rPr lang="zh-CN" altLang="en-US" sz="2400" b="1" dirty="0">
                <a:latin typeface="+mn-ea"/>
              </a:rPr>
              <a:t>使用三个数值向量表示色光三基色（</a:t>
            </a:r>
            <a:r>
              <a:rPr lang="en-US" altLang="zh-CN" sz="2400" b="1" dirty="0">
                <a:latin typeface="+mn-ea"/>
              </a:rPr>
              <a:t>Red </a:t>
            </a:r>
            <a:r>
              <a:rPr lang="zh-CN" altLang="en-US" sz="2400" b="1" dirty="0">
                <a:latin typeface="+mn-ea"/>
              </a:rPr>
              <a:t>、</a:t>
            </a:r>
            <a:r>
              <a:rPr lang="en-US" altLang="zh-CN" sz="2400" b="1" dirty="0">
                <a:latin typeface="+mn-ea"/>
              </a:rPr>
              <a:t>Green </a:t>
            </a:r>
            <a:r>
              <a:rPr lang="zh-CN" altLang="en-US" sz="2400" b="1" dirty="0">
                <a:latin typeface="+mn-ea"/>
              </a:rPr>
              <a:t>、</a:t>
            </a:r>
            <a:r>
              <a:rPr lang="en-US" altLang="zh-CN" sz="2400" b="1" dirty="0">
                <a:latin typeface="+mn-ea"/>
              </a:rPr>
              <a:t>Blue</a:t>
            </a:r>
            <a:r>
              <a:rPr lang="zh-CN" altLang="en-US" sz="2400" b="1" dirty="0">
                <a:latin typeface="+mn-ea"/>
              </a:rPr>
              <a:t>）的亮度。每个通道的数量值被量化为</a:t>
            </a:r>
            <a:r>
              <a:rPr lang="en-US" altLang="zh-CN" sz="2400" b="1" dirty="0">
                <a:latin typeface="+mn-ea"/>
              </a:rPr>
              <a:t>0</a:t>
            </a:r>
            <a:r>
              <a:rPr lang="zh-CN" altLang="en-US" sz="2400" b="1" dirty="0">
                <a:latin typeface="+mn-ea"/>
              </a:rPr>
              <a:t>～</a:t>
            </a:r>
            <a:r>
              <a:rPr lang="en-US" altLang="zh-CN" sz="2400" b="1" dirty="0">
                <a:latin typeface="+mn-ea"/>
              </a:rPr>
              <a:t>255</a:t>
            </a:r>
            <a:r>
              <a:rPr lang="zh-CN" altLang="en-US" sz="2400" b="1" dirty="0">
                <a:latin typeface="+mn-ea"/>
              </a:rPr>
              <a:t>级，因此，</a:t>
            </a:r>
            <a:r>
              <a:rPr lang="en-US" altLang="zh-CN" sz="2400" b="1" dirty="0">
                <a:latin typeface="+mn-ea"/>
              </a:rPr>
              <a:t>RGB</a:t>
            </a:r>
            <a:r>
              <a:rPr lang="zh-CN" altLang="en-US" sz="2400" b="1" dirty="0">
                <a:latin typeface="+mn-ea"/>
              </a:rPr>
              <a:t>图像的红、绿、蓝三个通道的图像都是一幅</a:t>
            </a:r>
            <a:r>
              <a:rPr lang="en-US" altLang="zh-CN" sz="2400" b="1" dirty="0">
                <a:latin typeface="+mn-ea"/>
              </a:rPr>
              <a:t>8</a:t>
            </a:r>
            <a:r>
              <a:rPr lang="zh-CN" altLang="en-US" sz="2400" b="1" dirty="0">
                <a:latin typeface="+mn-ea"/>
              </a:rPr>
              <a:t>位灰度图。</a:t>
            </a:r>
          </a:p>
          <a:p>
            <a:pPr marL="0" indent="457200">
              <a:lnSpc>
                <a:spcPct val="150000"/>
              </a:lnSpc>
              <a:buNone/>
            </a:pPr>
            <a:r>
              <a:rPr lang="zh-CN" altLang="en-US" sz="2400" dirty="0" smtClean="0">
                <a:latin typeface="Times New Roman" panose="02020603050405020304" pitchFamily="18" charset="0"/>
                <a:cs typeface="Times New Roman" panose="02020603050405020304" pitchFamily="18" charset="0"/>
              </a:rPr>
              <a:t>在</a:t>
            </a:r>
            <a:r>
              <a:rPr lang="en-US" altLang="zh-CN" sz="2400" dirty="0" err="1" smtClean="0">
                <a:latin typeface="Times New Roman" panose="02020603050405020304" pitchFamily="18" charset="0"/>
                <a:cs typeface="Times New Roman" panose="02020603050405020304" pitchFamily="18" charset="0"/>
              </a:rPr>
              <a:t>OpenCV</a:t>
            </a:r>
            <a:r>
              <a:rPr lang="zh-CN" altLang="en-US" sz="2400" dirty="0" smtClean="0">
                <a:latin typeface="Times New Roman" panose="02020603050405020304" pitchFamily="18" charset="0"/>
                <a:cs typeface="Times New Roman" panose="02020603050405020304" pitchFamily="18" charset="0"/>
              </a:rPr>
              <a:t>中</a:t>
            </a:r>
            <a:r>
              <a:rPr lang="zh-CN" altLang="en-US" sz="2400" dirty="0">
                <a:latin typeface="Times New Roman" panose="02020603050405020304" pitchFamily="18" charset="0"/>
                <a:cs typeface="Times New Roman" panose="02020603050405020304" pitchFamily="18" charset="0"/>
              </a:rPr>
              <a:t>，彩色通道的顺序是按照</a:t>
            </a:r>
            <a:r>
              <a:rPr lang="en-US" altLang="zh-CN" sz="2400" dirty="0">
                <a:latin typeface="Times New Roman" panose="02020603050405020304" pitchFamily="18" charset="0"/>
                <a:cs typeface="Times New Roman" panose="02020603050405020304" pitchFamily="18" charset="0"/>
              </a:rPr>
              <a:t>BGR</a:t>
            </a:r>
            <a:r>
              <a:rPr lang="zh-CN" altLang="en-US" sz="2400" dirty="0">
                <a:latin typeface="Times New Roman" panose="02020603050405020304" pitchFamily="18" charset="0"/>
                <a:cs typeface="Times New Roman" panose="02020603050405020304" pitchFamily="18" charset="0"/>
              </a:rPr>
              <a:t>的通道顺序存储的。下面介绍一个由</a:t>
            </a:r>
            <a:r>
              <a:rPr lang="en-US" altLang="zh-CN" sz="2400" dirty="0">
                <a:latin typeface="Times New Roman" panose="02020603050405020304" pitchFamily="18" charset="0"/>
                <a:cs typeface="Times New Roman" panose="02020603050405020304" pitchFamily="18" charset="0"/>
              </a:rPr>
              <a:t>BGR</a:t>
            </a:r>
            <a:r>
              <a:rPr lang="zh-CN" altLang="en-US" sz="2400" dirty="0">
                <a:latin typeface="Times New Roman" panose="02020603050405020304" pitchFamily="18" charset="0"/>
                <a:cs typeface="Times New Roman" panose="02020603050405020304" pitchFamily="18" charset="0"/>
              </a:rPr>
              <a:t>色彩空间转换为</a:t>
            </a:r>
            <a:r>
              <a:rPr lang="en-US" altLang="zh-CN" sz="2400" dirty="0">
                <a:latin typeface="Times New Roman" panose="02020603050405020304" pitchFamily="18" charset="0"/>
                <a:cs typeface="Times New Roman" panose="02020603050405020304" pitchFamily="18" charset="0"/>
              </a:rPr>
              <a:t>RGB</a:t>
            </a:r>
            <a:r>
              <a:rPr lang="zh-CN" altLang="en-US" sz="2400" dirty="0">
                <a:latin typeface="Times New Roman" panose="02020603050405020304" pitchFamily="18" charset="0"/>
                <a:cs typeface="Times New Roman" panose="02020603050405020304" pitchFamily="18" charset="0"/>
              </a:rPr>
              <a:t>色彩空间的例子。</a:t>
            </a:r>
          </a:p>
          <a:p>
            <a:pPr marL="0" indent="0">
              <a:buNone/>
            </a:pPr>
            <a:endParaRPr lang="zh-CN" altLang="en-US" dirty="0"/>
          </a:p>
        </p:txBody>
      </p:sp>
    </p:spTree>
    <p:extLst>
      <p:ext uri="{BB962C8B-B14F-4D97-AF65-F5344CB8AC3E}">
        <p14:creationId xmlns:p14="http://schemas.microsoft.com/office/powerpoint/2010/main" val="546389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E08C17D-6F62-4328-B6A3-F8CE20565445}"/>
              </a:ext>
            </a:extLst>
          </p:cNvPr>
          <p:cNvSpPr>
            <a:spLocks noGrp="1"/>
          </p:cNvSpPr>
          <p:nvPr>
            <p:ph type="title"/>
          </p:nvPr>
        </p:nvSpPr>
        <p:spPr>
          <a:xfrm>
            <a:off x="1186025" y="485766"/>
            <a:ext cx="10364451" cy="577049"/>
          </a:xfrm>
        </p:spPr>
        <p:txBody>
          <a:bodyPr>
            <a:normAutofit/>
          </a:bodyPr>
          <a:lstStyle/>
          <a:p>
            <a:pPr algn="l">
              <a:lnSpc>
                <a:spcPct val="100000"/>
              </a:lnSpc>
            </a:pPr>
            <a:r>
              <a:rPr lang="en-US" altLang="zh-CN" sz="2400" dirty="0">
                <a:solidFill>
                  <a:srgbClr val="0033CC"/>
                </a:solidFill>
              </a:rPr>
              <a:t>【</a:t>
            </a:r>
            <a:r>
              <a:rPr lang="zh-CN" altLang="en-US" sz="2400" dirty="0">
                <a:solidFill>
                  <a:srgbClr val="0033CC"/>
                </a:solidFill>
              </a:rPr>
              <a:t>例</a:t>
            </a:r>
            <a:r>
              <a:rPr lang="en-US" altLang="zh-CN" sz="2400" dirty="0">
                <a:solidFill>
                  <a:srgbClr val="0033CC"/>
                </a:solidFill>
              </a:rPr>
              <a:t>11.1】BGR</a:t>
            </a:r>
            <a:r>
              <a:rPr lang="zh-CN" altLang="en-US" sz="2400" dirty="0">
                <a:solidFill>
                  <a:srgbClr val="0033CC"/>
                </a:solidFill>
              </a:rPr>
              <a:t>色彩空间转换为</a:t>
            </a:r>
            <a:r>
              <a:rPr lang="en-US" altLang="zh-CN" sz="2400" dirty="0">
                <a:solidFill>
                  <a:srgbClr val="0033CC"/>
                </a:solidFill>
              </a:rPr>
              <a:t>RGB</a:t>
            </a:r>
            <a:r>
              <a:rPr lang="zh-CN" altLang="en-US" sz="2400" dirty="0">
                <a:solidFill>
                  <a:srgbClr val="0033CC"/>
                </a:solidFill>
              </a:rPr>
              <a:t>色彩空间</a:t>
            </a:r>
            <a:r>
              <a:rPr lang="en-US" altLang="zh-CN" sz="2400" dirty="0">
                <a:solidFill>
                  <a:srgbClr val="0033CC"/>
                </a:solidFill>
              </a:rPr>
              <a:t>,</a:t>
            </a:r>
            <a:r>
              <a:rPr lang="zh-CN" altLang="en-US" sz="2400" dirty="0">
                <a:solidFill>
                  <a:srgbClr val="0033CC"/>
                </a:solidFill>
              </a:rPr>
              <a:t>程序代码如下：</a:t>
            </a:r>
          </a:p>
        </p:txBody>
      </p:sp>
      <p:sp>
        <p:nvSpPr>
          <p:cNvPr id="6" name="文本框 5">
            <a:extLst>
              <a:ext uri="{FF2B5EF4-FFF2-40B4-BE49-F238E27FC236}">
                <a16:creationId xmlns:a16="http://schemas.microsoft.com/office/drawing/2014/main" xmlns="" id="{6E821D33-2A71-4E4C-902D-D3EA1424A310}"/>
              </a:ext>
            </a:extLst>
          </p:cNvPr>
          <p:cNvSpPr txBox="1"/>
          <p:nvPr/>
        </p:nvSpPr>
        <p:spPr>
          <a:xfrm>
            <a:off x="665941" y="1176688"/>
            <a:ext cx="5308847" cy="4708981"/>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import cv2</a:t>
            </a:r>
          </a:p>
          <a:p>
            <a:r>
              <a:rPr lang="en-US" altLang="zh-CN" sz="2000" dirty="0">
                <a:latin typeface="Times New Roman" panose="02020603050405020304" pitchFamily="18" charset="0"/>
                <a:cs typeface="Times New Roman" panose="02020603050405020304" pitchFamily="18" charset="0"/>
              </a:rPr>
              <a:t>import </a:t>
            </a:r>
            <a:r>
              <a:rPr lang="en-US" altLang="zh-CN" sz="2000" dirty="0" err="1">
                <a:latin typeface="Times New Roman" panose="02020603050405020304" pitchFamily="18" charset="0"/>
                <a:cs typeface="Times New Roman" panose="02020603050405020304" pitchFamily="18" charset="0"/>
              </a:rPr>
              <a:t>matplotlib.pyplot</a:t>
            </a:r>
            <a:r>
              <a:rPr lang="en-US" altLang="zh-CN" sz="2000" dirty="0">
                <a:latin typeface="Times New Roman" panose="02020603050405020304" pitchFamily="18" charset="0"/>
                <a:cs typeface="Times New Roman" panose="02020603050405020304" pitchFamily="18" charset="0"/>
              </a:rPr>
              <a:t> as </a:t>
            </a:r>
            <a:r>
              <a:rPr lang="en-US" altLang="zh-CN" sz="2000" dirty="0" err="1">
                <a:latin typeface="Times New Roman" panose="02020603050405020304" pitchFamily="18" charset="0"/>
                <a:cs typeface="Times New Roman" panose="02020603050405020304" pitchFamily="18" charset="0"/>
              </a:rPr>
              <a:t>plt</a:t>
            </a:r>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dirty="0" err="1">
                <a:latin typeface="Times New Roman" panose="02020603050405020304" pitchFamily="18" charset="0"/>
                <a:cs typeface="Times New Roman" panose="02020603050405020304" pitchFamily="18" charset="0"/>
              </a:rPr>
              <a:t>img_BGR</a:t>
            </a:r>
            <a:r>
              <a:rPr lang="en-US" altLang="zh-CN" sz="2000" dirty="0">
                <a:latin typeface="Times New Roman" panose="02020603050405020304" pitchFamily="18" charset="0"/>
                <a:cs typeface="Times New Roman" panose="02020603050405020304" pitchFamily="18" charset="0"/>
              </a:rPr>
              <a:t> = cv2.imread("d:/pics/lena.jpg")</a:t>
            </a:r>
          </a:p>
          <a:p>
            <a:r>
              <a:rPr lang="en-US" altLang="zh-CN" sz="2000" dirty="0" err="1">
                <a:latin typeface="Times New Roman" panose="02020603050405020304" pitchFamily="18" charset="0"/>
                <a:cs typeface="Times New Roman" panose="02020603050405020304" pitchFamily="18" charset="0"/>
              </a:rPr>
              <a:t>plt.subplot</a:t>
            </a:r>
            <a:r>
              <a:rPr lang="en-US" altLang="zh-CN" sz="2000" dirty="0">
                <a:latin typeface="Times New Roman" panose="02020603050405020304" pitchFamily="18" charset="0"/>
                <a:cs typeface="Times New Roman" panose="02020603050405020304" pitchFamily="18" charset="0"/>
              </a:rPr>
              <a:t>(1,2,1)</a:t>
            </a:r>
          </a:p>
          <a:p>
            <a:r>
              <a:rPr lang="en-US" altLang="zh-CN" sz="2000" dirty="0" err="1">
                <a:latin typeface="Times New Roman" panose="02020603050405020304" pitchFamily="18" charset="0"/>
                <a:cs typeface="Times New Roman" panose="02020603050405020304" pitchFamily="18" charset="0"/>
              </a:rPr>
              <a:t>plt.imshow</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img_BGR</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plt.title</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BGR_image</a:t>
            </a:r>
            <a:r>
              <a:rPr lang="en-US" altLang="zh-CN" sz="2000" dirty="0">
                <a:latin typeface="Times New Roman" panose="02020603050405020304" pitchFamily="18" charset="0"/>
                <a:cs typeface="Times New Roman" panose="02020603050405020304" pitchFamily="18" charset="0"/>
              </a:rPr>
              <a:t>')</a:t>
            </a:r>
          </a:p>
          <a:p>
            <a:r>
              <a:rPr lang="en-US" altLang="zh-CN" sz="2000" dirty="0" err="1">
                <a:latin typeface="Times New Roman" panose="02020603050405020304" pitchFamily="18" charset="0"/>
                <a:cs typeface="Times New Roman" panose="02020603050405020304" pitchFamily="18" charset="0"/>
              </a:rPr>
              <a:t>plt.axis</a:t>
            </a:r>
            <a:r>
              <a:rPr lang="en-US" altLang="zh-CN" sz="2000" dirty="0">
                <a:latin typeface="Times New Roman" panose="02020603050405020304" pitchFamily="18" charset="0"/>
                <a:cs typeface="Times New Roman" panose="02020603050405020304" pitchFamily="18" charset="0"/>
              </a:rPr>
              <a:t>("off")</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#BGR</a:t>
            </a:r>
            <a:r>
              <a:rPr lang="zh-CN" altLang="en-US" sz="2000" dirty="0">
                <a:latin typeface="Times New Roman" panose="02020603050405020304" pitchFamily="18" charset="0"/>
                <a:cs typeface="Times New Roman" panose="02020603050405020304" pitchFamily="18" charset="0"/>
              </a:rPr>
              <a:t>色彩空间转</a:t>
            </a:r>
            <a:r>
              <a:rPr lang="en-US" altLang="zh-CN" sz="2000" dirty="0">
                <a:latin typeface="Times New Roman" panose="02020603050405020304" pitchFamily="18" charset="0"/>
                <a:cs typeface="Times New Roman" panose="02020603050405020304" pitchFamily="18" charset="0"/>
              </a:rPr>
              <a:t>RGB</a:t>
            </a:r>
            <a:r>
              <a:rPr lang="zh-CN" altLang="en-US" sz="2000" dirty="0">
                <a:latin typeface="Times New Roman" panose="02020603050405020304" pitchFamily="18" charset="0"/>
                <a:cs typeface="Times New Roman" panose="02020603050405020304" pitchFamily="18" charset="0"/>
              </a:rPr>
              <a:t>色彩空间</a:t>
            </a:r>
          </a:p>
          <a:p>
            <a:r>
              <a:rPr lang="en-US" altLang="zh-CN" sz="2000" dirty="0" err="1">
                <a:latin typeface="Times New Roman" panose="02020603050405020304" pitchFamily="18" charset="0"/>
                <a:cs typeface="Times New Roman" panose="02020603050405020304" pitchFamily="18" charset="0"/>
              </a:rPr>
              <a:t>img_RGB</a:t>
            </a:r>
            <a:r>
              <a:rPr lang="en-US" altLang="zh-CN" sz="2000" dirty="0">
                <a:latin typeface="Times New Roman" panose="02020603050405020304" pitchFamily="18" charset="0"/>
                <a:cs typeface="Times New Roman" panose="02020603050405020304" pitchFamily="18" charset="0"/>
              </a:rPr>
              <a:t> = cv2.cvtColor(img_BGR,cv2.COLOR_BGR2RGB)</a:t>
            </a:r>
          </a:p>
          <a:p>
            <a:r>
              <a:rPr lang="en-US" altLang="zh-CN" sz="2000" dirty="0" err="1">
                <a:latin typeface="Times New Roman" panose="02020603050405020304" pitchFamily="18" charset="0"/>
                <a:cs typeface="Times New Roman" panose="02020603050405020304" pitchFamily="18" charset="0"/>
              </a:rPr>
              <a:t>plt.subplot</a:t>
            </a:r>
            <a:r>
              <a:rPr lang="en-US" altLang="zh-CN" sz="2000" dirty="0">
                <a:latin typeface="Times New Roman" panose="02020603050405020304" pitchFamily="18" charset="0"/>
                <a:cs typeface="Times New Roman" panose="02020603050405020304" pitchFamily="18" charset="0"/>
              </a:rPr>
              <a:t>(1,2,2)</a:t>
            </a:r>
          </a:p>
          <a:p>
            <a:r>
              <a:rPr lang="en-US" altLang="zh-CN" sz="2000" dirty="0" err="1">
                <a:latin typeface="Times New Roman" panose="02020603050405020304" pitchFamily="18" charset="0"/>
                <a:cs typeface="Times New Roman" panose="02020603050405020304" pitchFamily="18" charset="0"/>
              </a:rPr>
              <a:t>plt.imshow</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img_RGB</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plt.title</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RGB_image</a:t>
            </a:r>
            <a:r>
              <a:rPr lang="en-US" altLang="zh-CN" sz="2000" dirty="0">
                <a:latin typeface="Times New Roman" panose="02020603050405020304" pitchFamily="18" charset="0"/>
                <a:cs typeface="Times New Roman" panose="02020603050405020304" pitchFamily="18" charset="0"/>
              </a:rPr>
              <a:t>')</a:t>
            </a:r>
          </a:p>
          <a:p>
            <a:r>
              <a:rPr lang="en-US" altLang="zh-CN" sz="2000" dirty="0" err="1">
                <a:latin typeface="Times New Roman" panose="02020603050405020304" pitchFamily="18" charset="0"/>
                <a:cs typeface="Times New Roman" panose="02020603050405020304" pitchFamily="18" charset="0"/>
              </a:rPr>
              <a:t>plt.axis</a:t>
            </a:r>
            <a:r>
              <a:rPr lang="en-US" altLang="zh-CN" sz="2000" dirty="0">
                <a:latin typeface="Times New Roman" panose="02020603050405020304" pitchFamily="18" charset="0"/>
                <a:cs typeface="Times New Roman" panose="02020603050405020304" pitchFamily="18" charset="0"/>
              </a:rPr>
              <a:t>("off")</a:t>
            </a:r>
          </a:p>
          <a:p>
            <a:r>
              <a:rPr lang="en-US" altLang="zh-CN" sz="2000" dirty="0" err="1">
                <a:latin typeface="Times New Roman" panose="02020603050405020304" pitchFamily="18" charset="0"/>
                <a:cs typeface="Times New Roman" panose="02020603050405020304" pitchFamily="18" charset="0"/>
              </a:rPr>
              <a:t>plt.show</a:t>
            </a:r>
            <a:r>
              <a:rPr lang="en-US" altLang="zh-CN" sz="2000" dirty="0">
                <a:latin typeface="Times New Roman" panose="02020603050405020304" pitchFamily="18" charset="0"/>
                <a:cs typeface="Times New Roman" panose="02020603050405020304" pitchFamily="18" charset="0"/>
              </a:rPr>
              <a:t>()</a:t>
            </a:r>
          </a:p>
        </p:txBody>
      </p:sp>
      <p:sp>
        <p:nvSpPr>
          <p:cNvPr id="8" name="文本框 7">
            <a:extLst>
              <a:ext uri="{FF2B5EF4-FFF2-40B4-BE49-F238E27FC236}">
                <a16:creationId xmlns:a16="http://schemas.microsoft.com/office/drawing/2014/main" xmlns="" id="{9C4BEA3C-AE6C-43DE-A00E-B658FED20B90}"/>
              </a:ext>
            </a:extLst>
          </p:cNvPr>
          <p:cNvSpPr txBox="1"/>
          <p:nvPr/>
        </p:nvSpPr>
        <p:spPr>
          <a:xfrm>
            <a:off x="6361589" y="1166842"/>
            <a:ext cx="4374473" cy="369332"/>
          </a:xfrm>
          <a:prstGeom prst="rect">
            <a:avLst/>
          </a:prstGeom>
          <a:noFill/>
        </p:spPr>
        <p:txBody>
          <a:bodyPr wrap="square">
            <a:spAutoFit/>
          </a:bodyPr>
          <a:lstStyle/>
          <a:p>
            <a:r>
              <a:rPr lang="zh-CN" altLang="en-US" dirty="0"/>
              <a:t>程序运行结果如图</a:t>
            </a:r>
            <a:r>
              <a:rPr lang="en-US" altLang="zh-CN" dirty="0"/>
              <a:t>11-3</a:t>
            </a:r>
            <a:r>
              <a:rPr lang="zh-CN" altLang="en-US" dirty="0"/>
              <a:t>所示：</a:t>
            </a:r>
          </a:p>
        </p:txBody>
      </p:sp>
      <p:pic>
        <p:nvPicPr>
          <p:cNvPr id="9" name="图片 8">
            <a:extLst>
              <a:ext uri="{FF2B5EF4-FFF2-40B4-BE49-F238E27FC236}">
                <a16:creationId xmlns:a16="http://schemas.microsoft.com/office/drawing/2014/main" xmlns="" id="{AAC141C7-7896-46AF-8430-13EE86E0C013}"/>
              </a:ext>
            </a:extLst>
          </p:cNvPr>
          <p:cNvPicPr>
            <a:picLocks noChangeAspect="1"/>
          </p:cNvPicPr>
          <p:nvPr/>
        </p:nvPicPr>
        <p:blipFill>
          <a:blip r:embed="rId2"/>
          <a:stretch>
            <a:fillRect/>
          </a:stretch>
        </p:blipFill>
        <p:spPr>
          <a:xfrm>
            <a:off x="6172316" y="1744227"/>
            <a:ext cx="5237824" cy="2731114"/>
          </a:xfrm>
          <a:prstGeom prst="rect">
            <a:avLst/>
          </a:prstGeom>
        </p:spPr>
      </p:pic>
      <p:sp>
        <p:nvSpPr>
          <p:cNvPr id="11" name="文本框 10">
            <a:extLst>
              <a:ext uri="{FF2B5EF4-FFF2-40B4-BE49-F238E27FC236}">
                <a16:creationId xmlns:a16="http://schemas.microsoft.com/office/drawing/2014/main" xmlns="" id="{8A82CF61-A639-4F98-A409-B4F7CA521E0F}"/>
              </a:ext>
            </a:extLst>
          </p:cNvPr>
          <p:cNvSpPr txBox="1"/>
          <p:nvPr/>
        </p:nvSpPr>
        <p:spPr>
          <a:xfrm>
            <a:off x="6368251" y="4498728"/>
            <a:ext cx="2473908" cy="369332"/>
          </a:xfrm>
          <a:prstGeom prst="rect">
            <a:avLst/>
          </a:prstGeom>
          <a:noFill/>
        </p:spPr>
        <p:txBody>
          <a:bodyPr wrap="square">
            <a:spAutoFit/>
          </a:bodyPr>
          <a:lstStyle/>
          <a:p>
            <a:r>
              <a:rPr lang="en-US" altLang="zh-CN" dirty="0"/>
              <a:t>(a) BGR</a:t>
            </a:r>
            <a:r>
              <a:rPr lang="zh-CN" altLang="en-US" dirty="0"/>
              <a:t>色彩空间图像 </a:t>
            </a:r>
          </a:p>
        </p:txBody>
      </p:sp>
      <p:sp>
        <p:nvSpPr>
          <p:cNvPr id="13" name="文本框 12">
            <a:extLst>
              <a:ext uri="{FF2B5EF4-FFF2-40B4-BE49-F238E27FC236}">
                <a16:creationId xmlns:a16="http://schemas.microsoft.com/office/drawing/2014/main" xmlns="" id="{6B366B81-EA60-4535-AA4F-93B8C269696C}"/>
              </a:ext>
            </a:extLst>
          </p:cNvPr>
          <p:cNvSpPr txBox="1"/>
          <p:nvPr/>
        </p:nvSpPr>
        <p:spPr>
          <a:xfrm>
            <a:off x="9039687" y="4498728"/>
            <a:ext cx="2473908" cy="369332"/>
          </a:xfrm>
          <a:prstGeom prst="rect">
            <a:avLst/>
          </a:prstGeom>
          <a:noFill/>
        </p:spPr>
        <p:txBody>
          <a:bodyPr wrap="square">
            <a:spAutoFit/>
          </a:bodyPr>
          <a:lstStyle/>
          <a:p>
            <a:r>
              <a:rPr lang="en-US" altLang="zh-CN" dirty="0"/>
              <a:t>(b) RGB</a:t>
            </a:r>
            <a:r>
              <a:rPr lang="zh-CN" altLang="en-US" dirty="0"/>
              <a:t>色彩空间图像</a:t>
            </a:r>
          </a:p>
        </p:txBody>
      </p:sp>
      <p:sp>
        <p:nvSpPr>
          <p:cNvPr id="15" name="文本框 14">
            <a:extLst>
              <a:ext uri="{FF2B5EF4-FFF2-40B4-BE49-F238E27FC236}">
                <a16:creationId xmlns:a16="http://schemas.microsoft.com/office/drawing/2014/main" xmlns="" id="{C04DC3AC-49C2-4BAE-A81A-4A70228EB9C4}"/>
              </a:ext>
            </a:extLst>
          </p:cNvPr>
          <p:cNvSpPr txBox="1"/>
          <p:nvPr/>
        </p:nvSpPr>
        <p:spPr>
          <a:xfrm>
            <a:off x="7152072" y="5076113"/>
            <a:ext cx="3380173" cy="369332"/>
          </a:xfrm>
          <a:prstGeom prst="rect">
            <a:avLst/>
          </a:prstGeom>
          <a:noFill/>
        </p:spPr>
        <p:txBody>
          <a:bodyPr wrap="square">
            <a:spAutoFit/>
          </a:bodyPr>
          <a:lstStyle/>
          <a:p>
            <a:r>
              <a:rPr lang="zh-CN" altLang="en-US" dirty="0"/>
              <a:t>图</a:t>
            </a:r>
            <a:r>
              <a:rPr lang="en-US" altLang="zh-CN" dirty="0"/>
              <a:t>11-3 BGR</a:t>
            </a:r>
            <a:r>
              <a:rPr lang="zh-CN" altLang="en-US" dirty="0"/>
              <a:t>转换为</a:t>
            </a:r>
            <a:r>
              <a:rPr lang="en-US" altLang="zh-CN" dirty="0"/>
              <a:t>RGB</a:t>
            </a:r>
            <a:r>
              <a:rPr lang="zh-CN" altLang="en-US" dirty="0"/>
              <a:t>色彩空间</a:t>
            </a:r>
          </a:p>
        </p:txBody>
      </p:sp>
    </p:spTree>
    <p:extLst>
      <p:ext uri="{BB962C8B-B14F-4D97-AF65-F5344CB8AC3E}">
        <p14:creationId xmlns:p14="http://schemas.microsoft.com/office/powerpoint/2010/main" val="1654345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3B5661A-A8B3-4602-A1D8-0535068F4446}"/>
              </a:ext>
            </a:extLst>
          </p:cNvPr>
          <p:cNvSpPr>
            <a:spLocks noGrp="1"/>
          </p:cNvSpPr>
          <p:nvPr>
            <p:ph type="title"/>
          </p:nvPr>
        </p:nvSpPr>
        <p:spPr>
          <a:xfrm>
            <a:off x="656321" y="202747"/>
            <a:ext cx="10364451" cy="864054"/>
          </a:xfrm>
        </p:spPr>
        <p:txBody>
          <a:bodyPr/>
          <a:lstStyle/>
          <a:p>
            <a:r>
              <a:rPr lang="en-US" altLang="zh-CN" b="1" dirty="0">
                <a:solidFill>
                  <a:srgbClr val="C00000"/>
                </a:solidFill>
              </a:rPr>
              <a:t>11.2.3 </a:t>
            </a:r>
            <a:r>
              <a:rPr lang="en-US" altLang="zh-CN" b="1" dirty="0" smtClean="0">
                <a:solidFill>
                  <a:srgbClr val="C00000"/>
                </a:solidFill>
              </a:rPr>
              <a:t> GRAY</a:t>
            </a:r>
            <a:r>
              <a:rPr lang="zh-CN" altLang="en-US" b="1" dirty="0">
                <a:solidFill>
                  <a:srgbClr val="C00000"/>
                </a:solidFill>
              </a:rPr>
              <a:t>色彩空间</a:t>
            </a:r>
          </a:p>
        </p:txBody>
      </p:sp>
      <p:sp>
        <p:nvSpPr>
          <p:cNvPr id="3" name="内容占位符 2">
            <a:extLst>
              <a:ext uri="{FF2B5EF4-FFF2-40B4-BE49-F238E27FC236}">
                <a16:creationId xmlns:a16="http://schemas.microsoft.com/office/drawing/2014/main" xmlns="" id="{FA26E29A-BBE0-4515-BCED-D47269564E4D}"/>
              </a:ext>
            </a:extLst>
          </p:cNvPr>
          <p:cNvSpPr>
            <a:spLocks noGrp="1"/>
          </p:cNvSpPr>
          <p:nvPr>
            <p:ph sz="quarter" idx="13"/>
          </p:nvPr>
        </p:nvSpPr>
        <p:spPr>
          <a:xfrm>
            <a:off x="1083076" y="1688238"/>
            <a:ext cx="9866363" cy="2857129"/>
          </a:xfrm>
        </p:spPr>
        <p:txBody>
          <a:bodyPr>
            <a:normAutofit fontScale="92500"/>
          </a:bodyPr>
          <a:lstStyle/>
          <a:p>
            <a:pPr marL="0" indent="457200">
              <a:buNone/>
            </a:pPr>
            <a:r>
              <a:rPr lang="en-US" altLang="zh-CN" sz="2800" dirty="0">
                <a:latin typeface="Times New Roman" panose="02020603050405020304" pitchFamily="18" charset="0"/>
                <a:cs typeface="Times New Roman" panose="02020603050405020304" pitchFamily="18" charset="0"/>
              </a:rPr>
              <a:t>GRAY</a:t>
            </a:r>
            <a:r>
              <a:rPr lang="zh-CN" altLang="en-US" sz="2800" dirty="0">
                <a:latin typeface="Times New Roman" panose="02020603050405020304" pitchFamily="18" charset="0"/>
                <a:cs typeface="Times New Roman" panose="02020603050405020304" pitchFamily="18" charset="0"/>
              </a:rPr>
              <a:t>色彩空间一般指</a:t>
            </a:r>
            <a:r>
              <a:rPr lang="en-US" altLang="zh-CN" sz="2800" dirty="0">
                <a:latin typeface="Times New Roman" panose="02020603050405020304" pitchFamily="18" charset="0"/>
                <a:cs typeface="Times New Roman" panose="02020603050405020304" pitchFamily="18" charset="0"/>
              </a:rPr>
              <a:t>8</a:t>
            </a:r>
            <a:r>
              <a:rPr lang="zh-CN" altLang="en-US" sz="2800" dirty="0">
                <a:latin typeface="Times New Roman" panose="02020603050405020304" pitchFamily="18" charset="0"/>
                <a:cs typeface="Times New Roman" panose="02020603050405020304" pitchFamily="18" charset="0"/>
              </a:rPr>
              <a:t>位灰度图，像素值的范围是</a:t>
            </a:r>
            <a:r>
              <a:rPr lang="en-US" altLang="zh-CN" sz="2800" dirty="0">
                <a:latin typeface="Times New Roman" panose="02020603050405020304" pitchFamily="18" charset="0"/>
                <a:cs typeface="Times New Roman" panose="02020603050405020304" pitchFamily="18" charset="0"/>
              </a:rPr>
              <a:t>0</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255</a:t>
            </a:r>
            <a:r>
              <a:rPr lang="zh-CN" altLang="en-US" sz="2800" dirty="0">
                <a:latin typeface="Times New Roman" panose="02020603050405020304" pitchFamily="18" charset="0"/>
                <a:cs typeface="Times New Roman" panose="02020603050405020304" pitchFamily="18" charset="0"/>
              </a:rPr>
              <a:t>，共</a:t>
            </a:r>
            <a:r>
              <a:rPr lang="en-US" altLang="zh-CN" sz="2800" dirty="0">
                <a:latin typeface="Times New Roman" panose="02020603050405020304" pitchFamily="18" charset="0"/>
                <a:cs typeface="Times New Roman" panose="02020603050405020304" pitchFamily="18" charset="0"/>
              </a:rPr>
              <a:t>256</a:t>
            </a:r>
            <a:r>
              <a:rPr lang="zh-CN" altLang="en-US" sz="2800" dirty="0">
                <a:latin typeface="Times New Roman" panose="02020603050405020304" pitchFamily="18" charset="0"/>
                <a:cs typeface="Times New Roman" panose="02020603050405020304" pitchFamily="18" charset="0"/>
              </a:rPr>
              <a:t>个灰度级。由</a:t>
            </a:r>
            <a:r>
              <a:rPr lang="en-US" altLang="zh-CN" sz="2800" dirty="0">
                <a:latin typeface="Times New Roman" panose="02020603050405020304" pitchFamily="18" charset="0"/>
                <a:cs typeface="Times New Roman" panose="02020603050405020304" pitchFamily="18" charset="0"/>
              </a:rPr>
              <a:t>RGB</a:t>
            </a:r>
            <a:r>
              <a:rPr lang="zh-CN" altLang="en-US" sz="2800" dirty="0">
                <a:latin typeface="Times New Roman" panose="02020603050405020304" pitchFamily="18" charset="0"/>
                <a:cs typeface="Times New Roman" panose="02020603050405020304" pitchFamily="18" charset="0"/>
              </a:rPr>
              <a:t>色彩空间转换为</a:t>
            </a:r>
            <a:r>
              <a:rPr lang="en-US" altLang="zh-CN" sz="2800" dirty="0">
                <a:latin typeface="Times New Roman" panose="02020603050405020304" pitchFamily="18" charset="0"/>
                <a:cs typeface="Times New Roman" panose="02020603050405020304" pitchFamily="18" charset="0"/>
              </a:rPr>
              <a:t>GRAY</a:t>
            </a:r>
            <a:r>
              <a:rPr lang="zh-CN" altLang="en-US" sz="2800" dirty="0">
                <a:latin typeface="Times New Roman" panose="02020603050405020304" pitchFamily="18" charset="0"/>
                <a:cs typeface="Times New Roman" panose="02020603050405020304" pitchFamily="18" charset="0"/>
              </a:rPr>
              <a:t>色彩空间的标准公式为：</a:t>
            </a:r>
          </a:p>
          <a:p>
            <a:pPr marL="0" indent="457200">
              <a:buNone/>
            </a:pPr>
            <a:r>
              <a:rPr lang="en-US" altLang="zh-CN" sz="28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Gray = 0.299*R+0.587*G+0.114*B    </a:t>
            </a:r>
            <a:r>
              <a:rPr lang="en-US" altLang="zh-CN" sz="2800" dirty="0" smtClean="0">
                <a:solidFill>
                  <a:srgbClr val="FF0000"/>
                </a:solidFill>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11-18     </a:t>
            </a:r>
          </a:p>
          <a:p>
            <a:pPr marL="0" indent="457200">
              <a:buNone/>
            </a:pPr>
            <a:r>
              <a:rPr lang="zh-CN" altLang="en-US" sz="2800" dirty="0">
                <a:latin typeface="Times New Roman" panose="02020603050405020304" pitchFamily="18" charset="0"/>
                <a:cs typeface="Times New Roman" panose="02020603050405020304" pitchFamily="18" charset="0"/>
              </a:rPr>
              <a:t>上式中，</a:t>
            </a:r>
            <a:r>
              <a:rPr lang="en-US" altLang="zh-CN" sz="2800" dirty="0">
                <a:latin typeface="Times New Roman" panose="02020603050405020304" pitchFamily="18" charset="0"/>
                <a:cs typeface="Times New Roman" panose="02020603050405020304" pitchFamily="18" charset="0"/>
              </a:rPr>
              <a:t>Gray</a:t>
            </a:r>
            <a:r>
              <a:rPr lang="zh-CN" altLang="en-US" sz="2800" dirty="0">
                <a:latin typeface="Times New Roman" panose="02020603050405020304" pitchFamily="18" charset="0"/>
                <a:cs typeface="Times New Roman" panose="02020603050405020304" pitchFamily="18" charset="0"/>
              </a:rPr>
              <a:t>表示灰度图，</a:t>
            </a:r>
            <a:r>
              <a:rPr lang="en-US" altLang="zh-CN" sz="2800" dirty="0">
                <a:latin typeface="Times New Roman" panose="02020603050405020304" pitchFamily="18" charset="0"/>
                <a:cs typeface="Times New Roman" panose="02020603050405020304" pitchFamily="18" charset="0"/>
              </a:rPr>
              <a:t>R</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G</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B</a:t>
            </a:r>
            <a:r>
              <a:rPr lang="zh-CN" altLang="en-US" sz="2800" dirty="0">
                <a:latin typeface="Times New Roman" panose="02020603050405020304" pitchFamily="18" charset="0"/>
                <a:cs typeface="Times New Roman" panose="02020603050405020304" pitchFamily="18" charset="0"/>
              </a:rPr>
              <a:t>分别是</a:t>
            </a:r>
            <a:r>
              <a:rPr lang="en-US" altLang="zh-CN" sz="2800" dirty="0">
                <a:latin typeface="Times New Roman" panose="02020603050405020304" pitchFamily="18" charset="0"/>
                <a:cs typeface="Times New Roman" panose="02020603050405020304" pitchFamily="18" charset="0"/>
              </a:rPr>
              <a:t>RGB</a:t>
            </a:r>
            <a:r>
              <a:rPr lang="zh-CN" altLang="en-US" sz="2800" dirty="0">
                <a:latin typeface="Times New Roman" panose="02020603050405020304" pitchFamily="18" charset="0"/>
                <a:cs typeface="Times New Roman" panose="02020603050405020304" pitchFamily="18" charset="0"/>
              </a:rPr>
              <a:t>色彩空间的三个通道的图像。</a:t>
            </a:r>
          </a:p>
          <a:p>
            <a:pPr marL="0" indent="0">
              <a:buNone/>
            </a:pPr>
            <a:endParaRPr lang="zh-CN" altLang="en-US" dirty="0"/>
          </a:p>
        </p:txBody>
      </p:sp>
    </p:spTree>
    <p:extLst>
      <p:ext uri="{BB962C8B-B14F-4D97-AF65-F5344CB8AC3E}">
        <p14:creationId xmlns:p14="http://schemas.microsoft.com/office/powerpoint/2010/main" val="84762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E5F0774D-43A4-430B-867C-C10C2F533F22}"/>
              </a:ext>
            </a:extLst>
          </p:cNvPr>
          <p:cNvSpPr txBox="1"/>
          <p:nvPr/>
        </p:nvSpPr>
        <p:spPr>
          <a:xfrm>
            <a:off x="1146443" y="269597"/>
            <a:ext cx="6402023" cy="830997"/>
          </a:xfrm>
          <a:prstGeom prst="rect">
            <a:avLst/>
          </a:prstGeom>
          <a:noFill/>
        </p:spPr>
        <p:txBody>
          <a:bodyPr wrap="square" rtlCol="0">
            <a:spAutoFit/>
          </a:bodyPr>
          <a:lstStyle/>
          <a:p>
            <a:r>
              <a:rPr lang="en-US" altLang="zh-CN" sz="2400" dirty="0">
                <a:solidFill>
                  <a:srgbClr val="0033CC"/>
                </a:solidFill>
              </a:rPr>
              <a:t>【</a:t>
            </a:r>
            <a:r>
              <a:rPr lang="zh-CN" altLang="en-US" sz="2400" dirty="0">
                <a:solidFill>
                  <a:srgbClr val="0033CC"/>
                </a:solidFill>
              </a:rPr>
              <a:t>例</a:t>
            </a:r>
            <a:r>
              <a:rPr lang="en-US" altLang="zh-CN" sz="2400" dirty="0">
                <a:solidFill>
                  <a:srgbClr val="0033CC"/>
                </a:solidFill>
              </a:rPr>
              <a:t>11.2】RGB</a:t>
            </a:r>
            <a:r>
              <a:rPr lang="zh-CN" altLang="en-US" sz="2400" dirty="0">
                <a:solidFill>
                  <a:srgbClr val="0033CC"/>
                </a:solidFill>
              </a:rPr>
              <a:t>色彩空间转换为</a:t>
            </a:r>
            <a:r>
              <a:rPr lang="en-US" altLang="zh-CN" sz="2400" dirty="0">
                <a:solidFill>
                  <a:srgbClr val="0033CC"/>
                </a:solidFill>
              </a:rPr>
              <a:t>GRAY</a:t>
            </a:r>
            <a:r>
              <a:rPr lang="zh-CN" altLang="en-US" sz="2400" dirty="0">
                <a:solidFill>
                  <a:srgbClr val="0033CC"/>
                </a:solidFill>
              </a:rPr>
              <a:t>色彩空间。程序代码如下：</a:t>
            </a:r>
          </a:p>
        </p:txBody>
      </p:sp>
      <p:sp>
        <p:nvSpPr>
          <p:cNvPr id="5" name="文本框 4">
            <a:extLst>
              <a:ext uri="{FF2B5EF4-FFF2-40B4-BE49-F238E27FC236}">
                <a16:creationId xmlns:a16="http://schemas.microsoft.com/office/drawing/2014/main" xmlns="" id="{E9B4DBF3-4014-422D-9CBD-F7AA6AE2D5FE}"/>
              </a:ext>
            </a:extLst>
          </p:cNvPr>
          <p:cNvSpPr txBox="1"/>
          <p:nvPr/>
        </p:nvSpPr>
        <p:spPr>
          <a:xfrm>
            <a:off x="1048872" y="1184570"/>
            <a:ext cx="6347010" cy="3139321"/>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import cv2</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image1=cv2.imread("d:/pics/lena.jpg",4 ) </a:t>
            </a:r>
          </a:p>
          <a:p>
            <a:r>
              <a:rPr lang="en-US" altLang="zh-CN" sz="2000" dirty="0">
                <a:latin typeface="Times New Roman" panose="02020603050405020304" pitchFamily="18" charset="0"/>
                <a:cs typeface="Times New Roman" panose="02020603050405020304" pitchFamily="18" charset="0"/>
              </a:rPr>
              <a:t>cv2.imshow("Origin",image1) </a:t>
            </a:r>
          </a:p>
          <a:p>
            <a:r>
              <a:rPr lang="en-US" altLang="zh-CN" sz="2000" dirty="0">
                <a:latin typeface="Times New Roman" panose="02020603050405020304" pitchFamily="18" charset="0"/>
                <a:cs typeface="Times New Roman" panose="02020603050405020304" pitchFamily="18" charset="0"/>
              </a:rPr>
              <a:t>#RGB</a:t>
            </a:r>
            <a:r>
              <a:rPr lang="zh-CN" altLang="en-US" sz="2000" dirty="0">
                <a:latin typeface="Times New Roman" panose="02020603050405020304" pitchFamily="18" charset="0"/>
                <a:cs typeface="Times New Roman" panose="02020603050405020304" pitchFamily="18" charset="0"/>
              </a:rPr>
              <a:t>色彩空间转</a:t>
            </a:r>
            <a:r>
              <a:rPr lang="en-US" altLang="zh-CN" sz="2000" dirty="0">
                <a:latin typeface="Times New Roman" panose="02020603050405020304" pitchFamily="18" charset="0"/>
                <a:cs typeface="Times New Roman" panose="02020603050405020304" pitchFamily="18" charset="0"/>
              </a:rPr>
              <a:t>GRAY</a:t>
            </a:r>
            <a:r>
              <a:rPr lang="zh-CN" altLang="en-US" sz="2000" dirty="0">
                <a:latin typeface="Times New Roman" panose="02020603050405020304" pitchFamily="18" charset="0"/>
                <a:cs typeface="Times New Roman" panose="02020603050405020304" pitchFamily="18" charset="0"/>
              </a:rPr>
              <a:t>色彩空间</a:t>
            </a:r>
          </a:p>
          <a:p>
            <a:r>
              <a:rPr lang="en-US" altLang="zh-CN" sz="2000" dirty="0">
                <a:latin typeface="Times New Roman" panose="02020603050405020304" pitchFamily="18" charset="0"/>
                <a:cs typeface="Times New Roman" panose="02020603050405020304" pitchFamily="18" charset="0"/>
              </a:rPr>
              <a:t>image2=cv2.cvtColor(image1,cv2.COLOR_RGB2GRAY)</a:t>
            </a:r>
          </a:p>
          <a:p>
            <a:r>
              <a:rPr lang="en-US" altLang="zh-CN" sz="2000" dirty="0">
                <a:latin typeface="Times New Roman" panose="02020603050405020304" pitchFamily="18" charset="0"/>
                <a:cs typeface="Times New Roman" panose="02020603050405020304" pitchFamily="18" charset="0"/>
              </a:rPr>
              <a:t>cv2.imshow("Gray",image2)</a:t>
            </a:r>
          </a:p>
          <a:p>
            <a:r>
              <a:rPr lang="en-US" altLang="zh-CN" sz="2000" dirty="0">
                <a:latin typeface="Times New Roman" panose="02020603050405020304" pitchFamily="18" charset="0"/>
                <a:cs typeface="Times New Roman" panose="02020603050405020304" pitchFamily="18" charset="0"/>
              </a:rPr>
              <a:t>cv2.waitKey(0)</a:t>
            </a:r>
          </a:p>
          <a:p>
            <a:r>
              <a:rPr lang="en-US" altLang="zh-CN" sz="2000" dirty="0">
                <a:latin typeface="Times New Roman" panose="02020603050405020304" pitchFamily="18" charset="0"/>
                <a:cs typeface="Times New Roman" panose="02020603050405020304" pitchFamily="18" charset="0"/>
              </a:rPr>
              <a:t>cv2.destroyAllWindows()</a:t>
            </a:r>
          </a:p>
          <a:p>
            <a:endParaRPr lang="en-US" altLang="zh-CN" dirty="0"/>
          </a:p>
        </p:txBody>
      </p:sp>
      <p:sp>
        <p:nvSpPr>
          <p:cNvPr id="7" name="文本框 6">
            <a:extLst>
              <a:ext uri="{FF2B5EF4-FFF2-40B4-BE49-F238E27FC236}">
                <a16:creationId xmlns:a16="http://schemas.microsoft.com/office/drawing/2014/main" xmlns="" id="{3AF937E6-18E6-4216-B380-CBEAC53DF239}"/>
              </a:ext>
            </a:extLst>
          </p:cNvPr>
          <p:cNvSpPr txBox="1"/>
          <p:nvPr/>
        </p:nvSpPr>
        <p:spPr>
          <a:xfrm>
            <a:off x="1314394" y="4530978"/>
            <a:ext cx="3351321" cy="369332"/>
          </a:xfrm>
          <a:prstGeom prst="rect">
            <a:avLst/>
          </a:prstGeom>
          <a:noFill/>
        </p:spPr>
        <p:txBody>
          <a:bodyPr wrap="square">
            <a:spAutoFit/>
          </a:bodyPr>
          <a:lstStyle/>
          <a:p>
            <a:r>
              <a:rPr lang="zh-CN" altLang="en-US" dirty="0"/>
              <a:t>程序运行结果如图</a:t>
            </a:r>
            <a:r>
              <a:rPr lang="en-US" altLang="zh-CN" dirty="0"/>
              <a:t>11-4</a:t>
            </a:r>
            <a:r>
              <a:rPr lang="zh-CN" altLang="en-US" dirty="0"/>
              <a:t>所示。</a:t>
            </a:r>
          </a:p>
        </p:txBody>
      </p:sp>
      <p:pic>
        <p:nvPicPr>
          <p:cNvPr id="8" name="图片 7">
            <a:extLst>
              <a:ext uri="{FF2B5EF4-FFF2-40B4-BE49-F238E27FC236}">
                <a16:creationId xmlns:a16="http://schemas.microsoft.com/office/drawing/2014/main" xmlns="" id="{DB966F67-D3F8-4F99-AF59-55A6EEA56FE3}"/>
              </a:ext>
            </a:extLst>
          </p:cNvPr>
          <p:cNvPicPr>
            <a:picLocks noChangeAspect="1"/>
          </p:cNvPicPr>
          <p:nvPr/>
        </p:nvPicPr>
        <p:blipFill>
          <a:blip r:embed="rId2"/>
          <a:stretch>
            <a:fillRect/>
          </a:stretch>
        </p:blipFill>
        <p:spPr>
          <a:xfrm>
            <a:off x="7946128" y="617331"/>
            <a:ext cx="2143125" cy="2468245"/>
          </a:xfrm>
          <a:prstGeom prst="rect">
            <a:avLst/>
          </a:prstGeom>
        </p:spPr>
      </p:pic>
      <p:pic>
        <p:nvPicPr>
          <p:cNvPr id="9" name="图片 8">
            <a:extLst>
              <a:ext uri="{FF2B5EF4-FFF2-40B4-BE49-F238E27FC236}">
                <a16:creationId xmlns:a16="http://schemas.microsoft.com/office/drawing/2014/main" xmlns="" id="{0D498516-385B-4297-A983-2EB4C360D4D8}"/>
              </a:ext>
            </a:extLst>
          </p:cNvPr>
          <p:cNvPicPr>
            <a:picLocks noChangeAspect="1"/>
          </p:cNvPicPr>
          <p:nvPr/>
        </p:nvPicPr>
        <p:blipFill>
          <a:blip r:embed="rId3"/>
          <a:stretch>
            <a:fillRect/>
          </a:stretch>
        </p:blipFill>
        <p:spPr>
          <a:xfrm>
            <a:off x="7946128" y="3200096"/>
            <a:ext cx="2153920" cy="2480310"/>
          </a:xfrm>
          <a:prstGeom prst="rect">
            <a:avLst/>
          </a:prstGeom>
        </p:spPr>
      </p:pic>
      <p:sp>
        <p:nvSpPr>
          <p:cNvPr id="11" name="文本框 10">
            <a:extLst>
              <a:ext uri="{FF2B5EF4-FFF2-40B4-BE49-F238E27FC236}">
                <a16:creationId xmlns:a16="http://schemas.microsoft.com/office/drawing/2014/main" xmlns="" id="{4C9878CE-C237-48FF-9AE1-A438C131D9AF}"/>
              </a:ext>
            </a:extLst>
          </p:cNvPr>
          <p:cNvSpPr txBox="1"/>
          <p:nvPr/>
        </p:nvSpPr>
        <p:spPr>
          <a:xfrm>
            <a:off x="10157789" y="1666787"/>
            <a:ext cx="1506984" cy="369332"/>
          </a:xfrm>
          <a:prstGeom prst="rect">
            <a:avLst/>
          </a:prstGeom>
          <a:noFill/>
        </p:spPr>
        <p:txBody>
          <a:bodyPr wrap="square">
            <a:spAutoFit/>
          </a:bodyPr>
          <a:lstStyle/>
          <a:p>
            <a:r>
              <a:rPr lang="en-US" altLang="zh-CN" dirty="0"/>
              <a:t>(a) </a:t>
            </a:r>
            <a:r>
              <a:rPr lang="zh-CN" altLang="en-US" dirty="0"/>
              <a:t>原图像 </a:t>
            </a:r>
          </a:p>
        </p:txBody>
      </p:sp>
      <p:sp>
        <p:nvSpPr>
          <p:cNvPr id="13" name="文本框 12">
            <a:extLst>
              <a:ext uri="{FF2B5EF4-FFF2-40B4-BE49-F238E27FC236}">
                <a16:creationId xmlns:a16="http://schemas.microsoft.com/office/drawing/2014/main" xmlns="" id="{E2294B8D-EC81-4E39-ACFF-FCED033BDE43}"/>
              </a:ext>
            </a:extLst>
          </p:cNvPr>
          <p:cNvSpPr txBox="1"/>
          <p:nvPr/>
        </p:nvSpPr>
        <p:spPr>
          <a:xfrm>
            <a:off x="10157790" y="3515704"/>
            <a:ext cx="1626774" cy="646331"/>
          </a:xfrm>
          <a:prstGeom prst="rect">
            <a:avLst/>
          </a:prstGeom>
          <a:noFill/>
        </p:spPr>
        <p:txBody>
          <a:bodyPr wrap="square">
            <a:spAutoFit/>
          </a:bodyPr>
          <a:lstStyle/>
          <a:p>
            <a:r>
              <a:rPr lang="en-US" altLang="zh-CN" dirty="0"/>
              <a:t>(b) GRAY</a:t>
            </a:r>
            <a:r>
              <a:rPr lang="zh-CN" altLang="en-US" dirty="0"/>
              <a:t>色彩空间的图像</a:t>
            </a:r>
          </a:p>
        </p:txBody>
      </p:sp>
      <p:sp>
        <p:nvSpPr>
          <p:cNvPr id="15" name="文本框 14">
            <a:extLst>
              <a:ext uri="{FF2B5EF4-FFF2-40B4-BE49-F238E27FC236}">
                <a16:creationId xmlns:a16="http://schemas.microsoft.com/office/drawing/2014/main" xmlns="" id="{D278177B-B70B-4929-A823-C395027C65D1}"/>
              </a:ext>
            </a:extLst>
          </p:cNvPr>
          <p:cNvSpPr txBox="1"/>
          <p:nvPr/>
        </p:nvSpPr>
        <p:spPr>
          <a:xfrm>
            <a:off x="8171323" y="5794926"/>
            <a:ext cx="3253666" cy="369332"/>
          </a:xfrm>
          <a:prstGeom prst="rect">
            <a:avLst/>
          </a:prstGeom>
          <a:noFill/>
        </p:spPr>
        <p:txBody>
          <a:bodyPr wrap="square">
            <a:spAutoFit/>
          </a:bodyPr>
          <a:lstStyle/>
          <a:p>
            <a:r>
              <a:rPr lang="zh-CN" altLang="en-US" dirty="0"/>
              <a:t>图</a:t>
            </a:r>
            <a:r>
              <a:rPr lang="en-US" altLang="zh-CN" dirty="0"/>
              <a:t>11-4 </a:t>
            </a:r>
            <a:r>
              <a:rPr lang="zh-CN" altLang="en-US" dirty="0"/>
              <a:t>彩色图像转灰度图像</a:t>
            </a:r>
          </a:p>
        </p:txBody>
      </p:sp>
    </p:spTree>
    <p:extLst>
      <p:ext uri="{BB962C8B-B14F-4D97-AF65-F5344CB8AC3E}">
        <p14:creationId xmlns:p14="http://schemas.microsoft.com/office/powerpoint/2010/main" val="1356122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433E5D6C-6644-473D-A3BC-4321DAA4EF4F}"/>
              </a:ext>
            </a:extLst>
          </p:cNvPr>
          <p:cNvSpPr txBox="1"/>
          <p:nvPr/>
        </p:nvSpPr>
        <p:spPr>
          <a:xfrm>
            <a:off x="1198485" y="408373"/>
            <a:ext cx="8416032" cy="646331"/>
          </a:xfrm>
          <a:prstGeom prst="rect">
            <a:avLst/>
          </a:prstGeom>
          <a:noFill/>
        </p:spPr>
        <p:txBody>
          <a:bodyPr wrap="square" rtlCol="0">
            <a:spAutoFit/>
          </a:bodyPr>
          <a:lstStyle/>
          <a:p>
            <a:pPr algn="ctr"/>
            <a:r>
              <a:rPr lang="en-US" altLang="zh-CN" sz="3600" b="1" dirty="0">
                <a:solidFill>
                  <a:srgbClr val="C00000"/>
                </a:solidFill>
              </a:rPr>
              <a:t>11.2.4 </a:t>
            </a:r>
            <a:r>
              <a:rPr lang="en-US" altLang="zh-CN" sz="3600" b="1" dirty="0" err="1">
                <a:solidFill>
                  <a:srgbClr val="C00000"/>
                </a:solidFill>
              </a:rPr>
              <a:t>YCrCb</a:t>
            </a:r>
            <a:r>
              <a:rPr lang="zh-CN" altLang="en-US" sz="3600" b="1" dirty="0">
                <a:solidFill>
                  <a:srgbClr val="C00000"/>
                </a:solidFill>
              </a:rPr>
              <a:t>色彩空间</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xmlns="" id="{ECD95E93-063F-4F7B-B3AD-B82CD6A4E0B9}"/>
                  </a:ext>
                </a:extLst>
              </p:cNvPr>
              <p:cNvSpPr txBox="1"/>
              <p:nvPr/>
            </p:nvSpPr>
            <p:spPr>
              <a:xfrm>
                <a:off x="1017037" y="1250314"/>
                <a:ext cx="10217020" cy="5241756"/>
              </a:xfrm>
              <a:prstGeom prst="rect">
                <a:avLst/>
              </a:prstGeom>
              <a:noFill/>
            </p:spPr>
            <p:txBody>
              <a:bodyPr wrap="square" rtlCol="0">
                <a:spAutoFit/>
              </a:bodyPr>
              <a:lstStyle/>
              <a:p>
                <a:pPr indent="457200"/>
                <a:r>
                  <a:rPr lang="zh-CN" altLang="en-US" sz="2400" b="1" dirty="0" smtClean="0">
                    <a:latin typeface="+mn-ea"/>
                  </a:rPr>
                  <a:t>在</a:t>
                </a:r>
                <a:r>
                  <a:rPr lang="en-US" altLang="zh-CN" sz="2400" b="1" dirty="0" err="1">
                    <a:latin typeface="+mn-ea"/>
                  </a:rPr>
                  <a:t>YCrCb</a:t>
                </a:r>
                <a:r>
                  <a:rPr lang="zh-CN" altLang="en-US" sz="2400" b="1" dirty="0">
                    <a:latin typeface="+mn-ea"/>
                  </a:rPr>
                  <a:t>色彩空间中，</a:t>
                </a:r>
                <a:r>
                  <a:rPr lang="en-US" altLang="zh-CN" sz="2400" b="1" dirty="0">
                    <a:solidFill>
                      <a:srgbClr val="FF0000"/>
                    </a:solidFill>
                    <a:latin typeface="+mn-ea"/>
                  </a:rPr>
                  <a:t>Y</a:t>
                </a:r>
                <a:r>
                  <a:rPr lang="zh-CN" altLang="en-US" sz="2400" b="1" dirty="0">
                    <a:solidFill>
                      <a:srgbClr val="FF0000"/>
                    </a:solidFill>
                    <a:latin typeface="+mn-ea"/>
                  </a:rPr>
                  <a:t>代表亮度，</a:t>
                </a:r>
                <a:r>
                  <a:rPr lang="en-US" altLang="zh-CN" sz="2400" b="1" dirty="0">
                    <a:solidFill>
                      <a:srgbClr val="FF0000"/>
                    </a:solidFill>
                    <a:latin typeface="+mn-ea"/>
                  </a:rPr>
                  <a:t>Cr</a:t>
                </a:r>
                <a:r>
                  <a:rPr lang="zh-CN" altLang="en-US" sz="2400" b="1" dirty="0">
                    <a:solidFill>
                      <a:srgbClr val="FF0000"/>
                    </a:solidFill>
                    <a:latin typeface="+mn-ea"/>
                  </a:rPr>
                  <a:t>和</a:t>
                </a:r>
                <a:r>
                  <a:rPr lang="en-US" altLang="zh-CN" sz="2400" b="1" dirty="0" err="1">
                    <a:solidFill>
                      <a:srgbClr val="FF0000"/>
                    </a:solidFill>
                    <a:latin typeface="+mn-ea"/>
                  </a:rPr>
                  <a:t>Cb</a:t>
                </a:r>
                <a:r>
                  <a:rPr lang="zh-CN" altLang="en-US" sz="2400" b="1" dirty="0">
                    <a:solidFill>
                      <a:srgbClr val="FF0000"/>
                    </a:solidFill>
                    <a:latin typeface="+mn-ea"/>
                  </a:rPr>
                  <a:t>保存色度信息</a:t>
                </a:r>
                <a:r>
                  <a:rPr lang="zh-CN" altLang="en-US" sz="2400" b="1" dirty="0">
                    <a:latin typeface="+mn-ea"/>
                  </a:rPr>
                  <a:t>，其中</a:t>
                </a:r>
                <a:r>
                  <a:rPr lang="en-US" altLang="zh-CN" sz="2400" b="1" dirty="0">
                    <a:solidFill>
                      <a:srgbClr val="FF0000"/>
                    </a:solidFill>
                    <a:latin typeface="+mn-ea"/>
                  </a:rPr>
                  <a:t>Cr</a:t>
                </a:r>
                <a:r>
                  <a:rPr lang="zh-CN" altLang="en-US" sz="2400" b="1" dirty="0">
                    <a:solidFill>
                      <a:srgbClr val="FF0000"/>
                    </a:solidFill>
                    <a:latin typeface="+mn-ea"/>
                  </a:rPr>
                  <a:t>表示红色分量信息</a:t>
                </a:r>
                <a:r>
                  <a:rPr lang="zh-CN" altLang="en-US" sz="2400" b="1" dirty="0">
                    <a:latin typeface="+mn-ea"/>
                  </a:rPr>
                  <a:t>，</a:t>
                </a:r>
                <a:r>
                  <a:rPr lang="en-US" altLang="zh-CN" sz="2400" b="1" dirty="0" err="1">
                    <a:solidFill>
                      <a:srgbClr val="FF0000"/>
                    </a:solidFill>
                    <a:latin typeface="+mn-ea"/>
                  </a:rPr>
                  <a:t>Cb</a:t>
                </a:r>
                <a:r>
                  <a:rPr lang="zh-CN" altLang="en-US" sz="2400" b="1" dirty="0">
                    <a:solidFill>
                      <a:srgbClr val="FF0000"/>
                    </a:solidFill>
                    <a:latin typeface="+mn-ea"/>
                  </a:rPr>
                  <a:t>表示蓝色分量信息</a:t>
                </a:r>
                <a:r>
                  <a:rPr lang="zh-CN" altLang="en-US" sz="2400" b="1" dirty="0" smtClean="0">
                    <a:latin typeface="+mn-ea"/>
                  </a:rPr>
                  <a:t>。</a:t>
                </a:r>
                <a:endParaRPr lang="en-US" altLang="zh-CN" sz="2400" b="1" dirty="0" smtClean="0">
                  <a:latin typeface="+mn-ea"/>
                </a:endParaRPr>
              </a:p>
              <a:p>
                <a:pPr indent="457200"/>
                <a:endParaRPr lang="zh-CN" altLang="en-US" sz="2400" b="1" dirty="0">
                  <a:latin typeface="+mn-ea"/>
                </a:endParaRPr>
              </a:p>
              <a:p>
                <a:pPr indent="457200"/>
                <a:r>
                  <a:rPr lang="zh-CN" altLang="en-US" sz="2400" b="1" dirty="0">
                    <a:latin typeface="+mn-ea"/>
                  </a:rPr>
                  <a:t>从</a:t>
                </a:r>
                <a:r>
                  <a:rPr lang="en-US" altLang="zh-CN" sz="2400" b="1" dirty="0">
                    <a:latin typeface="+mn-ea"/>
                  </a:rPr>
                  <a:t>RGB</a:t>
                </a:r>
                <a:r>
                  <a:rPr lang="zh-CN" altLang="en-US" sz="2400" b="1" dirty="0">
                    <a:latin typeface="+mn-ea"/>
                  </a:rPr>
                  <a:t>色彩空间转</a:t>
                </a:r>
                <a:r>
                  <a:rPr lang="en-US" altLang="zh-CN" sz="2400" b="1" dirty="0" err="1">
                    <a:latin typeface="+mn-ea"/>
                  </a:rPr>
                  <a:t>YCrCb</a:t>
                </a:r>
                <a:r>
                  <a:rPr lang="zh-CN" altLang="en-US" sz="2400" b="1" dirty="0">
                    <a:latin typeface="+mn-ea"/>
                  </a:rPr>
                  <a:t>色彩空间的公式为：</a:t>
                </a:r>
                <a:endParaRPr lang="en-US" altLang="zh-CN" sz="2400" b="1" dirty="0">
                  <a:latin typeface="+mn-ea"/>
                </a:endParaRPr>
              </a:p>
              <a:p>
                <a:pPr indent="457200"/>
                <a:endParaRPr lang="en-US" altLang="zh-CN" sz="2400" b="1" dirty="0">
                  <a:latin typeface="+mn-ea"/>
                </a:endParaRPr>
              </a:p>
              <a:p>
                <a:pPr indent="457200"/>
                <a:r>
                  <a:rPr lang="es-ES" altLang="zh-CN" dirty="0"/>
                  <a:t>                           </a:t>
                </a:r>
                <a:r>
                  <a:rPr lang="es-ES" altLang="zh-CN" sz="2400" dirty="0">
                    <a:latin typeface="Times New Roman" panose="02020603050405020304" pitchFamily="18" charset="0"/>
                    <a:cs typeface="Times New Roman" panose="02020603050405020304" pitchFamily="18" charset="0"/>
                  </a:rPr>
                  <a:t>Y = 0.299*R+0.587*G+0.114*B        11-19</a:t>
                </a:r>
              </a:p>
              <a:p>
                <a:pPr indent="457200"/>
                <a:r>
                  <a:rPr lang="es-ES" altLang="zh-CN" sz="2400" dirty="0">
                    <a:latin typeface="Times New Roman" panose="02020603050405020304" pitchFamily="18" charset="0"/>
                    <a:cs typeface="Times New Roman" panose="02020603050405020304" pitchFamily="18" charset="0"/>
                  </a:rPr>
                  <a:t>                           Cr = (R-Y)*0.713+delta              11-20</a:t>
                </a:r>
              </a:p>
              <a:p>
                <a:pPr indent="457200"/>
                <a:r>
                  <a:rPr lang="es-ES" altLang="zh-CN" sz="2400" dirty="0">
                    <a:latin typeface="Times New Roman" panose="02020603050405020304" pitchFamily="18" charset="0"/>
                    <a:cs typeface="Times New Roman" panose="02020603050405020304" pitchFamily="18" charset="0"/>
                  </a:rPr>
                  <a:t>                           Cb = (B-Y)*0.564+delta              11-21</a:t>
                </a:r>
              </a:p>
              <a:p>
                <a:pPr indent="457200"/>
                <a:endParaRPr lang="es-ES" altLang="zh-CN" sz="2400" dirty="0"/>
              </a:p>
              <a:p>
                <a:pPr indent="457200"/>
                <a:r>
                  <a:rPr lang="zh-CN" altLang="en-US" sz="2400" b="1" dirty="0">
                    <a:latin typeface="Times New Roman" panose="02020603050405020304" pitchFamily="18" charset="0"/>
                    <a:cs typeface="Times New Roman" panose="02020603050405020304" pitchFamily="18" charset="0"/>
                  </a:rPr>
                  <a:t>上式中，</a:t>
                </a:r>
                <a:r>
                  <a:rPr lang="en-US" altLang="zh-CN" sz="2400" b="1" dirty="0">
                    <a:latin typeface="Times New Roman" panose="02020603050405020304" pitchFamily="18" charset="0"/>
                    <a:cs typeface="Times New Roman" panose="02020603050405020304" pitchFamily="18" charset="0"/>
                  </a:rPr>
                  <a:t>R</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G</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B</a:t>
                </a:r>
                <a:r>
                  <a:rPr lang="zh-CN" altLang="en-US" sz="2400" b="1" dirty="0">
                    <a:latin typeface="Times New Roman" panose="02020603050405020304" pitchFamily="18" charset="0"/>
                    <a:cs typeface="Times New Roman" panose="02020603050405020304" pitchFamily="18" charset="0"/>
                  </a:rPr>
                  <a:t>分别表示</a:t>
                </a:r>
                <a:r>
                  <a:rPr lang="en-US" altLang="zh-CN" sz="2400" b="1" dirty="0">
                    <a:latin typeface="Times New Roman" panose="02020603050405020304" pitchFamily="18" charset="0"/>
                    <a:cs typeface="Times New Roman" panose="02020603050405020304" pitchFamily="18" charset="0"/>
                  </a:rPr>
                  <a:t>RGB</a:t>
                </a:r>
                <a:r>
                  <a:rPr lang="zh-CN" altLang="en-US" sz="2400" b="1" dirty="0">
                    <a:latin typeface="Times New Roman" panose="02020603050405020304" pitchFamily="18" charset="0"/>
                    <a:cs typeface="Times New Roman" panose="02020603050405020304" pitchFamily="18" charset="0"/>
                  </a:rPr>
                  <a:t>色彩空间的三通道信息，</a:t>
                </a:r>
                <a:r>
                  <a:rPr lang="en-US" altLang="zh-CN" sz="2400" b="1" dirty="0">
                    <a:latin typeface="Times New Roman" panose="02020603050405020304" pitchFamily="18" charset="0"/>
                    <a:cs typeface="Times New Roman" panose="02020603050405020304" pitchFamily="18" charset="0"/>
                  </a:rPr>
                  <a:t>delta</a:t>
                </a:r>
                <a:r>
                  <a:rPr lang="zh-CN" altLang="en-US" sz="2400" b="1" dirty="0">
                    <a:latin typeface="Times New Roman" panose="02020603050405020304" pitchFamily="18" charset="0"/>
                    <a:cs typeface="Times New Roman" panose="02020603050405020304" pitchFamily="18" charset="0"/>
                  </a:rPr>
                  <a:t>的值为：</a:t>
                </a:r>
                <a:endParaRPr lang="en-US" altLang="zh-CN" sz="2400" b="1" dirty="0">
                  <a:latin typeface="Times New Roman" panose="02020603050405020304" pitchFamily="18" charset="0"/>
                  <a:cs typeface="Times New Roman" panose="02020603050405020304" pitchFamily="18" charset="0"/>
                </a:endParaRPr>
              </a:p>
              <a:p>
                <a:pPr indent="457200" algn="just"/>
                <a14:m>
                  <m:oMathPara xmlns:m="http://schemas.openxmlformats.org/officeDocument/2006/math">
                    <m:oMathParaPr>
                      <m:jc m:val="centerGroup"/>
                    </m:oMathParaPr>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𝒅𝒆𝒍𝒕𝒂</m:t>
                      </m:r>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sz="2400" b="1" i="1" kern="100">
                                  <a:effectLst/>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𝟏𝟐𝟖</m:t>
                              </m:r>
                              <m:r>
                                <a:rPr lang="en-US" altLang="zh-CN" sz="2400" b="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𝟖</m:t>
                              </m:r>
                              <m:r>
                                <a:rPr lang="zh-CN" altLang="zh-CN" sz="2400" b="1" kern="100" smtClean="0">
                                  <a:effectLst/>
                                  <a:latin typeface="Cambria Math" panose="02040503050406030204" pitchFamily="18" charset="0"/>
                                  <a:ea typeface="宋体" panose="02010600030101010101" pitchFamily="2" charset="-122"/>
                                  <a:cs typeface="Times New Roman" panose="02020603050405020304" pitchFamily="18" charset="0"/>
                                </a:rPr>
                                <m:t>位图像</m:t>
                              </m:r>
                            </m:e>
                            <m:e>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𝟑𝟐𝟕𝟔𝟖</m:t>
                              </m:r>
                              <m:r>
                                <a:rPr lang="en-US" altLang="zh-CN" sz="2400" b="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𝟏𝟔</m:t>
                              </m:r>
                              <m:r>
                                <a:rPr lang="zh-CN" altLang="zh-CN" sz="2400" b="1" kern="100" smtClean="0">
                                  <a:effectLst/>
                                  <a:latin typeface="Cambria Math" panose="02040503050406030204" pitchFamily="18" charset="0"/>
                                  <a:ea typeface="宋体" panose="02010600030101010101" pitchFamily="2" charset="-122"/>
                                  <a:cs typeface="Times New Roman" panose="02020603050405020304" pitchFamily="18" charset="0"/>
                                </a:rPr>
                                <m:t>位图像</m:t>
                              </m:r>
                            </m:e>
                            <m:e>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400" b="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𝟓</m:t>
                              </m:r>
                              <m:r>
                                <a:rPr lang="en-US" altLang="zh-CN" sz="2400" b="1" kern="100">
                                  <a:effectLst/>
                                  <a:latin typeface="Cambria Math" panose="02040503050406030204" pitchFamily="18" charset="0"/>
                                  <a:ea typeface="宋体" panose="02010600030101010101" pitchFamily="2" charset="-122"/>
                                  <a:cs typeface="Times New Roman" panose="02020603050405020304" pitchFamily="18" charset="0"/>
                                </a:rPr>
                                <m:t>                 </m:t>
                              </m:r>
                              <m:r>
                                <a:rPr lang="zh-CN" altLang="zh-CN" sz="2400" b="1" kern="100" smtClean="0">
                                  <a:effectLst/>
                                  <a:latin typeface="Cambria Math" panose="02040503050406030204" pitchFamily="18" charset="0"/>
                                  <a:ea typeface="宋体" panose="02010600030101010101" pitchFamily="2" charset="-122"/>
                                  <a:cs typeface="Times New Roman" panose="02020603050405020304" pitchFamily="18" charset="0"/>
                                </a:rPr>
                                <m:t>单精度图像</m:t>
                              </m:r>
                            </m:e>
                          </m:eqArr>
                        </m:e>
                      </m:d>
                    </m:oMath>
                  </m:oMathPara>
                </a14:m>
                <a:endParaRPr lang="zh-CN" altLang="zh-CN" sz="2400" b="1" kern="100" dirty="0">
                  <a:effectLst/>
                  <a:latin typeface="Times New Roman" panose="02020603050405020304" pitchFamily="18" charset="0"/>
                  <a:ea typeface="等线" panose="02010600030101010101" pitchFamily="2" charset="-122"/>
                  <a:cs typeface="Times New Roman" panose="02020603050405020304" pitchFamily="18" charset="0"/>
                </a:endParaRPr>
              </a:p>
              <a:p>
                <a:endParaRPr lang="zh-CN" altLang="en-US" dirty="0"/>
              </a:p>
            </p:txBody>
          </p:sp>
        </mc:Choice>
        <mc:Fallback xmlns="">
          <p:sp>
            <p:nvSpPr>
              <p:cNvPr id="6" name="文本框 5">
                <a:extLst>
                  <a:ext uri="{FF2B5EF4-FFF2-40B4-BE49-F238E27FC236}">
                    <a16:creationId xmlns="" xmlns:a16="http://schemas.microsoft.com/office/drawing/2014/main" xmlns:a14="http://schemas.microsoft.com/office/drawing/2010/main" id="{ECD95E93-063F-4F7B-B3AD-B82CD6A4E0B9}"/>
                  </a:ext>
                </a:extLst>
              </p:cNvPr>
              <p:cNvSpPr txBox="1">
                <a:spLocks noRot="1" noChangeAspect="1" noMove="1" noResize="1" noEditPoints="1" noAdjustHandles="1" noChangeArrowheads="1" noChangeShapeType="1" noTextEdit="1"/>
              </p:cNvSpPr>
              <p:nvPr/>
            </p:nvSpPr>
            <p:spPr>
              <a:xfrm>
                <a:off x="1017037" y="1250314"/>
                <a:ext cx="10217020" cy="5241756"/>
              </a:xfrm>
              <a:prstGeom prst="rect">
                <a:avLst/>
              </a:prstGeom>
              <a:blipFill rotWithShape="0">
                <a:blip r:embed="rId2"/>
                <a:stretch>
                  <a:fillRect l="-955" t="-930" r="-13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1426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xmlns="" id="{F0A562C2-BA5D-4875-BC0C-3EBA1AAE1E91}"/>
              </a:ext>
            </a:extLst>
          </p:cNvPr>
          <p:cNvSpPr txBox="1"/>
          <p:nvPr/>
        </p:nvSpPr>
        <p:spPr>
          <a:xfrm>
            <a:off x="1296140" y="405717"/>
            <a:ext cx="9004856" cy="461665"/>
          </a:xfrm>
          <a:prstGeom prst="rect">
            <a:avLst/>
          </a:prstGeom>
          <a:noFill/>
        </p:spPr>
        <p:txBody>
          <a:bodyPr wrap="square" rtlCol="0">
            <a:spAutoFit/>
          </a:bodyPr>
          <a:lstStyle/>
          <a:p>
            <a:r>
              <a:rPr lang="en-US" altLang="zh-CN" sz="2400" dirty="0">
                <a:solidFill>
                  <a:srgbClr val="0033CC"/>
                </a:solidFill>
              </a:rPr>
              <a:t>【</a:t>
            </a:r>
            <a:r>
              <a:rPr lang="zh-CN" altLang="en-US" sz="2400" dirty="0">
                <a:solidFill>
                  <a:srgbClr val="0033CC"/>
                </a:solidFill>
              </a:rPr>
              <a:t>例</a:t>
            </a:r>
            <a:r>
              <a:rPr lang="en-US" altLang="zh-CN" sz="2400" dirty="0">
                <a:solidFill>
                  <a:srgbClr val="0033CC"/>
                </a:solidFill>
              </a:rPr>
              <a:t>11.3】RGB</a:t>
            </a:r>
            <a:r>
              <a:rPr lang="zh-CN" altLang="en-US" sz="2400" dirty="0">
                <a:solidFill>
                  <a:srgbClr val="0033CC"/>
                </a:solidFill>
              </a:rPr>
              <a:t>色彩空间转换为</a:t>
            </a:r>
            <a:r>
              <a:rPr lang="en-US" altLang="zh-CN" sz="2400" dirty="0" err="1">
                <a:solidFill>
                  <a:srgbClr val="0033CC"/>
                </a:solidFill>
              </a:rPr>
              <a:t>YCrCb</a:t>
            </a:r>
            <a:r>
              <a:rPr lang="zh-CN" altLang="en-US" sz="2400" dirty="0">
                <a:solidFill>
                  <a:srgbClr val="0033CC"/>
                </a:solidFill>
              </a:rPr>
              <a:t>色彩空间。程序代码如下：</a:t>
            </a:r>
          </a:p>
        </p:txBody>
      </p:sp>
      <p:sp>
        <p:nvSpPr>
          <p:cNvPr id="6" name="文本框 5">
            <a:extLst>
              <a:ext uri="{FF2B5EF4-FFF2-40B4-BE49-F238E27FC236}">
                <a16:creationId xmlns:a16="http://schemas.microsoft.com/office/drawing/2014/main" xmlns="" id="{01856A72-5502-4252-AD54-5426C9CD60DE}"/>
              </a:ext>
            </a:extLst>
          </p:cNvPr>
          <p:cNvSpPr txBox="1"/>
          <p:nvPr/>
        </p:nvSpPr>
        <p:spPr>
          <a:xfrm>
            <a:off x="1203649" y="910467"/>
            <a:ext cx="6700648" cy="4154984"/>
          </a:xfrm>
          <a:prstGeom prst="rect">
            <a:avLst/>
          </a:prstGeom>
          <a:noFill/>
        </p:spPr>
        <p:txBody>
          <a:bodyPr wrap="square" rtlCol="0">
            <a:spAutoFit/>
          </a:bodyPr>
          <a:lstStyle/>
          <a:p>
            <a:pPr>
              <a:lnSpc>
                <a:spcPct val="150000"/>
              </a:lnSpc>
            </a:pPr>
            <a:r>
              <a:rPr lang="en-US" altLang="zh-CN" sz="2200" dirty="0">
                <a:latin typeface="Times New Roman" panose="02020603050405020304" pitchFamily="18" charset="0"/>
                <a:cs typeface="Times New Roman" panose="02020603050405020304" pitchFamily="18" charset="0"/>
              </a:rPr>
              <a:t>import cv2</a:t>
            </a:r>
          </a:p>
          <a:p>
            <a:pPr>
              <a:lnSpc>
                <a:spcPct val="150000"/>
              </a:lnSpc>
            </a:pPr>
            <a:r>
              <a:rPr lang="en-US" altLang="zh-CN" sz="2200" dirty="0">
                <a:latin typeface="Times New Roman" panose="02020603050405020304" pitchFamily="18" charset="0"/>
                <a:cs typeface="Times New Roman" panose="02020603050405020304" pitchFamily="18" charset="0"/>
              </a:rPr>
              <a:t>image1=cv2.imread("d:\:/pics\/lena.jpg",4)</a:t>
            </a:r>
          </a:p>
          <a:p>
            <a:pPr>
              <a:lnSpc>
                <a:spcPct val="150000"/>
              </a:lnSpc>
            </a:pPr>
            <a:r>
              <a:rPr lang="en-US" altLang="zh-CN" sz="2200" dirty="0">
                <a:latin typeface="Times New Roman" panose="02020603050405020304" pitchFamily="18" charset="0"/>
                <a:cs typeface="Times New Roman" panose="02020603050405020304" pitchFamily="18" charset="0"/>
              </a:rPr>
              <a:t>cv2.imshow("BGR image1",image1)</a:t>
            </a:r>
          </a:p>
          <a:p>
            <a:pPr>
              <a:lnSpc>
                <a:spcPct val="150000"/>
              </a:lnSpc>
            </a:pPr>
            <a:r>
              <a:rPr lang="en-US" altLang="zh-CN" sz="2200" dirty="0">
                <a:latin typeface="Times New Roman" panose="02020603050405020304" pitchFamily="18" charset="0"/>
                <a:cs typeface="Times New Roman" panose="02020603050405020304" pitchFamily="18" charset="0"/>
              </a:rPr>
              <a:t>#RGB</a:t>
            </a:r>
            <a:r>
              <a:rPr lang="zh-CN" altLang="en-US" sz="2200" dirty="0">
                <a:latin typeface="Times New Roman" panose="02020603050405020304" pitchFamily="18" charset="0"/>
                <a:cs typeface="Times New Roman" panose="02020603050405020304" pitchFamily="18" charset="0"/>
              </a:rPr>
              <a:t>色彩空间转</a:t>
            </a:r>
            <a:r>
              <a:rPr lang="en-US" altLang="zh-CN" sz="2200" dirty="0" err="1">
                <a:latin typeface="Times New Roman" panose="02020603050405020304" pitchFamily="18" charset="0"/>
                <a:cs typeface="Times New Roman" panose="02020603050405020304" pitchFamily="18" charset="0"/>
              </a:rPr>
              <a:t>YCrCb</a:t>
            </a:r>
            <a:r>
              <a:rPr lang="zh-CN" altLang="en-US" sz="2200" dirty="0">
                <a:latin typeface="Times New Roman" panose="02020603050405020304" pitchFamily="18" charset="0"/>
                <a:cs typeface="Times New Roman" panose="02020603050405020304" pitchFamily="18" charset="0"/>
              </a:rPr>
              <a:t>色彩空间</a:t>
            </a:r>
          </a:p>
          <a:p>
            <a:pPr>
              <a:lnSpc>
                <a:spcPct val="150000"/>
              </a:lnSpc>
            </a:pPr>
            <a:r>
              <a:rPr lang="en-US" altLang="zh-CN" sz="2200" dirty="0">
                <a:latin typeface="Times New Roman" panose="02020603050405020304" pitchFamily="18" charset="0"/>
                <a:cs typeface="Times New Roman" panose="02020603050405020304" pitchFamily="18" charset="0"/>
              </a:rPr>
              <a:t>image2=cv2.cvtColor(image1,cv2.COLOR_RGB2YCrCb)  </a:t>
            </a:r>
          </a:p>
          <a:p>
            <a:pPr>
              <a:lnSpc>
                <a:spcPct val="150000"/>
              </a:lnSpc>
            </a:pPr>
            <a:r>
              <a:rPr lang="en-US" altLang="zh-CN" sz="2200" dirty="0">
                <a:latin typeface="Times New Roman" panose="02020603050405020304" pitchFamily="18" charset="0"/>
                <a:cs typeface="Times New Roman" panose="02020603050405020304" pitchFamily="18" charset="0"/>
              </a:rPr>
              <a:t>cv2.imshow("</a:t>
            </a:r>
            <a:r>
              <a:rPr lang="en-US" altLang="zh-CN" sz="2200" dirty="0" err="1">
                <a:latin typeface="Times New Roman" panose="02020603050405020304" pitchFamily="18" charset="0"/>
                <a:cs typeface="Times New Roman" panose="02020603050405020304" pitchFamily="18" charset="0"/>
              </a:rPr>
              <a:t>YCrCb</a:t>
            </a:r>
            <a:r>
              <a:rPr lang="en-US" altLang="zh-CN" sz="2200" dirty="0">
                <a:latin typeface="Times New Roman" panose="02020603050405020304" pitchFamily="18" charset="0"/>
                <a:cs typeface="Times New Roman" panose="02020603050405020304" pitchFamily="18" charset="0"/>
              </a:rPr>
              <a:t> image",image2)</a:t>
            </a:r>
          </a:p>
          <a:p>
            <a:pPr>
              <a:lnSpc>
                <a:spcPct val="150000"/>
              </a:lnSpc>
            </a:pPr>
            <a:r>
              <a:rPr lang="en-US" altLang="zh-CN" sz="2200" dirty="0">
                <a:latin typeface="Times New Roman" panose="02020603050405020304" pitchFamily="18" charset="0"/>
                <a:cs typeface="Times New Roman" panose="02020603050405020304" pitchFamily="18" charset="0"/>
              </a:rPr>
              <a:t>cv2.waitKey(0)</a:t>
            </a:r>
          </a:p>
          <a:p>
            <a:pPr>
              <a:lnSpc>
                <a:spcPct val="150000"/>
              </a:lnSpc>
            </a:pPr>
            <a:r>
              <a:rPr lang="en-US" altLang="zh-CN" sz="2200" dirty="0">
                <a:latin typeface="Times New Roman" panose="02020603050405020304" pitchFamily="18" charset="0"/>
                <a:cs typeface="Times New Roman" panose="02020603050405020304" pitchFamily="18" charset="0"/>
              </a:rPr>
              <a:t>cv2.destroyAllWindows()</a:t>
            </a:r>
          </a:p>
        </p:txBody>
      </p:sp>
      <p:sp>
        <p:nvSpPr>
          <p:cNvPr id="8" name="文本框 7">
            <a:extLst>
              <a:ext uri="{FF2B5EF4-FFF2-40B4-BE49-F238E27FC236}">
                <a16:creationId xmlns:a16="http://schemas.microsoft.com/office/drawing/2014/main" xmlns="" id="{B07E866F-86C7-4811-8E86-1BF398B53481}"/>
              </a:ext>
            </a:extLst>
          </p:cNvPr>
          <p:cNvSpPr txBox="1"/>
          <p:nvPr/>
        </p:nvSpPr>
        <p:spPr>
          <a:xfrm>
            <a:off x="1203649" y="5108536"/>
            <a:ext cx="3178206" cy="369332"/>
          </a:xfrm>
          <a:prstGeom prst="rect">
            <a:avLst/>
          </a:prstGeom>
          <a:noFill/>
        </p:spPr>
        <p:txBody>
          <a:bodyPr wrap="square">
            <a:spAutoFit/>
          </a:bodyPr>
          <a:lstStyle/>
          <a:p>
            <a:r>
              <a:rPr lang="zh-CN" altLang="en-US" dirty="0"/>
              <a:t>程序运行结果如图</a:t>
            </a:r>
            <a:r>
              <a:rPr lang="en-US" altLang="zh-CN" dirty="0"/>
              <a:t>11-5</a:t>
            </a:r>
            <a:r>
              <a:rPr lang="zh-CN" altLang="en-US" dirty="0"/>
              <a:t>所示。</a:t>
            </a:r>
          </a:p>
        </p:txBody>
      </p:sp>
      <p:pic>
        <p:nvPicPr>
          <p:cNvPr id="9" name="图片 8">
            <a:extLst>
              <a:ext uri="{FF2B5EF4-FFF2-40B4-BE49-F238E27FC236}">
                <a16:creationId xmlns:a16="http://schemas.microsoft.com/office/drawing/2014/main" xmlns="" id="{4B66A578-F21D-4B62-8F3E-97BFDC9D1A35}"/>
              </a:ext>
            </a:extLst>
          </p:cNvPr>
          <p:cNvPicPr>
            <a:picLocks noChangeAspect="1"/>
          </p:cNvPicPr>
          <p:nvPr/>
        </p:nvPicPr>
        <p:blipFill>
          <a:blip r:embed="rId2"/>
          <a:stretch>
            <a:fillRect/>
          </a:stretch>
        </p:blipFill>
        <p:spPr>
          <a:xfrm>
            <a:off x="8962813" y="932042"/>
            <a:ext cx="1878965" cy="2163445"/>
          </a:xfrm>
          <a:prstGeom prst="rect">
            <a:avLst/>
          </a:prstGeom>
        </p:spPr>
      </p:pic>
      <p:pic>
        <p:nvPicPr>
          <p:cNvPr id="10" name="图片 9">
            <a:extLst>
              <a:ext uri="{FF2B5EF4-FFF2-40B4-BE49-F238E27FC236}">
                <a16:creationId xmlns:a16="http://schemas.microsoft.com/office/drawing/2014/main" xmlns="" id="{67E428FB-5ACD-4D7C-8FB5-7ECF55C308F2}"/>
              </a:ext>
            </a:extLst>
          </p:cNvPr>
          <p:cNvPicPr>
            <a:picLocks noChangeAspect="1"/>
          </p:cNvPicPr>
          <p:nvPr/>
        </p:nvPicPr>
        <p:blipFill>
          <a:blip r:embed="rId3"/>
          <a:stretch>
            <a:fillRect/>
          </a:stretch>
        </p:blipFill>
        <p:spPr>
          <a:xfrm>
            <a:off x="8962813" y="3200127"/>
            <a:ext cx="1889760" cy="2176145"/>
          </a:xfrm>
          <a:prstGeom prst="rect">
            <a:avLst/>
          </a:prstGeom>
        </p:spPr>
      </p:pic>
      <p:sp>
        <p:nvSpPr>
          <p:cNvPr id="12" name="文本框 11">
            <a:extLst>
              <a:ext uri="{FF2B5EF4-FFF2-40B4-BE49-F238E27FC236}">
                <a16:creationId xmlns:a16="http://schemas.microsoft.com/office/drawing/2014/main" xmlns="" id="{82AF9B11-DB85-42AD-A2D4-119C37137942}"/>
              </a:ext>
            </a:extLst>
          </p:cNvPr>
          <p:cNvSpPr txBox="1"/>
          <p:nvPr/>
        </p:nvSpPr>
        <p:spPr>
          <a:xfrm>
            <a:off x="10945448" y="1642952"/>
            <a:ext cx="1359763" cy="369332"/>
          </a:xfrm>
          <a:prstGeom prst="rect">
            <a:avLst/>
          </a:prstGeom>
          <a:noFill/>
        </p:spPr>
        <p:txBody>
          <a:bodyPr wrap="square">
            <a:spAutoFit/>
          </a:bodyPr>
          <a:lstStyle/>
          <a:p>
            <a:r>
              <a:rPr lang="en-US" altLang="zh-CN" dirty="0"/>
              <a:t>(a) </a:t>
            </a:r>
            <a:r>
              <a:rPr lang="zh-CN" altLang="en-US" dirty="0"/>
              <a:t>原图像 </a:t>
            </a:r>
          </a:p>
        </p:txBody>
      </p:sp>
      <p:sp>
        <p:nvSpPr>
          <p:cNvPr id="14" name="文本框 13">
            <a:extLst>
              <a:ext uri="{FF2B5EF4-FFF2-40B4-BE49-F238E27FC236}">
                <a16:creationId xmlns:a16="http://schemas.microsoft.com/office/drawing/2014/main" xmlns="" id="{AEFC38E9-FA99-441B-84BD-F2EA843E8737}"/>
              </a:ext>
            </a:extLst>
          </p:cNvPr>
          <p:cNvSpPr txBox="1"/>
          <p:nvPr/>
        </p:nvSpPr>
        <p:spPr>
          <a:xfrm>
            <a:off x="10945448" y="3462765"/>
            <a:ext cx="1093839" cy="923330"/>
          </a:xfrm>
          <a:prstGeom prst="rect">
            <a:avLst/>
          </a:prstGeom>
          <a:noFill/>
        </p:spPr>
        <p:txBody>
          <a:bodyPr wrap="square">
            <a:spAutoFit/>
          </a:bodyPr>
          <a:lstStyle/>
          <a:p>
            <a:r>
              <a:rPr lang="en-US" altLang="zh-CN" dirty="0"/>
              <a:t>(b)</a:t>
            </a:r>
            <a:r>
              <a:rPr lang="en-US" altLang="zh-CN" dirty="0" err="1"/>
              <a:t>YCrCb</a:t>
            </a:r>
            <a:r>
              <a:rPr lang="zh-CN" altLang="en-US" dirty="0"/>
              <a:t>色彩空间图像</a:t>
            </a:r>
          </a:p>
        </p:txBody>
      </p:sp>
      <p:sp>
        <p:nvSpPr>
          <p:cNvPr id="16" name="文本框 15">
            <a:extLst>
              <a:ext uri="{FF2B5EF4-FFF2-40B4-BE49-F238E27FC236}">
                <a16:creationId xmlns:a16="http://schemas.microsoft.com/office/drawing/2014/main" xmlns="" id="{F1A8ECE2-4554-446D-915B-C093F9E07DDE}"/>
              </a:ext>
            </a:extLst>
          </p:cNvPr>
          <p:cNvSpPr txBox="1"/>
          <p:nvPr/>
        </p:nvSpPr>
        <p:spPr>
          <a:xfrm>
            <a:off x="8490243" y="5651910"/>
            <a:ext cx="3415684" cy="369332"/>
          </a:xfrm>
          <a:prstGeom prst="rect">
            <a:avLst/>
          </a:prstGeom>
          <a:noFill/>
        </p:spPr>
        <p:txBody>
          <a:bodyPr wrap="square">
            <a:spAutoFit/>
          </a:bodyPr>
          <a:lstStyle/>
          <a:p>
            <a:r>
              <a:rPr lang="zh-CN" altLang="en-US" dirty="0"/>
              <a:t>图</a:t>
            </a:r>
            <a:r>
              <a:rPr lang="en-US" altLang="zh-CN" dirty="0"/>
              <a:t>11-5 RGB </a:t>
            </a:r>
            <a:r>
              <a:rPr lang="zh-CN" altLang="en-US" dirty="0"/>
              <a:t>转</a:t>
            </a:r>
            <a:r>
              <a:rPr lang="en-US" altLang="zh-CN" dirty="0" err="1"/>
              <a:t>YCrCb</a:t>
            </a:r>
            <a:r>
              <a:rPr lang="zh-CN" altLang="en-US" dirty="0"/>
              <a:t>色彩空间</a:t>
            </a:r>
          </a:p>
        </p:txBody>
      </p:sp>
    </p:spTree>
    <p:extLst>
      <p:ext uri="{BB962C8B-B14F-4D97-AF65-F5344CB8AC3E}">
        <p14:creationId xmlns:p14="http://schemas.microsoft.com/office/powerpoint/2010/main" val="2772539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xmlns="" id="{5C3085B2-55D6-4D54-BCB1-D2C322F8DC28}"/>
              </a:ext>
            </a:extLst>
          </p:cNvPr>
          <p:cNvSpPr txBox="1"/>
          <p:nvPr/>
        </p:nvSpPr>
        <p:spPr>
          <a:xfrm>
            <a:off x="1202925" y="399496"/>
            <a:ext cx="8451542" cy="646331"/>
          </a:xfrm>
          <a:prstGeom prst="rect">
            <a:avLst/>
          </a:prstGeom>
          <a:noFill/>
        </p:spPr>
        <p:txBody>
          <a:bodyPr wrap="square" rtlCol="0">
            <a:spAutoFit/>
          </a:bodyPr>
          <a:lstStyle/>
          <a:p>
            <a:pPr algn="ctr"/>
            <a:r>
              <a:rPr lang="en-US" altLang="zh-CN" sz="3600" b="1" dirty="0">
                <a:solidFill>
                  <a:srgbClr val="C00000"/>
                </a:solidFill>
              </a:rPr>
              <a:t>11.2.5 HSV</a:t>
            </a:r>
            <a:r>
              <a:rPr lang="zh-CN" altLang="en-US" sz="3600" b="1" dirty="0">
                <a:solidFill>
                  <a:srgbClr val="C00000"/>
                </a:solidFill>
              </a:rPr>
              <a:t>色彩空间</a:t>
            </a:r>
          </a:p>
        </p:txBody>
      </p:sp>
      <p:sp>
        <p:nvSpPr>
          <p:cNvPr id="3" name="文本框 2">
            <a:extLst>
              <a:ext uri="{FF2B5EF4-FFF2-40B4-BE49-F238E27FC236}">
                <a16:creationId xmlns:a16="http://schemas.microsoft.com/office/drawing/2014/main" xmlns="" id="{D3C88C8E-6123-4C7A-B86A-4863F5390210}"/>
              </a:ext>
            </a:extLst>
          </p:cNvPr>
          <p:cNvSpPr txBox="1"/>
          <p:nvPr/>
        </p:nvSpPr>
        <p:spPr>
          <a:xfrm>
            <a:off x="896252" y="1222747"/>
            <a:ext cx="10298096" cy="4991751"/>
          </a:xfrm>
          <a:prstGeom prst="rect">
            <a:avLst/>
          </a:prstGeom>
          <a:noFill/>
        </p:spPr>
        <p:txBody>
          <a:bodyPr wrap="square" rtlCol="0">
            <a:spAutoFit/>
          </a:bodyPr>
          <a:lstStyle/>
          <a:p>
            <a:pPr indent="457200">
              <a:lnSpc>
                <a:spcPct val="150000"/>
              </a:lnSpc>
            </a:pPr>
            <a:r>
              <a:rPr lang="en-US" altLang="zh-CN" sz="2400" b="1" dirty="0">
                <a:solidFill>
                  <a:srgbClr val="C00000"/>
                </a:solidFill>
                <a:latin typeface="+mn-ea"/>
              </a:rPr>
              <a:t>RGB</a:t>
            </a:r>
            <a:r>
              <a:rPr lang="zh-CN" altLang="en-US" sz="2400" b="1" dirty="0">
                <a:solidFill>
                  <a:srgbClr val="C00000"/>
                </a:solidFill>
                <a:latin typeface="+mn-ea"/>
              </a:rPr>
              <a:t>色彩模型</a:t>
            </a:r>
            <a:r>
              <a:rPr lang="zh-CN" altLang="en-US" sz="2400" b="1" dirty="0">
                <a:latin typeface="+mn-ea"/>
              </a:rPr>
              <a:t>是从硬件角度提出的颜色模型，与人眼匹配时可能会产生一定的差别</a:t>
            </a:r>
            <a:r>
              <a:rPr lang="zh-CN" altLang="en-US" sz="2400" b="1" dirty="0" smtClean="0">
                <a:latin typeface="+mn-ea"/>
              </a:rPr>
              <a:t>。</a:t>
            </a:r>
            <a:endParaRPr lang="en-US" altLang="zh-CN" sz="2400" b="1" dirty="0" smtClean="0">
              <a:latin typeface="+mn-ea"/>
            </a:endParaRPr>
          </a:p>
          <a:p>
            <a:pPr indent="457200">
              <a:lnSpc>
                <a:spcPct val="150000"/>
              </a:lnSpc>
            </a:pPr>
            <a:r>
              <a:rPr lang="en-US" altLang="zh-CN" sz="2400" b="1" dirty="0" smtClean="0">
                <a:solidFill>
                  <a:srgbClr val="C00000"/>
                </a:solidFill>
                <a:latin typeface="+mn-ea"/>
              </a:rPr>
              <a:t>HSV</a:t>
            </a:r>
            <a:r>
              <a:rPr lang="zh-CN" altLang="en-US" sz="2400" b="1" dirty="0">
                <a:latin typeface="+mn-ea"/>
              </a:rPr>
              <a:t>是从心里学角度提出的，它包括</a:t>
            </a:r>
            <a:r>
              <a:rPr lang="zh-CN" altLang="en-US" sz="2400" b="1" dirty="0">
                <a:solidFill>
                  <a:srgbClr val="FF0000"/>
                </a:solidFill>
                <a:latin typeface="+mn-ea"/>
              </a:rPr>
              <a:t>色调、饱和度和亮度</a:t>
            </a:r>
            <a:r>
              <a:rPr lang="zh-CN" altLang="en-US" sz="2400" b="1" dirty="0">
                <a:latin typeface="+mn-ea"/>
              </a:rPr>
              <a:t>三要素。其中，</a:t>
            </a:r>
            <a:r>
              <a:rPr lang="zh-CN" altLang="en-US" sz="2400" b="1" dirty="0">
                <a:solidFill>
                  <a:srgbClr val="FF0000"/>
                </a:solidFill>
                <a:latin typeface="+mn-ea"/>
              </a:rPr>
              <a:t>色调是指光的颜色</a:t>
            </a:r>
            <a:r>
              <a:rPr lang="zh-CN" altLang="en-US" sz="2400" b="1" dirty="0">
                <a:latin typeface="+mn-ea"/>
              </a:rPr>
              <a:t>，与混合光谱的主要光波长有关；</a:t>
            </a:r>
            <a:r>
              <a:rPr lang="zh-CN" altLang="en-US" sz="2400" b="1" dirty="0">
                <a:solidFill>
                  <a:srgbClr val="FF0000"/>
                </a:solidFill>
                <a:latin typeface="+mn-ea"/>
              </a:rPr>
              <a:t>饱和度是指颜色深浅程度或相对纯净度</a:t>
            </a:r>
            <a:r>
              <a:rPr lang="zh-CN" altLang="en-US" sz="2400" b="1" dirty="0">
                <a:latin typeface="+mn-ea"/>
              </a:rPr>
              <a:t>；</a:t>
            </a:r>
            <a:r>
              <a:rPr lang="zh-CN" altLang="en-US" sz="2400" b="1" dirty="0">
                <a:solidFill>
                  <a:srgbClr val="FF0000"/>
                </a:solidFill>
                <a:latin typeface="+mn-ea"/>
              </a:rPr>
              <a:t>亮度反映的是人眼感受到光的明暗程度</a:t>
            </a:r>
            <a:r>
              <a:rPr lang="zh-CN" altLang="en-US" sz="2400" b="1" dirty="0" smtClean="0">
                <a:latin typeface="+mn-ea"/>
              </a:rPr>
              <a:t>。</a:t>
            </a:r>
            <a:endParaRPr lang="en-US" altLang="zh-CN" sz="2400" b="1" dirty="0" smtClean="0">
              <a:latin typeface="+mn-ea"/>
            </a:endParaRPr>
          </a:p>
          <a:p>
            <a:pPr indent="457200">
              <a:lnSpc>
                <a:spcPct val="150000"/>
              </a:lnSpc>
            </a:pPr>
            <a:r>
              <a:rPr lang="zh-CN" altLang="en-US" sz="2400" b="1" dirty="0" smtClean="0">
                <a:latin typeface="+mn-ea"/>
              </a:rPr>
              <a:t>在</a:t>
            </a:r>
            <a:r>
              <a:rPr lang="zh-CN" altLang="en-US" sz="2400" b="1" dirty="0">
                <a:latin typeface="+mn-ea"/>
              </a:rPr>
              <a:t>具体实现时，将颜色分布在圆周上，不同的角度代表不同的颜色，所以通过调整色调值就可以使用不同的颜色，其中</a:t>
            </a:r>
            <a:r>
              <a:rPr lang="zh-CN" altLang="en-US" sz="2400" b="1" dirty="0">
                <a:solidFill>
                  <a:srgbClr val="C00000"/>
                </a:solidFill>
                <a:latin typeface="+mn-ea"/>
              </a:rPr>
              <a:t>色调值</a:t>
            </a:r>
            <a:r>
              <a:rPr lang="zh-CN" altLang="en-US" sz="2400" b="1" dirty="0">
                <a:latin typeface="+mn-ea"/>
              </a:rPr>
              <a:t>的范围是</a:t>
            </a:r>
            <a:r>
              <a:rPr lang="en-US" altLang="zh-CN" sz="2400" b="1" dirty="0">
                <a:latin typeface="+mn-ea"/>
              </a:rPr>
              <a:t>0</a:t>
            </a:r>
            <a:r>
              <a:rPr lang="zh-CN" altLang="en-US" sz="2400" b="1" dirty="0">
                <a:latin typeface="+mn-ea"/>
              </a:rPr>
              <a:t>～</a:t>
            </a:r>
            <a:r>
              <a:rPr lang="en-US" altLang="zh-CN" sz="2400" b="1" dirty="0">
                <a:latin typeface="+mn-ea"/>
              </a:rPr>
              <a:t>359</a:t>
            </a:r>
            <a:r>
              <a:rPr lang="zh-CN" altLang="en-US" sz="2400" b="1" dirty="0" smtClean="0">
                <a:latin typeface="+mn-ea"/>
              </a:rPr>
              <a:t>。</a:t>
            </a:r>
            <a:r>
              <a:rPr lang="zh-CN" altLang="en-US" sz="2400" b="1" dirty="0" smtClean="0">
                <a:solidFill>
                  <a:srgbClr val="C00000"/>
                </a:solidFill>
                <a:latin typeface="+mn-ea"/>
              </a:rPr>
              <a:t>饱和度</a:t>
            </a:r>
            <a:r>
              <a:rPr lang="zh-CN" altLang="en-US" sz="2400" b="1" dirty="0">
                <a:latin typeface="+mn-ea"/>
              </a:rPr>
              <a:t>为比例值，范围是</a:t>
            </a:r>
            <a:r>
              <a:rPr lang="en-US" altLang="zh-CN" sz="2400" b="1" dirty="0">
                <a:latin typeface="+mn-ea"/>
              </a:rPr>
              <a:t>0</a:t>
            </a:r>
            <a:r>
              <a:rPr lang="zh-CN" altLang="en-US" sz="2400" b="1" dirty="0">
                <a:latin typeface="+mn-ea"/>
              </a:rPr>
              <a:t>～</a:t>
            </a:r>
            <a:r>
              <a:rPr lang="en-US" altLang="zh-CN" sz="2400" b="1" dirty="0">
                <a:latin typeface="+mn-ea"/>
              </a:rPr>
              <a:t>1</a:t>
            </a:r>
            <a:r>
              <a:rPr lang="zh-CN" altLang="en-US" sz="2400" b="1" dirty="0">
                <a:latin typeface="+mn-ea"/>
              </a:rPr>
              <a:t>，具体为所选颜色的纯度值与该颜色最大纯度值的比值</a:t>
            </a:r>
            <a:r>
              <a:rPr lang="zh-CN" altLang="en-US" sz="2400" b="1" dirty="0" smtClean="0">
                <a:latin typeface="+mn-ea"/>
              </a:rPr>
              <a:t>。</a:t>
            </a:r>
            <a:r>
              <a:rPr lang="zh-CN" altLang="en-US" sz="2400" b="1" dirty="0" smtClean="0">
                <a:solidFill>
                  <a:srgbClr val="C00000"/>
                </a:solidFill>
                <a:latin typeface="+mn-ea"/>
              </a:rPr>
              <a:t>亮度</a:t>
            </a:r>
            <a:r>
              <a:rPr lang="zh-CN" altLang="en-US" sz="2400" b="1" dirty="0">
                <a:latin typeface="+mn-ea"/>
              </a:rPr>
              <a:t>也是比例值，范围是</a:t>
            </a:r>
            <a:r>
              <a:rPr lang="en-US" altLang="zh-CN" sz="2400" b="1" dirty="0">
                <a:latin typeface="+mn-ea"/>
              </a:rPr>
              <a:t>0</a:t>
            </a:r>
            <a:r>
              <a:rPr lang="zh-CN" altLang="en-US" sz="2400" b="1" dirty="0">
                <a:latin typeface="+mn-ea"/>
              </a:rPr>
              <a:t>～</a:t>
            </a:r>
            <a:r>
              <a:rPr lang="en-US" altLang="zh-CN" sz="2400" b="1" dirty="0">
                <a:latin typeface="+mn-ea"/>
              </a:rPr>
              <a:t>1</a:t>
            </a:r>
            <a:r>
              <a:rPr lang="zh-CN" altLang="en-US" sz="2400" b="1" dirty="0" smtClean="0">
                <a:latin typeface="+mn-ea"/>
              </a:rPr>
              <a:t>。</a:t>
            </a:r>
            <a:endParaRPr lang="zh-CN" altLang="en-US" sz="2400" b="1" dirty="0">
              <a:latin typeface="+mn-ea"/>
            </a:endParaRPr>
          </a:p>
        </p:txBody>
      </p:sp>
    </p:spTree>
    <p:extLst>
      <p:ext uri="{BB962C8B-B14F-4D97-AF65-F5344CB8AC3E}">
        <p14:creationId xmlns:p14="http://schemas.microsoft.com/office/powerpoint/2010/main" val="2575084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xmlns="" id="{26D5A816-F5EB-409A-9BE9-554289086E8E}"/>
                  </a:ext>
                </a:extLst>
              </p:cNvPr>
              <p:cNvSpPr txBox="1"/>
              <p:nvPr/>
            </p:nvSpPr>
            <p:spPr>
              <a:xfrm>
                <a:off x="2971800" y="214507"/>
                <a:ext cx="8812530" cy="6258829"/>
              </a:xfrm>
              <a:prstGeom prst="rect">
                <a:avLst/>
              </a:prstGeom>
              <a:noFill/>
            </p:spPr>
            <p:txBody>
              <a:bodyPr wrap="square" rtlCol="0">
                <a:spAutoFit/>
              </a:bodyPr>
              <a:lstStyle/>
              <a:p>
                <a:endParaRPr lang="en-US" altLang="zh-CN" sz="2400" dirty="0"/>
              </a:p>
              <a:p>
                <a:pPr indent="133350" algn="ctr"/>
                <a14:m>
                  <m:oMath xmlns:m="http://schemas.openxmlformats.org/officeDocument/2006/math">
                    <m:r>
                      <a:rPr lang="en-US" altLang="zh-CN" sz="2400" i="1" kern="100" smtClean="0">
                        <a:effectLst/>
                        <a:latin typeface="Cambria Math" panose="02040503050406030204" pitchFamily="18" charset="0"/>
                        <a:ea typeface="宋体" panose="02010600030101010101" pitchFamily="2" charset="-122"/>
                        <a:cs typeface="Times New Roman" panose="02020603050405020304" pitchFamily="18" charset="0"/>
                      </a:rPr>
                      <m:t>𝑆</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eqArrPr>
                          <m:e>
                            <m:f>
                              <m:f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𝑉</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func>
                                  <m:func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min</m:t>
                                    </m:r>
                                  </m:fName>
                                  <m:e>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𝑅</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𝐺</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𝐵</m:t>
                                        </m:r>
                                      </m:e>
                                    </m:d>
                                  </m:e>
                                </m:func>
                              </m:num>
                              <m:den>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𝑉</m:t>
                                </m:r>
                              </m:den>
                            </m:f>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    </m:t>
                            </m:r>
                            <m:r>
                              <m:rPr>
                                <m:sty m:val="p"/>
                              </m:rP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V</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≠0</m:t>
                            </m:r>
                          </m:e>
                          <m:e>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            0,                       </m:t>
                            </m:r>
                            <m:r>
                              <a:rPr lang="zh-CN" altLang="zh-CN" sz="2400" kern="100">
                                <a:effectLst/>
                                <a:latin typeface="Cambria Math" panose="02040503050406030204" pitchFamily="18" charset="0"/>
                                <a:ea typeface="宋体" panose="02010600030101010101" pitchFamily="2" charset="-122"/>
                                <a:cs typeface="Times New Roman" panose="02020603050405020304" pitchFamily="18" charset="0"/>
                              </a:rPr>
                              <m:t>其他情况</m:t>
                            </m:r>
                          </m:e>
                        </m:eqArr>
                      </m:e>
                    </m:d>
                  </m:oMath>
                </a14:m>
                <a:r>
                  <a:rPr lang="en-US" altLang="zh-CN" sz="2400" kern="100" dirty="0">
                    <a:effectLst/>
                    <a:latin typeface="Times New Roman" panose="02020603050405020304" pitchFamily="18" charset="0"/>
                    <a:ea typeface="等线" panose="02010600030101010101" pitchFamily="2" charset="-122"/>
                    <a:cs typeface="Times New Roman" panose="02020603050405020304" pitchFamily="18" charset="0"/>
                  </a:rPr>
                  <a:t>       11-22</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33350" algn="ctr"/>
                <a14:m>
                  <m:oMath xmlns:m="http://schemas.openxmlformats.org/officeDocument/2006/math">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𝐻</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eqArrPr>
                          <m:e>
                            <m:f>
                              <m:f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60</m:t>
                                </m:r>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𝐺</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𝐵</m:t>
                                    </m:r>
                                  </m:e>
                                </m:d>
                              </m:num>
                              <m:den>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𝑉</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func>
                                  <m:func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min</m:t>
                                    </m:r>
                                  </m:fName>
                                  <m:e>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𝐺</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𝐵</m:t>
                                        </m:r>
                                      </m:e>
                                    </m:d>
                                  </m:e>
                                </m:func>
                              </m:den>
                            </m:f>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     </m:t>
                            </m:r>
                            <m:r>
                              <m:rPr>
                                <m:sty m:val="p"/>
                              </m:rP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V</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R</m:t>
                            </m:r>
                          </m:e>
                          <m:e>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120+</m:t>
                            </m:r>
                            <m:f>
                              <m:f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60</m:t>
                                </m:r>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𝐵</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𝑅</m:t>
                                    </m:r>
                                  </m:e>
                                </m:d>
                              </m:num>
                              <m:den>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𝑉</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func>
                                  <m:func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min</m:t>
                                    </m:r>
                                  </m:fName>
                                  <m:e>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𝐺</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𝐵</m:t>
                                        </m:r>
                                      </m:e>
                                    </m:d>
                                  </m:e>
                                </m:func>
                              </m:den>
                            </m:f>
                          </m:e>
                          <m:e>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240+</m:t>
                            </m:r>
                            <m:f>
                              <m:f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60</m:t>
                                </m:r>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𝐺</m:t>
                                    </m:r>
                                  </m:e>
                                </m:d>
                              </m:num>
                              <m:den>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𝑉</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func>
                                  <m:func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min</m:t>
                                    </m:r>
                                  </m:fName>
                                  <m:e>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𝐺</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𝐵</m:t>
                                        </m:r>
                                      </m:e>
                                    </m:d>
                                  </m:e>
                                </m:func>
                              </m:den>
                            </m:f>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    </m:t>
                            </m:r>
                            <m:r>
                              <m:rPr>
                                <m:sty m:val="p"/>
                              </m:rP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V</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B</m:t>
                            </m:r>
                          </m:e>
                        </m:eqArr>
                      </m:e>
                    </m:d>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  </m:t>
                    </m:r>
                    <m:r>
                      <m:rPr>
                        <m:sty m:val="p"/>
                      </m:rP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V</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G</m:t>
                    </m:r>
                  </m:oMath>
                </a14:m>
                <a:r>
                  <a:rPr lang="en-US" altLang="zh-CN" sz="2400" kern="100" dirty="0">
                    <a:effectLst/>
                    <a:latin typeface="Times New Roman" panose="02020603050405020304" pitchFamily="18" charset="0"/>
                    <a:ea typeface="等线" panose="02010600030101010101" pitchFamily="2" charset="-122"/>
                    <a:cs typeface="Times New Roman" panose="02020603050405020304" pitchFamily="18" charset="0"/>
                  </a:rPr>
                  <a:t>     11-23</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sz="2400" dirty="0"/>
              </a:p>
              <a:p>
                <a:r>
                  <a:rPr lang="zh-CN" altLang="en-US" sz="2400" b="1" dirty="0"/>
                  <a:t>上式中，</a:t>
                </a:r>
                <a:r>
                  <a:rPr lang="en-US" altLang="zh-CN" sz="2400" b="1" dirty="0"/>
                  <a:t>V</a:t>
                </a:r>
                <a:r>
                  <a:rPr lang="zh-CN" altLang="en-US" sz="2400" b="1" dirty="0"/>
                  <a:t>的值为：</a:t>
                </a:r>
                <a:endParaRPr lang="en-US" altLang="zh-CN" sz="2400" b="1" dirty="0"/>
              </a:p>
              <a:p>
                <a:pPr algn="ctr"/>
                <a:r>
                  <a:rPr lang="pt-BR" altLang="zh-CN" sz="2400" b="1" dirty="0">
                    <a:latin typeface="+mn-ea"/>
                    <a:cs typeface="Times New Roman" panose="02020603050405020304" pitchFamily="18" charset="0"/>
                  </a:rPr>
                  <a:t>V = max(R,G,B)                       11-24</a:t>
                </a:r>
              </a:p>
              <a:p>
                <a:r>
                  <a:rPr lang="zh-CN" altLang="en-US" sz="2400" b="1" dirty="0"/>
                  <a:t>在计算的过程中可能会出现</a:t>
                </a:r>
                <a:r>
                  <a:rPr lang="en-US" altLang="zh-CN" sz="2400" b="1" dirty="0"/>
                  <a:t>H&lt;0</a:t>
                </a:r>
                <a:r>
                  <a:rPr lang="zh-CN" altLang="en-US" sz="2400" b="1" dirty="0"/>
                  <a:t>的情况，处理方法如下：</a:t>
                </a:r>
                <a:endParaRPr lang="en-US" altLang="zh-CN" sz="2400" b="1" dirty="0"/>
              </a:p>
              <a:p>
                <a:pPr algn="ct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𝑯</m:t>
                    </m:r>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sz="2400" b="1" i="1" kern="100">
                                <a:effectLst/>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𝑯</m:t>
                            </m:r>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𝟑𝟔𝟎</m:t>
                            </m:r>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𝑯</m:t>
                            </m:r>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&lt;</m:t>
                            </m:r>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𝟎</m:t>
                            </m:r>
                          </m:e>
                          <m:e>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𝑯</m:t>
                            </m:r>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m:t>
                            </m:r>
                            <m:r>
                              <a:rPr lang="zh-CN" altLang="zh-CN" sz="2400" b="1" kern="100" smtClean="0">
                                <a:effectLst/>
                                <a:latin typeface="Cambria Math" panose="02040503050406030204" pitchFamily="18" charset="0"/>
                                <a:ea typeface="宋体" panose="02010600030101010101" pitchFamily="2" charset="-122"/>
                                <a:cs typeface="Times New Roman" panose="02020603050405020304" pitchFamily="18" charset="0"/>
                              </a:rPr>
                              <m:t>其他情况</m:t>
                            </m:r>
                          </m:e>
                        </m:eqArr>
                      </m:e>
                    </m:d>
                  </m:oMath>
                </a14:m>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11-25</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sz="2400" b="1" dirty="0"/>
                  <a:t>由上面的公式可以计算得到</a:t>
                </a:r>
                <a:r>
                  <a:rPr lang="en-US" altLang="zh-CN" sz="2400" b="1" dirty="0"/>
                  <a:t>S</a:t>
                </a:r>
                <a:r>
                  <a:rPr lang="zh-CN" altLang="en-US" sz="2400" b="1" dirty="0"/>
                  <a:t>、</a:t>
                </a:r>
                <a:r>
                  <a:rPr lang="en-US" altLang="zh-CN" sz="2400" b="1" dirty="0"/>
                  <a:t>V</a:t>
                </a:r>
                <a:r>
                  <a:rPr lang="zh-CN" altLang="en-US" sz="2400" b="1" dirty="0"/>
                  <a:t>、</a:t>
                </a:r>
                <a:r>
                  <a:rPr lang="en-US" altLang="zh-CN" sz="2400" b="1" dirty="0"/>
                  <a:t>H</a:t>
                </a:r>
                <a:r>
                  <a:rPr lang="zh-CN" altLang="en-US" sz="2400" b="1" dirty="0"/>
                  <a:t>的值。</a:t>
                </a:r>
              </a:p>
            </p:txBody>
          </p:sp>
        </mc:Choice>
        <mc:Fallback xmlns="">
          <p:sp>
            <p:nvSpPr>
              <p:cNvPr id="3" name="文本框 2">
                <a:extLst>
                  <a:ext uri="{FF2B5EF4-FFF2-40B4-BE49-F238E27FC236}">
                    <a16:creationId xmlns="" xmlns:a16="http://schemas.microsoft.com/office/drawing/2014/main" xmlns:a14="http://schemas.microsoft.com/office/drawing/2010/main" id="{26D5A816-F5EB-409A-9BE9-554289086E8E}"/>
                  </a:ext>
                </a:extLst>
              </p:cNvPr>
              <p:cNvSpPr txBox="1">
                <a:spLocks noRot="1" noChangeAspect="1" noMove="1" noResize="1" noEditPoints="1" noAdjustHandles="1" noChangeArrowheads="1" noChangeShapeType="1" noTextEdit="1"/>
              </p:cNvSpPr>
              <p:nvPr/>
            </p:nvSpPr>
            <p:spPr>
              <a:xfrm>
                <a:off x="2971800" y="214507"/>
                <a:ext cx="8812530" cy="6258829"/>
              </a:xfrm>
              <a:prstGeom prst="rect">
                <a:avLst/>
              </a:prstGeom>
              <a:blipFill rotWithShape="0">
                <a:blip r:embed="rId2"/>
                <a:stretch>
                  <a:fillRect l="-1107" b="-1363"/>
                </a:stretch>
              </a:blipFill>
            </p:spPr>
            <p:txBody>
              <a:bodyPr/>
              <a:lstStyle/>
              <a:p>
                <a:r>
                  <a:rPr lang="zh-CN" altLang="en-US">
                    <a:noFill/>
                  </a:rPr>
                  <a:t> </a:t>
                </a:r>
              </a:p>
            </p:txBody>
          </p:sp>
        </mc:Fallback>
      </mc:AlternateContent>
      <p:sp>
        <p:nvSpPr>
          <p:cNvPr id="2" name="矩形 1"/>
          <p:cNvSpPr/>
          <p:nvPr/>
        </p:nvSpPr>
        <p:spPr>
          <a:xfrm>
            <a:off x="727710" y="1203921"/>
            <a:ext cx="1912620" cy="3785652"/>
          </a:xfrm>
          <a:prstGeom prst="rect">
            <a:avLst/>
          </a:prstGeom>
        </p:spPr>
        <p:txBody>
          <a:bodyPr wrap="square">
            <a:spAutoFit/>
          </a:bodyPr>
          <a:lstStyle/>
          <a:p>
            <a:pPr algn="just"/>
            <a:r>
              <a:rPr lang="zh-CN" altLang="en-US" sz="2400" b="1" dirty="0">
                <a:solidFill>
                  <a:srgbClr val="0033CC"/>
                </a:solidFill>
                <a:latin typeface="+mn-ea"/>
              </a:rPr>
              <a:t>从</a:t>
            </a:r>
            <a:r>
              <a:rPr lang="en-US" altLang="zh-CN" sz="2400" b="1" dirty="0">
                <a:solidFill>
                  <a:srgbClr val="0033CC"/>
                </a:solidFill>
                <a:latin typeface="+mn-ea"/>
              </a:rPr>
              <a:t>RGB</a:t>
            </a:r>
            <a:r>
              <a:rPr lang="zh-CN" altLang="en-US" sz="2400" b="1" dirty="0">
                <a:solidFill>
                  <a:srgbClr val="0033CC"/>
                </a:solidFill>
                <a:latin typeface="+mn-ea"/>
              </a:rPr>
              <a:t>色彩空间转到</a:t>
            </a:r>
            <a:r>
              <a:rPr lang="en-US" altLang="zh-CN" sz="2400" b="1" dirty="0">
                <a:solidFill>
                  <a:srgbClr val="0033CC"/>
                </a:solidFill>
                <a:latin typeface="+mn-ea"/>
              </a:rPr>
              <a:t>HSV</a:t>
            </a:r>
            <a:r>
              <a:rPr lang="zh-CN" altLang="en-US" sz="2400" b="1" dirty="0">
                <a:solidFill>
                  <a:srgbClr val="0033CC"/>
                </a:solidFill>
                <a:latin typeface="+mn-ea"/>
              </a:rPr>
              <a:t>色彩空间时需要将</a:t>
            </a:r>
            <a:r>
              <a:rPr lang="en-US" altLang="zh-CN" sz="2400" b="1" dirty="0">
                <a:solidFill>
                  <a:srgbClr val="0033CC"/>
                </a:solidFill>
                <a:latin typeface="+mn-ea"/>
              </a:rPr>
              <a:t>RGB</a:t>
            </a:r>
            <a:r>
              <a:rPr lang="zh-CN" altLang="en-US" sz="2400" b="1" dirty="0">
                <a:solidFill>
                  <a:srgbClr val="0033CC"/>
                </a:solidFill>
                <a:latin typeface="+mn-ea"/>
              </a:rPr>
              <a:t>色彩空间的值转换到</a:t>
            </a:r>
            <a:r>
              <a:rPr lang="en-US" altLang="zh-CN" sz="2400" b="1" dirty="0">
                <a:solidFill>
                  <a:srgbClr val="0033CC"/>
                </a:solidFill>
                <a:latin typeface="+mn-ea"/>
              </a:rPr>
              <a:t>0</a:t>
            </a:r>
            <a:r>
              <a:rPr lang="zh-CN" altLang="en-US" sz="2400" b="1" dirty="0">
                <a:solidFill>
                  <a:srgbClr val="0033CC"/>
                </a:solidFill>
                <a:latin typeface="+mn-ea"/>
              </a:rPr>
              <a:t>～</a:t>
            </a:r>
            <a:r>
              <a:rPr lang="en-US" altLang="zh-CN" sz="2400" b="1" dirty="0">
                <a:solidFill>
                  <a:srgbClr val="0033CC"/>
                </a:solidFill>
                <a:latin typeface="+mn-ea"/>
              </a:rPr>
              <a:t>1</a:t>
            </a:r>
            <a:r>
              <a:rPr lang="zh-CN" altLang="en-US" sz="2400" b="1" dirty="0">
                <a:solidFill>
                  <a:srgbClr val="0033CC"/>
                </a:solidFill>
                <a:latin typeface="+mn-ea"/>
              </a:rPr>
              <a:t>的范围内，之后再进行</a:t>
            </a:r>
            <a:r>
              <a:rPr lang="en-US" altLang="zh-CN" sz="2400" b="1" dirty="0">
                <a:solidFill>
                  <a:srgbClr val="0033CC"/>
                </a:solidFill>
                <a:latin typeface="+mn-ea"/>
              </a:rPr>
              <a:t>HSV</a:t>
            </a:r>
            <a:r>
              <a:rPr lang="zh-CN" altLang="en-US" sz="2400" b="1" dirty="0">
                <a:solidFill>
                  <a:srgbClr val="0033CC"/>
                </a:solidFill>
                <a:latin typeface="+mn-ea"/>
              </a:rPr>
              <a:t>转换。具体过程为：</a:t>
            </a:r>
          </a:p>
        </p:txBody>
      </p:sp>
    </p:spTree>
    <p:extLst>
      <p:ext uri="{BB962C8B-B14F-4D97-AF65-F5344CB8AC3E}">
        <p14:creationId xmlns:p14="http://schemas.microsoft.com/office/powerpoint/2010/main" val="2517951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xmlns="" id="{EF7BC3F6-914D-4755-BB55-FEBEA9838009}"/>
              </a:ext>
            </a:extLst>
          </p:cNvPr>
          <p:cNvSpPr txBox="1"/>
          <p:nvPr/>
        </p:nvSpPr>
        <p:spPr>
          <a:xfrm>
            <a:off x="1264735" y="422572"/>
            <a:ext cx="8842159" cy="461665"/>
          </a:xfrm>
          <a:prstGeom prst="rect">
            <a:avLst/>
          </a:prstGeom>
          <a:noFill/>
        </p:spPr>
        <p:txBody>
          <a:bodyPr wrap="square" rtlCol="0">
            <a:spAutoFit/>
          </a:bodyPr>
          <a:lstStyle/>
          <a:p>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11.4】</a:t>
            </a:r>
            <a:r>
              <a:rPr lang="en-US" altLang="zh-CN" sz="2400" dirty="0"/>
              <a:t>RGB</a:t>
            </a:r>
            <a:r>
              <a:rPr lang="zh-CN" altLang="en-US" sz="2400" dirty="0"/>
              <a:t>色彩空间转换为</a:t>
            </a:r>
            <a:r>
              <a:rPr lang="en-US" altLang="zh-CN" sz="2400" dirty="0"/>
              <a:t>HSV</a:t>
            </a:r>
            <a:r>
              <a:rPr lang="zh-CN" altLang="en-US" sz="2400" dirty="0"/>
              <a:t>色彩空间。代码如下：</a:t>
            </a:r>
          </a:p>
        </p:txBody>
      </p:sp>
      <p:sp>
        <p:nvSpPr>
          <p:cNvPr id="4" name="文本框 3">
            <a:extLst>
              <a:ext uri="{FF2B5EF4-FFF2-40B4-BE49-F238E27FC236}">
                <a16:creationId xmlns:a16="http://schemas.microsoft.com/office/drawing/2014/main" xmlns="" id="{074E3DF8-2339-4C0F-8407-2688BD58CE07}"/>
              </a:ext>
            </a:extLst>
          </p:cNvPr>
          <p:cNvSpPr txBox="1"/>
          <p:nvPr/>
        </p:nvSpPr>
        <p:spPr>
          <a:xfrm>
            <a:off x="292961" y="1141690"/>
            <a:ext cx="7208669" cy="3785652"/>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import cv2</a:t>
            </a:r>
          </a:p>
          <a:p>
            <a:r>
              <a:rPr lang="en-US" altLang="zh-CN" sz="2400" dirty="0">
                <a:latin typeface="Times New Roman" panose="02020603050405020304" pitchFamily="18" charset="0"/>
                <a:cs typeface="Times New Roman" panose="02020603050405020304" pitchFamily="18" charset="0"/>
              </a:rPr>
              <a:t>image1=cv2.imread("d:/pics/lena.jpg")</a:t>
            </a:r>
          </a:p>
          <a:p>
            <a:r>
              <a:rPr lang="en-US" altLang="zh-CN" sz="2400" dirty="0">
                <a:latin typeface="Times New Roman" panose="02020603050405020304" pitchFamily="18" charset="0"/>
                <a:cs typeface="Times New Roman" panose="02020603050405020304" pitchFamily="18" charset="0"/>
              </a:rPr>
              <a:t>cv2.imshow("BGR_image",image1)</a:t>
            </a:r>
          </a:p>
          <a:p>
            <a:r>
              <a:rPr lang="en-US" altLang="zh-CN" sz="2400" dirty="0">
                <a:latin typeface="Times New Roman" panose="02020603050405020304" pitchFamily="18" charset="0"/>
                <a:cs typeface="Times New Roman" panose="02020603050405020304" pitchFamily="18" charset="0"/>
              </a:rPr>
              <a:t>#BGR</a:t>
            </a:r>
            <a:r>
              <a:rPr lang="zh-CN" altLang="en-US" sz="2400" dirty="0">
                <a:latin typeface="Times New Roman" panose="02020603050405020304" pitchFamily="18" charset="0"/>
                <a:cs typeface="Times New Roman" panose="02020603050405020304" pitchFamily="18" charset="0"/>
              </a:rPr>
              <a:t>色彩空间转</a:t>
            </a:r>
            <a:r>
              <a:rPr lang="en-US" altLang="zh-CN" sz="2400" dirty="0">
                <a:latin typeface="Times New Roman" panose="02020603050405020304" pitchFamily="18" charset="0"/>
                <a:cs typeface="Times New Roman" panose="02020603050405020304" pitchFamily="18" charset="0"/>
              </a:rPr>
              <a:t>RGB</a:t>
            </a:r>
            <a:r>
              <a:rPr lang="zh-CN" altLang="en-US" sz="2400" dirty="0">
                <a:latin typeface="Times New Roman" panose="02020603050405020304" pitchFamily="18" charset="0"/>
                <a:cs typeface="Times New Roman" panose="02020603050405020304" pitchFamily="18" charset="0"/>
              </a:rPr>
              <a:t>色彩空间</a:t>
            </a:r>
          </a:p>
          <a:p>
            <a:r>
              <a:rPr lang="en-US" altLang="zh-CN" sz="2400" dirty="0">
                <a:latin typeface="Times New Roman" panose="02020603050405020304" pitchFamily="18" charset="0"/>
                <a:cs typeface="Times New Roman" panose="02020603050405020304" pitchFamily="18" charset="0"/>
              </a:rPr>
              <a:t>image2=cv2.cvtColor(image1,cv2.COLOR_BGR2RGB)</a:t>
            </a:r>
          </a:p>
          <a:p>
            <a:r>
              <a:rPr lang="en-US" altLang="zh-CN" sz="2400" dirty="0">
                <a:latin typeface="Times New Roman" panose="02020603050405020304" pitchFamily="18" charset="0"/>
                <a:cs typeface="Times New Roman" panose="02020603050405020304" pitchFamily="18" charset="0"/>
              </a:rPr>
              <a:t>#RGB</a:t>
            </a:r>
            <a:r>
              <a:rPr lang="zh-CN" altLang="en-US" sz="2400" dirty="0">
                <a:latin typeface="Times New Roman" panose="02020603050405020304" pitchFamily="18" charset="0"/>
                <a:cs typeface="Times New Roman" panose="02020603050405020304" pitchFamily="18" charset="0"/>
              </a:rPr>
              <a:t>色彩空间转</a:t>
            </a:r>
            <a:r>
              <a:rPr lang="en-US" altLang="zh-CN" sz="2400" dirty="0">
                <a:latin typeface="Times New Roman" panose="02020603050405020304" pitchFamily="18" charset="0"/>
                <a:cs typeface="Times New Roman" panose="02020603050405020304" pitchFamily="18" charset="0"/>
              </a:rPr>
              <a:t>HSV</a:t>
            </a:r>
            <a:r>
              <a:rPr lang="zh-CN" altLang="en-US" sz="2400" dirty="0">
                <a:latin typeface="Times New Roman" panose="02020603050405020304" pitchFamily="18" charset="0"/>
                <a:cs typeface="Times New Roman" panose="02020603050405020304" pitchFamily="18" charset="0"/>
              </a:rPr>
              <a:t>色彩空间</a:t>
            </a:r>
          </a:p>
          <a:p>
            <a:r>
              <a:rPr lang="en-US" altLang="zh-CN" sz="2400" dirty="0">
                <a:latin typeface="Times New Roman" panose="02020603050405020304" pitchFamily="18" charset="0"/>
                <a:cs typeface="Times New Roman" panose="02020603050405020304" pitchFamily="18" charset="0"/>
              </a:rPr>
              <a:t>image2=cv2.cvtColor(image2,cv2.COLOR_RGB2HSV)</a:t>
            </a:r>
          </a:p>
          <a:p>
            <a:r>
              <a:rPr lang="en-US" altLang="zh-CN" sz="2400" dirty="0">
                <a:latin typeface="Times New Roman" panose="02020603050405020304" pitchFamily="18" charset="0"/>
                <a:cs typeface="Times New Roman" panose="02020603050405020304" pitchFamily="18" charset="0"/>
              </a:rPr>
              <a:t>cv2.imshow("HSV_image",image2)</a:t>
            </a:r>
          </a:p>
          <a:p>
            <a:r>
              <a:rPr lang="en-US" altLang="zh-CN" sz="2400" dirty="0">
                <a:latin typeface="Times New Roman" panose="02020603050405020304" pitchFamily="18" charset="0"/>
                <a:cs typeface="Times New Roman" panose="02020603050405020304" pitchFamily="18" charset="0"/>
              </a:rPr>
              <a:t>cv2.waitKey(0)</a:t>
            </a:r>
          </a:p>
          <a:p>
            <a:r>
              <a:rPr lang="en-US" altLang="zh-CN" sz="2400" dirty="0">
                <a:latin typeface="Times New Roman" panose="02020603050405020304" pitchFamily="18" charset="0"/>
                <a:cs typeface="Times New Roman" panose="02020603050405020304" pitchFamily="18" charset="0"/>
              </a:rPr>
              <a:t>cv2.destroyAllWindows()</a:t>
            </a:r>
          </a:p>
        </p:txBody>
      </p:sp>
      <p:sp>
        <p:nvSpPr>
          <p:cNvPr id="6" name="文本框 5">
            <a:extLst>
              <a:ext uri="{FF2B5EF4-FFF2-40B4-BE49-F238E27FC236}">
                <a16:creationId xmlns:a16="http://schemas.microsoft.com/office/drawing/2014/main" xmlns="" id="{5AA6EEDD-B8F9-4A1E-98F3-7F1D4235E180}"/>
              </a:ext>
            </a:extLst>
          </p:cNvPr>
          <p:cNvSpPr txBox="1"/>
          <p:nvPr/>
        </p:nvSpPr>
        <p:spPr>
          <a:xfrm>
            <a:off x="441550" y="5184795"/>
            <a:ext cx="4256179" cy="461665"/>
          </a:xfrm>
          <a:prstGeom prst="rect">
            <a:avLst/>
          </a:prstGeom>
          <a:noFill/>
        </p:spPr>
        <p:txBody>
          <a:bodyPr wrap="square">
            <a:spAutoFit/>
          </a:bodyPr>
          <a:lstStyle/>
          <a:p>
            <a:r>
              <a:rPr lang="zh-CN" altLang="en-US" sz="2400" dirty="0"/>
              <a:t>程序运行结果如图</a:t>
            </a:r>
            <a:r>
              <a:rPr lang="en-US" altLang="zh-CN" sz="2400" dirty="0"/>
              <a:t>11-6</a:t>
            </a:r>
            <a:r>
              <a:rPr lang="zh-CN" altLang="en-US" sz="2400" dirty="0"/>
              <a:t>所示。</a:t>
            </a:r>
          </a:p>
        </p:txBody>
      </p:sp>
      <p:pic>
        <p:nvPicPr>
          <p:cNvPr id="7" name="图片 6">
            <a:extLst>
              <a:ext uri="{FF2B5EF4-FFF2-40B4-BE49-F238E27FC236}">
                <a16:creationId xmlns:a16="http://schemas.microsoft.com/office/drawing/2014/main" xmlns="" id="{14549372-CF4D-4300-96DE-F4714A9D87DE}"/>
              </a:ext>
            </a:extLst>
          </p:cNvPr>
          <p:cNvPicPr>
            <a:picLocks noChangeAspect="1"/>
          </p:cNvPicPr>
          <p:nvPr/>
        </p:nvPicPr>
        <p:blipFill>
          <a:blip r:embed="rId2"/>
          <a:stretch>
            <a:fillRect/>
          </a:stretch>
        </p:blipFill>
        <p:spPr>
          <a:xfrm>
            <a:off x="7501630" y="1830736"/>
            <a:ext cx="1841152" cy="2121592"/>
          </a:xfrm>
          <a:prstGeom prst="rect">
            <a:avLst/>
          </a:prstGeom>
        </p:spPr>
      </p:pic>
      <p:pic>
        <p:nvPicPr>
          <p:cNvPr id="8" name="图片 7">
            <a:extLst>
              <a:ext uri="{FF2B5EF4-FFF2-40B4-BE49-F238E27FC236}">
                <a16:creationId xmlns:a16="http://schemas.microsoft.com/office/drawing/2014/main" xmlns="" id="{A950C794-5373-4EF8-BB74-9A042F5B12A3}"/>
              </a:ext>
            </a:extLst>
          </p:cNvPr>
          <p:cNvPicPr>
            <a:picLocks noChangeAspect="1"/>
          </p:cNvPicPr>
          <p:nvPr/>
        </p:nvPicPr>
        <p:blipFill>
          <a:blip r:embed="rId3"/>
          <a:stretch>
            <a:fillRect/>
          </a:stretch>
        </p:blipFill>
        <p:spPr>
          <a:xfrm>
            <a:off x="9726531" y="1788128"/>
            <a:ext cx="1853345" cy="2133785"/>
          </a:xfrm>
          <a:prstGeom prst="rect">
            <a:avLst/>
          </a:prstGeom>
        </p:spPr>
      </p:pic>
      <p:sp>
        <p:nvSpPr>
          <p:cNvPr id="10" name="文本框 9">
            <a:extLst>
              <a:ext uri="{FF2B5EF4-FFF2-40B4-BE49-F238E27FC236}">
                <a16:creationId xmlns:a16="http://schemas.microsoft.com/office/drawing/2014/main" xmlns="" id="{3AB912F1-9D8C-41A0-87F0-339A400A6071}"/>
              </a:ext>
            </a:extLst>
          </p:cNvPr>
          <p:cNvSpPr txBox="1"/>
          <p:nvPr/>
        </p:nvSpPr>
        <p:spPr>
          <a:xfrm>
            <a:off x="7795597" y="4081054"/>
            <a:ext cx="1841152" cy="369332"/>
          </a:xfrm>
          <a:prstGeom prst="rect">
            <a:avLst/>
          </a:prstGeom>
          <a:noFill/>
        </p:spPr>
        <p:txBody>
          <a:bodyPr wrap="square">
            <a:spAutoFit/>
          </a:bodyPr>
          <a:lstStyle/>
          <a:p>
            <a:r>
              <a:rPr lang="en-US" altLang="zh-CN" dirty="0"/>
              <a:t>(a)	</a:t>
            </a:r>
            <a:r>
              <a:rPr lang="zh-CN" altLang="en-US" dirty="0"/>
              <a:t>原图像</a:t>
            </a:r>
          </a:p>
        </p:txBody>
      </p:sp>
      <p:sp>
        <p:nvSpPr>
          <p:cNvPr id="12" name="文本框 11">
            <a:extLst>
              <a:ext uri="{FF2B5EF4-FFF2-40B4-BE49-F238E27FC236}">
                <a16:creationId xmlns:a16="http://schemas.microsoft.com/office/drawing/2014/main" xmlns="" id="{455B27C9-DA8F-4C22-83EF-A6390942226A}"/>
              </a:ext>
            </a:extLst>
          </p:cNvPr>
          <p:cNvSpPr txBox="1"/>
          <p:nvPr/>
        </p:nvSpPr>
        <p:spPr>
          <a:xfrm>
            <a:off x="9636749" y="4050639"/>
            <a:ext cx="2326690" cy="369332"/>
          </a:xfrm>
          <a:prstGeom prst="rect">
            <a:avLst/>
          </a:prstGeom>
          <a:noFill/>
        </p:spPr>
        <p:txBody>
          <a:bodyPr wrap="square">
            <a:spAutoFit/>
          </a:bodyPr>
          <a:lstStyle/>
          <a:p>
            <a:r>
              <a:rPr lang="zh-CN" altLang="en-US" dirty="0"/>
              <a:t> </a:t>
            </a:r>
            <a:r>
              <a:rPr lang="en-US" altLang="zh-CN" dirty="0"/>
              <a:t>(b)HSV</a:t>
            </a:r>
            <a:r>
              <a:rPr lang="zh-CN" altLang="en-US" dirty="0"/>
              <a:t>色彩空间图像</a:t>
            </a:r>
          </a:p>
        </p:txBody>
      </p:sp>
      <p:sp>
        <p:nvSpPr>
          <p:cNvPr id="14" name="文本框 13">
            <a:extLst>
              <a:ext uri="{FF2B5EF4-FFF2-40B4-BE49-F238E27FC236}">
                <a16:creationId xmlns:a16="http://schemas.microsoft.com/office/drawing/2014/main" xmlns="" id="{6DEAA281-4DA0-4210-B18C-1CC5458F8A38}"/>
              </a:ext>
            </a:extLst>
          </p:cNvPr>
          <p:cNvSpPr txBox="1"/>
          <p:nvPr/>
        </p:nvSpPr>
        <p:spPr>
          <a:xfrm>
            <a:off x="8148733" y="4558010"/>
            <a:ext cx="3430699" cy="369332"/>
          </a:xfrm>
          <a:prstGeom prst="rect">
            <a:avLst/>
          </a:prstGeom>
          <a:noFill/>
        </p:spPr>
        <p:txBody>
          <a:bodyPr wrap="square">
            <a:spAutoFit/>
          </a:bodyPr>
          <a:lstStyle/>
          <a:p>
            <a:r>
              <a:rPr lang="zh-CN" altLang="en-US" dirty="0"/>
              <a:t>图</a:t>
            </a:r>
            <a:r>
              <a:rPr lang="en-US" altLang="zh-CN" dirty="0"/>
              <a:t>11-6 RGB</a:t>
            </a:r>
            <a:r>
              <a:rPr lang="zh-CN" altLang="en-US" dirty="0"/>
              <a:t>转换为</a:t>
            </a:r>
            <a:r>
              <a:rPr lang="en-US" altLang="zh-CN" dirty="0"/>
              <a:t>HSV</a:t>
            </a:r>
            <a:r>
              <a:rPr lang="zh-CN" altLang="en-US" dirty="0"/>
              <a:t>色彩空间</a:t>
            </a:r>
          </a:p>
        </p:txBody>
      </p:sp>
    </p:spTree>
    <p:extLst>
      <p:ext uri="{BB962C8B-B14F-4D97-AF65-F5344CB8AC3E}">
        <p14:creationId xmlns:p14="http://schemas.microsoft.com/office/powerpoint/2010/main" val="521152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BED2D4C8-6650-4465-9E4D-E438BDACC1AC}"/>
              </a:ext>
            </a:extLst>
          </p:cNvPr>
          <p:cNvSpPr txBox="1"/>
          <p:nvPr/>
        </p:nvSpPr>
        <p:spPr>
          <a:xfrm>
            <a:off x="2032986" y="328474"/>
            <a:ext cx="7244179" cy="646331"/>
          </a:xfrm>
          <a:prstGeom prst="rect">
            <a:avLst/>
          </a:prstGeom>
          <a:noFill/>
        </p:spPr>
        <p:txBody>
          <a:bodyPr wrap="square" rtlCol="0">
            <a:spAutoFit/>
          </a:bodyPr>
          <a:lstStyle/>
          <a:p>
            <a:pPr algn="ctr"/>
            <a:r>
              <a:rPr lang="en-US" altLang="zh-CN" sz="3600" b="1" dirty="0" smtClean="0">
                <a:solidFill>
                  <a:srgbClr val="C00000"/>
                </a:solidFill>
              </a:rPr>
              <a:t>11.3  </a:t>
            </a:r>
            <a:r>
              <a:rPr lang="zh-CN" altLang="en-US" sz="3600" b="1" dirty="0" smtClean="0">
                <a:solidFill>
                  <a:srgbClr val="C00000"/>
                </a:solidFill>
              </a:rPr>
              <a:t>彩色</a:t>
            </a:r>
            <a:r>
              <a:rPr lang="zh-CN" altLang="en-US" sz="3600" b="1" dirty="0">
                <a:solidFill>
                  <a:srgbClr val="C00000"/>
                </a:solidFill>
              </a:rPr>
              <a:t>图像通道的分离与合并</a:t>
            </a:r>
          </a:p>
        </p:txBody>
      </p:sp>
      <p:sp>
        <p:nvSpPr>
          <p:cNvPr id="6" name="文本框 5">
            <a:extLst>
              <a:ext uri="{FF2B5EF4-FFF2-40B4-BE49-F238E27FC236}">
                <a16:creationId xmlns:a16="http://schemas.microsoft.com/office/drawing/2014/main" xmlns="" id="{F87D5350-D56F-4469-AC34-441BED75ADD8}"/>
              </a:ext>
            </a:extLst>
          </p:cNvPr>
          <p:cNvSpPr txBox="1"/>
          <p:nvPr/>
        </p:nvSpPr>
        <p:spPr>
          <a:xfrm>
            <a:off x="599242" y="974805"/>
            <a:ext cx="10684276" cy="5632311"/>
          </a:xfrm>
          <a:prstGeom prst="rect">
            <a:avLst/>
          </a:prstGeom>
          <a:noFill/>
        </p:spPr>
        <p:txBody>
          <a:bodyPr wrap="square" rtlCol="0">
            <a:spAutoFit/>
          </a:bodyPr>
          <a:lstStyle/>
          <a:p>
            <a:pPr indent="457200"/>
            <a:r>
              <a:rPr lang="zh-CN" altLang="en-US" sz="2400" b="1" dirty="0">
                <a:latin typeface="+mn-ea"/>
              </a:rPr>
              <a:t>在彩色图像</a:t>
            </a:r>
            <a:r>
              <a:rPr lang="en-US" altLang="zh-CN" sz="2400" b="1" dirty="0">
                <a:latin typeface="+mn-ea"/>
              </a:rPr>
              <a:t>RGB</a:t>
            </a:r>
            <a:r>
              <a:rPr lang="zh-CN" altLang="en-US" sz="2400" b="1" dirty="0">
                <a:latin typeface="+mn-ea"/>
              </a:rPr>
              <a:t>色彩模式下通道是指单独的</a:t>
            </a:r>
            <a:r>
              <a:rPr lang="zh-CN" altLang="en-US" sz="2400" b="1" dirty="0">
                <a:solidFill>
                  <a:srgbClr val="FF0000"/>
                </a:solidFill>
                <a:latin typeface="+mn-ea"/>
              </a:rPr>
              <a:t>红色（</a:t>
            </a:r>
            <a:r>
              <a:rPr lang="en-US" altLang="zh-CN" sz="2400" b="1" dirty="0">
                <a:solidFill>
                  <a:srgbClr val="FF0000"/>
                </a:solidFill>
                <a:latin typeface="+mn-ea"/>
              </a:rPr>
              <a:t>R</a:t>
            </a:r>
            <a:r>
              <a:rPr lang="zh-CN" altLang="en-US" sz="2400" b="1" dirty="0">
                <a:solidFill>
                  <a:srgbClr val="FF0000"/>
                </a:solidFill>
                <a:latin typeface="+mn-ea"/>
              </a:rPr>
              <a:t>）、绿色（</a:t>
            </a:r>
            <a:r>
              <a:rPr lang="en-US" altLang="zh-CN" sz="2400" b="1" dirty="0">
                <a:solidFill>
                  <a:srgbClr val="FF0000"/>
                </a:solidFill>
                <a:latin typeface="+mn-ea"/>
              </a:rPr>
              <a:t>G</a:t>
            </a:r>
            <a:r>
              <a:rPr lang="zh-CN" altLang="en-US" sz="2400" b="1" dirty="0">
                <a:solidFill>
                  <a:srgbClr val="FF0000"/>
                </a:solidFill>
                <a:latin typeface="+mn-ea"/>
              </a:rPr>
              <a:t>）、蓝色（</a:t>
            </a:r>
            <a:r>
              <a:rPr lang="en-US" altLang="zh-CN" sz="2400" b="1" dirty="0">
                <a:solidFill>
                  <a:srgbClr val="FF0000"/>
                </a:solidFill>
                <a:latin typeface="+mn-ea"/>
              </a:rPr>
              <a:t>B</a:t>
            </a:r>
            <a:r>
              <a:rPr lang="zh-CN" altLang="en-US" sz="2400" b="1" dirty="0">
                <a:solidFill>
                  <a:srgbClr val="FF0000"/>
                </a:solidFill>
                <a:latin typeface="+mn-ea"/>
              </a:rPr>
              <a:t>）</a:t>
            </a:r>
            <a:r>
              <a:rPr lang="zh-CN" altLang="en-US" sz="2400" b="1" dirty="0">
                <a:latin typeface="+mn-ea"/>
              </a:rPr>
              <a:t>部分。即一幅完整的图像，是由红色、绿色、蓝色三个通道组成的，他们共同作用产生了完整的彩色图像。</a:t>
            </a:r>
          </a:p>
          <a:p>
            <a:pPr indent="457200"/>
            <a:r>
              <a:rPr lang="zh-CN" altLang="en-US" sz="2400" b="1" dirty="0">
                <a:latin typeface="+mn-ea"/>
              </a:rPr>
              <a:t>一幅完整的图像，红色绿色蓝色三个通道缺一不可。即使图像中看起来没有蓝色，只能说蓝色光的亮度均为</a:t>
            </a:r>
            <a:r>
              <a:rPr lang="en-US" altLang="zh-CN" sz="2400" b="1" dirty="0">
                <a:latin typeface="+mn-ea"/>
              </a:rPr>
              <a:t>0</a:t>
            </a:r>
            <a:r>
              <a:rPr lang="zh-CN" altLang="en-US" sz="2400" b="1" dirty="0">
                <a:latin typeface="+mn-ea"/>
              </a:rPr>
              <a:t>或者各像素值的红色和绿色通道不全为</a:t>
            </a:r>
            <a:r>
              <a:rPr lang="en-US" altLang="zh-CN" sz="2400" b="1" dirty="0">
                <a:latin typeface="+mn-ea"/>
              </a:rPr>
              <a:t>0</a:t>
            </a:r>
            <a:r>
              <a:rPr lang="zh-CN" altLang="en-US" sz="2400" b="1" dirty="0">
                <a:latin typeface="+mn-ea"/>
              </a:rPr>
              <a:t>，但不能说没有蓝色通道存在。如果关闭了红色通道，那么图像就偏青色；如果关闭了绿色通道，那么图像就偏洋红色；如果关闭了蓝色通道，那么图像就偏黄色。</a:t>
            </a:r>
          </a:p>
          <a:p>
            <a:pPr indent="457200"/>
            <a:r>
              <a:rPr lang="zh-CN" altLang="en-US" sz="2400" b="1" dirty="0">
                <a:latin typeface="+mn-ea"/>
              </a:rPr>
              <a:t>如果察看单个通道，发现每个通道都显示为一幅灰度图像。某个通道的灰度图像中的明暗对应该通道色的明暗，从而表达出该色光在整体图像上的分布情况。由于通道共有</a:t>
            </a:r>
            <a:r>
              <a:rPr lang="en-US" altLang="zh-CN" sz="2400" b="1" dirty="0">
                <a:latin typeface="+mn-ea"/>
              </a:rPr>
              <a:t>3</a:t>
            </a:r>
            <a:r>
              <a:rPr lang="zh-CN" altLang="en-US" sz="2400" b="1" dirty="0">
                <a:latin typeface="+mn-ea"/>
              </a:rPr>
              <a:t>个，所以也就有了</a:t>
            </a:r>
            <a:r>
              <a:rPr lang="en-US" altLang="zh-CN" sz="2400" b="1" dirty="0">
                <a:latin typeface="+mn-ea"/>
              </a:rPr>
              <a:t>3</a:t>
            </a:r>
            <a:r>
              <a:rPr lang="zh-CN" altLang="en-US" sz="2400" b="1" dirty="0">
                <a:latin typeface="+mn-ea"/>
              </a:rPr>
              <a:t>幅灰度图像。</a:t>
            </a:r>
          </a:p>
          <a:p>
            <a:pPr indent="457200"/>
            <a:r>
              <a:rPr lang="zh-CN" altLang="en-US" sz="2400" b="1" dirty="0">
                <a:latin typeface="+mn-ea"/>
              </a:rPr>
              <a:t>通道中的纯白，代表了该色光在此处为最高亮度，亮度级别是</a:t>
            </a:r>
            <a:r>
              <a:rPr lang="en-US" altLang="zh-CN" sz="2400" b="1" dirty="0">
                <a:latin typeface="+mn-ea"/>
              </a:rPr>
              <a:t>255</a:t>
            </a:r>
            <a:r>
              <a:rPr lang="zh-CN" altLang="en-US" sz="2400" b="1" dirty="0">
                <a:latin typeface="+mn-ea"/>
              </a:rPr>
              <a:t>。通道中的纯黑，代表了该色光在此处完全不发光，亮度级别是</a:t>
            </a:r>
            <a:r>
              <a:rPr lang="en-US" altLang="zh-CN" sz="2400" b="1" dirty="0">
                <a:latin typeface="+mn-ea"/>
              </a:rPr>
              <a:t>0</a:t>
            </a:r>
            <a:r>
              <a:rPr lang="zh-CN" altLang="en-US" sz="2400" b="1" dirty="0">
                <a:latin typeface="+mn-ea"/>
              </a:rPr>
              <a:t>。介于纯黑纯白之间的灰度，代表了不同的发光程度，亮度级别介于</a:t>
            </a:r>
            <a:r>
              <a:rPr lang="en-US" altLang="zh-CN" sz="2400" b="1" dirty="0">
                <a:latin typeface="+mn-ea"/>
              </a:rPr>
              <a:t>0</a:t>
            </a:r>
            <a:r>
              <a:rPr lang="zh-CN" altLang="en-US" sz="2400" b="1" dirty="0">
                <a:latin typeface="+mn-ea"/>
              </a:rPr>
              <a:t>～</a:t>
            </a:r>
            <a:r>
              <a:rPr lang="en-US" altLang="zh-CN" sz="2400" b="1" dirty="0">
                <a:latin typeface="+mn-ea"/>
              </a:rPr>
              <a:t>255</a:t>
            </a:r>
            <a:r>
              <a:rPr lang="zh-CN" altLang="en-US" sz="2400" b="1" dirty="0">
                <a:latin typeface="+mn-ea"/>
              </a:rPr>
              <a:t>之间。灰度中越偏白的部分，表示色光亮度值越高，越偏黑的部分则表示亮度值越低。</a:t>
            </a:r>
          </a:p>
        </p:txBody>
      </p:sp>
    </p:spTree>
    <p:extLst>
      <p:ext uri="{BB962C8B-B14F-4D97-AF65-F5344CB8AC3E}">
        <p14:creationId xmlns:p14="http://schemas.microsoft.com/office/powerpoint/2010/main" val="2683543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0B0C42B8-741A-4ECC-BCBC-27046128B078}"/>
              </a:ext>
            </a:extLst>
          </p:cNvPr>
          <p:cNvSpPr txBox="1"/>
          <p:nvPr/>
        </p:nvSpPr>
        <p:spPr>
          <a:xfrm>
            <a:off x="1269507" y="719091"/>
            <a:ext cx="7714695" cy="646331"/>
          </a:xfrm>
          <a:prstGeom prst="rect">
            <a:avLst/>
          </a:prstGeom>
          <a:noFill/>
        </p:spPr>
        <p:txBody>
          <a:bodyPr wrap="square" rtlCol="0">
            <a:spAutoFit/>
          </a:bodyPr>
          <a:lstStyle/>
          <a:p>
            <a:pPr algn="ctr"/>
            <a:r>
              <a:rPr lang="en-US" altLang="zh-CN" sz="3600" b="1" dirty="0" smtClean="0">
                <a:solidFill>
                  <a:srgbClr val="C00000"/>
                </a:solidFill>
              </a:rPr>
              <a:t>11.3.1  </a:t>
            </a:r>
            <a:r>
              <a:rPr lang="zh-CN" altLang="en-US" sz="3600" b="1" dirty="0" smtClean="0">
                <a:solidFill>
                  <a:srgbClr val="C00000"/>
                </a:solidFill>
              </a:rPr>
              <a:t>彩色</a:t>
            </a:r>
            <a:r>
              <a:rPr lang="zh-CN" altLang="en-US" sz="3600" b="1" dirty="0">
                <a:solidFill>
                  <a:srgbClr val="C00000"/>
                </a:solidFill>
              </a:rPr>
              <a:t>图像的通道分离</a:t>
            </a:r>
          </a:p>
        </p:txBody>
      </p:sp>
      <p:sp>
        <p:nvSpPr>
          <p:cNvPr id="5" name="文本框 4">
            <a:extLst>
              <a:ext uri="{FF2B5EF4-FFF2-40B4-BE49-F238E27FC236}">
                <a16:creationId xmlns:a16="http://schemas.microsoft.com/office/drawing/2014/main" xmlns="" id="{690DE6C2-054E-41B1-80F4-0E8908E2064A}"/>
              </a:ext>
            </a:extLst>
          </p:cNvPr>
          <p:cNvSpPr txBox="1"/>
          <p:nvPr/>
        </p:nvSpPr>
        <p:spPr>
          <a:xfrm>
            <a:off x="967666" y="1722268"/>
            <a:ext cx="10268023" cy="3385542"/>
          </a:xfrm>
          <a:prstGeom prst="rect">
            <a:avLst/>
          </a:prstGeom>
          <a:noFill/>
        </p:spPr>
        <p:txBody>
          <a:bodyPr wrap="square" rtlCol="0">
            <a:spAutoFit/>
          </a:bodyPr>
          <a:lstStyle/>
          <a:p>
            <a:pPr indent="457200"/>
            <a:r>
              <a:rPr lang="zh-CN" altLang="en-US" sz="2800" b="1" dirty="0">
                <a:latin typeface="+mn-ea"/>
              </a:rPr>
              <a:t>在</a:t>
            </a:r>
            <a:r>
              <a:rPr lang="en-US" altLang="zh-CN" sz="2800" b="1" dirty="0">
                <a:latin typeface="+mn-ea"/>
              </a:rPr>
              <a:t>OpenCV</a:t>
            </a:r>
            <a:r>
              <a:rPr lang="zh-CN" altLang="en-US" sz="2800" b="1" dirty="0">
                <a:latin typeface="+mn-ea"/>
              </a:rPr>
              <a:t>中有</a:t>
            </a:r>
            <a:r>
              <a:rPr lang="en-US" altLang="zh-CN" sz="2800" b="1" dirty="0">
                <a:latin typeface="+mn-ea"/>
              </a:rPr>
              <a:t>cv2.split</a:t>
            </a:r>
            <a:r>
              <a:rPr lang="zh-CN" altLang="en-US" sz="2800" b="1" dirty="0">
                <a:latin typeface="+mn-ea"/>
              </a:rPr>
              <a:t>函数，主要功能是把一个彩色图像分割成</a:t>
            </a:r>
            <a:r>
              <a:rPr lang="en-US" altLang="zh-CN" sz="2800" b="1" dirty="0">
                <a:latin typeface="+mn-ea"/>
              </a:rPr>
              <a:t>R</a:t>
            </a:r>
            <a:r>
              <a:rPr lang="zh-CN" altLang="en-US" sz="2800" b="1" dirty="0">
                <a:latin typeface="+mn-ea"/>
              </a:rPr>
              <a:t>、</a:t>
            </a:r>
            <a:r>
              <a:rPr lang="en-US" altLang="zh-CN" sz="2800" b="1" dirty="0">
                <a:latin typeface="+mn-ea"/>
              </a:rPr>
              <a:t>G</a:t>
            </a:r>
            <a:r>
              <a:rPr lang="zh-CN" altLang="en-US" sz="2800" b="1" dirty="0">
                <a:latin typeface="+mn-ea"/>
              </a:rPr>
              <a:t>、</a:t>
            </a:r>
            <a:r>
              <a:rPr lang="en-US" altLang="zh-CN" sz="2800" b="1" dirty="0">
                <a:latin typeface="+mn-ea"/>
              </a:rPr>
              <a:t>B</a:t>
            </a:r>
            <a:r>
              <a:rPr lang="zh-CN" altLang="en-US" sz="2800" b="1" dirty="0">
                <a:latin typeface="+mn-ea"/>
              </a:rPr>
              <a:t>三个通道，方便进一步的图像处理。函数</a:t>
            </a:r>
            <a:r>
              <a:rPr lang="en-US" altLang="zh-CN" sz="2800" b="1" dirty="0">
                <a:latin typeface="+mn-ea"/>
              </a:rPr>
              <a:t>cv2.split</a:t>
            </a:r>
            <a:r>
              <a:rPr lang="zh-CN" altLang="en-US" sz="2800" b="1" dirty="0">
                <a:latin typeface="+mn-ea"/>
              </a:rPr>
              <a:t>语法格式为：</a:t>
            </a:r>
          </a:p>
          <a:p>
            <a:pPr indent="457200" algn="ctr"/>
            <a:r>
              <a:rPr lang="en-US" altLang="zh-CN" sz="2800" b="1" dirty="0" err="1" smtClean="0">
                <a:solidFill>
                  <a:srgbClr val="FF0000"/>
                </a:solidFill>
                <a:latin typeface="+mn-ea"/>
                <a:cs typeface="Times New Roman" panose="02020603050405020304" pitchFamily="18" charset="0"/>
              </a:rPr>
              <a:t>b,g,r</a:t>
            </a:r>
            <a:r>
              <a:rPr lang="en-US" altLang="zh-CN" sz="2800" b="1" dirty="0" smtClean="0">
                <a:solidFill>
                  <a:srgbClr val="FF0000"/>
                </a:solidFill>
                <a:latin typeface="+mn-ea"/>
                <a:cs typeface="Times New Roman" panose="02020603050405020304" pitchFamily="18" charset="0"/>
              </a:rPr>
              <a:t> </a:t>
            </a:r>
            <a:r>
              <a:rPr lang="en-US" altLang="zh-CN" sz="2800" b="1" dirty="0">
                <a:solidFill>
                  <a:srgbClr val="FF0000"/>
                </a:solidFill>
                <a:latin typeface="+mn-ea"/>
                <a:cs typeface="Times New Roman" panose="02020603050405020304" pitchFamily="18" charset="0"/>
              </a:rPr>
              <a:t>= cv2.split(</a:t>
            </a:r>
            <a:r>
              <a:rPr lang="en-US" altLang="zh-CN" sz="2800" b="1" dirty="0" err="1">
                <a:solidFill>
                  <a:srgbClr val="FF0000"/>
                </a:solidFill>
                <a:latin typeface="+mn-ea"/>
                <a:cs typeface="Times New Roman" panose="02020603050405020304" pitchFamily="18" charset="0"/>
              </a:rPr>
              <a:t>src</a:t>
            </a:r>
            <a:r>
              <a:rPr lang="en-US" altLang="zh-CN" sz="2800" b="1" dirty="0" smtClean="0">
                <a:solidFill>
                  <a:srgbClr val="FF0000"/>
                </a:solidFill>
                <a:latin typeface="+mn-ea"/>
                <a:cs typeface="Times New Roman" panose="02020603050405020304" pitchFamily="18" charset="0"/>
              </a:rPr>
              <a:t>)</a:t>
            </a:r>
          </a:p>
          <a:p>
            <a:pPr indent="457200" algn="ctr"/>
            <a:endParaRPr lang="en-US" altLang="zh-CN" sz="2800" b="1" dirty="0">
              <a:solidFill>
                <a:srgbClr val="FF0000"/>
              </a:solidFill>
              <a:latin typeface="+mn-ea"/>
              <a:cs typeface="Times New Roman" panose="02020603050405020304" pitchFamily="18" charset="0"/>
            </a:endParaRPr>
          </a:p>
          <a:p>
            <a:pPr indent="457200"/>
            <a:r>
              <a:rPr lang="zh-CN" altLang="en-US" sz="2800" b="1" dirty="0">
                <a:latin typeface="+mn-ea"/>
              </a:rPr>
              <a:t>函数功能是输入原图像，返回其各自的通道内对应的数组元素的值。</a:t>
            </a:r>
          </a:p>
          <a:p>
            <a:endParaRPr lang="zh-CN" altLang="en-US" dirty="0"/>
          </a:p>
        </p:txBody>
      </p:sp>
    </p:spTree>
    <p:extLst>
      <p:ext uri="{BB962C8B-B14F-4D97-AF65-F5344CB8AC3E}">
        <p14:creationId xmlns:p14="http://schemas.microsoft.com/office/powerpoint/2010/main" val="1858013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9404DC20-44A9-441F-9833-EBC5B99CE9DE}"/>
              </a:ext>
            </a:extLst>
          </p:cNvPr>
          <p:cNvSpPr txBox="1"/>
          <p:nvPr/>
        </p:nvSpPr>
        <p:spPr>
          <a:xfrm>
            <a:off x="1197903" y="283132"/>
            <a:ext cx="9241895" cy="400110"/>
          </a:xfrm>
          <a:prstGeom prst="rect">
            <a:avLst/>
          </a:prstGeom>
          <a:noFill/>
        </p:spPr>
        <p:txBody>
          <a:bodyPr wrap="square">
            <a:spAutoFit/>
          </a:bodyPr>
          <a:lstStyle/>
          <a:p>
            <a:r>
              <a:rPr lang="en-US" altLang="zh-CN" sz="2000" dirty="0">
                <a:solidFill>
                  <a:srgbClr val="FF0000"/>
                </a:solidFill>
              </a:rPr>
              <a:t>【</a:t>
            </a:r>
            <a:r>
              <a:rPr lang="zh-CN" altLang="en-US" sz="2000" dirty="0">
                <a:solidFill>
                  <a:srgbClr val="FF0000"/>
                </a:solidFill>
              </a:rPr>
              <a:t>例</a:t>
            </a:r>
            <a:r>
              <a:rPr lang="en-US" altLang="zh-CN" sz="2000" dirty="0">
                <a:solidFill>
                  <a:srgbClr val="FF0000"/>
                </a:solidFill>
              </a:rPr>
              <a:t>11.5】</a:t>
            </a:r>
            <a:r>
              <a:rPr lang="zh-CN" altLang="en-US" sz="2000" dirty="0"/>
              <a:t>利用通道分离函数，将彩色图像分离成</a:t>
            </a:r>
            <a:r>
              <a:rPr lang="en-US" altLang="zh-CN" sz="2000" dirty="0"/>
              <a:t>RGB</a:t>
            </a:r>
            <a:r>
              <a:rPr lang="zh-CN" altLang="en-US" sz="2000" dirty="0"/>
              <a:t>三通道图像，程序代码如下：</a:t>
            </a:r>
          </a:p>
        </p:txBody>
      </p:sp>
      <p:sp>
        <p:nvSpPr>
          <p:cNvPr id="5" name="文本框 4">
            <a:extLst>
              <a:ext uri="{FF2B5EF4-FFF2-40B4-BE49-F238E27FC236}">
                <a16:creationId xmlns:a16="http://schemas.microsoft.com/office/drawing/2014/main" xmlns="" id="{A25F16E9-72F3-4522-A466-EA8E6F701E75}"/>
              </a:ext>
            </a:extLst>
          </p:cNvPr>
          <p:cNvSpPr txBox="1"/>
          <p:nvPr/>
        </p:nvSpPr>
        <p:spPr>
          <a:xfrm>
            <a:off x="866447" y="935472"/>
            <a:ext cx="5453561" cy="3477875"/>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import cv2</a:t>
            </a:r>
          </a:p>
          <a:p>
            <a:endParaRPr lang="en-US" altLang="zh-CN" sz="2000" dirty="0">
              <a:latin typeface="Times New Roman" panose="02020603050405020304" pitchFamily="18" charset="0"/>
              <a:cs typeface="Times New Roman" panose="02020603050405020304" pitchFamily="18" charset="0"/>
            </a:endParaRPr>
          </a:p>
          <a:p>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 = cv2.imread('d:/pics/lena.jpg')</a:t>
            </a:r>
          </a:p>
          <a:p>
            <a:r>
              <a:rPr lang="en-US" altLang="zh-CN" sz="2000" dirty="0">
                <a:latin typeface="Times New Roman" panose="02020603050405020304" pitchFamily="18" charset="0"/>
                <a:cs typeface="Times New Roman" panose="02020603050405020304" pitchFamily="18" charset="0"/>
              </a:rPr>
              <a:t>b, g ,r = cv2.split(</a:t>
            </a:r>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顺序是</a:t>
            </a:r>
            <a:r>
              <a:rPr lang="en-US" altLang="zh-CN" sz="2000" dirty="0" err="1">
                <a:latin typeface="Times New Roman" panose="02020603050405020304" pitchFamily="18" charset="0"/>
                <a:cs typeface="Times New Roman" panose="02020603050405020304" pitchFamily="18" charset="0"/>
              </a:rPr>
              <a:t>b,g,r</a:t>
            </a:r>
            <a:r>
              <a:rPr lang="zh-CN" altLang="en-US" sz="2000" dirty="0">
                <a:latin typeface="Times New Roman" panose="02020603050405020304" pitchFamily="18" charset="0"/>
                <a:cs typeface="Times New Roman" panose="02020603050405020304" pitchFamily="18" charset="0"/>
              </a:rPr>
              <a:t>，不是</a:t>
            </a:r>
            <a:r>
              <a:rPr lang="en-US" altLang="zh-CN" sz="2000" dirty="0" err="1">
                <a:latin typeface="Times New Roman" panose="02020603050405020304" pitchFamily="18" charset="0"/>
                <a:cs typeface="Times New Roman" panose="02020603050405020304" pitchFamily="18" charset="0"/>
              </a:rPr>
              <a:t>r,g,b</a:t>
            </a:r>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cv2.imshow('image',</a:t>
            </a:r>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a:t>
            </a:r>
          </a:p>
          <a:p>
            <a:r>
              <a:rPr lang="en-US" altLang="zh-CN" sz="2000" dirty="0">
                <a:latin typeface="Times New Roman" panose="02020603050405020304" pitchFamily="18" charset="0"/>
                <a:cs typeface="Times New Roman" panose="02020603050405020304" pitchFamily="18" charset="0"/>
              </a:rPr>
              <a:t>cv2.imshow("Blue 1", b)</a:t>
            </a:r>
          </a:p>
          <a:p>
            <a:r>
              <a:rPr lang="en-US" altLang="zh-CN" sz="2000" dirty="0">
                <a:latin typeface="Times New Roman" panose="02020603050405020304" pitchFamily="18" charset="0"/>
                <a:cs typeface="Times New Roman" panose="02020603050405020304" pitchFamily="18" charset="0"/>
              </a:rPr>
              <a:t>cv2.imshow("Green 1", g)</a:t>
            </a:r>
          </a:p>
          <a:p>
            <a:r>
              <a:rPr lang="en-US" altLang="zh-CN" sz="2000" dirty="0">
                <a:latin typeface="Times New Roman" panose="02020603050405020304" pitchFamily="18" charset="0"/>
                <a:cs typeface="Times New Roman" panose="02020603050405020304" pitchFamily="18" charset="0"/>
              </a:rPr>
              <a:t>cv2.imshow("Red 1", r)</a:t>
            </a:r>
          </a:p>
          <a:p>
            <a:r>
              <a:rPr lang="en-US" altLang="zh-CN" sz="2000" dirty="0">
                <a:latin typeface="Times New Roman" panose="02020603050405020304" pitchFamily="18" charset="0"/>
                <a:cs typeface="Times New Roman" panose="02020603050405020304" pitchFamily="18" charset="0"/>
              </a:rPr>
              <a:t>cv2.waitKey(0)  </a:t>
            </a:r>
          </a:p>
          <a:p>
            <a:r>
              <a:rPr lang="en-US" altLang="zh-CN" sz="2000" dirty="0">
                <a:latin typeface="Times New Roman" panose="02020603050405020304" pitchFamily="18" charset="0"/>
                <a:cs typeface="Times New Roman" panose="02020603050405020304" pitchFamily="18" charset="0"/>
              </a:rPr>
              <a:t>cv2.destroyAllWindows() </a:t>
            </a:r>
          </a:p>
        </p:txBody>
      </p:sp>
      <p:sp>
        <p:nvSpPr>
          <p:cNvPr id="7" name="文本框 6">
            <a:extLst>
              <a:ext uri="{FF2B5EF4-FFF2-40B4-BE49-F238E27FC236}">
                <a16:creationId xmlns:a16="http://schemas.microsoft.com/office/drawing/2014/main" xmlns="" id="{62AA23C7-D9C2-4C9B-87B4-D7B04B02BA7F}"/>
              </a:ext>
            </a:extLst>
          </p:cNvPr>
          <p:cNvSpPr txBox="1"/>
          <p:nvPr/>
        </p:nvSpPr>
        <p:spPr>
          <a:xfrm>
            <a:off x="5998094" y="802384"/>
            <a:ext cx="3318029" cy="369332"/>
          </a:xfrm>
          <a:prstGeom prst="rect">
            <a:avLst/>
          </a:prstGeom>
          <a:noFill/>
        </p:spPr>
        <p:txBody>
          <a:bodyPr wrap="square">
            <a:spAutoFit/>
          </a:bodyPr>
          <a:lstStyle/>
          <a:p>
            <a:r>
              <a:rPr lang="zh-CN" altLang="en-US" dirty="0"/>
              <a:t>程序运行结果如图</a:t>
            </a:r>
            <a:r>
              <a:rPr lang="en-US" altLang="zh-CN" dirty="0"/>
              <a:t>11-7</a:t>
            </a:r>
            <a:r>
              <a:rPr lang="zh-CN" altLang="en-US" dirty="0"/>
              <a:t>所示。</a:t>
            </a:r>
          </a:p>
        </p:txBody>
      </p:sp>
      <p:pic>
        <p:nvPicPr>
          <p:cNvPr id="8" name="图片 7">
            <a:extLst>
              <a:ext uri="{FF2B5EF4-FFF2-40B4-BE49-F238E27FC236}">
                <a16:creationId xmlns:a16="http://schemas.microsoft.com/office/drawing/2014/main" xmlns="" id="{C56EBEC2-13A7-4807-9328-E42739A5AF68}"/>
              </a:ext>
            </a:extLst>
          </p:cNvPr>
          <p:cNvPicPr>
            <a:picLocks noChangeAspect="1"/>
          </p:cNvPicPr>
          <p:nvPr/>
        </p:nvPicPr>
        <p:blipFill>
          <a:blip r:embed="rId2"/>
          <a:stretch>
            <a:fillRect/>
          </a:stretch>
        </p:blipFill>
        <p:spPr>
          <a:xfrm>
            <a:off x="6782573" y="1330161"/>
            <a:ext cx="1896020" cy="2182557"/>
          </a:xfrm>
          <a:prstGeom prst="rect">
            <a:avLst/>
          </a:prstGeom>
        </p:spPr>
      </p:pic>
      <p:pic>
        <p:nvPicPr>
          <p:cNvPr id="9" name="图片 8">
            <a:extLst>
              <a:ext uri="{FF2B5EF4-FFF2-40B4-BE49-F238E27FC236}">
                <a16:creationId xmlns:a16="http://schemas.microsoft.com/office/drawing/2014/main" xmlns="" id="{D31F49C4-BC30-4112-AEDB-EA059B7B982B}"/>
              </a:ext>
            </a:extLst>
          </p:cNvPr>
          <p:cNvPicPr>
            <a:picLocks noChangeAspect="1"/>
          </p:cNvPicPr>
          <p:nvPr/>
        </p:nvPicPr>
        <p:blipFill>
          <a:blip r:embed="rId3"/>
          <a:stretch>
            <a:fillRect/>
          </a:stretch>
        </p:blipFill>
        <p:spPr>
          <a:xfrm>
            <a:off x="9751905" y="1348450"/>
            <a:ext cx="1889924" cy="2164268"/>
          </a:xfrm>
          <a:prstGeom prst="rect">
            <a:avLst/>
          </a:prstGeom>
        </p:spPr>
      </p:pic>
      <p:pic>
        <p:nvPicPr>
          <p:cNvPr id="10" name="图片 9">
            <a:extLst>
              <a:ext uri="{FF2B5EF4-FFF2-40B4-BE49-F238E27FC236}">
                <a16:creationId xmlns:a16="http://schemas.microsoft.com/office/drawing/2014/main" xmlns="" id="{DF065116-143B-45E8-AB09-B8A69ABC4469}"/>
              </a:ext>
            </a:extLst>
          </p:cNvPr>
          <p:cNvPicPr>
            <a:picLocks noChangeAspect="1"/>
          </p:cNvPicPr>
          <p:nvPr/>
        </p:nvPicPr>
        <p:blipFill>
          <a:blip r:embed="rId4"/>
          <a:stretch>
            <a:fillRect/>
          </a:stretch>
        </p:blipFill>
        <p:spPr>
          <a:xfrm>
            <a:off x="6782573" y="4037843"/>
            <a:ext cx="1896020" cy="2182557"/>
          </a:xfrm>
          <a:prstGeom prst="rect">
            <a:avLst/>
          </a:prstGeom>
        </p:spPr>
      </p:pic>
      <p:pic>
        <p:nvPicPr>
          <p:cNvPr id="11" name="图片 10">
            <a:extLst>
              <a:ext uri="{FF2B5EF4-FFF2-40B4-BE49-F238E27FC236}">
                <a16:creationId xmlns:a16="http://schemas.microsoft.com/office/drawing/2014/main" xmlns="" id="{63995EF5-AAD0-4954-B747-E54AC42D12E7}"/>
              </a:ext>
            </a:extLst>
          </p:cNvPr>
          <p:cNvPicPr>
            <a:picLocks noChangeAspect="1"/>
          </p:cNvPicPr>
          <p:nvPr/>
        </p:nvPicPr>
        <p:blipFill>
          <a:blip r:embed="rId5"/>
          <a:stretch>
            <a:fillRect/>
          </a:stretch>
        </p:blipFill>
        <p:spPr>
          <a:xfrm>
            <a:off x="9840688" y="4037844"/>
            <a:ext cx="1896020" cy="2182557"/>
          </a:xfrm>
          <a:prstGeom prst="rect">
            <a:avLst/>
          </a:prstGeom>
        </p:spPr>
      </p:pic>
      <p:sp>
        <p:nvSpPr>
          <p:cNvPr id="13" name="文本框 12">
            <a:extLst>
              <a:ext uri="{FF2B5EF4-FFF2-40B4-BE49-F238E27FC236}">
                <a16:creationId xmlns:a16="http://schemas.microsoft.com/office/drawing/2014/main" xmlns="" id="{08BC4E7F-9F35-4114-8D68-5F93E1C0B3D3}"/>
              </a:ext>
            </a:extLst>
          </p:cNvPr>
          <p:cNvSpPr txBox="1"/>
          <p:nvPr/>
        </p:nvSpPr>
        <p:spPr>
          <a:xfrm>
            <a:off x="6856664" y="3594926"/>
            <a:ext cx="1772843" cy="369332"/>
          </a:xfrm>
          <a:prstGeom prst="rect">
            <a:avLst/>
          </a:prstGeom>
          <a:noFill/>
        </p:spPr>
        <p:txBody>
          <a:bodyPr wrap="square">
            <a:spAutoFit/>
          </a:bodyPr>
          <a:lstStyle/>
          <a:p>
            <a:r>
              <a:rPr lang="en-US" altLang="zh-CN" dirty="0"/>
              <a:t>(a) </a:t>
            </a:r>
            <a:r>
              <a:rPr lang="zh-CN" altLang="en-US" dirty="0"/>
              <a:t>原彩色图像 </a:t>
            </a:r>
          </a:p>
        </p:txBody>
      </p:sp>
      <p:sp>
        <p:nvSpPr>
          <p:cNvPr id="15" name="文本框 14">
            <a:extLst>
              <a:ext uri="{FF2B5EF4-FFF2-40B4-BE49-F238E27FC236}">
                <a16:creationId xmlns:a16="http://schemas.microsoft.com/office/drawing/2014/main" xmlns="" id="{8EA40205-E4F9-4621-8077-5C5B9B6B29C4}"/>
              </a:ext>
            </a:extLst>
          </p:cNvPr>
          <p:cNvSpPr txBox="1"/>
          <p:nvPr/>
        </p:nvSpPr>
        <p:spPr>
          <a:xfrm>
            <a:off x="9840688" y="3586305"/>
            <a:ext cx="1889924" cy="369332"/>
          </a:xfrm>
          <a:prstGeom prst="rect">
            <a:avLst/>
          </a:prstGeom>
          <a:noFill/>
        </p:spPr>
        <p:txBody>
          <a:bodyPr wrap="square">
            <a:spAutoFit/>
          </a:bodyPr>
          <a:lstStyle/>
          <a:p>
            <a:r>
              <a:rPr lang="en-US" altLang="zh-CN" dirty="0"/>
              <a:t>(b) B</a:t>
            </a:r>
            <a:r>
              <a:rPr lang="zh-CN" altLang="en-US" dirty="0"/>
              <a:t>通道图像</a:t>
            </a:r>
          </a:p>
        </p:txBody>
      </p:sp>
      <p:sp>
        <p:nvSpPr>
          <p:cNvPr id="17" name="文本框 16">
            <a:extLst>
              <a:ext uri="{FF2B5EF4-FFF2-40B4-BE49-F238E27FC236}">
                <a16:creationId xmlns:a16="http://schemas.microsoft.com/office/drawing/2014/main" xmlns="" id="{4AE37976-8D9F-4050-9619-C939E0E13E7B}"/>
              </a:ext>
            </a:extLst>
          </p:cNvPr>
          <p:cNvSpPr txBox="1"/>
          <p:nvPr/>
        </p:nvSpPr>
        <p:spPr>
          <a:xfrm>
            <a:off x="6949510" y="6333386"/>
            <a:ext cx="2119293" cy="369332"/>
          </a:xfrm>
          <a:prstGeom prst="rect">
            <a:avLst/>
          </a:prstGeom>
          <a:noFill/>
        </p:spPr>
        <p:txBody>
          <a:bodyPr wrap="square">
            <a:spAutoFit/>
          </a:bodyPr>
          <a:lstStyle/>
          <a:p>
            <a:r>
              <a:rPr lang="en-US" altLang="zh-CN" dirty="0"/>
              <a:t>(c) G</a:t>
            </a:r>
            <a:r>
              <a:rPr lang="zh-CN" altLang="en-US" dirty="0"/>
              <a:t>通道图像</a:t>
            </a:r>
          </a:p>
        </p:txBody>
      </p:sp>
      <p:sp>
        <p:nvSpPr>
          <p:cNvPr id="19" name="文本框 18">
            <a:extLst>
              <a:ext uri="{FF2B5EF4-FFF2-40B4-BE49-F238E27FC236}">
                <a16:creationId xmlns:a16="http://schemas.microsoft.com/office/drawing/2014/main" xmlns="" id="{DD2D10CA-5199-4697-B0C3-A81EE695CC2B}"/>
              </a:ext>
            </a:extLst>
          </p:cNvPr>
          <p:cNvSpPr txBox="1"/>
          <p:nvPr/>
        </p:nvSpPr>
        <p:spPr>
          <a:xfrm>
            <a:off x="9973135" y="6321329"/>
            <a:ext cx="1625030" cy="369332"/>
          </a:xfrm>
          <a:prstGeom prst="rect">
            <a:avLst/>
          </a:prstGeom>
          <a:noFill/>
        </p:spPr>
        <p:txBody>
          <a:bodyPr wrap="square">
            <a:spAutoFit/>
          </a:bodyPr>
          <a:lstStyle/>
          <a:p>
            <a:r>
              <a:rPr lang="en-US" altLang="zh-CN" dirty="0"/>
              <a:t>(d) R</a:t>
            </a:r>
            <a:r>
              <a:rPr lang="zh-CN" altLang="en-US" dirty="0"/>
              <a:t>通道图像</a:t>
            </a:r>
          </a:p>
        </p:txBody>
      </p:sp>
      <p:sp>
        <p:nvSpPr>
          <p:cNvPr id="21" name="文本框 20">
            <a:extLst>
              <a:ext uri="{FF2B5EF4-FFF2-40B4-BE49-F238E27FC236}">
                <a16:creationId xmlns:a16="http://schemas.microsoft.com/office/drawing/2014/main" xmlns="" id="{956E9DBD-208F-4041-8A8A-B5213E6CDCFB}"/>
              </a:ext>
            </a:extLst>
          </p:cNvPr>
          <p:cNvSpPr txBox="1"/>
          <p:nvPr/>
        </p:nvSpPr>
        <p:spPr>
          <a:xfrm>
            <a:off x="249213" y="4578288"/>
            <a:ext cx="6094476" cy="1938992"/>
          </a:xfrm>
          <a:prstGeom prst="rect">
            <a:avLst/>
          </a:prstGeom>
          <a:noFill/>
        </p:spPr>
        <p:txBody>
          <a:bodyPr wrap="square">
            <a:spAutoFit/>
          </a:bodyPr>
          <a:lstStyle/>
          <a:p>
            <a:pPr algn="just"/>
            <a:r>
              <a:rPr lang="zh-CN" altLang="en-US" sz="2000" b="1" dirty="0">
                <a:solidFill>
                  <a:srgbClr val="0033CC"/>
                </a:solidFill>
              </a:rPr>
              <a:t>从图</a:t>
            </a:r>
            <a:r>
              <a:rPr lang="en-US" altLang="zh-CN" sz="2000" b="1" dirty="0">
                <a:solidFill>
                  <a:srgbClr val="0033CC"/>
                </a:solidFill>
              </a:rPr>
              <a:t>11-7</a:t>
            </a:r>
            <a:r>
              <a:rPr lang="zh-CN" altLang="en-US" sz="2000" b="1" dirty="0">
                <a:solidFill>
                  <a:srgbClr val="0033CC"/>
                </a:solidFill>
              </a:rPr>
              <a:t>中看到，分离出来的图像颜色都是灰色的，为什么不是蓝色通道是蓝色，绿色通道是绿色，红色通道是红色？这是因为</a:t>
            </a:r>
            <a:r>
              <a:rPr lang="en-US" altLang="zh-CN" sz="2000" b="1" dirty="0">
                <a:solidFill>
                  <a:srgbClr val="0033CC"/>
                </a:solidFill>
              </a:rPr>
              <a:t>cv2.split</a:t>
            </a:r>
            <a:r>
              <a:rPr lang="zh-CN" altLang="en-US" sz="2000" b="1" dirty="0">
                <a:solidFill>
                  <a:srgbClr val="0033CC"/>
                </a:solidFill>
              </a:rPr>
              <a:t>函数分离出的</a:t>
            </a:r>
            <a:r>
              <a:rPr lang="en-US" altLang="zh-CN" sz="2000" b="1" dirty="0">
                <a:solidFill>
                  <a:srgbClr val="0033CC"/>
                </a:solidFill>
              </a:rPr>
              <a:t>B</a:t>
            </a:r>
            <a:r>
              <a:rPr lang="zh-CN" altLang="en-US" sz="2000" b="1" dirty="0">
                <a:solidFill>
                  <a:srgbClr val="0033CC"/>
                </a:solidFill>
              </a:rPr>
              <a:t>、</a:t>
            </a:r>
            <a:r>
              <a:rPr lang="en-US" altLang="zh-CN" sz="2000" b="1" dirty="0">
                <a:solidFill>
                  <a:srgbClr val="0033CC"/>
                </a:solidFill>
              </a:rPr>
              <a:t>G</a:t>
            </a:r>
            <a:r>
              <a:rPr lang="zh-CN" altLang="en-US" sz="2000" b="1" dirty="0">
                <a:solidFill>
                  <a:srgbClr val="0033CC"/>
                </a:solidFill>
              </a:rPr>
              <a:t>、</a:t>
            </a:r>
            <a:r>
              <a:rPr lang="en-US" altLang="zh-CN" sz="2000" b="1" dirty="0">
                <a:solidFill>
                  <a:srgbClr val="0033CC"/>
                </a:solidFill>
              </a:rPr>
              <a:t>R</a:t>
            </a:r>
            <a:r>
              <a:rPr lang="zh-CN" altLang="en-US" sz="2000" b="1" dirty="0">
                <a:solidFill>
                  <a:srgbClr val="0033CC"/>
                </a:solidFill>
              </a:rPr>
              <a:t>是单通道灰度图像，而不是</a:t>
            </a:r>
            <a:r>
              <a:rPr lang="en-US" altLang="zh-CN" sz="2000" b="1" dirty="0">
                <a:solidFill>
                  <a:srgbClr val="0033CC"/>
                </a:solidFill>
              </a:rPr>
              <a:t>RGB</a:t>
            </a:r>
            <a:r>
              <a:rPr lang="zh-CN" altLang="en-US" sz="2000" b="1" dirty="0">
                <a:solidFill>
                  <a:srgbClr val="0033CC"/>
                </a:solidFill>
              </a:rPr>
              <a:t>本身的颜色的，要想得到有颜色单通道图像，需要扩展通道并对每个通道进行处理。</a:t>
            </a:r>
          </a:p>
        </p:txBody>
      </p:sp>
    </p:spTree>
    <p:extLst>
      <p:ext uri="{BB962C8B-B14F-4D97-AF65-F5344CB8AC3E}">
        <p14:creationId xmlns:p14="http://schemas.microsoft.com/office/powerpoint/2010/main" val="1027322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78756CF5-2C6F-4094-9B2B-4C9086533861}"/>
              </a:ext>
            </a:extLst>
          </p:cNvPr>
          <p:cNvSpPr txBox="1"/>
          <p:nvPr/>
        </p:nvSpPr>
        <p:spPr>
          <a:xfrm>
            <a:off x="73239" y="332472"/>
            <a:ext cx="11520998" cy="461665"/>
          </a:xfrm>
          <a:prstGeom prst="rect">
            <a:avLst/>
          </a:prstGeom>
          <a:noFill/>
        </p:spPr>
        <p:txBody>
          <a:bodyPr wrap="square">
            <a:spAutoFit/>
          </a:bodyPr>
          <a:lstStyle/>
          <a:p>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11.6】</a:t>
            </a:r>
            <a:r>
              <a:rPr lang="zh-CN" altLang="en-US" sz="2400" dirty="0"/>
              <a:t>扩展通道，使分离出来的</a:t>
            </a:r>
            <a:r>
              <a:rPr lang="en-US" altLang="zh-CN" sz="2400" dirty="0"/>
              <a:t>RGB</a:t>
            </a:r>
            <a:r>
              <a:rPr lang="zh-CN" altLang="en-US" sz="2400" dirty="0"/>
              <a:t>三个通道显示其对应的颜色，程序代码如下：</a:t>
            </a:r>
          </a:p>
        </p:txBody>
      </p:sp>
      <p:sp>
        <p:nvSpPr>
          <p:cNvPr id="5" name="文本框 4">
            <a:extLst>
              <a:ext uri="{FF2B5EF4-FFF2-40B4-BE49-F238E27FC236}">
                <a16:creationId xmlns:a16="http://schemas.microsoft.com/office/drawing/2014/main" xmlns="" id="{661C557D-BBF8-4A25-A7A1-97DC93988213}"/>
              </a:ext>
            </a:extLst>
          </p:cNvPr>
          <p:cNvSpPr txBox="1"/>
          <p:nvPr/>
        </p:nvSpPr>
        <p:spPr>
          <a:xfrm>
            <a:off x="268549" y="1169192"/>
            <a:ext cx="4188041" cy="4801314"/>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import cv2</a:t>
            </a:r>
          </a:p>
          <a:p>
            <a:r>
              <a:rPr lang="en-US" altLang="zh-CN" dirty="0">
                <a:latin typeface="Times New Roman" panose="02020603050405020304" pitchFamily="18" charset="0"/>
                <a:cs typeface="Times New Roman" panose="02020603050405020304" pitchFamily="18" charset="0"/>
              </a:rPr>
              <a:t>import </a:t>
            </a:r>
            <a:r>
              <a:rPr lang="en-US" altLang="zh-CN" dirty="0" err="1">
                <a:latin typeface="Times New Roman" panose="02020603050405020304" pitchFamily="18" charset="0"/>
                <a:cs typeface="Times New Roman" panose="02020603050405020304" pitchFamily="18" charset="0"/>
              </a:rPr>
              <a:t>numpy</a:t>
            </a:r>
            <a:r>
              <a:rPr lang="en-US" altLang="zh-CN" dirty="0">
                <a:latin typeface="Times New Roman" panose="02020603050405020304" pitchFamily="18" charset="0"/>
                <a:cs typeface="Times New Roman" panose="02020603050405020304" pitchFamily="18" charset="0"/>
              </a:rPr>
              <a:t> as np</a:t>
            </a:r>
          </a:p>
          <a:p>
            <a:endParaRPr lang="en-US" altLang="zh-CN" dirty="0">
              <a:latin typeface="Times New Roman" panose="02020603050405020304" pitchFamily="18" charset="0"/>
              <a:cs typeface="Times New Roman" panose="02020603050405020304" pitchFamily="18" charset="0"/>
            </a:endParaRPr>
          </a:p>
          <a:p>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 = cv2.imread("d:/pics/lena.jpg")</a:t>
            </a:r>
          </a:p>
          <a:p>
            <a:r>
              <a:rPr lang="en-US" altLang="zh-CN" dirty="0">
                <a:latin typeface="Times New Roman" panose="02020603050405020304" pitchFamily="18" charset="0"/>
                <a:cs typeface="Times New Roman" panose="02020603050405020304" pitchFamily="18" charset="0"/>
              </a:rPr>
              <a:t>B,G,R = cv2.split(</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通道扩展</a:t>
            </a:r>
          </a:p>
          <a:p>
            <a:r>
              <a:rPr lang="en-US" altLang="zh-CN" dirty="0">
                <a:latin typeface="Times New Roman" panose="02020603050405020304" pitchFamily="18" charset="0"/>
                <a:cs typeface="Times New Roman" panose="02020603050405020304" pitchFamily="18" charset="0"/>
              </a:rPr>
              <a:t>zeros = </a:t>
            </a:r>
            <a:r>
              <a:rPr lang="en-US" altLang="zh-CN" dirty="0" err="1">
                <a:latin typeface="Times New Roman" panose="02020603050405020304" pitchFamily="18" charset="0"/>
                <a:cs typeface="Times New Roman" panose="02020603050405020304" pitchFamily="18" charset="0"/>
              </a:rPr>
              <a:t>np.zeros</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img.shape</a:t>
            </a:r>
            <a:r>
              <a:rPr lang="en-US" altLang="zh-CN" dirty="0">
                <a:latin typeface="Times New Roman" panose="02020603050405020304" pitchFamily="18" charset="0"/>
                <a:cs typeface="Times New Roman" panose="02020603050405020304" pitchFamily="18" charset="0"/>
              </a:rPr>
              <a:t>[:2], np.uint8)</a:t>
            </a:r>
          </a:p>
          <a:p>
            <a:r>
              <a:rPr lang="en-US" altLang="zh-CN" dirty="0" err="1">
                <a:latin typeface="Times New Roman" panose="02020603050405020304" pitchFamily="18" charset="0"/>
                <a:cs typeface="Times New Roman" panose="02020603050405020304" pitchFamily="18" charset="0"/>
              </a:rPr>
              <a:t>img_B</a:t>
            </a:r>
            <a:r>
              <a:rPr lang="en-US" altLang="zh-CN" dirty="0">
                <a:latin typeface="Times New Roman" panose="02020603050405020304" pitchFamily="18" charset="0"/>
                <a:cs typeface="Times New Roman" panose="02020603050405020304" pitchFamily="18" charset="0"/>
              </a:rPr>
              <a:t> = cv2.merge([</a:t>
            </a:r>
            <a:r>
              <a:rPr lang="en-US" altLang="zh-CN" dirty="0" err="1">
                <a:latin typeface="Times New Roman" panose="02020603050405020304" pitchFamily="18" charset="0"/>
                <a:cs typeface="Times New Roman" panose="02020603050405020304" pitchFamily="18" charset="0"/>
              </a:rPr>
              <a:t>B,zeros,zeros</a:t>
            </a:r>
            <a:r>
              <a:rPr lang="en-US" altLang="zh-CN" dirty="0">
                <a:latin typeface="Times New Roman" panose="02020603050405020304" pitchFamily="18" charset="0"/>
                <a:cs typeface="Times New Roman" panose="02020603050405020304" pitchFamily="18" charset="0"/>
              </a:rPr>
              <a:t>])</a:t>
            </a:r>
          </a:p>
          <a:p>
            <a:r>
              <a:rPr lang="en-US" altLang="zh-CN" dirty="0" err="1">
                <a:latin typeface="Times New Roman" panose="02020603050405020304" pitchFamily="18" charset="0"/>
                <a:cs typeface="Times New Roman" panose="02020603050405020304" pitchFamily="18" charset="0"/>
              </a:rPr>
              <a:t>img_G</a:t>
            </a:r>
            <a:r>
              <a:rPr lang="en-US" altLang="zh-CN" dirty="0">
                <a:latin typeface="Times New Roman" panose="02020603050405020304" pitchFamily="18" charset="0"/>
                <a:cs typeface="Times New Roman" panose="02020603050405020304" pitchFamily="18" charset="0"/>
              </a:rPr>
              <a:t> = cv2.merge([</a:t>
            </a:r>
            <a:r>
              <a:rPr lang="en-US" altLang="zh-CN" dirty="0" err="1">
                <a:latin typeface="Times New Roman" panose="02020603050405020304" pitchFamily="18" charset="0"/>
                <a:cs typeface="Times New Roman" panose="02020603050405020304" pitchFamily="18" charset="0"/>
              </a:rPr>
              <a:t>zeros,G,zeros</a:t>
            </a:r>
            <a:r>
              <a:rPr lang="en-US" altLang="zh-CN" dirty="0">
                <a:latin typeface="Times New Roman" panose="02020603050405020304" pitchFamily="18" charset="0"/>
                <a:cs typeface="Times New Roman" panose="02020603050405020304" pitchFamily="18" charset="0"/>
              </a:rPr>
              <a:t>])</a:t>
            </a:r>
          </a:p>
          <a:p>
            <a:r>
              <a:rPr lang="en-US" altLang="zh-CN" dirty="0" err="1">
                <a:latin typeface="Times New Roman" panose="02020603050405020304" pitchFamily="18" charset="0"/>
                <a:cs typeface="Times New Roman" panose="02020603050405020304" pitchFamily="18" charset="0"/>
              </a:rPr>
              <a:t>img_R</a:t>
            </a:r>
            <a:r>
              <a:rPr lang="en-US" altLang="zh-CN" dirty="0">
                <a:latin typeface="Times New Roman" panose="02020603050405020304" pitchFamily="18" charset="0"/>
                <a:cs typeface="Times New Roman" panose="02020603050405020304" pitchFamily="18" charset="0"/>
              </a:rPr>
              <a:t> = cv2.merge([</a:t>
            </a:r>
            <a:r>
              <a:rPr lang="en-US" altLang="zh-CN" dirty="0" err="1">
                <a:latin typeface="Times New Roman" panose="02020603050405020304" pitchFamily="18" charset="0"/>
                <a:cs typeface="Times New Roman" panose="02020603050405020304" pitchFamily="18" charset="0"/>
              </a:rPr>
              <a:t>zeros,zeros,R</a:t>
            </a:r>
            <a:r>
              <a:rPr lang="en-US" altLang="zh-CN" dirty="0">
                <a:latin typeface="Times New Roman" panose="02020603050405020304" pitchFamily="18" charset="0"/>
                <a:cs typeface="Times New Roman" panose="02020603050405020304" pitchFamily="18" charset="0"/>
              </a:rPr>
              <a:t>])</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cv2.imshow("</a:t>
            </a:r>
            <a:r>
              <a:rPr lang="en-US" altLang="zh-CN" dirty="0" err="1">
                <a:latin typeface="Times New Roman" panose="02020603050405020304" pitchFamily="18" charset="0"/>
                <a:cs typeface="Times New Roman" panose="02020603050405020304" pitchFamily="18" charset="0"/>
              </a:rPr>
              <a:t>B_img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img_B</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cv2.imshow("</a:t>
            </a:r>
            <a:r>
              <a:rPr lang="en-US" altLang="zh-CN" dirty="0" err="1">
                <a:latin typeface="Times New Roman" panose="02020603050405020304" pitchFamily="18" charset="0"/>
                <a:cs typeface="Times New Roman" panose="02020603050405020304" pitchFamily="18" charset="0"/>
              </a:rPr>
              <a:t>G_img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img_G</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cv2.imshow("</a:t>
            </a:r>
            <a:r>
              <a:rPr lang="en-US" altLang="zh-CN" dirty="0" err="1">
                <a:latin typeface="Times New Roman" panose="02020603050405020304" pitchFamily="18" charset="0"/>
                <a:cs typeface="Times New Roman" panose="02020603050405020304" pitchFamily="18" charset="0"/>
              </a:rPr>
              <a:t>R_img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img_R</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cv2.waitKey(0)</a:t>
            </a:r>
          </a:p>
          <a:p>
            <a:r>
              <a:rPr lang="en-US" altLang="zh-CN" dirty="0">
                <a:latin typeface="Times New Roman" panose="02020603050405020304" pitchFamily="18" charset="0"/>
                <a:cs typeface="Times New Roman" panose="02020603050405020304" pitchFamily="18" charset="0"/>
              </a:rPr>
              <a:t>cv2.destroyAllWindows()</a:t>
            </a:r>
          </a:p>
        </p:txBody>
      </p:sp>
      <p:sp>
        <p:nvSpPr>
          <p:cNvPr id="7" name="文本框 6">
            <a:extLst>
              <a:ext uri="{FF2B5EF4-FFF2-40B4-BE49-F238E27FC236}">
                <a16:creationId xmlns:a16="http://schemas.microsoft.com/office/drawing/2014/main" xmlns="" id="{4AF968FC-0680-4AC7-BC24-A80C51C7F06B}"/>
              </a:ext>
            </a:extLst>
          </p:cNvPr>
          <p:cNvSpPr txBox="1"/>
          <p:nvPr/>
        </p:nvSpPr>
        <p:spPr>
          <a:xfrm>
            <a:off x="4219112" y="1053782"/>
            <a:ext cx="3229253" cy="369332"/>
          </a:xfrm>
          <a:prstGeom prst="rect">
            <a:avLst/>
          </a:prstGeom>
          <a:noFill/>
        </p:spPr>
        <p:txBody>
          <a:bodyPr wrap="square">
            <a:spAutoFit/>
          </a:bodyPr>
          <a:lstStyle/>
          <a:p>
            <a:r>
              <a:rPr lang="zh-CN" altLang="en-US" dirty="0"/>
              <a:t>程序运行结果如图</a:t>
            </a:r>
            <a:r>
              <a:rPr lang="en-US" altLang="zh-CN" dirty="0"/>
              <a:t>11-8</a:t>
            </a:r>
            <a:r>
              <a:rPr lang="zh-CN" altLang="en-US" dirty="0"/>
              <a:t>所示。</a:t>
            </a:r>
          </a:p>
        </p:txBody>
      </p:sp>
      <p:pic>
        <p:nvPicPr>
          <p:cNvPr id="8" name="图片 7">
            <a:extLst>
              <a:ext uri="{FF2B5EF4-FFF2-40B4-BE49-F238E27FC236}">
                <a16:creationId xmlns:a16="http://schemas.microsoft.com/office/drawing/2014/main" xmlns="" id="{4CB39ECF-8B5B-4A18-9F5A-D0CB818DDABB}"/>
              </a:ext>
            </a:extLst>
          </p:cNvPr>
          <p:cNvPicPr>
            <a:picLocks noChangeAspect="1"/>
          </p:cNvPicPr>
          <p:nvPr/>
        </p:nvPicPr>
        <p:blipFill>
          <a:blip r:embed="rId2"/>
          <a:stretch>
            <a:fillRect/>
          </a:stretch>
        </p:blipFill>
        <p:spPr>
          <a:xfrm>
            <a:off x="4456590" y="1538524"/>
            <a:ext cx="2310808" cy="2654784"/>
          </a:xfrm>
          <a:prstGeom prst="rect">
            <a:avLst/>
          </a:prstGeom>
        </p:spPr>
      </p:pic>
      <p:pic>
        <p:nvPicPr>
          <p:cNvPr id="9" name="图片 8">
            <a:extLst>
              <a:ext uri="{FF2B5EF4-FFF2-40B4-BE49-F238E27FC236}">
                <a16:creationId xmlns:a16="http://schemas.microsoft.com/office/drawing/2014/main" xmlns="" id="{23D5AF57-F39B-44C5-925C-8100D6D7AAEA}"/>
              </a:ext>
            </a:extLst>
          </p:cNvPr>
          <p:cNvPicPr>
            <a:picLocks noChangeAspect="1"/>
          </p:cNvPicPr>
          <p:nvPr/>
        </p:nvPicPr>
        <p:blipFill>
          <a:blip r:embed="rId3"/>
          <a:stretch>
            <a:fillRect/>
          </a:stretch>
        </p:blipFill>
        <p:spPr>
          <a:xfrm>
            <a:off x="7041244" y="1538524"/>
            <a:ext cx="2311947" cy="2654784"/>
          </a:xfrm>
          <a:prstGeom prst="rect">
            <a:avLst/>
          </a:prstGeom>
        </p:spPr>
      </p:pic>
      <p:pic>
        <p:nvPicPr>
          <p:cNvPr id="10" name="图片 9">
            <a:extLst>
              <a:ext uri="{FF2B5EF4-FFF2-40B4-BE49-F238E27FC236}">
                <a16:creationId xmlns:a16="http://schemas.microsoft.com/office/drawing/2014/main" xmlns="" id="{86AF8DB4-2B03-41E0-A2DE-59A92A2EA85F}"/>
              </a:ext>
            </a:extLst>
          </p:cNvPr>
          <p:cNvPicPr>
            <a:picLocks noChangeAspect="1"/>
          </p:cNvPicPr>
          <p:nvPr/>
        </p:nvPicPr>
        <p:blipFill>
          <a:blip r:embed="rId4"/>
          <a:stretch>
            <a:fillRect/>
          </a:stretch>
        </p:blipFill>
        <p:spPr>
          <a:xfrm>
            <a:off x="9543495" y="1538524"/>
            <a:ext cx="2311947" cy="2654784"/>
          </a:xfrm>
          <a:prstGeom prst="rect">
            <a:avLst/>
          </a:prstGeom>
        </p:spPr>
      </p:pic>
      <p:sp>
        <p:nvSpPr>
          <p:cNvPr id="12" name="文本框 11">
            <a:extLst>
              <a:ext uri="{FF2B5EF4-FFF2-40B4-BE49-F238E27FC236}">
                <a16:creationId xmlns:a16="http://schemas.microsoft.com/office/drawing/2014/main" xmlns="" id="{FEDA629D-D78F-4557-907A-70801B4E98E6}"/>
              </a:ext>
            </a:extLst>
          </p:cNvPr>
          <p:cNvSpPr txBox="1"/>
          <p:nvPr/>
        </p:nvSpPr>
        <p:spPr>
          <a:xfrm>
            <a:off x="4623046" y="4286898"/>
            <a:ext cx="1768876" cy="369332"/>
          </a:xfrm>
          <a:prstGeom prst="rect">
            <a:avLst/>
          </a:prstGeom>
          <a:noFill/>
        </p:spPr>
        <p:txBody>
          <a:bodyPr wrap="square">
            <a:spAutoFit/>
          </a:bodyPr>
          <a:lstStyle/>
          <a:p>
            <a:r>
              <a:rPr lang="en-US" altLang="zh-CN" dirty="0"/>
              <a:t>(a) </a:t>
            </a:r>
            <a:r>
              <a:rPr lang="zh-CN" altLang="en-US" dirty="0"/>
              <a:t>蓝通道图像</a:t>
            </a:r>
          </a:p>
        </p:txBody>
      </p:sp>
      <p:sp>
        <p:nvSpPr>
          <p:cNvPr id="14" name="文本框 13">
            <a:extLst>
              <a:ext uri="{FF2B5EF4-FFF2-40B4-BE49-F238E27FC236}">
                <a16:creationId xmlns:a16="http://schemas.microsoft.com/office/drawing/2014/main" xmlns="" id="{1D825E51-557B-4D66-BD95-5D7D88F039ED}"/>
              </a:ext>
            </a:extLst>
          </p:cNvPr>
          <p:cNvSpPr txBox="1"/>
          <p:nvPr/>
        </p:nvSpPr>
        <p:spPr>
          <a:xfrm>
            <a:off x="7221299" y="4307701"/>
            <a:ext cx="1951836" cy="369332"/>
          </a:xfrm>
          <a:prstGeom prst="rect">
            <a:avLst/>
          </a:prstGeom>
          <a:noFill/>
        </p:spPr>
        <p:txBody>
          <a:bodyPr wrap="square">
            <a:spAutoFit/>
          </a:bodyPr>
          <a:lstStyle/>
          <a:p>
            <a:r>
              <a:rPr lang="en-US" altLang="zh-CN" dirty="0"/>
              <a:t>(b) </a:t>
            </a:r>
            <a:r>
              <a:rPr lang="zh-CN" altLang="en-US" dirty="0"/>
              <a:t>绿通道图像 </a:t>
            </a:r>
          </a:p>
        </p:txBody>
      </p:sp>
      <p:sp>
        <p:nvSpPr>
          <p:cNvPr id="16" name="文本框 15">
            <a:extLst>
              <a:ext uri="{FF2B5EF4-FFF2-40B4-BE49-F238E27FC236}">
                <a16:creationId xmlns:a16="http://schemas.microsoft.com/office/drawing/2014/main" xmlns="" id="{4D618FDE-4DBF-405B-9C81-A15FEE581D46}"/>
              </a:ext>
            </a:extLst>
          </p:cNvPr>
          <p:cNvSpPr txBox="1"/>
          <p:nvPr/>
        </p:nvSpPr>
        <p:spPr>
          <a:xfrm>
            <a:off x="9809825" y="4280051"/>
            <a:ext cx="1951836" cy="369332"/>
          </a:xfrm>
          <a:prstGeom prst="rect">
            <a:avLst/>
          </a:prstGeom>
          <a:noFill/>
        </p:spPr>
        <p:txBody>
          <a:bodyPr wrap="square">
            <a:spAutoFit/>
          </a:bodyPr>
          <a:lstStyle/>
          <a:p>
            <a:r>
              <a:rPr lang="en-US" altLang="zh-CN" dirty="0"/>
              <a:t>(c)</a:t>
            </a:r>
            <a:r>
              <a:rPr lang="zh-CN" altLang="en-US" dirty="0"/>
              <a:t>红通道图像</a:t>
            </a:r>
          </a:p>
        </p:txBody>
      </p:sp>
      <p:sp>
        <p:nvSpPr>
          <p:cNvPr id="18" name="文本框 17">
            <a:extLst>
              <a:ext uri="{FF2B5EF4-FFF2-40B4-BE49-F238E27FC236}">
                <a16:creationId xmlns:a16="http://schemas.microsoft.com/office/drawing/2014/main" xmlns="" id="{71990592-6A75-4C48-8A94-96DEE8A9C279}"/>
              </a:ext>
            </a:extLst>
          </p:cNvPr>
          <p:cNvSpPr txBox="1"/>
          <p:nvPr/>
        </p:nvSpPr>
        <p:spPr>
          <a:xfrm>
            <a:off x="5897960" y="4734658"/>
            <a:ext cx="5065962" cy="369332"/>
          </a:xfrm>
          <a:prstGeom prst="rect">
            <a:avLst/>
          </a:prstGeom>
          <a:noFill/>
        </p:spPr>
        <p:txBody>
          <a:bodyPr wrap="square">
            <a:spAutoFit/>
          </a:bodyPr>
          <a:lstStyle/>
          <a:p>
            <a:r>
              <a:rPr lang="zh-CN" altLang="en-US" dirty="0"/>
              <a:t>图</a:t>
            </a:r>
            <a:r>
              <a:rPr lang="en-US" altLang="zh-CN" dirty="0"/>
              <a:t>11-8 </a:t>
            </a:r>
            <a:r>
              <a:rPr lang="zh-CN" altLang="en-US" dirty="0"/>
              <a:t>带有颜色的蓝绿红三通道图像</a:t>
            </a:r>
          </a:p>
        </p:txBody>
      </p:sp>
    </p:spTree>
    <p:extLst>
      <p:ext uri="{BB962C8B-B14F-4D97-AF65-F5344CB8AC3E}">
        <p14:creationId xmlns:p14="http://schemas.microsoft.com/office/powerpoint/2010/main" val="2860477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8A0DD403-323B-40C5-A5FF-A604D8AD7047}"/>
              </a:ext>
            </a:extLst>
          </p:cNvPr>
          <p:cNvSpPr txBox="1"/>
          <p:nvPr/>
        </p:nvSpPr>
        <p:spPr>
          <a:xfrm>
            <a:off x="3047260" y="405698"/>
            <a:ext cx="6094520" cy="646331"/>
          </a:xfrm>
          <a:prstGeom prst="rect">
            <a:avLst/>
          </a:prstGeom>
          <a:noFill/>
        </p:spPr>
        <p:txBody>
          <a:bodyPr wrap="square">
            <a:spAutoFit/>
          </a:bodyPr>
          <a:lstStyle/>
          <a:p>
            <a:r>
              <a:rPr lang="en-US" altLang="zh-CN" sz="3600" b="1" dirty="0" smtClean="0">
                <a:solidFill>
                  <a:srgbClr val="C00000"/>
                </a:solidFill>
              </a:rPr>
              <a:t>11.3.2  </a:t>
            </a:r>
            <a:r>
              <a:rPr lang="zh-CN" altLang="en-US" sz="3600" b="1" dirty="0" smtClean="0">
                <a:solidFill>
                  <a:srgbClr val="C00000"/>
                </a:solidFill>
              </a:rPr>
              <a:t>彩色</a:t>
            </a:r>
            <a:r>
              <a:rPr lang="zh-CN" altLang="en-US" sz="3600" b="1" dirty="0">
                <a:solidFill>
                  <a:srgbClr val="C00000"/>
                </a:solidFill>
              </a:rPr>
              <a:t>图像的通道合并</a:t>
            </a:r>
          </a:p>
        </p:txBody>
      </p:sp>
      <p:sp>
        <p:nvSpPr>
          <p:cNvPr id="5" name="文本框 4">
            <a:extLst>
              <a:ext uri="{FF2B5EF4-FFF2-40B4-BE49-F238E27FC236}">
                <a16:creationId xmlns:a16="http://schemas.microsoft.com/office/drawing/2014/main" xmlns="" id="{CEB0196E-7833-4DC9-A665-420213EBD2B7}"/>
              </a:ext>
            </a:extLst>
          </p:cNvPr>
          <p:cNvSpPr txBox="1"/>
          <p:nvPr/>
        </p:nvSpPr>
        <p:spPr>
          <a:xfrm>
            <a:off x="703554" y="1356233"/>
            <a:ext cx="10224857" cy="3108543"/>
          </a:xfrm>
          <a:prstGeom prst="rect">
            <a:avLst/>
          </a:prstGeom>
          <a:noFill/>
        </p:spPr>
        <p:txBody>
          <a:bodyPr wrap="square">
            <a:spAutoFit/>
          </a:bodyPr>
          <a:lstStyle/>
          <a:p>
            <a:pPr indent="457200"/>
            <a:r>
              <a:rPr lang="zh-CN" altLang="en-US" sz="2800" dirty="0">
                <a:latin typeface="+mn-ea"/>
              </a:rPr>
              <a:t>在</a:t>
            </a:r>
            <a:r>
              <a:rPr lang="en-US" altLang="zh-CN" sz="2800" dirty="0">
                <a:latin typeface="+mn-ea"/>
              </a:rPr>
              <a:t>OpenCV</a:t>
            </a:r>
            <a:r>
              <a:rPr lang="zh-CN" altLang="en-US" sz="2800" dirty="0">
                <a:latin typeface="+mn-ea"/>
              </a:rPr>
              <a:t>中有</a:t>
            </a:r>
            <a:r>
              <a:rPr lang="en-US" altLang="zh-CN" sz="2800" dirty="0">
                <a:solidFill>
                  <a:srgbClr val="0033CC"/>
                </a:solidFill>
                <a:latin typeface="+mn-ea"/>
              </a:rPr>
              <a:t>cv2.merge()</a:t>
            </a:r>
            <a:r>
              <a:rPr lang="zh-CN" altLang="en-US" sz="2800" dirty="0">
                <a:latin typeface="+mn-ea"/>
              </a:rPr>
              <a:t>函数，主要功能是对分离处理后的各个通道进行合并，重新合并成一个多通道的图像。函数</a:t>
            </a:r>
            <a:r>
              <a:rPr lang="en-US" altLang="zh-CN" sz="2800" dirty="0">
                <a:latin typeface="+mn-ea"/>
              </a:rPr>
              <a:t>cv2.merge()</a:t>
            </a:r>
            <a:r>
              <a:rPr lang="zh-CN" altLang="en-US" sz="2800" dirty="0">
                <a:latin typeface="+mn-ea"/>
              </a:rPr>
              <a:t>语法格式为：</a:t>
            </a:r>
          </a:p>
          <a:p>
            <a:pPr indent="457200" algn="ctr"/>
            <a:r>
              <a:rPr lang="en-US" altLang="zh-CN" sz="2800" dirty="0">
                <a:solidFill>
                  <a:srgbClr val="FF0000"/>
                </a:solidFill>
                <a:latin typeface="+mn-ea"/>
              </a:rPr>
              <a:t>merged = cv2.merge([</a:t>
            </a:r>
            <a:r>
              <a:rPr lang="en-US" altLang="zh-CN" sz="2800" dirty="0" err="1">
                <a:solidFill>
                  <a:srgbClr val="FF0000"/>
                </a:solidFill>
                <a:latin typeface="+mn-ea"/>
              </a:rPr>
              <a:t>b,g,r</a:t>
            </a:r>
            <a:r>
              <a:rPr lang="en-US" altLang="zh-CN" sz="2800" dirty="0">
                <a:solidFill>
                  <a:srgbClr val="FF0000"/>
                </a:solidFill>
                <a:latin typeface="+mn-ea"/>
              </a:rPr>
              <a:t>])</a:t>
            </a:r>
          </a:p>
          <a:p>
            <a:pPr indent="457200"/>
            <a:r>
              <a:rPr lang="zh-CN" altLang="en-US" sz="2800" dirty="0">
                <a:latin typeface="+mn-ea"/>
              </a:rPr>
              <a:t>其中输入参数为要合并的矩阵参数，输入的所有矩阵必须具有相同尺寸和深度。输出图像的通道数量将是矩阵数组中的通道总数。</a:t>
            </a:r>
          </a:p>
        </p:txBody>
      </p:sp>
    </p:spTree>
    <p:extLst>
      <p:ext uri="{BB962C8B-B14F-4D97-AF65-F5344CB8AC3E}">
        <p14:creationId xmlns:p14="http://schemas.microsoft.com/office/powerpoint/2010/main" val="1070440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057AA980-6041-40AD-88E7-FAC2859784F8}"/>
              </a:ext>
            </a:extLst>
          </p:cNvPr>
          <p:cNvSpPr txBox="1"/>
          <p:nvPr/>
        </p:nvSpPr>
        <p:spPr>
          <a:xfrm>
            <a:off x="889987" y="653069"/>
            <a:ext cx="9736584" cy="830997"/>
          </a:xfrm>
          <a:prstGeom prst="rect">
            <a:avLst/>
          </a:prstGeom>
          <a:noFill/>
        </p:spPr>
        <p:txBody>
          <a:bodyPr wrap="square">
            <a:spAutoFit/>
          </a:bodyPr>
          <a:lstStyle/>
          <a:p>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11.7】</a:t>
            </a:r>
            <a:r>
              <a:rPr lang="zh-CN" altLang="en-US" sz="2400" dirty="0">
                <a:solidFill>
                  <a:srgbClr val="0033CC"/>
                </a:solidFill>
              </a:rPr>
              <a:t>利用通道合并函数，将</a:t>
            </a:r>
            <a:r>
              <a:rPr lang="en-US" altLang="zh-CN" sz="2400" dirty="0">
                <a:solidFill>
                  <a:srgbClr val="0033CC"/>
                </a:solidFill>
              </a:rPr>
              <a:t>RGB</a:t>
            </a:r>
            <a:r>
              <a:rPr lang="zh-CN" altLang="en-US" sz="2400" dirty="0">
                <a:solidFill>
                  <a:srgbClr val="0033CC"/>
                </a:solidFill>
              </a:rPr>
              <a:t>三通道图像合成为彩色图像，程序代码如下：</a:t>
            </a:r>
          </a:p>
        </p:txBody>
      </p:sp>
      <p:sp>
        <p:nvSpPr>
          <p:cNvPr id="5" name="文本框 4">
            <a:extLst>
              <a:ext uri="{FF2B5EF4-FFF2-40B4-BE49-F238E27FC236}">
                <a16:creationId xmlns:a16="http://schemas.microsoft.com/office/drawing/2014/main" xmlns="" id="{6D3104EA-90FC-4A7C-B97E-3E4738E0A8F6}"/>
              </a:ext>
            </a:extLst>
          </p:cNvPr>
          <p:cNvSpPr txBox="1"/>
          <p:nvPr/>
        </p:nvSpPr>
        <p:spPr>
          <a:xfrm>
            <a:off x="889987" y="1688614"/>
            <a:ext cx="4574441" cy="2246769"/>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import cv2</a:t>
            </a:r>
          </a:p>
          <a:p>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 = cv2.imread('d:/pics/lena.jpg')</a:t>
            </a:r>
          </a:p>
          <a:p>
            <a:r>
              <a:rPr lang="en-US" altLang="zh-CN" sz="2000" dirty="0">
                <a:latin typeface="Times New Roman" panose="02020603050405020304" pitchFamily="18" charset="0"/>
                <a:cs typeface="Times New Roman" panose="02020603050405020304" pitchFamily="18" charset="0"/>
              </a:rPr>
              <a:t>b, g ,r =cv2.split(</a:t>
            </a:r>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分离通道</a:t>
            </a:r>
          </a:p>
          <a:p>
            <a:r>
              <a:rPr lang="en-US" altLang="zh-CN" sz="2000" dirty="0">
                <a:latin typeface="Times New Roman" panose="02020603050405020304" pitchFamily="18" charset="0"/>
                <a:cs typeface="Times New Roman" panose="02020603050405020304" pitchFamily="18" charset="0"/>
              </a:rPr>
              <a:t>merged = cv2.merge([</a:t>
            </a:r>
            <a:r>
              <a:rPr lang="en-US" altLang="zh-CN" sz="2000" dirty="0" err="1">
                <a:latin typeface="Times New Roman" panose="02020603050405020304" pitchFamily="18" charset="0"/>
                <a:cs typeface="Times New Roman" panose="02020603050405020304" pitchFamily="18" charset="0"/>
              </a:rPr>
              <a:t>b,g,r</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合并通道</a:t>
            </a:r>
          </a:p>
          <a:p>
            <a:r>
              <a:rPr lang="en-US" altLang="zh-CN" sz="2000" dirty="0">
                <a:latin typeface="Times New Roman" panose="02020603050405020304" pitchFamily="18" charset="0"/>
                <a:cs typeface="Times New Roman" panose="02020603050405020304" pitchFamily="18" charset="0"/>
              </a:rPr>
              <a:t>cv2.imshow("merged image", merged)</a:t>
            </a:r>
          </a:p>
          <a:p>
            <a:r>
              <a:rPr lang="en-US" altLang="zh-CN" sz="2000" dirty="0">
                <a:latin typeface="Times New Roman" panose="02020603050405020304" pitchFamily="18" charset="0"/>
                <a:cs typeface="Times New Roman" panose="02020603050405020304" pitchFamily="18" charset="0"/>
              </a:rPr>
              <a:t>cv2.waitKey(0)</a:t>
            </a:r>
          </a:p>
          <a:p>
            <a:r>
              <a:rPr lang="en-US" altLang="zh-CN" sz="2000" dirty="0">
                <a:latin typeface="Times New Roman" panose="02020603050405020304" pitchFamily="18" charset="0"/>
                <a:cs typeface="Times New Roman" panose="02020603050405020304" pitchFamily="18" charset="0"/>
              </a:rPr>
              <a:t>cv2.destroyAllWindows()</a:t>
            </a:r>
          </a:p>
        </p:txBody>
      </p:sp>
      <p:pic>
        <p:nvPicPr>
          <p:cNvPr id="6" name="图片 5">
            <a:extLst>
              <a:ext uri="{FF2B5EF4-FFF2-40B4-BE49-F238E27FC236}">
                <a16:creationId xmlns:a16="http://schemas.microsoft.com/office/drawing/2014/main" xmlns="" id="{7B57D44E-0D93-4733-891B-56C5B6D995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096000" y="1747598"/>
            <a:ext cx="3081654" cy="3547101"/>
          </a:xfrm>
          <a:prstGeom prst="rect">
            <a:avLst/>
          </a:prstGeom>
          <a:noFill/>
          <a:ln>
            <a:noFill/>
          </a:ln>
        </p:spPr>
      </p:pic>
      <p:sp>
        <p:nvSpPr>
          <p:cNvPr id="8" name="文本框 7">
            <a:extLst>
              <a:ext uri="{FF2B5EF4-FFF2-40B4-BE49-F238E27FC236}">
                <a16:creationId xmlns:a16="http://schemas.microsoft.com/office/drawing/2014/main" xmlns="" id="{245089A8-4A8A-41D7-8408-0E46C8817CA7}"/>
              </a:ext>
            </a:extLst>
          </p:cNvPr>
          <p:cNvSpPr txBox="1"/>
          <p:nvPr/>
        </p:nvSpPr>
        <p:spPr>
          <a:xfrm>
            <a:off x="766258" y="4520247"/>
            <a:ext cx="4571552" cy="461665"/>
          </a:xfrm>
          <a:prstGeom prst="rect">
            <a:avLst/>
          </a:prstGeom>
          <a:noFill/>
        </p:spPr>
        <p:txBody>
          <a:bodyPr wrap="square">
            <a:spAutoFit/>
          </a:bodyPr>
          <a:lstStyle/>
          <a:p>
            <a:r>
              <a:rPr lang="zh-CN" altLang="en-US" sz="2400" dirty="0"/>
              <a:t>程序运行结果如图</a:t>
            </a:r>
            <a:r>
              <a:rPr lang="en-US" altLang="zh-CN" sz="2400" dirty="0"/>
              <a:t>11-7(a)</a:t>
            </a:r>
            <a:r>
              <a:rPr lang="zh-CN" altLang="en-US" sz="2400" dirty="0"/>
              <a:t>所示：</a:t>
            </a:r>
          </a:p>
        </p:txBody>
      </p:sp>
    </p:spTree>
    <p:extLst>
      <p:ext uri="{BB962C8B-B14F-4D97-AF65-F5344CB8AC3E}">
        <p14:creationId xmlns:p14="http://schemas.microsoft.com/office/powerpoint/2010/main" val="649437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64D89DD7-C9DB-4EDA-89F4-89CC68A3A3CA}"/>
              </a:ext>
            </a:extLst>
          </p:cNvPr>
          <p:cNvSpPr txBox="1"/>
          <p:nvPr/>
        </p:nvSpPr>
        <p:spPr>
          <a:xfrm>
            <a:off x="2493071" y="304332"/>
            <a:ext cx="6094520" cy="646331"/>
          </a:xfrm>
          <a:prstGeom prst="rect">
            <a:avLst/>
          </a:prstGeom>
          <a:noFill/>
        </p:spPr>
        <p:txBody>
          <a:bodyPr wrap="square">
            <a:spAutoFit/>
          </a:bodyPr>
          <a:lstStyle/>
          <a:p>
            <a:pPr algn="ctr"/>
            <a:r>
              <a:rPr lang="en-US" altLang="zh-CN" sz="3600" b="1" dirty="0" smtClean="0">
                <a:solidFill>
                  <a:srgbClr val="C00000"/>
                </a:solidFill>
              </a:rPr>
              <a:t>11.4  </a:t>
            </a:r>
            <a:r>
              <a:rPr lang="zh-CN" altLang="en-US" sz="3600" b="1" dirty="0" smtClean="0">
                <a:solidFill>
                  <a:srgbClr val="C00000"/>
                </a:solidFill>
              </a:rPr>
              <a:t>全</a:t>
            </a:r>
            <a:r>
              <a:rPr lang="zh-CN" altLang="en-US" sz="3600" b="1" dirty="0">
                <a:solidFill>
                  <a:srgbClr val="C00000"/>
                </a:solidFill>
              </a:rPr>
              <a:t>彩色图像处理</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xmlns="" id="{C4C4992B-B7D3-415B-895F-72C99153A7CA}"/>
                  </a:ext>
                </a:extLst>
              </p:cNvPr>
              <p:cNvSpPr txBox="1"/>
              <p:nvPr/>
            </p:nvSpPr>
            <p:spPr>
              <a:xfrm>
                <a:off x="614777" y="950663"/>
                <a:ext cx="10304757" cy="5413277"/>
              </a:xfrm>
              <a:prstGeom prst="rect">
                <a:avLst/>
              </a:prstGeom>
              <a:noFill/>
            </p:spPr>
            <p:txBody>
              <a:bodyPr wrap="square">
                <a:spAutoFit/>
              </a:bodyPr>
              <a:lstStyle/>
              <a:p>
                <a:pPr indent="457200">
                  <a:lnSpc>
                    <a:spcPct val="110000"/>
                  </a:lnSpc>
                </a:pPr>
                <a:r>
                  <a:rPr lang="zh-CN" altLang="en-US" sz="2400" b="1" dirty="0">
                    <a:latin typeface="+mn-ea"/>
                  </a:rPr>
                  <a:t>全彩色图像处理分为两大类：</a:t>
                </a:r>
                <a:r>
                  <a:rPr lang="zh-CN" altLang="en-US" sz="2400" b="1" dirty="0">
                    <a:solidFill>
                      <a:srgbClr val="FF0000"/>
                    </a:solidFill>
                    <a:latin typeface="+mn-ea"/>
                  </a:rPr>
                  <a:t>第一类是分别处理每一分量图像，然后将分别处理过的分量图像合成彩色图像</a:t>
                </a:r>
                <a:r>
                  <a:rPr lang="zh-CN" altLang="en-US" sz="2400" b="1" dirty="0" smtClean="0">
                    <a:solidFill>
                      <a:srgbClr val="FF0000"/>
                    </a:solidFill>
                    <a:latin typeface="+mn-ea"/>
                  </a:rPr>
                  <a:t>。第二</a:t>
                </a:r>
                <a:r>
                  <a:rPr lang="zh-CN" altLang="en-US" sz="2400" b="1" dirty="0">
                    <a:solidFill>
                      <a:srgbClr val="FF0000"/>
                    </a:solidFill>
                    <a:latin typeface="+mn-ea"/>
                  </a:rPr>
                  <a:t>类是直接对彩色像素进行处理。因为全彩色图像至少有三个分量，彩色像素实际上是一个向量。</a:t>
                </a:r>
              </a:p>
              <a:p>
                <a:pPr indent="457200">
                  <a:lnSpc>
                    <a:spcPct val="110000"/>
                  </a:lnSpc>
                </a:pPr>
                <a:r>
                  <a:rPr lang="zh-CN" altLang="en-US" sz="2400" b="1" dirty="0">
                    <a:latin typeface="+mn-ea"/>
                  </a:rPr>
                  <a:t>令</a:t>
                </a:r>
                <a:r>
                  <a:rPr lang="en-US" altLang="zh-CN" sz="2400" b="1" dirty="0">
                    <a:latin typeface="+mn-ea"/>
                  </a:rPr>
                  <a:t>c</a:t>
                </a:r>
                <a:r>
                  <a:rPr lang="zh-CN" altLang="en-US" sz="2400" b="1" dirty="0">
                    <a:latin typeface="+mn-ea"/>
                  </a:rPr>
                  <a:t>代表</a:t>
                </a:r>
                <a:r>
                  <a:rPr lang="en-US" altLang="zh-CN" sz="2400" b="1" dirty="0">
                    <a:latin typeface="+mn-ea"/>
                  </a:rPr>
                  <a:t>RGB</a:t>
                </a:r>
                <a:r>
                  <a:rPr lang="zh-CN" altLang="en-US" sz="2400" b="1" dirty="0">
                    <a:latin typeface="+mn-ea"/>
                  </a:rPr>
                  <a:t>彩色空间中的任意向量，</a:t>
                </a:r>
                <a:r>
                  <a:rPr lang="en-US" altLang="zh-CN" sz="2400" b="1" dirty="0">
                    <a:latin typeface="+mn-ea"/>
                  </a:rPr>
                  <a:t>c(</a:t>
                </a:r>
                <a:r>
                  <a:rPr lang="en-US" altLang="zh-CN" sz="2400" b="1" dirty="0" err="1">
                    <a:latin typeface="+mn-ea"/>
                  </a:rPr>
                  <a:t>x,y</a:t>
                </a:r>
                <a:r>
                  <a:rPr lang="en-US" altLang="zh-CN" sz="2400" b="1" dirty="0">
                    <a:latin typeface="+mn-ea"/>
                  </a:rPr>
                  <a:t>)</a:t>
                </a:r>
                <a:r>
                  <a:rPr lang="zh-CN" altLang="en-US" sz="2400" b="1" dirty="0">
                    <a:latin typeface="+mn-ea"/>
                  </a:rPr>
                  <a:t>分量是一幅彩色图像在一点上的</a:t>
                </a:r>
                <a:r>
                  <a:rPr lang="en-US" altLang="zh-CN" sz="2400" b="1" dirty="0">
                    <a:latin typeface="+mn-ea"/>
                  </a:rPr>
                  <a:t>RGB</a:t>
                </a:r>
                <a:r>
                  <a:rPr lang="zh-CN" altLang="en-US" sz="2400" b="1" dirty="0">
                    <a:latin typeface="+mn-ea"/>
                  </a:rPr>
                  <a:t>分量。彩色分量是坐标（</a:t>
                </a:r>
                <a:r>
                  <a:rPr lang="en-US" altLang="zh-CN" sz="2400" b="1" dirty="0" err="1">
                    <a:latin typeface="+mn-ea"/>
                  </a:rPr>
                  <a:t>x,y</a:t>
                </a:r>
                <a:r>
                  <a:rPr lang="zh-CN" altLang="en-US" sz="2400" b="1" dirty="0">
                    <a:latin typeface="+mn-ea"/>
                  </a:rPr>
                  <a:t>）的函数，表示为：</a:t>
                </a:r>
                <a:endParaRPr lang="en-US" altLang="zh-CN" sz="2400" b="1" dirty="0">
                  <a:latin typeface="+mn-ea"/>
                </a:endParaRPr>
              </a:p>
              <a:p>
                <a:pPr indent="457200" algn="ctr">
                  <a:lnSpc>
                    <a:spcPct val="110000"/>
                  </a:lnSpc>
                </a:pPr>
                <a14:m>
                  <m:oMath xmlns:m="http://schemas.openxmlformats.org/officeDocument/2006/math">
                    <m:r>
                      <a:rPr lang="en-US" altLang="zh-CN" sz="2400" b="1" i="1" kern="100" smtClean="0">
                        <a:effectLst/>
                        <a:latin typeface="Cambria Math" panose="02040503050406030204" pitchFamily="18" charset="0"/>
                        <a:cs typeface="Times New Roman" panose="02020603050405020304" pitchFamily="18" charset="0"/>
                      </a:rPr>
                      <m:t>𝒄</m:t>
                    </m:r>
                    <m:d>
                      <m:dPr>
                        <m:ctrlPr>
                          <a:rPr lang="zh-CN" altLang="zh-CN" sz="2400" b="1" i="1" kern="100">
                            <a:effectLst/>
                            <a:latin typeface="Cambria Math" panose="02040503050406030204" pitchFamily="18" charset="0"/>
                            <a:cs typeface="Times New Roman" panose="02020603050405020304" pitchFamily="18" charset="0"/>
                          </a:rPr>
                        </m:ctrlPr>
                      </m:dPr>
                      <m:e>
                        <m:r>
                          <a:rPr lang="en-US" altLang="zh-CN" sz="2400" b="1" i="1" kern="100" smtClean="0">
                            <a:effectLst/>
                            <a:latin typeface="Cambria Math" panose="02040503050406030204" pitchFamily="18" charset="0"/>
                            <a:cs typeface="Times New Roman" panose="02020603050405020304" pitchFamily="18" charset="0"/>
                          </a:rPr>
                          <m:t>𝒙</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𝒚</m:t>
                        </m:r>
                      </m:e>
                    </m:d>
                    <m:r>
                      <a:rPr lang="en-US" altLang="zh-CN" sz="2400" b="1" kern="100" smtClean="0">
                        <a:effectLst/>
                        <a:latin typeface="Cambria Math" panose="02040503050406030204" pitchFamily="18" charset="0"/>
                        <a:cs typeface="Times New Roman" panose="02020603050405020304" pitchFamily="18" charset="0"/>
                      </a:rPr>
                      <m:t>=</m:t>
                    </m:r>
                    <m:d>
                      <m:dPr>
                        <m:ctrlPr>
                          <a:rPr lang="zh-CN" altLang="zh-CN" sz="2400" b="1" i="1" kern="100">
                            <a:effectLst/>
                            <a:latin typeface="Cambria Math" panose="02040503050406030204" pitchFamily="18" charset="0"/>
                            <a:cs typeface="Times New Roman" panose="02020603050405020304" pitchFamily="18" charset="0"/>
                          </a:rPr>
                        </m:ctrlPr>
                      </m:dPr>
                      <m:e>
                        <m:m>
                          <m:mPr>
                            <m:mcs>
                              <m:mc>
                                <m:mcPr>
                                  <m:count m:val="1"/>
                                  <m:mcJc m:val="center"/>
                                </m:mcPr>
                              </m:mc>
                            </m:mcs>
                            <m:ctrlPr>
                              <a:rPr lang="zh-CN" altLang="zh-CN" sz="2400" b="1" i="1" kern="100">
                                <a:effectLst/>
                                <a:latin typeface="Cambria Math" panose="02040503050406030204" pitchFamily="18" charset="0"/>
                                <a:cs typeface="Times New Roman" panose="02020603050405020304" pitchFamily="18" charset="0"/>
                              </a:rPr>
                            </m:ctrlPr>
                          </m:mPr>
                          <m:mr>
                            <m:e>
                              <m:sSub>
                                <m:sSubPr>
                                  <m:ctrlPr>
                                    <a:rPr lang="zh-CN" altLang="zh-CN" sz="2400" b="1" i="1" kern="100">
                                      <a:effectLst/>
                                      <a:latin typeface="Cambria Math" panose="02040503050406030204" pitchFamily="18" charset="0"/>
                                      <a:cs typeface="Times New Roman" panose="02020603050405020304" pitchFamily="18" charset="0"/>
                                    </a:rPr>
                                  </m:ctrlPr>
                                </m:sSubPr>
                                <m:e>
                                  <m:r>
                                    <a:rPr lang="en-US" altLang="zh-CN" sz="2400" b="1" i="1" kern="100" smtClean="0">
                                      <a:effectLst/>
                                      <a:latin typeface="Cambria Math" panose="02040503050406030204" pitchFamily="18" charset="0"/>
                                      <a:cs typeface="Times New Roman" panose="02020603050405020304" pitchFamily="18" charset="0"/>
                                    </a:rPr>
                                    <m:t>𝒄</m:t>
                                  </m:r>
                                </m:e>
                                <m:sub>
                                  <m:r>
                                    <a:rPr lang="en-US" altLang="zh-CN" sz="2400" b="1" i="1" kern="100" smtClean="0">
                                      <a:effectLst/>
                                      <a:latin typeface="Cambria Math" panose="02040503050406030204" pitchFamily="18" charset="0"/>
                                      <a:cs typeface="Times New Roman" panose="02020603050405020304" pitchFamily="18" charset="0"/>
                                    </a:rPr>
                                    <m:t>𝑹</m:t>
                                  </m:r>
                                </m:sub>
                              </m:sSub>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𝒙</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𝒚</m:t>
                              </m:r>
                              <m:r>
                                <a:rPr lang="en-US" altLang="zh-CN" sz="2400" b="1" kern="100" smtClean="0">
                                  <a:effectLst/>
                                  <a:latin typeface="Cambria Math" panose="02040503050406030204" pitchFamily="18" charset="0"/>
                                  <a:cs typeface="Times New Roman" panose="02020603050405020304" pitchFamily="18" charset="0"/>
                                </a:rPr>
                                <m:t>)</m:t>
                              </m:r>
                            </m:e>
                          </m:mr>
                          <m:mr>
                            <m:e>
                              <m:sSub>
                                <m:sSubPr>
                                  <m:ctrlPr>
                                    <a:rPr lang="zh-CN" altLang="zh-CN" sz="2400" b="1" i="1" kern="100">
                                      <a:effectLst/>
                                      <a:latin typeface="Cambria Math" panose="02040503050406030204" pitchFamily="18" charset="0"/>
                                      <a:cs typeface="Times New Roman" panose="02020603050405020304" pitchFamily="18" charset="0"/>
                                    </a:rPr>
                                  </m:ctrlPr>
                                </m:sSubPr>
                                <m:e>
                                  <m:r>
                                    <a:rPr lang="en-US" altLang="zh-CN" sz="2400" b="1" i="1" kern="100" smtClean="0">
                                      <a:effectLst/>
                                      <a:latin typeface="Cambria Math" panose="02040503050406030204" pitchFamily="18" charset="0"/>
                                      <a:cs typeface="Times New Roman" panose="02020603050405020304" pitchFamily="18" charset="0"/>
                                    </a:rPr>
                                    <m:t>𝒄</m:t>
                                  </m:r>
                                </m:e>
                                <m:sub>
                                  <m:r>
                                    <a:rPr lang="en-US" altLang="zh-CN" sz="2400" b="1" i="1" kern="100" smtClean="0">
                                      <a:effectLst/>
                                      <a:latin typeface="Cambria Math" panose="02040503050406030204" pitchFamily="18" charset="0"/>
                                      <a:cs typeface="Times New Roman" panose="02020603050405020304" pitchFamily="18" charset="0"/>
                                    </a:rPr>
                                    <m:t>𝑮</m:t>
                                  </m:r>
                                </m:sub>
                              </m:sSub>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𝒙</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𝒚</m:t>
                              </m:r>
                              <m:r>
                                <a:rPr lang="en-US" altLang="zh-CN" sz="2400" b="1" kern="100" smtClean="0">
                                  <a:effectLst/>
                                  <a:latin typeface="Cambria Math" panose="02040503050406030204" pitchFamily="18" charset="0"/>
                                  <a:cs typeface="Times New Roman" panose="02020603050405020304" pitchFamily="18" charset="0"/>
                                </a:rPr>
                                <m:t>)</m:t>
                              </m:r>
                            </m:e>
                          </m:mr>
                          <m:mr>
                            <m:e>
                              <m:sSub>
                                <m:sSubPr>
                                  <m:ctrlPr>
                                    <a:rPr lang="zh-CN" altLang="zh-CN" sz="2400" b="1" i="1" kern="100">
                                      <a:effectLst/>
                                      <a:latin typeface="Cambria Math" panose="02040503050406030204" pitchFamily="18" charset="0"/>
                                      <a:cs typeface="Times New Roman" panose="02020603050405020304" pitchFamily="18" charset="0"/>
                                    </a:rPr>
                                  </m:ctrlPr>
                                </m:sSubPr>
                                <m:e>
                                  <m:r>
                                    <a:rPr lang="en-US" altLang="zh-CN" sz="2400" b="1" i="1" kern="100" smtClean="0">
                                      <a:effectLst/>
                                      <a:latin typeface="Cambria Math" panose="02040503050406030204" pitchFamily="18" charset="0"/>
                                      <a:cs typeface="Times New Roman" panose="02020603050405020304" pitchFamily="18" charset="0"/>
                                    </a:rPr>
                                    <m:t>𝒄</m:t>
                                  </m:r>
                                </m:e>
                                <m:sub>
                                  <m:r>
                                    <a:rPr lang="en-US" altLang="zh-CN" sz="2400" b="1" i="1" kern="100" smtClean="0">
                                      <a:effectLst/>
                                      <a:latin typeface="Cambria Math" panose="02040503050406030204" pitchFamily="18" charset="0"/>
                                      <a:cs typeface="Times New Roman" panose="02020603050405020304" pitchFamily="18" charset="0"/>
                                    </a:rPr>
                                    <m:t>𝑩</m:t>
                                  </m:r>
                                </m:sub>
                              </m:sSub>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𝒙</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𝒚</m:t>
                              </m:r>
                              <m:r>
                                <a:rPr lang="en-US" altLang="zh-CN" sz="2400" b="1" kern="100" smtClean="0">
                                  <a:effectLst/>
                                  <a:latin typeface="Cambria Math" panose="02040503050406030204" pitchFamily="18" charset="0"/>
                                  <a:cs typeface="Times New Roman" panose="02020603050405020304" pitchFamily="18" charset="0"/>
                                </a:rPr>
                                <m:t>)</m:t>
                              </m:r>
                            </m:e>
                          </m:mr>
                        </m:m>
                      </m:e>
                    </m:d>
                    <m:r>
                      <a:rPr lang="en-US" altLang="zh-CN" sz="2400" b="1" kern="100" smtClean="0">
                        <a:effectLst/>
                        <a:latin typeface="Cambria Math" panose="02040503050406030204" pitchFamily="18" charset="0"/>
                        <a:cs typeface="Times New Roman" panose="02020603050405020304" pitchFamily="18" charset="0"/>
                      </a:rPr>
                      <m:t>=</m:t>
                    </m:r>
                    <m:d>
                      <m:dPr>
                        <m:ctrlPr>
                          <a:rPr lang="zh-CN" altLang="zh-CN" sz="2400" b="1" i="1" kern="100">
                            <a:effectLst/>
                            <a:latin typeface="Cambria Math" panose="02040503050406030204" pitchFamily="18" charset="0"/>
                            <a:cs typeface="Times New Roman" panose="02020603050405020304" pitchFamily="18" charset="0"/>
                          </a:rPr>
                        </m:ctrlPr>
                      </m:dPr>
                      <m:e>
                        <m:m>
                          <m:mPr>
                            <m:mcs>
                              <m:mc>
                                <m:mcPr>
                                  <m:count m:val="1"/>
                                  <m:mcJc m:val="center"/>
                                </m:mcPr>
                              </m:mc>
                            </m:mcs>
                            <m:ctrlPr>
                              <a:rPr lang="zh-CN" altLang="zh-CN" sz="2400" b="1" i="1" kern="100">
                                <a:effectLst/>
                                <a:latin typeface="Cambria Math" panose="02040503050406030204" pitchFamily="18" charset="0"/>
                                <a:cs typeface="Times New Roman" panose="02020603050405020304" pitchFamily="18" charset="0"/>
                              </a:rPr>
                            </m:ctrlPr>
                          </m:mPr>
                          <m:mr>
                            <m:e>
                              <m:r>
                                <a:rPr lang="en-US" altLang="zh-CN" sz="2400" b="1" i="1" kern="100" smtClean="0">
                                  <a:effectLst/>
                                  <a:latin typeface="Cambria Math" panose="02040503050406030204" pitchFamily="18" charset="0"/>
                                  <a:cs typeface="Times New Roman" panose="02020603050405020304" pitchFamily="18" charset="0"/>
                                </a:rPr>
                                <m:t>𝑹</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𝒙</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𝒚</m:t>
                              </m:r>
                              <m:r>
                                <a:rPr lang="en-US" altLang="zh-CN" sz="2400" b="1" kern="100" smtClean="0">
                                  <a:effectLst/>
                                  <a:latin typeface="Cambria Math" panose="02040503050406030204" pitchFamily="18" charset="0"/>
                                  <a:cs typeface="Times New Roman" panose="02020603050405020304" pitchFamily="18" charset="0"/>
                                </a:rPr>
                                <m:t>)</m:t>
                              </m:r>
                            </m:e>
                          </m:mr>
                          <m:mr>
                            <m:e>
                              <m:r>
                                <a:rPr lang="en-US" altLang="zh-CN" sz="2400" b="1" i="1" kern="100" smtClean="0">
                                  <a:effectLst/>
                                  <a:latin typeface="Cambria Math" panose="02040503050406030204" pitchFamily="18" charset="0"/>
                                  <a:cs typeface="Times New Roman" panose="02020603050405020304" pitchFamily="18" charset="0"/>
                                </a:rPr>
                                <m:t>𝑮</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𝒙</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𝒚</m:t>
                              </m:r>
                              <m:r>
                                <a:rPr lang="en-US" altLang="zh-CN" sz="2400" b="1" kern="100" smtClean="0">
                                  <a:effectLst/>
                                  <a:latin typeface="Cambria Math" panose="02040503050406030204" pitchFamily="18" charset="0"/>
                                  <a:cs typeface="Times New Roman" panose="02020603050405020304" pitchFamily="18" charset="0"/>
                                </a:rPr>
                                <m:t>)</m:t>
                              </m:r>
                            </m:e>
                          </m:mr>
                          <m:mr>
                            <m:e>
                              <m:r>
                                <a:rPr lang="en-US" altLang="zh-CN" sz="2400" b="1" i="1" kern="100" smtClean="0">
                                  <a:effectLst/>
                                  <a:latin typeface="Cambria Math" panose="02040503050406030204" pitchFamily="18" charset="0"/>
                                  <a:cs typeface="Times New Roman" panose="02020603050405020304" pitchFamily="18" charset="0"/>
                                </a:rPr>
                                <m:t>𝑩</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𝒙</m:t>
                              </m:r>
                              <m:r>
                                <a:rPr lang="en-US" altLang="zh-CN" sz="2400" b="1" kern="100" smtClean="0">
                                  <a:effectLst/>
                                  <a:latin typeface="Cambria Math" panose="02040503050406030204" pitchFamily="18" charset="0"/>
                                  <a:cs typeface="Times New Roman" panose="02020603050405020304" pitchFamily="18" charset="0"/>
                                </a:rPr>
                                <m:t>,</m:t>
                              </m:r>
                              <m:r>
                                <a:rPr lang="en-US" altLang="zh-CN" sz="2400" b="1" i="1" kern="100" smtClean="0">
                                  <a:effectLst/>
                                  <a:latin typeface="Cambria Math" panose="02040503050406030204" pitchFamily="18" charset="0"/>
                                  <a:cs typeface="Times New Roman" panose="02020603050405020304" pitchFamily="18" charset="0"/>
                                </a:rPr>
                                <m:t>𝒚</m:t>
                              </m:r>
                              <m:r>
                                <a:rPr lang="en-US" altLang="zh-CN" sz="2400" b="1" kern="100" smtClean="0">
                                  <a:effectLst/>
                                  <a:latin typeface="Cambria Math" panose="02040503050406030204" pitchFamily="18" charset="0"/>
                                  <a:cs typeface="Times New Roman" panose="02020603050405020304" pitchFamily="18" charset="0"/>
                                </a:rPr>
                                <m:t>)</m:t>
                              </m:r>
                            </m:e>
                          </m:mr>
                        </m:m>
                      </m:e>
                    </m:d>
                  </m:oMath>
                </a14:m>
                <a:r>
                  <a:rPr lang="en-US" altLang="zh-CN" sz="2400" b="1" kern="100" dirty="0">
                    <a:effectLst/>
                    <a:latin typeface="+mn-ea"/>
                    <a:cs typeface="Times New Roman" panose="02020603050405020304" pitchFamily="18" charset="0"/>
                  </a:rPr>
                  <a:t>          11-26</a:t>
                </a:r>
                <a:endParaRPr lang="en-US" altLang="zh-CN" sz="2400" b="1" dirty="0">
                  <a:latin typeface="+mn-ea"/>
                </a:endParaRPr>
              </a:p>
              <a:p>
                <a:pPr indent="457200">
                  <a:lnSpc>
                    <a:spcPct val="110000"/>
                  </a:lnSpc>
                </a:pPr>
                <a:r>
                  <a:rPr lang="zh-CN" altLang="en-US" sz="2400" b="1" dirty="0">
                    <a:latin typeface="+mn-ea"/>
                  </a:rPr>
                  <a:t>对于大小为</a:t>
                </a:r>
                <a:r>
                  <a:rPr lang="en-US" altLang="zh-CN" sz="2400" b="1" dirty="0">
                    <a:latin typeface="+mn-ea"/>
                  </a:rPr>
                  <a:t>M×N(M,N</a:t>
                </a:r>
                <a:r>
                  <a:rPr lang="zh-CN" altLang="en-US" sz="2400" b="1" dirty="0">
                    <a:latin typeface="+mn-ea"/>
                  </a:rPr>
                  <a:t>是正整数，分别表示图像的高度和宽度</a:t>
                </a:r>
                <a:r>
                  <a:rPr lang="en-US" altLang="zh-CN" sz="2400" b="1" dirty="0">
                    <a:latin typeface="+mn-ea"/>
                  </a:rPr>
                  <a:t>)</a:t>
                </a:r>
                <a:r>
                  <a:rPr lang="zh-CN" altLang="en-US" sz="2400" b="1" dirty="0">
                    <a:latin typeface="+mn-ea"/>
                  </a:rPr>
                  <a:t>的图像，有</a:t>
                </a:r>
                <a:r>
                  <a:rPr lang="en-US" altLang="zh-CN" sz="2400" b="1" dirty="0">
                    <a:latin typeface="+mn-ea"/>
                  </a:rPr>
                  <a:t>M×N</a:t>
                </a:r>
                <a:r>
                  <a:rPr lang="zh-CN" altLang="en-US" sz="2400" b="1" dirty="0">
                    <a:latin typeface="+mn-ea"/>
                  </a:rPr>
                  <a:t>个这样的向量。其中，</a:t>
                </a:r>
                <a:r>
                  <a:rPr lang="en-US" altLang="zh-CN" sz="2400" b="1" dirty="0">
                    <a:latin typeface="+mn-ea"/>
                  </a:rPr>
                  <a:t>x=0</a:t>
                </a:r>
                <a:r>
                  <a:rPr lang="zh-CN" altLang="en-US" sz="2400" b="1" dirty="0">
                    <a:latin typeface="+mn-ea"/>
                  </a:rPr>
                  <a:t>、</a:t>
                </a:r>
                <a:r>
                  <a:rPr lang="en-US" altLang="zh-CN" sz="2400" b="1" dirty="0">
                    <a:latin typeface="+mn-ea"/>
                  </a:rPr>
                  <a:t>1</a:t>
                </a:r>
                <a:r>
                  <a:rPr lang="zh-CN" altLang="en-US" sz="2400" b="1" dirty="0">
                    <a:latin typeface="+mn-ea"/>
                  </a:rPr>
                  <a:t>、</a:t>
                </a:r>
                <a:r>
                  <a:rPr lang="en-US" altLang="zh-CN" sz="2400" b="1" dirty="0">
                    <a:latin typeface="+mn-ea"/>
                  </a:rPr>
                  <a:t>2</a:t>
                </a:r>
                <a:r>
                  <a:rPr lang="zh-CN" altLang="en-US" sz="2400" b="1" dirty="0">
                    <a:latin typeface="+mn-ea"/>
                  </a:rPr>
                  <a:t>、</a:t>
                </a:r>
                <a:r>
                  <a:rPr lang="en-US" altLang="zh-CN" sz="2400" b="1" dirty="0">
                    <a:latin typeface="+mn-ea"/>
                  </a:rPr>
                  <a:t>…</a:t>
                </a:r>
                <a:r>
                  <a:rPr lang="zh-CN" altLang="en-US" sz="2400" b="1" dirty="0">
                    <a:latin typeface="+mn-ea"/>
                  </a:rPr>
                  <a:t>、</a:t>
                </a:r>
                <a:r>
                  <a:rPr lang="en-US" altLang="zh-CN" sz="2400" b="1" dirty="0">
                    <a:latin typeface="+mn-ea"/>
                  </a:rPr>
                  <a:t>M-1</a:t>
                </a:r>
                <a:r>
                  <a:rPr lang="zh-CN" altLang="en-US" sz="2400" b="1" dirty="0">
                    <a:latin typeface="+mn-ea"/>
                  </a:rPr>
                  <a:t>；</a:t>
                </a:r>
                <a:r>
                  <a:rPr lang="en-US" altLang="zh-CN" sz="2400" b="1" dirty="0">
                    <a:latin typeface="+mn-ea"/>
                  </a:rPr>
                  <a:t>y=0</a:t>
                </a:r>
                <a:r>
                  <a:rPr lang="zh-CN" altLang="en-US" sz="2400" b="1" dirty="0">
                    <a:latin typeface="+mn-ea"/>
                  </a:rPr>
                  <a:t>、</a:t>
                </a:r>
                <a:r>
                  <a:rPr lang="en-US" altLang="zh-CN" sz="2400" b="1" dirty="0">
                    <a:latin typeface="+mn-ea"/>
                  </a:rPr>
                  <a:t>1</a:t>
                </a:r>
                <a:r>
                  <a:rPr lang="zh-CN" altLang="en-US" sz="2400" b="1" dirty="0">
                    <a:latin typeface="+mn-ea"/>
                  </a:rPr>
                  <a:t>、</a:t>
                </a:r>
                <a:r>
                  <a:rPr lang="en-US" altLang="zh-CN" sz="2400" b="1" dirty="0">
                    <a:latin typeface="+mn-ea"/>
                  </a:rPr>
                  <a:t>2</a:t>
                </a:r>
                <a:r>
                  <a:rPr lang="zh-CN" altLang="en-US" sz="2400" b="1" dirty="0">
                    <a:latin typeface="+mn-ea"/>
                  </a:rPr>
                  <a:t>、</a:t>
                </a:r>
                <a:r>
                  <a:rPr lang="en-US" altLang="zh-CN" sz="2400" b="1" dirty="0">
                    <a:latin typeface="+mn-ea"/>
                  </a:rPr>
                  <a:t>…</a:t>
                </a:r>
                <a:r>
                  <a:rPr lang="zh-CN" altLang="en-US" sz="2400" b="1" dirty="0">
                    <a:latin typeface="+mn-ea"/>
                  </a:rPr>
                  <a:t>、</a:t>
                </a:r>
                <a:r>
                  <a:rPr lang="en-US" altLang="zh-CN" sz="2400" b="1" dirty="0">
                    <a:latin typeface="+mn-ea"/>
                  </a:rPr>
                  <a:t>N-1</a:t>
                </a:r>
                <a:r>
                  <a:rPr lang="zh-CN" altLang="en-US" sz="2400" b="1" dirty="0">
                    <a:latin typeface="+mn-ea"/>
                  </a:rPr>
                  <a:t>。</a:t>
                </a:r>
              </a:p>
              <a:p>
                <a:pPr indent="457200">
                  <a:lnSpc>
                    <a:spcPct val="110000"/>
                  </a:lnSpc>
                </a:pPr>
                <a:r>
                  <a:rPr lang="zh-CN" altLang="en-US" sz="2400" b="1" dirty="0">
                    <a:latin typeface="+mn-ea"/>
                  </a:rPr>
                  <a:t>为了使每一彩色分量处理和基于向量的处理等同，必须满足两个条件：第一，处理必须对向量和标量都可用，第二，对向量每一分量的操作对于其他分量必须是独立的。</a:t>
                </a:r>
              </a:p>
            </p:txBody>
          </p:sp>
        </mc:Choice>
        <mc:Fallback xmlns="">
          <p:sp>
            <p:nvSpPr>
              <p:cNvPr id="5" name="文本框 4">
                <a:extLst>
                  <a:ext uri="{FF2B5EF4-FFF2-40B4-BE49-F238E27FC236}">
                    <a16:creationId xmlns="" xmlns:a16="http://schemas.microsoft.com/office/drawing/2014/main" xmlns:a14="http://schemas.microsoft.com/office/drawing/2010/main" id="{C4C4992B-B7D3-415B-895F-72C99153A7CA}"/>
                  </a:ext>
                </a:extLst>
              </p:cNvPr>
              <p:cNvSpPr txBox="1">
                <a:spLocks noRot="1" noChangeAspect="1" noMove="1" noResize="1" noEditPoints="1" noAdjustHandles="1" noChangeArrowheads="1" noChangeShapeType="1" noTextEdit="1"/>
              </p:cNvSpPr>
              <p:nvPr/>
            </p:nvSpPr>
            <p:spPr>
              <a:xfrm>
                <a:off x="614777" y="950663"/>
                <a:ext cx="10304757" cy="5413277"/>
              </a:xfrm>
              <a:prstGeom prst="rect">
                <a:avLst/>
              </a:prstGeom>
              <a:blipFill rotWithShape="0">
                <a:blip r:embed="rId2"/>
                <a:stretch>
                  <a:fillRect l="-947" t="-1126" r="-888" b="-15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4949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F32FE4DB-C39D-4785-8F7A-C280676CBB69}"/>
              </a:ext>
            </a:extLst>
          </p:cNvPr>
          <p:cNvSpPr txBox="1"/>
          <p:nvPr/>
        </p:nvSpPr>
        <p:spPr>
          <a:xfrm>
            <a:off x="4094825" y="450087"/>
            <a:ext cx="3643285" cy="646331"/>
          </a:xfrm>
          <a:prstGeom prst="rect">
            <a:avLst/>
          </a:prstGeom>
          <a:noFill/>
        </p:spPr>
        <p:txBody>
          <a:bodyPr wrap="square">
            <a:spAutoFit/>
          </a:bodyPr>
          <a:lstStyle/>
          <a:p>
            <a:r>
              <a:rPr lang="en-US" altLang="zh-CN" sz="3600" b="1" dirty="0" smtClean="0">
                <a:solidFill>
                  <a:srgbClr val="C00000"/>
                </a:solidFill>
              </a:rPr>
              <a:t>11.4.1  </a:t>
            </a:r>
            <a:r>
              <a:rPr lang="zh-CN" altLang="en-US" sz="3600" b="1" dirty="0" smtClean="0">
                <a:solidFill>
                  <a:srgbClr val="C00000"/>
                </a:solidFill>
              </a:rPr>
              <a:t>彩色变换</a:t>
            </a:r>
            <a:endParaRPr lang="zh-CN" altLang="en-US" sz="3600" b="1" dirty="0">
              <a:solidFill>
                <a:srgbClr val="C00000"/>
              </a:solidFill>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xmlns="" id="{84732DFE-67AB-4BF9-AE03-2DEE90B58F68}"/>
                  </a:ext>
                </a:extLst>
              </p:cNvPr>
              <p:cNvSpPr txBox="1"/>
              <p:nvPr/>
            </p:nvSpPr>
            <p:spPr>
              <a:xfrm>
                <a:off x="902969" y="1144934"/>
                <a:ext cx="10575857" cy="4832092"/>
              </a:xfrm>
              <a:prstGeom prst="rect">
                <a:avLst/>
              </a:prstGeom>
              <a:noFill/>
            </p:spPr>
            <p:txBody>
              <a:bodyPr wrap="square">
                <a:spAutoFit/>
              </a:bodyPr>
              <a:lstStyle/>
              <a:p>
                <a:pPr indent="457200">
                  <a:lnSpc>
                    <a:spcPct val="110000"/>
                  </a:lnSpc>
                </a:pPr>
                <a:r>
                  <a:rPr lang="zh-CN" altLang="en-US" sz="2800" b="1" dirty="0">
                    <a:latin typeface="+mn-ea"/>
                  </a:rPr>
                  <a:t>可将灰度变换的概念扩展到彩色图像。可以修改原始的公式为：</a:t>
                </a:r>
                <a:endParaRPr lang="en-US" altLang="zh-CN" sz="2800" b="1" dirty="0">
                  <a:latin typeface="+mn-ea"/>
                </a:endParaRPr>
              </a:p>
              <a:p>
                <a:pPr indent="457200" algn="ctr">
                  <a:lnSpc>
                    <a:spcPct val="110000"/>
                  </a:lnSpc>
                </a:pPr>
                <a14:m>
                  <m:oMath xmlns:m="http://schemas.openxmlformats.org/officeDocument/2006/math">
                    <m:r>
                      <a:rPr lang="en-US" altLang="zh-CN" sz="2800" b="1" i="1" kern="100" smtClean="0">
                        <a:solidFill>
                          <a:srgbClr val="FF0000"/>
                        </a:solidFill>
                        <a:effectLst/>
                        <a:latin typeface="Cambria Math" panose="02040503050406030204" pitchFamily="18" charset="0"/>
                        <a:cs typeface="Times New Roman" panose="02020603050405020304" pitchFamily="18" charset="0"/>
                      </a:rPr>
                      <m:t>𝒈</m:t>
                    </m:r>
                    <m:d>
                      <m:dPr>
                        <m:ctrlPr>
                          <a:rPr lang="zh-CN" altLang="zh-CN" sz="2800" b="1" i="1" kern="100">
                            <a:solidFill>
                              <a:srgbClr val="FF0000"/>
                            </a:solidFill>
                            <a:effectLst/>
                            <a:latin typeface="Cambria Math" panose="02040503050406030204" pitchFamily="18" charset="0"/>
                            <a:cs typeface="Times New Roman" panose="02020603050405020304" pitchFamily="18" charset="0"/>
                          </a:rPr>
                        </m:ctrlPr>
                      </m:dPr>
                      <m:e>
                        <m:r>
                          <a:rPr lang="en-US" altLang="zh-CN" sz="2800" b="1" i="1" kern="100" smtClean="0">
                            <a:solidFill>
                              <a:srgbClr val="FF0000"/>
                            </a:solidFill>
                            <a:effectLst/>
                            <a:latin typeface="Cambria Math" panose="02040503050406030204" pitchFamily="18" charset="0"/>
                            <a:cs typeface="Times New Roman" panose="02020603050405020304" pitchFamily="18" charset="0"/>
                          </a:rPr>
                          <m:t>𝒙</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𝒚</m:t>
                        </m:r>
                      </m:e>
                    </m:d>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𝑻</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𝒇</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𝒙</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𝒚</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oMath>
                </a14:m>
                <a:r>
                  <a:rPr lang="en-US" altLang="zh-CN" sz="2800" b="1" kern="100" dirty="0">
                    <a:solidFill>
                      <a:srgbClr val="FF0000"/>
                    </a:solidFill>
                    <a:effectLst/>
                    <a:latin typeface="+mn-ea"/>
                    <a:cs typeface="Times New Roman" panose="02020603050405020304" pitchFamily="18" charset="0"/>
                  </a:rPr>
                  <a:t>                     11-27</a:t>
                </a:r>
                <a:endParaRPr lang="zh-CN" altLang="en-US" sz="2800" b="1" dirty="0">
                  <a:solidFill>
                    <a:srgbClr val="FF0000"/>
                  </a:solidFill>
                  <a:latin typeface="+mn-ea"/>
                </a:endParaRPr>
              </a:p>
              <a:p>
                <a:pPr indent="457200">
                  <a:lnSpc>
                    <a:spcPct val="110000"/>
                  </a:lnSpc>
                </a:pPr>
                <a:endParaRPr lang="en-US" altLang="zh-CN" sz="2800" b="1" dirty="0" smtClean="0">
                  <a:latin typeface="+mn-ea"/>
                </a:endParaRPr>
              </a:p>
              <a:p>
                <a:pPr indent="457200">
                  <a:lnSpc>
                    <a:spcPct val="110000"/>
                  </a:lnSpc>
                </a:pPr>
                <a:r>
                  <a:rPr lang="zh-CN" altLang="en-US" sz="2800" b="1" dirty="0" smtClean="0">
                    <a:latin typeface="+mn-ea"/>
                  </a:rPr>
                  <a:t>因为</a:t>
                </a:r>
                <a:r>
                  <a:rPr lang="zh-CN" altLang="en-US" sz="2800" b="1" dirty="0">
                    <a:latin typeface="+mn-ea"/>
                  </a:rPr>
                  <a:t>已知这些变换函数是点处理函数（独立于像素的位置和近邻像素的值），所以可以采用一个简化表示法的改进版本：</a:t>
                </a:r>
                <a:endParaRPr lang="en-US" altLang="zh-CN" sz="2800" b="1" dirty="0">
                  <a:latin typeface="+mn-ea"/>
                </a:endParaRPr>
              </a:p>
              <a:p>
                <a:pPr indent="457200" algn="ctr">
                  <a:lnSpc>
                    <a:spcPct val="110000"/>
                  </a:lnSpc>
                </a:pPr>
                <a14:m>
                  <m:oMath xmlns:m="http://schemas.openxmlformats.org/officeDocument/2006/math">
                    <m:sSub>
                      <m:sSubPr>
                        <m:ctrlPr>
                          <a:rPr lang="zh-CN" altLang="zh-CN" sz="2800" b="1" i="1" kern="100" smtClean="0">
                            <a:solidFill>
                              <a:srgbClr val="FF0000"/>
                            </a:solidFill>
                            <a:effectLst/>
                            <a:latin typeface="Cambria Math" panose="02040503050406030204" pitchFamily="18" charset="0"/>
                            <a:cs typeface="Times New Roman" panose="02020603050405020304" pitchFamily="18" charset="0"/>
                          </a:rPr>
                        </m:ctrlPr>
                      </m:sSubPr>
                      <m:e>
                        <m:r>
                          <a:rPr lang="en-US" altLang="zh-CN" sz="2800" b="1" i="1" kern="100" smtClean="0">
                            <a:solidFill>
                              <a:srgbClr val="FF0000"/>
                            </a:solidFill>
                            <a:effectLst/>
                            <a:latin typeface="Cambria Math" panose="02040503050406030204" pitchFamily="18" charset="0"/>
                            <a:cs typeface="Times New Roman" panose="02020603050405020304" pitchFamily="18" charset="0"/>
                          </a:rPr>
                          <m:t>𝒔</m:t>
                        </m:r>
                      </m:e>
                      <m:sub>
                        <m:r>
                          <a:rPr lang="en-US" altLang="zh-CN" sz="2800" b="1" i="1" kern="100" smtClean="0">
                            <a:solidFill>
                              <a:srgbClr val="FF0000"/>
                            </a:solidFill>
                            <a:effectLst/>
                            <a:latin typeface="Cambria Math" panose="02040503050406030204" pitchFamily="18" charset="0"/>
                            <a:cs typeface="Times New Roman" panose="02020603050405020304" pitchFamily="18" charset="0"/>
                          </a:rPr>
                          <m:t>𝒊</m:t>
                        </m:r>
                      </m:sub>
                    </m:sSub>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sSub>
                      <m:sSubPr>
                        <m:ctrlPr>
                          <a:rPr lang="zh-CN" altLang="zh-CN" sz="2800" b="1" i="1" kern="100">
                            <a:solidFill>
                              <a:srgbClr val="FF0000"/>
                            </a:solidFill>
                            <a:effectLst/>
                            <a:latin typeface="Cambria Math" panose="02040503050406030204" pitchFamily="18" charset="0"/>
                            <a:cs typeface="Times New Roman" panose="02020603050405020304" pitchFamily="18" charset="0"/>
                          </a:rPr>
                        </m:ctrlPr>
                      </m:sSubPr>
                      <m:e>
                        <m:r>
                          <a:rPr lang="en-US" altLang="zh-CN" sz="2800" b="1" i="1" kern="100" smtClean="0">
                            <a:solidFill>
                              <a:srgbClr val="FF0000"/>
                            </a:solidFill>
                            <a:effectLst/>
                            <a:latin typeface="Cambria Math" panose="02040503050406030204" pitchFamily="18" charset="0"/>
                            <a:cs typeface="Times New Roman" panose="02020603050405020304" pitchFamily="18" charset="0"/>
                          </a:rPr>
                          <m:t>𝑻</m:t>
                        </m:r>
                      </m:e>
                      <m:sub>
                        <m:r>
                          <a:rPr lang="en-US" altLang="zh-CN" sz="2800" b="1" i="1" kern="100" smtClean="0">
                            <a:solidFill>
                              <a:srgbClr val="FF0000"/>
                            </a:solidFill>
                            <a:effectLst/>
                            <a:latin typeface="Cambria Math" panose="02040503050406030204" pitchFamily="18" charset="0"/>
                            <a:cs typeface="Times New Roman" panose="02020603050405020304" pitchFamily="18" charset="0"/>
                          </a:rPr>
                          <m:t>𝒊</m:t>
                        </m:r>
                      </m:sub>
                    </m:sSub>
                    <m:d>
                      <m:dPr>
                        <m:ctrlPr>
                          <a:rPr lang="zh-CN" altLang="zh-CN" sz="2800" b="1" i="1" kern="100">
                            <a:solidFill>
                              <a:srgbClr val="FF0000"/>
                            </a:solidFill>
                            <a:effectLst/>
                            <a:latin typeface="Cambria Math" panose="02040503050406030204" pitchFamily="18" charset="0"/>
                            <a:cs typeface="Times New Roman" panose="02020603050405020304" pitchFamily="18" charset="0"/>
                          </a:rPr>
                        </m:ctrlPr>
                      </m:dPr>
                      <m:e>
                        <m:sSub>
                          <m:sSubPr>
                            <m:ctrlPr>
                              <a:rPr lang="zh-CN" altLang="zh-CN" sz="2800" b="1" i="1" kern="100">
                                <a:solidFill>
                                  <a:srgbClr val="FF0000"/>
                                </a:solidFill>
                                <a:effectLst/>
                                <a:latin typeface="Cambria Math" panose="02040503050406030204" pitchFamily="18" charset="0"/>
                                <a:cs typeface="Times New Roman" panose="02020603050405020304" pitchFamily="18" charset="0"/>
                              </a:rPr>
                            </m:ctrlPr>
                          </m:sSubPr>
                          <m:e>
                            <m:r>
                              <a:rPr lang="en-US" altLang="zh-CN" sz="2800" b="1" i="1" kern="100" smtClean="0">
                                <a:solidFill>
                                  <a:srgbClr val="FF0000"/>
                                </a:solidFill>
                                <a:effectLst/>
                                <a:latin typeface="Cambria Math" panose="02040503050406030204" pitchFamily="18" charset="0"/>
                                <a:cs typeface="Times New Roman" panose="02020603050405020304" pitchFamily="18" charset="0"/>
                              </a:rPr>
                              <m:t>𝒓</m:t>
                            </m:r>
                          </m:e>
                          <m:sub>
                            <m:r>
                              <a:rPr lang="en-US" altLang="zh-CN" sz="2800" b="1" i="1" kern="100" smtClean="0">
                                <a:solidFill>
                                  <a:srgbClr val="FF0000"/>
                                </a:solidFill>
                                <a:effectLst/>
                                <a:latin typeface="Cambria Math" panose="02040503050406030204" pitchFamily="18" charset="0"/>
                                <a:cs typeface="Times New Roman" panose="02020603050405020304" pitchFamily="18" charset="0"/>
                              </a:rPr>
                              <m:t>𝟏</m:t>
                            </m:r>
                          </m:sub>
                        </m:sSub>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sSub>
                          <m:sSubPr>
                            <m:ctrlPr>
                              <a:rPr lang="zh-CN" altLang="zh-CN" sz="2800" b="1" i="1" kern="100">
                                <a:solidFill>
                                  <a:srgbClr val="FF0000"/>
                                </a:solidFill>
                                <a:effectLst/>
                                <a:latin typeface="Cambria Math" panose="02040503050406030204" pitchFamily="18" charset="0"/>
                                <a:cs typeface="Times New Roman" panose="02020603050405020304" pitchFamily="18" charset="0"/>
                              </a:rPr>
                            </m:ctrlPr>
                          </m:sSubPr>
                          <m:e>
                            <m:r>
                              <a:rPr lang="en-US" altLang="zh-CN" sz="2800" b="1" i="1" kern="100" smtClean="0">
                                <a:solidFill>
                                  <a:srgbClr val="FF0000"/>
                                </a:solidFill>
                                <a:effectLst/>
                                <a:latin typeface="Cambria Math" panose="02040503050406030204" pitchFamily="18" charset="0"/>
                                <a:cs typeface="Times New Roman" panose="02020603050405020304" pitchFamily="18" charset="0"/>
                              </a:rPr>
                              <m:t>𝒓</m:t>
                            </m:r>
                          </m:e>
                          <m:sub>
                            <m:r>
                              <a:rPr lang="en-US" altLang="zh-CN" sz="2800" b="1" i="1" kern="100" smtClean="0">
                                <a:solidFill>
                                  <a:srgbClr val="FF0000"/>
                                </a:solidFill>
                                <a:effectLst/>
                                <a:latin typeface="Cambria Math" panose="02040503050406030204" pitchFamily="18" charset="0"/>
                                <a:cs typeface="Times New Roman" panose="02020603050405020304" pitchFamily="18" charset="0"/>
                              </a:rPr>
                              <m:t>𝟐</m:t>
                            </m:r>
                          </m:sub>
                        </m:sSub>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sSub>
                          <m:sSubPr>
                            <m:ctrlPr>
                              <a:rPr lang="zh-CN" altLang="zh-CN" sz="2800" b="1" i="1" kern="100">
                                <a:solidFill>
                                  <a:srgbClr val="FF0000"/>
                                </a:solidFill>
                                <a:effectLst/>
                                <a:latin typeface="Cambria Math" panose="02040503050406030204" pitchFamily="18" charset="0"/>
                                <a:cs typeface="Times New Roman" panose="02020603050405020304" pitchFamily="18" charset="0"/>
                              </a:rPr>
                            </m:ctrlPr>
                          </m:sSubPr>
                          <m:e>
                            <m:r>
                              <a:rPr lang="en-US" altLang="zh-CN" sz="2800" b="1" i="1" kern="100" smtClean="0">
                                <a:solidFill>
                                  <a:srgbClr val="FF0000"/>
                                </a:solidFill>
                                <a:effectLst/>
                                <a:latin typeface="Cambria Math" panose="02040503050406030204" pitchFamily="18" charset="0"/>
                                <a:cs typeface="Times New Roman" panose="02020603050405020304" pitchFamily="18" charset="0"/>
                              </a:rPr>
                              <m:t>𝒓</m:t>
                            </m:r>
                          </m:e>
                          <m:sub>
                            <m:r>
                              <a:rPr lang="en-US" altLang="zh-CN" sz="2800" b="1" i="1" kern="100" smtClean="0">
                                <a:solidFill>
                                  <a:srgbClr val="FF0000"/>
                                </a:solidFill>
                                <a:effectLst/>
                                <a:latin typeface="Cambria Math" panose="02040503050406030204" pitchFamily="18" charset="0"/>
                                <a:cs typeface="Times New Roman" panose="02020603050405020304" pitchFamily="18" charset="0"/>
                              </a:rPr>
                              <m:t>𝒏</m:t>
                            </m:r>
                          </m:sub>
                        </m:sSub>
                      </m:e>
                    </m:d>
                    <m:r>
                      <a:rPr lang="en-US" altLang="zh-CN" sz="2800" b="1" i="1" kern="100" smtClean="0">
                        <a:solidFill>
                          <a:srgbClr val="FF0000"/>
                        </a:solidFill>
                        <a:effectLst/>
                        <a:latin typeface="Cambria Math" panose="02040503050406030204" pitchFamily="18" charset="0"/>
                        <a:cs typeface="Times New Roman" panose="02020603050405020304" pitchFamily="18" charset="0"/>
                      </a:rPr>
                      <m:t>              </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𝒊</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𝟏</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𝟐</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800" b="1" i="1" kern="100" smtClean="0">
                        <a:solidFill>
                          <a:srgbClr val="FF0000"/>
                        </a:solidFill>
                        <a:effectLst/>
                        <a:latin typeface="Cambria Math" panose="02040503050406030204" pitchFamily="18" charset="0"/>
                        <a:cs typeface="Times New Roman" panose="02020603050405020304" pitchFamily="18" charset="0"/>
                      </a:rPr>
                      <m:t>𝒏</m:t>
                    </m:r>
                  </m:oMath>
                </a14:m>
                <a:r>
                  <a:rPr lang="en-US" altLang="zh-CN" sz="2800" b="1" kern="100" dirty="0">
                    <a:solidFill>
                      <a:srgbClr val="FF0000"/>
                    </a:solidFill>
                    <a:effectLst/>
                    <a:latin typeface="+mn-ea"/>
                    <a:cs typeface="Times New Roman" panose="02020603050405020304" pitchFamily="18" charset="0"/>
                  </a:rPr>
                  <a:t>      11-28</a:t>
                </a:r>
                <a:endParaRPr lang="zh-CN" altLang="en-US" sz="2800" b="1" dirty="0">
                  <a:solidFill>
                    <a:srgbClr val="FF0000"/>
                  </a:solidFill>
                  <a:latin typeface="+mn-ea"/>
                </a:endParaRPr>
              </a:p>
              <a:p>
                <a:pPr indent="457200">
                  <a:lnSpc>
                    <a:spcPct val="110000"/>
                  </a:lnSpc>
                </a:pPr>
                <a:r>
                  <a:rPr lang="zh-CN" altLang="en-US" sz="2800" b="1" dirty="0">
                    <a:latin typeface="+mn-ea"/>
                  </a:rPr>
                  <a:t>其中</a:t>
                </a:r>
                <a:r>
                  <a:rPr lang="en-US" altLang="zh-CN" sz="2800" b="1" dirty="0" err="1" smtClean="0">
                    <a:latin typeface="+mn-ea"/>
                  </a:rPr>
                  <a:t>r</a:t>
                </a:r>
                <a:r>
                  <a:rPr lang="en-US" altLang="zh-CN" sz="2800" b="1" baseline="-25000" dirty="0" err="1" smtClean="0">
                    <a:latin typeface="+mn-ea"/>
                  </a:rPr>
                  <a:t>i</a:t>
                </a:r>
                <a:r>
                  <a:rPr lang="zh-CN" altLang="en-US" sz="2800" b="1" dirty="0">
                    <a:latin typeface="+mn-ea"/>
                  </a:rPr>
                  <a:t>和</a:t>
                </a:r>
                <a:r>
                  <a:rPr lang="en-US" altLang="zh-CN" sz="2800" b="1" dirty="0" err="1" smtClean="0">
                    <a:latin typeface="+mn-ea"/>
                  </a:rPr>
                  <a:t>s</a:t>
                </a:r>
                <a:r>
                  <a:rPr lang="en-US" altLang="zh-CN" sz="2800" b="1" baseline="-25000" dirty="0" err="1">
                    <a:latin typeface="+mn-ea"/>
                  </a:rPr>
                  <a:t>i</a:t>
                </a:r>
                <a:r>
                  <a:rPr lang="zh-CN" altLang="en-US" sz="2800" b="1" dirty="0">
                    <a:latin typeface="+mn-ea"/>
                  </a:rPr>
                  <a:t>分别是原始图像</a:t>
                </a:r>
                <a:r>
                  <a:rPr lang="en-US" altLang="zh-CN" sz="2800" b="1" dirty="0">
                    <a:latin typeface="+mn-ea"/>
                  </a:rPr>
                  <a:t>f(</a:t>
                </a:r>
                <a:r>
                  <a:rPr lang="en-US" altLang="zh-CN" sz="2800" b="1" dirty="0" err="1">
                    <a:latin typeface="+mn-ea"/>
                  </a:rPr>
                  <a:t>x,y</a:t>
                </a:r>
                <a:r>
                  <a:rPr lang="en-US" altLang="zh-CN" sz="2800" b="1" dirty="0">
                    <a:latin typeface="+mn-ea"/>
                  </a:rPr>
                  <a:t>)</a:t>
                </a:r>
                <a:r>
                  <a:rPr lang="zh-CN" altLang="en-US" sz="2800" b="1" dirty="0">
                    <a:latin typeface="+mn-ea"/>
                  </a:rPr>
                  <a:t>和处理后图像</a:t>
                </a:r>
                <a:r>
                  <a:rPr lang="en-US" altLang="zh-CN" sz="2800" b="1" dirty="0">
                    <a:latin typeface="+mn-ea"/>
                  </a:rPr>
                  <a:t>g(</a:t>
                </a:r>
                <a:r>
                  <a:rPr lang="en-US" altLang="zh-CN" sz="2800" b="1" dirty="0" err="1">
                    <a:latin typeface="+mn-ea"/>
                  </a:rPr>
                  <a:t>x,y</a:t>
                </a:r>
                <a:r>
                  <a:rPr lang="en-US" altLang="zh-CN" sz="2800" b="1" dirty="0">
                    <a:latin typeface="+mn-ea"/>
                  </a:rPr>
                  <a:t>)</a:t>
                </a:r>
                <a:r>
                  <a:rPr lang="zh-CN" altLang="en-US" sz="2800" b="1" dirty="0">
                    <a:latin typeface="+mn-ea"/>
                  </a:rPr>
                  <a:t>的彩色分量，</a:t>
                </a:r>
                <a:r>
                  <a:rPr lang="en-US" altLang="zh-CN" sz="2800" b="1" dirty="0">
                    <a:latin typeface="+mn-ea"/>
                  </a:rPr>
                  <a:t>n</a:t>
                </a:r>
                <a:r>
                  <a:rPr lang="zh-CN" altLang="en-US" sz="2800" b="1" dirty="0">
                    <a:latin typeface="+mn-ea"/>
                  </a:rPr>
                  <a:t>是彩色分量数目，</a:t>
                </a:r>
                <a:r>
                  <a:rPr lang="en-US" altLang="zh-CN" sz="2800" b="1" dirty="0">
                    <a:latin typeface="+mn-ea"/>
                  </a:rPr>
                  <a:t>T</a:t>
                </a:r>
                <a:r>
                  <a:rPr lang="en-US" altLang="zh-CN" sz="2800" b="1" baseline="-25000" dirty="0">
                    <a:latin typeface="+mn-ea"/>
                  </a:rPr>
                  <a:t>1</a:t>
                </a:r>
                <a:r>
                  <a:rPr lang="zh-CN" altLang="en-US" sz="2800" b="1" dirty="0">
                    <a:latin typeface="+mn-ea"/>
                  </a:rPr>
                  <a:t>、</a:t>
                </a:r>
                <a:r>
                  <a:rPr lang="en-US" altLang="zh-CN" sz="2800" b="1" dirty="0">
                    <a:latin typeface="+mn-ea"/>
                  </a:rPr>
                  <a:t>T</a:t>
                </a:r>
                <a:r>
                  <a:rPr lang="en-US" altLang="zh-CN" sz="2800" b="1" baseline="-25000" dirty="0">
                    <a:latin typeface="+mn-ea"/>
                  </a:rPr>
                  <a:t>2</a:t>
                </a:r>
                <a:r>
                  <a:rPr lang="zh-CN" altLang="en-US" sz="2800" b="1" dirty="0">
                    <a:latin typeface="+mn-ea"/>
                  </a:rPr>
                  <a:t>、</a:t>
                </a:r>
                <a:r>
                  <a:rPr lang="en-US" altLang="zh-CN" sz="2800" b="1" dirty="0">
                    <a:latin typeface="+mn-ea"/>
                  </a:rPr>
                  <a:t>…</a:t>
                </a:r>
                <a:r>
                  <a:rPr lang="zh-CN" altLang="en-US" sz="2800" b="1" dirty="0">
                    <a:latin typeface="+mn-ea"/>
                  </a:rPr>
                  <a:t>、</a:t>
                </a:r>
                <a:r>
                  <a:rPr lang="en-US" altLang="zh-CN" sz="2800" b="1" dirty="0">
                    <a:latin typeface="+mn-ea"/>
                  </a:rPr>
                  <a:t>T</a:t>
                </a:r>
                <a:r>
                  <a:rPr lang="en-US" altLang="zh-CN" sz="2800" b="1" baseline="-25000" dirty="0">
                    <a:latin typeface="+mn-ea"/>
                  </a:rPr>
                  <a:t>n</a:t>
                </a:r>
                <a:r>
                  <a:rPr lang="zh-CN" altLang="en-US" sz="2800" b="1" dirty="0">
                    <a:latin typeface="+mn-ea"/>
                  </a:rPr>
                  <a:t>是一组作用在</a:t>
                </a:r>
                <a:r>
                  <a:rPr lang="en-US" altLang="zh-CN" sz="2800" b="1" dirty="0" err="1" smtClean="0">
                    <a:latin typeface="+mn-ea"/>
                  </a:rPr>
                  <a:t>r</a:t>
                </a:r>
                <a:r>
                  <a:rPr lang="en-US" altLang="zh-CN" sz="2800" b="1" baseline="-25000" dirty="0" err="1">
                    <a:latin typeface="+mn-ea"/>
                  </a:rPr>
                  <a:t>i</a:t>
                </a:r>
                <a:r>
                  <a:rPr lang="zh-CN" altLang="en-US" sz="2800" b="1" dirty="0">
                    <a:latin typeface="+mn-ea"/>
                  </a:rPr>
                  <a:t>上以获得</a:t>
                </a:r>
                <a:r>
                  <a:rPr lang="en-US" altLang="zh-CN" sz="2800" b="1" dirty="0" err="1" smtClean="0">
                    <a:latin typeface="+mn-ea"/>
                  </a:rPr>
                  <a:t>s</a:t>
                </a:r>
                <a:r>
                  <a:rPr lang="en-US" altLang="zh-CN" sz="2800" b="1" baseline="-25000" dirty="0" err="1">
                    <a:latin typeface="+mn-ea"/>
                  </a:rPr>
                  <a:t>i</a:t>
                </a:r>
                <a:r>
                  <a:rPr lang="zh-CN" altLang="en-US" sz="2800" b="1" dirty="0">
                    <a:latin typeface="+mn-ea"/>
                  </a:rPr>
                  <a:t>的彩色变换（或映射）函数。对</a:t>
                </a:r>
                <a:r>
                  <a:rPr lang="en-US" altLang="zh-CN" sz="2800" b="1" dirty="0">
                    <a:latin typeface="+mn-ea"/>
                  </a:rPr>
                  <a:t>RGB</a:t>
                </a:r>
                <a:r>
                  <a:rPr lang="zh-CN" altLang="en-US" sz="2800" b="1" dirty="0">
                    <a:latin typeface="+mn-ea"/>
                  </a:rPr>
                  <a:t>图像，</a:t>
                </a:r>
                <a:r>
                  <a:rPr lang="en-US" altLang="zh-CN" sz="2800" b="1" dirty="0" smtClean="0">
                    <a:latin typeface="+mn-ea"/>
                  </a:rPr>
                  <a:t>n=3,r</a:t>
                </a:r>
                <a:r>
                  <a:rPr lang="en-US" altLang="zh-CN" sz="2800" b="1" baseline="-25000" dirty="0" smtClean="0">
                    <a:latin typeface="+mn-ea"/>
                  </a:rPr>
                  <a:t>1</a:t>
                </a:r>
                <a:r>
                  <a:rPr lang="zh-CN" altLang="en-US" sz="2800" b="1" dirty="0" smtClean="0">
                    <a:latin typeface="+mn-ea"/>
                  </a:rPr>
                  <a:t>、</a:t>
                </a:r>
                <a:r>
                  <a:rPr lang="en-US" altLang="zh-CN" sz="2800" b="1" dirty="0" smtClean="0">
                    <a:latin typeface="+mn-ea"/>
                  </a:rPr>
                  <a:t>r</a:t>
                </a:r>
                <a:r>
                  <a:rPr lang="en-US" altLang="zh-CN" sz="2800" b="1" baseline="-25000" dirty="0">
                    <a:latin typeface="+mn-ea"/>
                  </a:rPr>
                  <a:t>2</a:t>
                </a:r>
                <a:r>
                  <a:rPr lang="zh-CN" altLang="en-US" sz="2800" b="1" dirty="0">
                    <a:latin typeface="+mn-ea"/>
                  </a:rPr>
                  <a:t>和</a:t>
                </a:r>
                <a:r>
                  <a:rPr lang="en-US" altLang="zh-CN" sz="2800" b="1" dirty="0" smtClean="0">
                    <a:latin typeface="+mn-ea"/>
                  </a:rPr>
                  <a:t>r</a:t>
                </a:r>
                <a:r>
                  <a:rPr lang="en-US" altLang="zh-CN" sz="2800" b="1" baseline="-25000" dirty="0">
                    <a:latin typeface="+mn-ea"/>
                  </a:rPr>
                  <a:t>3</a:t>
                </a:r>
                <a:r>
                  <a:rPr lang="zh-CN" altLang="en-US" sz="2800" b="1" dirty="0">
                    <a:latin typeface="+mn-ea"/>
                  </a:rPr>
                  <a:t>对应输入图像中各个像素的</a:t>
                </a:r>
                <a:r>
                  <a:rPr lang="en-US" altLang="zh-CN" sz="2800" b="1" dirty="0">
                    <a:latin typeface="+mn-ea"/>
                  </a:rPr>
                  <a:t>R</a:t>
                </a:r>
                <a:r>
                  <a:rPr lang="zh-CN" altLang="en-US" sz="2800" b="1" dirty="0">
                    <a:latin typeface="+mn-ea"/>
                  </a:rPr>
                  <a:t>、</a:t>
                </a:r>
                <a:r>
                  <a:rPr lang="en-US" altLang="zh-CN" sz="2800" b="1" dirty="0">
                    <a:latin typeface="+mn-ea"/>
                  </a:rPr>
                  <a:t>G</a:t>
                </a:r>
                <a:r>
                  <a:rPr lang="zh-CN" altLang="en-US" sz="2800" b="1" dirty="0">
                    <a:latin typeface="+mn-ea"/>
                  </a:rPr>
                  <a:t>和</a:t>
                </a:r>
                <a:r>
                  <a:rPr lang="en-US" altLang="zh-CN" sz="2800" b="1" dirty="0">
                    <a:latin typeface="+mn-ea"/>
                  </a:rPr>
                  <a:t>B</a:t>
                </a:r>
                <a:r>
                  <a:rPr lang="zh-CN" altLang="en-US" sz="2800" b="1" dirty="0">
                    <a:latin typeface="+mn-ea"/>
                  </a:rPr>
                  <a:t>值。</a:t>
                </a:r>
              </a:p>
            </p:txBody>
          </p:sp>
        </mc:Choice>
        <mc:Fallback xmlns="">
          <p:sp>
            <p:nvSpPr>
              <p:cNvPr id="5" name="文本框 4">
                <a:extLst>
                  <a:ext uri="{FF2B5EF4-FFF2-40B4-BE49-F238E27FC236}">
                    <a16:creationId xmlns="" xmlns:a16="http://schemas.microsoft.com/office/drawing/2014/main" xmlns:a14="http://schemas.microsoft.com/office/drawing/2010/main" id="{84732DFE-67AB-4BF9-AE03-2DEE90B58F68}"/>
                  </a:ext>
                </a:extLst>
              </p:cNvPr>
              <p:cNvSpPr txBox="1">
                <a:spLocks noRot="1" noChangeAspect="1" noMove="1" noResize="1" noEditPoints="1" noAdjustHandles="1" noChangeArrowheads="1" noChangeShapeType="1" noTextEdit="1"/>
              </p:cNvSpPr>
              <p:nvPr/>
            </p:nvSpPr>
            <p:spPr>
              <a:xfrm>
                <a:off x="902969" y="1144934"/>
                <a:ext cx="10575857" cy="4832092"/>
              </a:xfrm>
              <a:prstGeom prst="rect">
                <a:avLst/>
              </a:prstGeom>
              <a:blipFill rotWithShape="0">
                <a:blip r:embed="rId2"/>
                <a:stretch>
                  <a:fillRect l="-1153" t="-1641" r="-1844" b="-15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75698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xmlns="" id="{2454BD4F-05B6-4655-95F6-0499D21314BC}"/>
                  </a:ext>
                </a:extLst>
              </p:cNvPr>
              <p:cNvSpPr txBox="1"/>
              <p:nvPr/>
            </p:nvSpPr>
            <p:spPr>
              <a:xfrm>
                <a:off x="1143000" y="1077638"/>
                <a:ext cx="10012680" cy="5351850"/>
              </a:xfrm>
              <a:prstGeom prst="rect">
                <a:avLst/>
              </a:prstGeom>
              <a:noFill/>
            </p:spPr>
            <p:txBody>
              <a:bodyPr wrap="square">
                <a:spAutoFit/>
              </a:bodyPr>
              <a:lstStyle/>
              <a:p>
                <a:pPr>
                  <a:lnSpc>
                    <a:spcPct val="120000"/>
                  </a:lnSpc>
                </a:pPr>
                <a:r>
                  <a:rPr lang="en-US" altLang="zh-CN" sz="2400" b="1" dirty="0" smtClean="0">
                    <a:solidFill>
                      <a:srgbClr val="C00000"/>
                    </a:solidFill>
                    <a:latin typeface="+mn-ea"/>
                  </a:rPr>
                  <a:t>1.</a:t>
                </a:r>
                <a:r>
                  <a:rPr lang="zh-CN" altLang="en-US" sz="2400" b="1" dirty="0" smtClean="0">
                    <a:solidFill>
                      <a:srgbClr val="C00000"/>
                    </a:solidFill>
                    <a:latin typeface="+mn-ea"/>
                  </a:rPr>
                  <a:t>强度</a:t>
                </a:r>
                <a:r>
                  <a:rPr lang="zh-CN" altLang="en-US" sz="2400" b="1" dirty="0">
                    <a:solidFill>
                      <a:srgbClr val="C00000"/>
                    </a:solidFill>
                    <a:latin typeface="+mn-ea"/>
                  </a:rPr>
                  <a:t>修改 </a:t>
                </a:r>
                <a:r>
                  <a:rPr lang="zh-CN" altLang="en-US" sz="2400" b="1" dirty="0">
                    <a:latin typeface="+mn-ea"/>
                  </a:rPr>
                  <a:t>一个彩色映射强度修改函数如式</a:t>
                </a:r>
                <a:r>
                  <a:rPr lang="en-US" altLang="zh-CN" sz="2400" b="1" dirty="0">
                    <a:latin typeface="+mn-ea"/>
                  </a:rPr>
                  <a:t>11-29</a:t>
                </a:r>
                <a:r>
                  <a:rPr lang="zh-CN" altLang="en-US" sz="2400" b="1" dirty="0">
                    <a:latin typeface="+mn-ea"/>
                  </a:rPr>
                  <a:t>所示：</a:t>
                </a:r>
                <a:endParaRPr lang="en-US" altLang="zh-CN" sz="2400" b="1" dirty="0">
                  <a:latin typeface="+mn-ea"/>
                </a:endParaRPr>
              </a:p>
              <a:p>
                <a:pPr>
                  <a:lnSpc>
                    <a:spcPct val="120000"/>
                  </a:lnSpc>
                </a:pPr>
                <a:endParaRPr lang="zh-CN" altLang="en-US" sz="2400" b="1" dirty="0">
                  <a:solidFill>
                    <a:srgbClr val="FF0000"/>
                  </a:solidFill>
                  <a:latin typeface="+mn-ea"/>
                </a:endParaRPr>
              </a:p>
              <a:p>
                <a:pPr algn="ctr">
                  <a:lnSpc>
                    <a:spcPct val="120000"/>
                  </a:lnSpc>
                </a:pPr>
                <a14:m>
                  <m:oMath xmlns:m="http://schemas.openxmlformats.org/officeDocument/2006/math">
                    <m:r>
                      <a:rPr lang="en-US" altLang="zh-CN" sz="2400" b="1" i="1" kern="100" smtClean="0">
                        <a:solidFill>
                          <a:srgbClr val="FF0000"/>
                        </a:solidFill>
                        <a:effectLst/>
                        <a:latin typeface="Cambria Math" panose="02040503050406030204" pitchFamily="18" charset="0"/>
                        <a:cs typeface="Times New Roman" panose="02020603050405020304" pitchFamily="18" charset="0"/>
                      </a:rPr>
                      <m:t>𝒈</m:t>
                    </m:r>
                    <m:d>
                      <m:dPr>
                        <m:ctrlPr>
                          <a:rPr lang="zh-CN" altLang="zh-CN" sz="2400" b="1" i="1" kern="100">
                            <a:solidFill>
                              <a:srgbClr val="FF0000"/>
                            </a:solidFill>
                            <a:effectLst/>
                            <a:latin typeface="Cambria Math" panose="02040503050406030204" pitchFamily="18" charset="0"/>
                            <a:cs typeface="Times New Roman" panose="02020603050405020304" pitchFamily="18" charset="0"/>
                          </a:rPr>
                        </m:ctrlPr>
                      </m:dPr>
                      <m:e>
                        <m:r>
                          <a:rPr lang="en-US" altLang="zh-CN" sz="2400" b="1" i="1" kern="100" smtClean="0">
                            <a:solidFill>
                              <a:srgbClr val="FF0000"/>
                            </a:solidFill>
                            <a:effectLst/>
                            <a:latin typeface="Cambria Math" panose="02040503050406030204" pitchFamily="18" charset="0"/>
                            <a:cs typeface="Times New Roman" panose="02020603050405020304" pitchFamily="18" charset="0"/>
                          </a:rPr>
                          <m:t>𝒙</m:t>
                        </m:r>
                        <m:r>
                          <a:rPr lang="en-US" altLang="zh-CN" sz="24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400" b="1" i="1" kern="100" smtClean="0">
                            <a:solidFill>
                              <a:srgbClr val="FF0000"/>
                            </a:solidFill>
                            <a:effectLst/>
                            <a:latin typeface="Cambria Math" panose="02040503050406030204" pitchFamily="18" charset="0"/>
                            <a:cs typeface="Times New Roman" panose="02020603050405020304" pitchFamily="18" charset="0"/>
                          </a:rPr>
                          <m:t>𝒚</m:t>
                        </m:r>
                      </m:e>
                    </m:d>
                    <m:r>
                      <a:rPr lang="en-US" altLang="zh-CN" sz="24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400" b="1" i="1" kern="100" smtClean="0">
                        <a:solidFill>
                          <a:srgbClr val="FF0000"/>
                        </a:solidFill>
                        <a:effectLst/>
                        <a:latin typeface="Cambria Math" panose="02040503050406030204" pitchFamily="18" charset="0"/>
                        <a:cs typeface="Times New Roman" panose="02020603050405020304" pitchFamily="18" charset="0"/>
                      </a:rPr>
                      <m:t>𝒌𝒇</m:t>
                    </m:r>
                    <m:r>
                      <a:rPr lang="en-US" altLang="zh-CN" sz="24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400" b="1" i="1" kern="100" smtClean="0">
                        <a:solidFill>
                          <a:srgbClr val="FF0000"/>
                        </a:solidFill>
                        <a:effectLst/>
                        <a:latin typeface="Cambria Math" panose="02040503050406030204" pitchFamily="18" charset="0"/>
                        <a:cs typeface="Times New Roman" panose="02020603050405020304" pitchFamily="18" charset="0"/>
                      </a:rPr>
                      <m:t>𝒙</m:t>
                    </m:r>
                    <m:r>
                      <a:rPr lang="en-US" altLang="zh-CN" sz="2400" b="1" i="1" kern="100" smtClean="0">
                        <a:solidFill>
                          <a:srgbClr val="FF0000"/>
                        </a:solidFill>
                        <a:effectLst/>
                        <a:latin typeface="Cambria Math" panose="02040503050406030204" pitchFamily="18" charset="0"/>
                        <a:cs typeface="Times New Roman" panose="02020603050405020304" pitchFamily="18" charset="0"/>
                      </a:rPr>
                      <m:t>,</m:t>
                    </m:r>
                    <m:r>
                      <a:rPr lang="en-US" altLang="zh-CN" sz="2400" b="1" i="1" kern="100" smtClean="0">
                        <a:solidFill>
                          <a:srgbClr val="FF0000"/>
                        </a:solidFill>
                        <a:effectLst/>
                        <a:latin typeface="Cambria Math" panose="02040503050406030204" pitchFamily="18" charset="0"/>
                        <a:cs typeface="Times New Roman" panose="02020603050405020304" pitchFamily="18" charset="0"/>
                      </a:rPr>
                      <m:t>𝒚</m:t>
                    </m:r>
                    <m:r>
                      <a:rPr lang="en-US" altLang="zh-CN" sz="2400" b="1" i="1" kern="100" smtClean="0">
                        <a:solidFill>
                          <a:srgbClr val="FF0000"/>
                        </a:solidFill>
                        <a:effectLst/>
                        <a:latin typeface="Cambria Math" panose="02040503050406030204" pitchFamily="18" charset="0"/>
                        <a:cs typeface="Times New Roman" panose="02020603050405020304" pitchFamily="18" charset="0"/>
                      </a:rPr>
                      <m:t>)</m:t>
                    </m:r>
                  </m:oMath>
                </a14:m>
                <a:r>
                  <a:rPr lang="en-US" altLang="zh-CN" sz="2400" b="1" kern="100" dirty="0">
                    <a:solidFill>
                      <a:srgbClr val="FF0000"/>
                    </a:solidFill>
                    <a:effectLst/>
                    <a:latin typeface="+mn-ea"/>
                    <a:cs typeface="Times New Roman" panose="02020603050405020304" pitchFamily="18" charset="0"/>
                  </a:rPr>
                  <a:t>                       11-29</a:t>
                </a:r>
                <a:endParaRPr lang="zh-CN" altLang="zh-CN" sz="2400" b="1" kern="100" dirty="0">
                  <a:solidFill>
                    <a:srgbClr val="FF0000"/>
                  </a:solidFill>
                  <a:effectLst/>
                  <a:latin typeface="+mn-ea"/>
                  <a:cs typeface="Times New Roman" panose="02020603050405020304" pitchFamily="18" charset="0"/>
                </a:endParaRPr>
              </a:p>
              <a:p>
                <a:pPr>
                  <a:lnSpc>
                    <a:spcPct val="120000"/>
                  </a:lnSpc>
                </a:pPr>
                <a:endParaRPr lang="en-US" altLang="zh-CN" sz="2400" b="1" dirty="0">
                  <a:latin typeface="+mn-ea"/>
                </a:endParaRPr>
              </a:p>
              <a:p>
                <a:pPr>
                  <a:lnSpc>
                    <a:spcPct val="120000"/>
                  </a:lnSpc>
                </a:pPr>
                <a:r>
                  <a:rPr lang="zh-CN" altLang="en-US" sz="2400" b="1" dirty="0">
                    <a:latin typeface="+mn-ea"/>
                  </a:rPr>
                  <a:t>上式可以看出，如果</a:t>
                </a:r>
                <a:r>
                  <a:rPr lang="en-US" altLang="zh-CN" sz="2400" b="1" dirty="0">
                    <a:latin typeface="+mn-ea"/>
                  </a:rPr>
                  <a:t>k&gt;1,</a:t>
                </a:r>
                <a:r>
                  <a:rPr lang="zh-CN" altLang="en-US" sz="2400" b="1" dirty="0">
                    <a:latin typeface="+mn-ea"/>
                  </a:rPr>
                  <a:t>所得结果图像将比原始图像亮，而如果</a:t>
                </a:r>
                <a:r>
                  <a:rPr lang="en-US" altLang="zh-CN" sz="2400" b="1" dirty="0">
                    <a:latin typeface="+mn-ea"/>
                  </a:rPr>
                  <a:t>k&lt;1,</a:t>
                </a:r>
                <a:r>
                  <a:rPr lang="zh-CN" altLang="en-US" sz="2400" b="1" dirty="0">
                    <a:latin typeface="+mn-ea"/>
                  </a:rPr>
                  <a:t>则输出图像将比原始图像暗</a:t>
                </a:r>
                <a:r>
                  <a:rPr lang="zh-CN" altLang="en-US" sz="2400" b="1" dirty="0" smtClean="0">
                    <a:latin typeface="+mn-ea"/>
                  </a:rPr>
                  <a:t>。</a:t>
                </a:r>
                <a:endParaRPr lang="en-US" altLang="zh-CN" sz="2400" b="1" dirty="0" smtClean="0">
                  <a:latin typeface="+mn-ea"/>
                </a:endParaRPr>
              </a:p>
              <a:p>
                <a:pPr>
                  <a:lnSpc>
                    <a:spcPct val="120000"/>
                  </a:lnSpc>
                </a:pPr>
                <a:endParaRPr lang="zh-CN" altLang="en-US" sz="2400" b="1" dirty="0">
                  <a:latin typeface="+mn-ea"/>
                </a:endParaRPr>
              </a:p>
              <a:p>
                <a:pPr>
                  <a:lnSpc>
                    <a:spcPct val="120000"/>
                  </a:lnSpc>
                </a:pPr>
                <a:r>
                  <a:rPr lang="en-US" altLang="zh-CN" sz="2400" b="1" dirty="0" smtClean="0">
                    <a:solidFill>
                      <a:srgbClr val="C00000"/>
                    </a:solidFill>
                    <a:latin typeface="+mn-ea"/>
                  </a:rPr>
                  <a:t>2.</a:t>
                </a:r>
                <a:r>
                  <a:rPr lang="zh-CN" altLang="en-US" sz="2400" b="1" dirty="0" smtClean="0">
                    <a:solidFill>
                      <a:srgbClr val="C00000"/>
                    </a:solidFill>
                    <a:latin typeface="+mn-ea"/>
                  </a:rPr>
                  <a:t>彩色</a:t>
                </a:r>
                <a:r>
                  <a:rPr lang="zh-CN" altLang="en-US" sz="2400" b="1" dirty="0">
                    <a:solidFill>
                      <a:srgbClr val="C00000"/>
                    </a:solidFill>
                    <a:latin typeface="+mn-ea"/>
                  </a:rPr>
                  <a:t>补集 </a:t>
                </a:r>
                <a:r>
                  <a:rPr lang="zh-CN" altLang="en-US" sz="2400" b="1" dirty="0" smtClean="0">
                    <a:latin typeface="+mn-ea"/>
                  </a:rPr>
                  <a:t>彩色</a:t>
                </a:r>
                <a:r>
                  <a:rPr lang="zh-CN" altLang="en-US" sz="2400" b="1" dirty="0">
                    <a:latin typeface="+mn-ea"/>
                  </a:rPr>
                  <a:t>补集操作是灰度负值变换的彩色等价，它将各个色调用它的补（有时称为对立色彩）来替换</a:t>
                </a:r>
                <a:r>
                  <a:rPr lang="zh-CN" altLang="en-US" sz="2400" b="1" dirty="0" smtClean="0">
                    <a:latin typeface="+mn-ea"/>
                  </a:rPr>
                  <a:t>。</a:t>
                </a:r>
                <a:endParaRPr lang="en-US" altLang="zh-CN" sz="2400" b="1" dirty="0" smtClean="0">
                  <a:latin typeface="+mn-ea"/>
                </a:endParaRPr>
              </a:p>
              <a:p>
                <a:pPr>
                  <a:lnSpc>
                    <a:spcPct val="120000"/>
                  </a:lnSpc>
                </a:pPr>
                <a:endParaRPr lang="zh-CN" altLang="en-US" sz="2400" b="1" dirty="0">
                  <a:latin typeface="+mn-ea"/>
                </a:endParaRPr>
              </a:p>
              <a:p>
                <a:pPr>
                  <a:lnSpc>
                    <a:spcPct val="120000"/>
                  </a:lnSpc>
                </a:pPr>
                <a:r>
                  <a:rPr lang="en-US" altLang="zh-CN" sz="2400" b="1" dirty="0" smtClean="0">
                    <a:solidFill>
                      <a:srgbClr val="C00000"/>
                    </a:solidFill>
                    <a:latin typeface="+mn-ea"/>
                  </a:rPr>
                  <a:t>3.</a:t>
                </a:r>
                <a:r>
                  <a:rPr lang="zh-CN" altLang="en-US" sz="2400" b="1" dirty="0" smtClean="0">
                    <a:solidFill>
                      <a:srgbClr val="C00000"/>
                    </a:solidFill>
                    <a:latin typeface="+mn-ea"/>
                  </a:rPr>
                  <a:t>彩色</a:t>
                </a:r>
                <a:r>
                  <a:rPr lang="zh-CN" altLang="en-US" sz="2400" b="1" dirty="0">
                    <a:solidFill>
                      <a:srgbClr val="C00000"/>
                    </a:solidFill>
                    <a:latin typeface="+mn-ea"/>
                  </a:rPr>
                  <a:t>切割 </a:t>
                </a:r>
                <a:r>
                  <a:rPr lang="zh-CN" altLang="en-US" sz="2400" b="1" dirty="0">
                    <a:latin typeface="+mn-ea"/>
                  </a:rPr>
                  <a:t>彩色切割是一个将超出感兴趣范围的所有彩色映射为一个“中性”色（如灰色），而将所有感兴趣彩色保持不变的映射</a:t>
                </a:r>
                <a:r>
                  <a:rPr lang="zh-CN" altLang="en-US" sz="2400" b="1" dirty="0" smtClean="0">
                    <a:latin typeface="+mn-ea"/>
                  </a:rPr>
                  <a:t>。</a:t>
                </a:r>
                <a:endParaRPr lang="zh-CN" altLang="en-US" sz="2400" b="1" dirty="0">
                  <a:latin typeface="+mn-ea"/>
                </a:endParaRPr>
              </a:p>
            </p:txBody>
          </p:sp>
        </mc:Choice>
        <mc:Fallback xmlns="">
          <p:sp>
            <p:nvSpPr>
              <p:cNvPr id="3" name="文本框 2">
                <a:extLst>
                  <a:ext uri="{FF2B5EF4-FFF2-40B4-BE49-F238E27FC236}">
                    <a16:creationId xmlns="" xmlns:a16="http://schemas.microsoft.com/office/drawing/2014/main" xmlns:a14="http://schemas.microsoft.com/office/drawing/2010/main" id="{2454BD4F-05B6-4655-95F6-0499D21314BC}"/>
                  </a:ext>
                </a:extLst>
              </p:cNvPr>
              <p:cNvSpPr txBox="1">
                <a:spLocks noRot="1" noChangeAspect="1" noMove="1" noResize="1" noEditPoints="1" noAdjustHandles="1" noChangeArrowheads="1" noChangeShapeType="1" noTextEdit="1"/>
              </p:cNvSpPr>
              <p:nvPr/>
            </p:nvSpPr>
            <p:spPr>
              <a:xfrm>
                <a:off x="1143000" y="1077638"/>
                <a:ext cx="10012680" cy="5351850"/>
              </a:xfrm>
              <a:prstGeom prst="rect">
                <a:avLst/>
              </a:prstGeom>
              <a:blipFill rotWithShape="0">
                <a:blip r:embed="rId2"/>
                <a:stretch>
                  <a:fillRect l="-974" t="-683" r="-914" b="-15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9870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ABA6E1D2-DD30-4E4E-89A8-FFE3D987D7CC}"/>
              </a:ext>
            </a:extLst>
          </p:cNvPr>
          <p:cNvSpPr txBox="1"/>
          <p:nvPr/>
        </p:nvSpPr>
        <p:spPr>
          <a:xfrm>
            <a:off x="2393753" y="536736"/>
            <a:ext cx="6094520" cy="646331"/>
          </a:xfrm>
          <a:prstGeom prst="rect">
            <a:avLst/>
          </a:prstGeom>
          <a:noFill/>
        </p:spPr>
        <p:txBody>
          <a:bodyPr wrap="square">
            <a:spAutoFit/>
          </a:bodyPr>
          <a:lstStyle/>
          <a:p>
            <a:pPr algn="ctr"/>
            <a:r>
              <a:rPr lang="en-US" altLang="zh-CN" sz="3600" b="1" dirty="0" smtClean="0">
                <a:solidFill>
                  <a:srgbClr val="C00000"/>
                </a:solidFill>
              </a:rPr>
              <a:t>11.4.2  </a:t>
            </a:r>
            <a:r>
              <a:rPr lang="zh-CN" altLang="en-US" sz="3600" b="1" dirty="0" smtClean="0">
                <a:solidFill>
                  <a:srgbClr val="C00000"/>
                </a:solidFill>
              </a:rPr>
              <a:t>直方图</a:t>
            </a:r>
            <a:r>
              <a:rPr lang="zh-CN" altLang="en-US" sz="3600" b="1" dirty="0">
                <a:solidFill>
                  <a:srgbClr val="C00000"/>
                </a:solidFill>
              </a:rPr>
              <a:t>处理</a:t>
            </a:r>
          </a:p>
        </p:txBody>
      </p:sp>
      <p:sp>
        <p:nvSpPr>
          <p:cNvPr id="5" name="文本框 4">
            <a:extLst>
              <a:ext uri="{FF2B5EF4-FFF2-40B4-BE49-F238E27FC236}">
                <a16:creationId xmlns:a16="http://schemas.microsoft.com/office/drawing/2014/main" xmlns="" id="{8CDC1840-58E5-4B7F-A34D-E0FD4142F415}"/>
              </a:ext>
            </a:extLst>
          </p:cNvPr>
          <p:cNvSpPr txBox="1"/>
          <p:nvPr/>
        </p:nvSpPr>
        <p:spPr>
          <a:xfrm>
            <a:off x="1031364" y="1183067"/>
            <a:ext cx="9985159" cy="4437753"/>
          </a:xfrm>
          <a:prstGeom prst="rect">
            <a:avLst/>
          </a:prstGeom>
          <a:noFill/>
        </p:spPr>
        <p:txBody>
          <a:bodyPr wrap="square">
            <a:spAutoFit/>
          </a:bodyPr>
          <a:lstStyle/>
          <a:p>
            <a:pPr indent="457200" algn="just">
              <a:lnSpc>
                <a:spcPct val="150000"/>
              </a:lnSpc>
            </a:pPr>
            <a:r>
              <a:rPr lang="zh-CN" altLang="en-US" sz="2400" b="1" dirty="0">
                <a:solidFill>
                  <a:srgbClr val="0033CC"/>
                </a:solidFill>
                <a:latin typeface="+mn-ea"/>
              </a:rPr>
              <a:t>直方图</a:t>
            </a:r>
            <a:r>
              <a:rPr lang="zh-CN" altLang="en-US" sz="2400" b="1" dirty="0">
                <a:latin typeface="+mn-ea"/>
              </a:rPr>
              <a:t>的概念可以扩展到彩色图像，其中每幅图像可用</a:t>
            </a:r>
            <a:r>
              <a:rPr lang="en-US" altLang="zh-CN" sz="2400" b="1" dirty="0">
                <a:latin typeface="+mn-ea"/>
              </a:rPr>
              <a:t>3</a:t>
            </a:r>
            <a:r>
              <a:rPr lang="zh-CN" altLang="en-US" sz="2400" b="1" dirty="0">
                <a:latin typeface="+mn-ea"/>
              </a:rPr>
              <a:t>个具有</a:t>
            </a:r>
            <a:r>
              <a:rPr lang="en-US" altLang="zh-CN" sz="2400" b="1" dirty="0">
                <a:latin typeface="+mn-ea"/>
              </a:rPr>
              <a:t>N</a:t>
            </a:r>
            <a:r>
              <a:rPr lang="zh-CN" altLang="en-US" sz="2400" b="1" dirty="0">
                <a:latin typeface="+mn-ea"/>
              </a:rPr>
              <a:t>个（一般，</a:t>
            </a:r>
            <a:r>
              <a:rPr lang="en-US" altLang="zh-CN" sz="2400" b="1" dirty="0">
                <a:latin typeface="+mn-ea"/>
              </a:rPr>
              <a:t>4≤N≤256</a:t>
            </a:r>
            <a:r>
              <a:rPr lang="zh-CN" altLang="en-US" sz="2400" b="1" dirty="0">
                <a:latin typeface="+mn-ea"/>
              </a:rPr>
              <a:t>）直方条的直方图来表示</a:t>
            </a:r>
            <a:r>
              <a:rPr lang="zh-CN" altLang="en-US" sz="2400" b="1" dirty="0" smtClean="0">
                <a:latin typeface="+mn-ea"/>
              </a:rPr>
              <a:t>。</a:t>
            </a:r>
            <a:endParaRPr lang="en-US" altLang="zh-CN" sz="2400" b="1" dirty="0" smtClean="0">
              <a:latin typeface="+mn-ea"/>
            </a:endParaRPr>
          </a:p>
          <a:p>
            <a:pPr indent="457200" algn="just">
              <a:lnSpc>
                <a:spcPct val="150000"/>
              </a:lnSpc>
            </a:pPr>
            <a:r>
              <a:rPr lang="zh-CN" altLang="en-US" sz="2400" b="1" dirty="0" smtClean="0">
                <a:solidFill>
                  <a:srgbClr val="0033CC"/>
                </a:solidFill>
                <a:latin typeface="+mn-ea"/>
              </a:rPr>
              <a:t>直方图</a:t>
            </a:r>
            <a:r>
              <a:rPr lang="zh-CN" altLang="en-US" sz="2400" b="1" dirty="0">
                <a:solidFill>
                  <a:srgbClr val="0033CC"/>
                </a:solidFill>
                <a:latin typeface="+mn-ea"/>
              </a:rPr>
              <a:t>技术</a:t>
            </a:r>
            <a:r>
              <a:rPr lang="zh-CN" altLang="en-US" sz="2400" b="1" dirty="0">
                <a:latin typeface="+mn-ea"/>
              </a:rPr>
              <a:t>（如，直方图均衡化）可用于使用某个彩色模型表达的图像，该模型允许将亮度分量与色度分量分开（如，</a:t>
            </a:r>
            <a:r>
              <a:rPr lang="en-US" altLang="zh-CN" sz="2400" b="1" dirty="0">
                <a:latin typeface="+mn-ea"/>
              </a:rPr>
              <a:t>HSI</a:t>
            </a:r>
            <a:r>
              <a:rPr lang="zh-CN" altLang="en-US" sz="2400" b="1" dirty="0">
                <a:latin typeface="+mn-ea"/>
              </a:rPr>
              <a:t>模型）：对一幅彩色图像的亮度（强度</a:t>
            </a:r>
            <a:r>
              <a:rPr lang="en-US" altLang="zh-CN" sz="2400" b="1" dirty="0">
                <a:latin typeface="+mn-ea"/>
              </a:rPr>
              <a:t>I</a:t>
            </a:r>
            <a:r>
              <a:rPr lang="zh-CN" altLang="en-US" sz="2400" b="1" dirty="0">
                <a:latin typeface="+mn-ea"/>
              </a:rPr>
              <a:t>）分量进行处理而保持色度分量（</a:t>
            </a:r>
            <a:r>
              <a:rPr lang="en-US" altLang="zh-CN" sz="2400" b="1" dirty="0">
                <a:latin typeface="+mn-ea"/>
              </a:rPr>
              <a:t>H</a:t>
            </a:r>
            <a:r>
              <a:rPr lang="zh-CN" altLang="en-US" sz="2400" b="1" dirty="0">
                <a:latin typeface="+mn-ea"/>
              </a:rPr>
              <a:t>和</a:t>
            </a:r>
            <a:r>
              <a:rPr lang="en-US" altLang="zh-CN" sz="2400" b="1" dirty="0">
                <a:latin typeface="+mn-ea"/>
              </a:rPr>
              <a:t>S</a:t>
            </a:r>
            <a:r>
              <a:rPr lang="zh-CN" altLang="en-US" sz="2400" b="1" dirty="0">
                <a:latin typeface="+mn-ea"/>
              </a:rPr>
              <a:t>）不变。</a:t>
            </a:r>
          </a:p>
          <a:p>
            <a:pPr indent="457200" algn="just">
              <a:lnSpc>
                <a:spcPct val="150000"/>
              </a:lnSpc>
            </a:pPr>
            <a:r>
              <a:rPr lang="zh-CN" altLang="en-US" sz="2400" b="1" dirty="0">
                <a:solidFill>
                  <a:srgbClr val="0033CC"/>
                </a:solidFill>
                <a:latin typeface="+mn-ea"/>
              </a:rPr>
              <a:t>直方图均衡化</a:t>
            </a:r>
            <a:r>
              <a:rPr lang="zh-CN" altLang="en-US" sz="2400" b="1" dirty="0">
                <a:latin typeface="+mn-ea"/>
              </a:rPr>
              <a:t>的主要目的是将原始图像的灰度级均匀的映射到整个灰度级范围内，从而得到一个灰度级分布均匀的图像。这种均衡化从灰度值统计的概率方面和人类视觉系统上实现了均衡</a:t>
            </a:r>
            <a:r>
              <a:rPr lang="zh-CN" altLang="en-US" sz="2400" b="1" dirty="0" smtClean="0">
                <a:latin typeface="+mn-ea"/>
              </a:rPr>
              <a:t>。</a:t>
            </a:r>
            <a:endParaRPr lang="zh-CN" altLang="en-US" sz="2400" b="1" dirty="0">
              <a:latin typeface="+mn-ea"/>
            </a:endParaRPr>
          </a:p>
        </p:txBody>
      </p:sp>
    </p:spTree>
    <p:extLst>
      <p:ext uri="{BB962C8B-B14F-4D97-AF65-F5344CB8AC3E}">
        <p14:creationId xmlns:p14="http://schemas.microsoft.com/office/powerpoint/2010/main" val="1630005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60170" y="618517"/>
            <a:ext cx="3120390" cy="867383"/>
          </a:xfrm>
        </p:spPr>
        <p:txBody>
          <a:bodyPr/>
          <a:lstStyle/>
          <a:p>
            <a:r>
              <a:rPr lang="zh-CN" altLang="en-US" b="1" dirty="0" smtClean="0">
                <a:solidFill>
                  <a:srgbClr val="C00000"/>
                </a:solidFill>
                <a:latin typeface="+mn-ea"/>
              </a:rPr>
              <a:t>在</a:t>
            </a:r>
            <a:r>
              <a:rPr lang="en-US" altLang="zh-CN" b="1" dirty="0" err="1" smtClean="0">
                <a:solidFill>
                  <a:srgbClr val="C00000"/>
                </a:solidFill>
                <a:latin typeface="+mn-ea"/>
              </a:rPr>
              <a:t>OpenCV</a:t>
            </a:r>
            <a:r>
              <a:rPr lang="zh-CN" altLang="en-US" b="1" dirty="0" smtClean="0">
                <a:solidFill>
                  <a:srgbClr val="C00000"/>
                </a:solidFill>
                <a:latin typeface="+mn-ea"/>
              </a:rPr>
              <a:t>中</a:t>
            </a:r>
            <a:r>
              <a:rPr lang="en-US" altLang="zh-CN" b="1" dirty="0" smtClean="0">
                <a:solidFill>
                  <a:srgbClr val="C00000"/>
                </a:solidFill>
                <a:latin typeface="+mn-ea"/>
              </a:rPr>
              <a:t>:</a:t>
            </a:r>
            <a:endParaRPr lang="zh-CN" altLang="en-US" dirty="0">
              <a:solidFill>
                <a:srgbClr val="C00000"/>
              </a:solidFill>
            </a:endParaRPr>
          </a:p>
        </p:txBody>
      </p:sp>
      <p:sp>
        <p:nvSpPr>
          <p:cNvPr id="3" name="内容占位符 2"/>
          <p:cNvSpPr>
            <a:spLocks noGrp="1"/>
          </p:cNvSpPr>
          <p:nvPr>
            <p:ph sz="quarter" idx="13"/>
          </p:nvPr>
        </p:nvSpPr>
        <p:spPr>
          <a:xfrm>
            <a:off x="913774" y="1337310"/>
            <a:ext cx="10363826" cy="5029200"/>
          </a:xfrm>
        </p:spPr>
        <p:txBody>
          <a:bodyPr>
            <a:noAutofit/>
          </a:bodyPr>
          <a:lstStyle/>
          <a:p>
            <a:r>
              <a:rPr lang="zh-CN" altLang="en-US" sz="2400" b="1" dirty="0">
                <a:latin typeface="+mn-ea"/>
              </a:rPr>
              <a:t>在</a:t>
            </a:r>
            <a:r>
              <a:rPr lang="en-US" altLang="zh-CN" sz="2400" b="1" dirty="0" err="1">
                <a:latin typeface="+mn-ea"/>
              </a:rPr>
              <a:t>OpenCV</a:t>
            </a:r>
            <a:r>
              <a:rPr lang="zh-CN" altLang="en-US" sz="2400" b="1" dirty="0">
                <a:latin typeface="+mn-ea"/>
              </a:rPr>
              <a:t>中提供了</a:t>
            </a:r>
            <a:r>
              <a:rPr lang="en-US" altLang="zh-CN" sz="2400" b="1" dirty="0">
                <a:latin typeface="+mn-ea"/>
              </a:rPr>
              <a:t>cv2.equalizeHist()</a:t>
            </a:r>
            <a:r>
              <a:rPr lang="zh-CN" altLang="en-US" sz="2400" b="1" dirty="0">
                <a:latin typeface="+mn-ea"/>
              </a:rPr>
              <a:t>函数，用于实现图像的直方图均衡化，其语法格式为：</a:t>
            </a:r>
          </a:p>
          <a:p>
            <a:pPr algn="ctr"/>
            <a:r>
              <a:rPr lang="en-US" altLang="zh-CN" sz="2400" b="1" dirty="0">
                <a:solidFill>
                  <a:srgbClr val="FF0000"/>
                </a:solidFill>
                <a:latin typeface="+mn-ea"/>
                <a:cs typeface="Times New Roman" panose="02020603050405020304" pitchFamily="18" charset="0"/>
              </a:rPr>
              <a:t>image = cv2.equalizeHist(</a:t>
            </a:r>
            <a:r>
              <a:rPr lang="en-US" altLang="zh-CN" sz="2400" b="1" dirty="0" err="1">
                <a:solidFill>
                  <a:srgbClr val="FF0000"/>
                </a:solidFill>
                <a:latin typeface="+mn-ea"/>
                <a:cs typeface="Times New Roman" panose="02020603050405020304" pitchFamily="18" charset="0"/>
              </a:rPr>
              <a:t>src</a:t>
            </a:r>
            <a:r>
              <a:rPr lang="en-US" altLang="zh-CN" sz="2400" b="1" dirty="0">
                <a:solidFill>
                  <a:srgbClr val="FF0000"/>
                </a:solidFill>
                <a:latin typeface="+mn-ea"/>
                <a:cs typeface="Times New Roman" panose="02020603050405020304" pitchFamily="18" charset="0"/>
              </a:rPr>
              <a:t>)</a:t>
            </a:r>
          </a:p>
          <a:p>
            <a:pPr lvl="1"/>
            <a:r>
              <a:rPr lang="zh-CN" altLang="en-US" sz="2200" b="1" dirty="0">
                <a:latin typeface="+mn-ea"/>
              </a:rPr>
              <a:t>其中，</a:t>
            </a:r>
            <a:r>
              <a:rPr lang="en-US" altLang="zh-CN" sz="2200" b="1" dirty="0" err="1">
                <a:latin typeface="+mn-ea"/>
              </a:rPr>
              <a:t>src</a:t>
            </a:r>
            <a:r>
              <a:rPr lang="zh-CN" altLang="en-US" sz="2200" b="1" dirty="0">
                <a:latin typeface="+mn-ea"/>
              </a:rPr>
              <a:t>表示输入的待处理图像</a:t>
            </a:r>
            <a:r>
              <a:rPr lang="zh-CN" altLang="en-US" sz="2200" b="1" dirty="0" smtClean="0">
                <a:latin typeface="+mn-ea"/>
              </a:rPr>
              <a:t>。</a:t>
            </a:r>
            <a:endParaRPr lang="en-US" altLang="zh-CN" sz="2200" b="1" dirty="0" smtClean="0">
              <a:latin typeface="+mn-ea"/>
            </a:endParaRPr>
          </a:p>
          <a:p>
            <a:pPr lvl="1"/>
            <a:endParaRPr lang="zh-CN" altLang="en-US" sz="2200" b="1" dirty="0">
              <a:latin typeface="+mn-ea"/>
            </a:endParaRPr>
          </a:p>
          <a:p>
            <a:r>
              <a:rPr lang="zh-CN" altLang="en-US" sz="2400" b="1" dirty="0">
                <a:latin typeface="+mn-ea"/>
              </a:rPr>
              <a:t>另外，</a:t>
            </a:r>
            <a:r>
              <a:rPr lang="en-US" altLang="zh-CN" sz="2400" b="1" dirty="0">
                <a:latin typeface="+mn-ea"/>
              </a:rPr>
              <a:t>python</a:t>
            </a:r>
            <a:r>
              <a:rPr lang="zh-CN" altLang="en-US" sz="2400" b="1" dirty="0">
                <a:latin typeface="+mn-ea"/>
              </a:rPr>
              <a:t>模块</a:t>
            </a:r>
            <a:r>
              <a:rPr lang="en-US" altLang="zh-CN" sz="2400" b="1" dirty="0" err="1">
                <a:latin typeface="+mn-ea"/>
              </a:rPr>
              <a:t>matplotlib.pyplot</a:t>
            </a:r>
            <a:r>
              <a:rPr lang="zh-CN" altLang="en-US" sz="2400" b="1" dirty="0">
                <a:latin typeface="+mn-ea"/>
              </a:rPr>
              <a:t>中的</a:t>
            </a:r>
            <a:r>
              <a:rPr lang="en-US" altLang="zh-CN" sz="2400" b="1" dirty="0" err="1">
                <a:latin typeface="+mn-ea"/>
              </a:rPr>
              <a:t>hist</a:t>
            </a:r>
            <a:r>
              <a:rPr lang="en-US" altLang="zh-CN" sz="2400" b="1" dirty="0">
                <a:latin typeface="+mn-ea"/>
              </a:rPr>
              <a:t>()</a:t>
            </a:r>
            <a:r>
              <a:rPr lang="zh-CN" altLang="en-US" sz="2400" b="1" dirty="0">
                <a:latin typeface="+mn-ea"/>
              </a:rPr>
              <a:t>函数能够方便的绘制直方图，通常使用该函数直接绘制直方图。其语法格式如下：</a:t>
            </a:r>
          </a:p>
          <a:p>
            <a:pPr algn="ctr"/>
            <a:r>
              <a:rPr lang="en-US" altLang="zh-CN" sz="2400" b="1" dirty="0" err="1">
                <a:solidFill>
                  <a:srgbClr val="FF0000"/>
                </a:solidFill>
                <a:latin typeface="+mn-ea"/>
                <a:cs typeface="Times New Roman" panose="02020603050405020304" pitchFamily="18" charset="0"/>
              </a:rPr>
              <a:t>matplotlib.pyplot.hist</a:t>
            </a:r>
            <a:r>
              <a:rPr lang="en-US" altLang="zh-CN" sz="2400" b="1" dirty="0">
                <a:solidFill>
                  <a:srgbClr val="FF0000"/>
                </a:solidFill>
                <a:latin typeface="+mn-ea"/>
                <a:cs typeface="Times New Roman" panose="02020603050405020304" pitchFamily="18" charset="0"/>
              </a:rPr>
              <a:t>(</a:t>
            </a:r>
            <a:r>
              <a:rPr lang="en-US" altLang="zh-CN" sz="2400" b="1" dirty="0" err="1">
                <a:solidFill>
                  <a:srgbClr val="FF0000"/>
                </a:solidFill>
                <a:latin typeface="+mn-ea"/>
                <a:cs typeface="Times New Roman" panose="02020603050405020304" pitchFamily="18" charset="0"/>
              </a:rPr>
              <a:t>image,BINS</a:t>
            </a:r>
            <a:r>
              <a:rPr lang="en-US" altLang="zh-CN" sz="2400" b="1" dirty="0">
                <a:solidFill>
                  <a:srgbClr val="FF0000"/>
                </a:solidFill>
                <a:latin typeface="+mn-ea"/>
                <a:cs typeface="Times New Roman" panose="02020603050405020304" pitchFamily="18" charset="0"/>
              </a:rPr>
              <a:t>)</a:t>
            </a:r>
          </a:p>
          <a:p>
            <a:pPr lvl="1"/>
            <a:r>
              <a:rPr lang="zh-CN" altLang="en-US" sz="2200" b="1" dirty="0">
                <a:latin typeface="+mn-ea"/>
              </a:rPr>
              <a:t>其中，</a:t>
            </a:r>
            <a:r>
              <a:rPr lang="en-US" altLang="zh-CN" sz="2200" b="1" dirty="0">
                <a:latin typeface="+mn-ea"/>
              </a:rPr>
              <a:t>image</a:t>
            </a:r>
            <a:r>
              <a:rPr lang="zh-CN" altLang="en-US" sz="2200" b="1" dirty="0">
                <a:latin typeface="+mn-ea"/>
              </a:rPr>
              <a:t>表示原始图像数据，必须将其转换为一维数据。</a:t>
            </a:r>
            <a:r>
              <a:rPr lang="en-US" altLang="zh-CN" sz="2200" b="1" dirty="0">
                <a:latin typeface="+mn-ea"/>
              </a:rPr>
              <a:t>BINS</a:t>
            </a:r>
            <a:r>
              <a:rPr lang="zh-CN" altLang="en-US" sz="2200" b="1" dirty="0">
                <a:latin typeface="+mn-ea"/>
              </a:rPr>
              <a:t>表示灰度级的分组情况</a:t>
            </a:r>
            <a:r>
              <a:rPr lang="zh-CN" altLang="en-US" sz="2200" b="1" dirty="0" smtClean="0">
                <a:latin typeface="+mn-ea"/>
              </a:rPr>
              <a:t>。</a:t>
            </a:r>
            <a:endParaRPr lang="zh-CN" altLang="en-US" sz="2200" dirty="0"/>
          </a:p>
        </p:txBody>
      </p:sp>
    </p:spTree>
    <p:extLst>
      <p:ext uri="{BB962C8B-B14F-4D97-AF65-F5344CB8AC3E}">
        <p14:creationId xmlns:p14="http://schemas.microsoft.com/office/powerpoint/2010/main" val="8390028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77C916E2-2BE9-4161-ACA8-54B1C2D0999F}"/>
              </a:ext>
            </a:extLst>
          </p:cNvPr>
          <p:cNvSpPr txBox="1"/>
          <p:nvPr/>
        </p:nvSpPr>
        <p:spPr>
          <a:xfrm>
            <a:off x="1054223" y="796975"/>
            <a:ext cx="9941437" cy="461665"/>
          </a:xfrm>
          <a:prstGeom prst="rect">
            <a:avLst/>
          </a:prstGeom>
          <a:noFill/>
        </p:spPr>
        <p:txBody>
          <a:bodyPr wrap="square">
            <a:spAutoFit/>
          </a:bodyPr>
          <a:lstStyle/>
          <a:p>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11.8】</a:t>
            </a:r>
            <a:r>
              <a:rPr lang="zh-CN" altLang="en-US" sz="2400" dirty="0"/>
              <a:t>对彩色图像各个通道分别进行直方图均衡化，程序代码如下：</a:t>
            </a:r>
          </a:p>
        </p:txBody>
      </p:sp>
      <p:sp>
        <p:nvSpPr>
          <p:cNvPr id="5" name="文本框 4">
            <a:extLst>
              <a:ext uri="{FF2B5EF4-FFF2-40B4-BE49-F238E27FC236}">
                <a16:creationId xmlns:a16="http://schemas.microsoft.com/office/drawing/2014/main" xmlns="" id="{47503E87-37F6-44D5-B454-AAAE685AD5EB}"/>
              </a:ext>
            </a:extLst>
          </p:cNvPr>
          <p:cNvSpPr txBox="1"/>
          <p:nvPr/>
        </p:nvSpPr>
        <p:spPr>
          <a:xfrm>
            <a:off x="218243" y="1510317"/>
            <a:ext cx="5466425" cy="4524315"/>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import cv2</a:t>
            </a:r>
          </a:p>
          <a:p>
            <a:r>
              <a:rPr lang="en-US" altLang="zh-CN" dirty="0">
                <a:latin typeface="Times New Roman" panose="02020603050405020304" pitchFamily="18" charset="0"/>
                <a:cs typeface="Times New Roman" panose="02020603050405020304" pitchFamily="18" charset="0"/>
              </a:rPr>
              <a:t>import </a:t>
            </a:r>
            <a:r>
              <a:rPr lang="en-US" altLang="zh-CN" dirty="0" err="1">
                <a:latin typeface="Times New Roman" panose="02020603050405020304" pitchFamily="18" charset="0"/>
                <a:cs typeface="Times New Roman" panose="02020603050405020304" pitchFamily="18" charset="0"/>
              </a:rPr>
              <a:t>matplotlib.pyplot</a:t>
            </a:r>
            <a:r>
              <a:rPr lang="en-US" altLang="zh-CN" dirty="0">
                <a:latin typeface="Times New Roman" panose="02020603050405020304" pitchFamily="18" charset="0"/>
                <a:cs typeface="Times New Roman" panose="02020603050405020304" pitchFamily="18" charset="0"/>
              </a:rPr>
              <a:t> as </a:t>
            </a:r>
            <a:r>
              <a:rPr lang="en-US" altLang="zh-CN" dirty="0" err="1">
                <a:latin typeface="Times New Roman" panose="02020603050405020304" pitchFamily="18" charset="0"/>
                <a:cs typeface="Times New Roman" panose="02020603050405020304" pitchFamily="18" charset="0"/>
              </a:rPr>
              <a:t>plt</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 = cv2.imread("d:/pics/lena.jpg")</a:t>
            </a:r>
          </a:p>
          <a:p>
            <a:r>
              <a:rPr lang="en-US" altLang="zh-CN" dirty="0">
                <a:latin typeface="Times New Roman" panose="02020603050405020304" pitchFamily="18" charset="0"/>
                <a:cs typeface="Times New Roman" panose="02020603050405020304" pitchFamily="18" charset="0"/>
              </a:rPr>
              <a:t>cv2.imshow("Original",</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显示原始图像</a:t>
            </a:r>
          </a:p>
          <a:p>
            <a:endParaRPr lang="zh-CN" altLang="en-US" dirty="0">
              <a:latin typeface="Times New Roman" panose="02020603050405020304" pitchFamily="18" charset="0"/>
              <a:cs typeface="Times New Roman" panose="02020603050405020304" pitchFamily="18" charset="0"/>
            </a:endParaRPr>
          </a:p>
          <a:p>
            <a:r>
              <a:rPr lang="en-US" altLang="zh-CN" dirty="0" err="1">
                <a:latin typeface="Times New Roman" panose="02020603050405020304" pitchFamily="18" charset="0"/>
                <a:cs typeface="Times New Roman" panose="02020603050405020304" pitchFamily="18" charset="0"/>
              </a:rPr>
              <a:t>plt.figure</a:t>
            </a:r>
            <a:r>
              <a:rPr lang="en-US" altLang="zh-CN" dirty="0">
                <a:latin typeface="Times New Roman" panose="02020603050405020304" pitchFamily="18" charset="0"/>
                <a:cs typeface="Times New Roman" panose="02020603050405020304" pitchFamily="18" charset="0"/>
              </a:rPr>
              <a:t>(1)</a:t>
            </a:r>
          </a:p>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构造第一个通道图像的直方图</a:t>
            </a:r>
          </a:p>
          <a:p>
            <a:r>
              <a:rPr lang="en-US" altLang="zh-CN" dirty="0">
                <a:latin typeface="Times New Roman" panose="02020603050405020304" pitchFamily="18" charset="0"/>
                <a:cs typeface="Times New Roman" panose="02020603050405020304" pitchFamily="18" charset="0"/>
              </a:rPr>
              <a:t>hist0 = cv2.calcHist([</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[:,:,0]],[0],None,[256],[0,256])</a:t>
            </a:r>
          </a:p>
          <a:p>
            <a:r>
              <a:rPr lang="en-US" altLang="zh-CN" dirty="0" err="1">
                <a:latin typeface="Times New Roman" panose="02020603050405020304" pitchFamily="18" charset="0"/>
                <a:cs typeface="Times New Roman" panose="02020603050405020304" pitchFamily="18" charset="0"/>
              </a:rPr>
              <a:t>plt.plot</a:t>
            </a:r>
            <a:r>
              <a:rPr lang="en-US" altLang="zh-CN" dirty="0">
                <a:latin typeface="Times New Roman" panose="02020603050405020304" pitchFamily="18" charset="0"/>
                <a:cs typeface="Times New Roman" panose="02020603050405020304" pitchFamily="18" charset="0"/>
              </a:rPr>
              <a:t>(hist0,color='b')    #</a:t>
            </a:r>
            <a:r>
              <a:rPr lang="zh-CN" altLang="en-US" dirty="0">
                <a:latin typeface="Times New Roman" panose="02020603050405020304" pitchFamily="18" charset="0"/>
                <a:cs typeface="Times New Roman" panose="02020603050405020304" pitchFamily="18" charset="0"/>
              </a:rPr>
              <a:t>绘制直方图</a:t>
            </a:r>
          </a:p>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第二个通道图像的直方图</a:t>
            </a:r>
          </a:p>
          <a:p>
            <a:r>
              <a:rPr lang="en-US" altLang="zh-CN" dirty="0">
                <a:latin typeface="Times New Roman" panose="02020603050405020304" pitchFamily="18" charset="0"/>
                <a:cs typeface="Times New Roman" panose="02020603050405020304" pitchFamily="18" charset="0"/>
              </a:rPr>
              <a:t>hist1 = cv2.calcHist([</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[:,:,1]],[0],None,[256],[0,256])</a:t>
            </a:r>
          </a:p>
          <a:p>
            <a:r>
              <a:rPr lang="en-US" altLang="zh-CN" dirty="0" err="1">
                <a:latin typeface="Times New Roman" panose="02020603050405020304" pitchFamily="18" charset="0"/>
                <a:cs typeface="Times New Roman" panose="02020603050405020304" pitchFamily="18" charset="0"/>
              </a:rPr>
              <a:t>plt.plot</a:t>
            </a:r>
            <a:r>
              <a:rPr lang="en-US" altLang="zh-CN" dirty="0">
                <a:latin typeface="Times New Roman" panose="02020603050405020304" pitchFamily="18" charset="0"/>
                <a:cs typeface="Times New Roman" panose="02020603050405020304" pitchFamily="18" charset="0"/>
              </a:rPr>
              <a:t>(hist1,color='g')</a:t>
            </a:r>
          </a:p>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第三个通道图像的直方图</a:t>
            </a:r>
          </a:p>
          <a:p>
            <a:r>
              <a:rPr lang="en-US" altLang="zh-CN" dirty="0">
                <a:latin typeface="Times New Roman" panose="02020603050405020304" pitchFamily="18" charset="0"/>
                <a:cs typeface="Times New Roman" panose="02020603050405020304" pitchFamily="18" charset="0"/>
              </a:rPr>
              <a:t>hist2 = cv2.calcHist([</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[:,:,2]],[0],None,[256],[0,256])</a:t>
            </a:r>
          </a:p>
          <a:p>
            <a:r>
              <a:rPr lang="en-US" altLang="zh-CN" dirty="0" err="1">
                <a:latin typeface="Times New Roman" panose="02020603050405020304" pitchFamily="18" charset="0"/>
                <a:cs typeface="Times New Roman" panose="02020603050405020304" pitchFamily="18" charset="0"/>
              </a:rPr>
              <a:t>plt.plot</a:t>
            </a:r>
            <a:r>
              <a:rPr lang="en-US" altLang="zh-CN" dirty="0">
                <a:latin typeface="Times New Roman" panose="02020603050405020304" pitchFamily="18" charset="0"/>
                <a:cs typeface="Times New Roman" panose="02020603050405020304" pitchFamily="18" charset="0"/>
              </a:rPr>
              <a:t>(hist2,color='r</a:t>
            </a:r>
            <a:r>
              <a:rPr lang="en-US" altLang="zh-CN" dirty="0" smtClean="0">
                <a:latin typeface="Times New Roman" panose="02020603050405020304" pitchFamily="18" charset="0"/>
                <a:cs typeface="Times New Roman" panose="02020603050405020304" pitchFamily="18" charset="0"/>
              </a:rPr>
              <a:t>')</a:t>
            </a:r>
            <a:endParaRPr lang="en-US" altLang="zh-CN" dirty="0"/>
          </a:p>
        </p:txBody>
      </p:sp>
      <p:sp>
        <p:nvSpPr>
          <p:cNvPr id="7" name="文本框 6">
            <a:extLst>
              <a:ext uri="{FF2B5EF4-FFF2-40B4-BE49-F238E27FC236}">
                <a16:creationId xmlns:a16="http://schemas.microsoft.com/office/drawing/2014/main" xmlns="" id="{C062BCF5-A680-47BB-9818-314F557E0162}"/>
              </a:ext>
            </a:extLst>
          </p:cNvPr>
          <p:cNvSpPr txBox="1"/>
          <p:nvPr/>
        </p:nvSpPr>
        <p:spPr>
          <a:xfrm>
            <a:off x="5684668" y="1510317"/>
            <a:ext cx="6094520" cy="5324535"/>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对三个通道的图像分别进行均衡化处理：</a:t>
            </a:r>
          </a:p>
          <a:p>
            <a:r>
              <a:rPr lang="en-US" altLang="zh-CN" sz="2000" dirty="0">
                <a:latin typeface="Times New Roman" panose="02020603050405020304" pitchFamily="18" charset="0"/>
                <a:cs typeface="Times New Roman" panose="02020603050405020304" pitchFamily="18" charset="0"/>
              </a:rPr>
              <a:t>img0_equ = cv2.equalizeHist(</a:t>
            </a:r>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[:,:,0])</a:t>
            </a:r>
          </a:p>
          <a:p>
            <a:r>
              <a:rPr lang="en-US" altLang="zh-CN" sz="2000" dirty="0">
                <a:latin typeface="Times New Roman" panose="02020603050405020304" pitchFamily="18" charset="0"/>
                <a:cs typeface="Times New Roman" panose="02020603050405020304" pitchFamily="18" charset="0"/>
              </a:rPr>
              <a:t>img1_equ = cv2.equalizeHist(</a:t>
            </a:r>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[:,:,1])</a:t>
            </a:r>
          </a:p>
          <a:p>
            <a:r>
              <a:rPr lang="en-US" altLang="zh-CN" sz="2000" dirty="0">
                <a:latin typeface="Times New Roman" panose="02020603050405020304" pitchFamily="18" charset="0"/>
                <a:cs typeface="Times New Roman" panose="02020603050405020304" pitchFamily="18" charset="0"/>
              </a:rPr>
              <a:t>img2_equ = cv2.equalizeHist(</a:t>
            </a:r>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[:,:,2])</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合并通道，也就是合并为彩色图像：</a:t>
            </a:r>
          </a:p>
          <a:p>
            <a:r>
              <a:rPr lang="en-US" altLang="zh-CN" sz="2000" dirty="0">
                <a:latin typeface="Times New Roman" panose="02020603050405020304" pitchFamily="18" charset="0"/>
                <a:cs typeface="Times New Roman" panose="02020603050405020304" pitchFamily="18" charset="0"/>
              </a:rPr>
              <a:t>image = cv2.merge([img0_equ,img1_equ,img2_equ])</a:t>
            </a:r>
          </a:p>
          <a:p>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均衡化后的直方图</a:t>
            </a:r>
          </a:p>
          <a:p>
            <a:r>
              <a:rPr lang="en-US" altLang="zh-CN" sz="2000" dirty="0" err="1">
                <a:latin typeface="Times New Roman" panose="02020603050405020304" pitchFamily="18" charset="0"/>
                <a:cs typeface="Times New Roman" panose="02020603050405020304" pitchFamily="18" charset="0"/>
              </a:rPr>
              <a:t>plt.figure</a:t>
            </a:r>
            <a:r>
              <a:rPr lang="en-US" altLang="zh-CN" sz="2000" dirty="0">
                <a:latin typeface="Times New Roman" panose="02020603050405020304" pitchFamily="18" charset="0"/>
                <a:cs typeface="Times New Roman" panose="02020603050405020304" pitchFamily="18" charset="0"/>
              </a:rPr>
              <a:t>(2)</a:t>
            </a:r>
          </a:p>
          <a:p>
            <a:r>
              <a:rPr lang="en-US" altLang="zh-CN" sz="2000" dirty="0" err="1">
                <a:latin typeface="Times New Roman" panose="02020603050405020304" pitchFamily="18" charset="0"/>
                <a:cs typeface="Times New Roman" panose="02020603050405020304" pitchFamily="18" charset="0"/>
              </a:rPr>
              <a:t>hist_equ</a:t>
            </a:r>
            <a:r>
              <a:rPr lang="en-US" altLang="zh-CN" sz="2000" dirty="0">
                <a:latin typeface="Times New Roman" panose="02020603050405020304" pitchFamily="18" charset="0"/>
                <a:cs typeface="Times New Roman" panose="02020603050405020304" pitchFamily="18" charset="0"/>
              </a:rPr>
              <a:t> = cv2.calcHist([image],[0],None,[256],[0,256])</a:t>
            </a:r>
          </a:p>
          <a:p>
            <a:r>
              <a:rPr lang="en-US" altLang="zh-CN" sz="2000" dirty="0" err="1">
                <a:latin typeface="Times New Roman" panose="02020603050405020304" pitchFamily="18" charset="0"/>
                <a:cs typeface="Times New Roman" panose="02020603050405020304" pitchFamily="18" charset="0"/>
              </a:rPr>
              <a:t>plt.plot</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hist_equ</a:t>
            </a:r>
            <a:r>
              <a:rPr lang="en-US" altLang="zh-CN" sz="2000" dirty="0">
                <a:latin typeface="Times New Roman" panose="02020603050405020304" pitchFamily="18" charset="0"/>
                <a:cs typeface="Times New Roman" panose="02020603050405020304" pitchFamily="18" charset="0"/>
              </a:rPr>
              <a:t>)</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cv2.imshow("Histogram Equalization", image) #</a:t>
            </a:r>
            <a:r>
              <a:rPr lang="zh-CN" altLang="en-US" sz="2000" dirty="0">
                <a:latin typeface="Times New Roman" panose="02020603050405020304" pitchFamily="18" charset="0"/>
                <a:cs typeface="Times New Roman" panose="02020603050405020304" pitchFamily="18" charset="0"/>
              </a:rPr>
              <a:t>显示均衡化后的图像</a:t>
            </a:r>
          </a:p>
          <a:p>
            <a:r>
              <a:rPr lang="en-US" altLang="zh-CN" sz="2000" dirty="0" err="1">
                <a:latin typeface="Times New Roman" panose="02020603050405020304" pitchFamily="18" charset="0"/>
                <a:cs typeface="Times New Roman" panose="02020603050405020304" pitchFamily="18" charset="0"/>
              </a:rPr>
              <a:t>plt.show</a:t>
            </a:r>
            <a:r>
              <a:rPr lang="en-US" altLang="zh-CN" sz="2000" dirty="0">
                <a:latin typeface="Times New Roman" panose="02020603050405020304" pitchFamily="18" charset="0"/>
                <a:cs typeface="Times New Roman" panose="02020603050405020304" pitchFamily="18" charset="0"/>
              </a:rPr>
              <a:t>()</a:t>
            </a:r>
          </a:p>
          <a:p>
            <a:r>
              <a:rPr lang="en-US" altLang="zh-CN" sz="2000" dirty="0">
                <a:latin typeface="Times New Roman" panose="02020603050405020304" pitchFamily="18" charset="0"/>
                <a:cs typeface="Times New Roman" panose="02020603050405020304" pitchFamily="18" charset="0"/>
              </a:rPr>
              <a:t>cv2.waitKey()</a:t>
            </a:r>
          </a:p>
          <a:p>
            <a:r>
              <a:rPr lang="en-US" altLang="zh-CN" sz="2000" dirty="0">
                <a:latin typeface="Times New Roman" panose="02020603050405020304" pitchFamily="18" charset="0"/>
                <a:cs typeface="Times New Roman" panose="02020603050405020304" pitchFamily="18" charset="0"/>
              </a:rPr>
              <a:t>cv2.destroyAllWindows()</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4171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5219ECD5-3CEA-474D-B00D-878C719EBBA3}"/>
              </a:ext>
            </a:extLst>
          </p:cNvPr>
          <p:cNvSpPr txBox="1"/>
          <p:nvPr/>
        </p:nvSpPr>
        <p:spPr>
          <a:xfrm>
            <a:off x="1231596" y="218878"/>
            <a:ext cx="10301274" cy="400110"/>
          </a:xfrm>
          <a:prstGeom prst="rect">
            <a:avLst/>
          </a:prstGeom>
          <a:noFill/>
        </p:spPr>
        <p:txBody>
          <a:bodyPr wrap="square">
            <a:spAutoFit/>
          </a:bodyPr>
          <a:lstStyle/>
          <a:p>
            <a:r>
              <a:rPr lang="zh-CN" altLang="en-US" sz="2000" dirty="0">
                <a:solidFill>
                  <a:srgbClr val="0033CC"/>
                </a:solidFill>
              </a:rPr>
              <a:t>程序运行结果如图</a:t>
            </a:r>
            <a:r>
              <a:rPr lang="en-US" altLang="zh-CN" sz="2000" dirty="0">
                <a:solidFill>
                  <a:srgbClr val="0033CC"/>
                </a:solidFill>
              </a:rPr>
              <a:t>11-9</a:t>
            </a:r>
            <a:r>
              <a:rPr lang="zh-CN" altLang="en-US" sz="2000" dirty="0">
                <a:solidFill>
                  <a:srgbClr val="0033CC"/>
                </a:solidFill>
              </a:rPr>
              <a:t>所示。可以看出，直方图均衡化达到了图像像素均匀分布的结果。</a:t>
            </a:r>
          </a:p>
        </p:txBody>
      </p:sp>
      <p:pic>
        <p:nvPicPr>
          <p:cNvPr id="4" name="图片 3">
            <a:extLst>
              <a:ext uri="{FF2B5EF4-FFF2-40B4-BE49-F238E27FC236}">
                <a16:creationId xmlns:a16="http://schemas.microsoft.com/office/drawing/2014/main" xmlns="" id="{F3AA0494-6172-4C23-97CB-07F99886CDC3}"/>
              </a:ext>
            </a:extLst>
          </p:cNvPr>
          <p:cNvPicPr>
            <a:picLocks noChangeAspect="1"/>
          </p:cNvPicPr>
          <p:nvPr/>
        </p:nvPicPr>
        <p:blipFill>
          <a:blip r:embed="rId2"/>
          <a:stretch>
            <a:fillRect/>
          </a:stretch>
        </p:blipFill>
        <p:spPr>
          <a:xfrm>
            <a:off x="1696821" y="722519"/>
            <a:ext cx="2172257" cy="2498094"/>
          </a:xfrm>
          <a:prstGeom prst="rect">
            <a:avLst/>
          </a:prstGeom>
        </p:spPr>
      </p:pic>
      <p:pic>
        <p:nvPicPr>
          <p:cNvPr id="5" name="图片 4">
            <a:extLst>
              <a:ext uri="{FF2B5EF4-FFF2-40B4-BE49-F238E27FC236}">
                <a16:creationId xmlns:a16="http://schemas.microsoft.com/office/drawing/2014/main" xmlns="" id="{3F6924DC-BDEF-4D21-B3B9-BA65DA8F4B37}"/>
              </a:ext>
            </a:extLst>
          </p:cNvPr>
          <p:cNvPicPr>
            <a:picLocks noChangeAspect="1"/>
          </p:cNvPicPr>
          <p:nvPr/>
        </p:nvPicPr>
        <p:blipFill>
          <a:blip r:embed="rId3"/>
          <a:stretch>
            <a:fillRect/>
          </a:stretch>
        </p:blipFill>
        <p:spPr>
          <a:xfrm>
            <a:off x="4147350" y="711422"/>
            <a:ext cx="3788546" cy="2509190"/>
          </a:xfrm>
          <a:prstGeom prst="rect">
            <a:avLst/>
          </a:prstGeom>
        </p:spPr>
      </p:pic>
      <p:sp>
        <p:nvSpPr>
          <p:cNvPr id="7" name="文本框 6">
            <a:extLst>
              <a:ext uri="{FF2B5EF4-FFF2-40B4-BE49-F238E27FC236}">
                <a16:creationId xmlns:a16="http://schemas.microsoft.com/office/drawing/2014/main" xmlns="" id="{89381EBD-231A-4AFA-8C40-AB47F6D5B14D}"/>
              </a:ext>
            </a:extLst>
          </p:cNvPr>
          <p:cNvSpPr txBox="1"/>
          <p:nvPr/>
        </p:nvSpPr>
        <p:spPr>
          <a:xfrm>
            <a:off x="2068419" y="3324144"/>
            <a:ext cx="1609258" cy="369332"/>
          </a:xfrm>
          <a:prstGeom prst="rect">
            <a:avLst/>
          </a:prstGeom>
          <a:noFill/>
        </p:spPr>
        <p:txBody>
          <a:bodyPr wrap="square">
            <a:spAutoFit/>
          </a:bodyPr>
          <a:lstStyle/>
          <a:p>
            <a:r>
              <a:rPr lang="en-US" altLang="zh-CN" sz="1800" kern="100" dirty="0">
                <a:effectLst/>
                <a:latin typeface="Times New Roman" panose="02020603050405020304" pitchFamily="18" charset="0"/>
                <a:ea typeface="宋体" panose="02010600030101010101" pitchFamily="2" charset="-122"/>
              </a:rPr>
              <a:t>(a)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原始图像</a:t>
            </a:r>
            <a:r>
              <a:rPr lang="zh-CN" altLang="zh-CN" sz="1800" dirty="0">
                <a:effectLst/>
                <a:ea typeface="Times New Roman" panose="02020603050405020304" pitchFamily="18" charset="0"/>
              </a:rPr>
              <a:t> </a:t>
            </a:r>
            <a:endParaRPr lang="zh-CN" altLang="en-US" dirty="0"/>
          </a:p>
        </p:txBody>
      </p:sp>
      <p:sp>
        <p:nvSpPr>
          <p:cNvPr id="9" name="文本框 8">
            <a:extLst>
              <a:ext uri="{FF2B5EF4-FFF2-40B4-BE49-F238E27FC236}">
                <a16:creationId xmlns:a16="http://schemas.microsoft.com/office/drawing/2014/main" xmlns="" id="{03D44372-9260-4F67-8ED0-CB02455285E2}"/>
              </a:ext>
            </a:extLst>
          </p:cNvPr>
          <p:cNvSpPr txBox="1"/>
          <p:nvPr/>
        </p:nvSpPr>
        <p:spPr>
          <a:xfrm>
            <a:off x="4508273" y="3334701"/>
            <a:ext cx="3788545" cy="303225"/>
          </a:xfrm>
          <a:prstGeom prst="rect">
            <a:avLst/>
          </a:prstGeom>
          <a:noFill/>
        </p:spPr>
        <p:txBody>
          <a:bodyPr wrap="square">
            <a:spAutoFit/>
          </a:bodyPr>
          <a:lstStyle/>
          <a:p>
            <a:pPr algn="just">
              <a:lnSpc>
                <a:spcPts val="16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原始图像的直方图</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xmlns="" id="{4B2C5BE9-F93F-4EAE-869F-3E03C48B1BB6}"/>
              </a:ext>
            </a:extLst>
          </p:cNvPr>
          <p:cNvPicPr>
            <a:picLocks noChangeAspect="1"/>
          </p:cNvPicPr>
          <p:nvPr/>
        </p:nvPicPr>
        <p:blipFill>
          <a:blip r:embed="rId4"/>
          <a:stretch>
            <a:fillRect/>
          </a:stretch>
        </p:blipFill>
        <p:spPr>
          <a:xfrm>
            <a:off x="8405571" y="721560"/>
            <a:ext cx="2167180" cy="2494932"/>
          </a:xfrm>
          <a:prstGeom prst="rect">
            <a:avLst/>
          </a:prstGeom>
        </p:spPr>
      </p:pic>
      <p:pic>
        <p:nvPicPr>
          <p:cNvPr id="11" name="图片 10">
            <a:extLst>
              <a:ext uri="{FF2B5EF4-FFF2-40B4-BE49-F238E27FC236}">
                <a16:creationId xmlns:a16="http://schemas.microsoft.com/office/drawing/2014/main" xmlns="" id="{336E935F-B2E5-43CC-B029-ABBD0253419F}"/>
              </a:ext>
            </a:extLst>
          </p:cNvPr>
          <p:cNvPicPr>
            <a:picLocks noChangeAspect="1"/>
          </p:cNvPicPr>
          <p:nvPr/>
        </p:nvPicPr>
        <p:blipFill>
          <a:blip r:embed="rId5"/>
          <a:stretch>
            <a:fillRect/>
          </a:stretch>
        </p:blipFill>
        <p:spPr>
          <a:xfrm>
            <a:off x="4111898" y="3611495"/>
            <a:ext cx="3823998" cy="2526416"/>
          </a:xfrm>
          <a:prstGeom prst="rect">
            <a:avLst/>
          </a:prstGeom>
        </p:spPr>
      </p:pic>
      <p:sp>
        <p:nvSpPr>
          <p:cNvPr id="13" name="文本框 12">
            <a:extLst>
              <a:ext uri="{FF2B5EF4-FFF2-40B4-BE49-F238E27FC236}">
                <a16:creationId xmlns:a16="http://schemas.microsoft.com/office/drawing/2014/main" xmlns="" id="{A3794978-1C3E-466E-BEEC-60DBDD8C662D}"/>
              </a:ext>
            </a:extLst>
          </p:cNvPr>
          <p:cNvSpPr txBox="1"/>
          <p:nvPr/>
        </p:nvSpPr>
        <p:spPr>
          <a:xfrm>
            <a:off x="8500036" y="3319064"/>
            <a:ext cx="2421195" cy="369332"/>
          </a:xfrm>
          <a:prstGeom prst="rect">
            <a:avLst/>
          </a:prstGeom>
          <a:noFill/>
        </p:spPr>
        <p:txBody>
          <a:bodyPr wrap="square">
            <a:spAutoFit/>
          </a:bodyPr>
          <a:lstStyle/>
          <a:p>
            <a:r>
              <a:rPr lang="en-US" altLang="zh-CN" dirty="0"/>
              <a:t>(c) </a:t>
            </a:r>
            <a:r>
              <a:rPr lang="zh-CN" altLang="en-US" dirty="0"/>
              <a:t>均衡化后的图像 </a:t>
            </a:r>
          </a:p>
        </p:txBody>
      </p:sp>
      <p:sp>
        <p:nvSpPr>
          <p:cNvPr id="15" name="文本框 14">
            <a:extLst>
              <a:ext uri="{FF2B5EF4-FFF2-40B4-BE49-F238E27FC236}">
                <a16:creationId xmlns:a16="http://schemas.microsoft.com/office/drawing/2014/main" xmlns="" id="{11D6E84A-ECBA-43B1-84D8-38351AFE08FD}"/>
              </a:ext>
            </a:extLst>
          </p:cNvPr>
          <p:cNvSpPr txBox="1"/>
          <p:nvPr/>
        </p:nvSpPr>
        <p:spPr>
          <a:xfrm>
            <a:off x="4245745" y="6280437"/>
            <a:ext cx="3202620" cy="369332"/>
          </a:xfrm>
          <a:prstGeom prst="rect">
            <a:avLst/>
          </a:prstGeom>
          <a:noFill/>
        </p:spPr>
        <p:txBody>
          <a:bodyPr wrap="square">
            <a:spAutoFit/>
          </a:bodyPr>
          <a:lstStyle/>
          <a:p>
            <a:r>
              <a:rPr lang="zh-CN" altLang="en-US" dirty="0"/>
              <a:t> </a:t>
            </a:r>
            <a:r>
              <a:rPr lang="en-US" altLang="zh-CN" dirty="0"/>
              <a:t>(d) </a:t>
            </a:r>
            <a:r>
              <a:rPr lang="zh-CN" altLang="en-US" dirty="0"/>
              <a:t>均衡化后图像的直方图</a:t>
            </a:r>
          </a:p>
        </p:txBody>
      </p:sp>
    </p:spTree>
    <p:extLst>
      <p:ext uri="{BB962C8B-B14F-4D97-AF65-F5344CB8AC3E}">
        <p14:creationId xmlns:p14="http://schemas.microsoft.com/office/powerpoint/2010/main" val="2368543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F369A6DD-814A-4F66-8A34-D96FE0AD333B}"/>
              </a:ext>
            </a:extLst>
          </p:cNvPr>
          <p:cNvSpPr txBox="1"/>
          <p:nvPr/>
        </p:nvSpPr>
        <p:spPr>
          <a:xfrm>
            <a:off x="2967361" y="396821"/>
            <a:ext cx="6094520" cy="646331"/>
          </a:xfrm>
          <a:prstGeom prst="rect">
            <a:avLst/>
          </a:prstGeom>
          <a:noFill/>
        </p:spPr>
        <p:txBody>
          <a:bodyPr wrap="square">
            <a:spAutoFit/>
          </a:bodyPr>
          <a:lstStyle/>
          <a:p>
            <a:r>
              <a:rPr lang="en-US" altLang="zh-CN" sz="3600" b="1" dirty="0" smtClean="0">
                <a:solidFill>
                  <a:srgbClr val="C00000"/>
                </a:solidFill>
              </a:rPr>
              <a:t>11.4.3 </a:t>
            </a:r>
            <a:r>
              <a:rPr lang="zh-CN" altLang="en-US" sz="3600" b="1" dirty="0" smtClean="0">
                <a:solidFill>
                  <a:srgbClr val="C00000"/>
                </a:solidFill>
              </a:rPr>
              <a:t>彩色</a:t>
            </a:r>
            <a:r>
              <a:rPr lang="zh-CN" altLang="en-US" sz="3600" b="1" dirty="0">
                <a:solidFill>
                  <a:srgbClr val="C00000"/>
                </a:solidFill>
              </a:rPr>
              <a:t>图像平滑和锐化</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xmlns="" id="{0EB4055E-708D-45F7-8E83-3C75EEF07D8A}"/>
                  </a:ext>
                </a:extLst>
              </p:cNvPr>
              <p:cNvSpPr txBox="1"/>
              <p:nvPr/>
            </p:nvSpPr>
            <p:spPr>
              <a:xfrm>
                <a:off x="650845" y="1308361"/>
                <a:ext cx="10653425" cy="5364930"/>
              </a:xfrm>
              <a:prstGeom prst="rect">
                <a:avLst/>
              </a:prstGeom>
              <a:noFill/>
            </p:spPr>
            <p:txBody>
              <a:bodyPr wrap="square">
                <a:spAutoFit/>
              </a:bodyPr>
              <a:lstStyle/>
              <a:p>
                <a:pPr indent="457200"/>
                <a:r>
                  <a:rPr lang="zh-CN" altLang="en-US" sz="2400" b="1" dirty="0"/>
                  <a:t>图像的平滑处理就是在</a:t>
                </a:r>
                <a:r>
                  <a:rPr lang="zh-CN" altLang="en-US" sz="2400" b="1" dirty="0">
                    <a:solidFill>
                      <a:srgbClr val="FF0000"/>
                    </a:solidFill>
                  </a:rPr>
                  <a:t>保留原有图像信息的条件下，过滤掉图像内部的噪声，这种图像处理方式得到的图像称为平滑图像</a:t>
                </a:r>
                <a:r>
                  <a:rPr lang="zh-CN" altLang="en-US" sz="2400" b="1" dirty="0" smtClean="0">
                    <a:solidFill>
                      <a:srgbClr val="FF0000"/>
                    </a:solidFill>
                  </a:rPr>
                  <a:t>。</a:t>
                </a:r>
                <a:endParaRPr lang="en-US" altLang="zh-CN" sz="2400" b="1" dirty="0" smtClean="0">
                  <a:solidFill>
                    <a:srgbClr val="FF0000"/>
                  </a:solidFill>
                </a:endParaRPr>
              </a:p>
              <a:p>
                <a:pPr indent="457200"/>
                <a:r>
                  <a:rPr lang="zh-CN" altLang="en-US" sz="2400" b="1" dirty="0" smtClean="0"/>
                  <a:t>通过</a:t>
                </a:r>
                <a:r>
                  <a:rPr lang="zh-CN" altLang="en-US" sz="2400" b="1" dirty="0"/>
                  <a:t>图像的平滑处理操作，可以有效地过滤图像内的噪声信息。灰度级图像平滑可视为一种空间滤波操作，在这种操作中，滤波模板的系数具有相同的值。当模板滑过将被平滑的图像时，每个像素被由该模板定义的邻域中的像素平均值代替，这一概念很容易推广到</a:t>
                </a:r>
                <a:r>
                  <a:rPr lang="zh-CN" altLang="en-US" sz="2400" b="1" dirty="0">
                    <a:solidFill>
                      <a:srgbClr val="0033CC"/>
                    </a:solidFill>
                  </a:rPr>
                  <a:t>全彩色图像</a:t>
                </a:r>
                <a:r>
                  <a:rPr lang="zh-CN" altLang="en-US" sz="2400" b="1" dirty="0"/>
                  <a:t>。</a:t>
                </a:r>
              </a:p>
              <a:p>
                <a:pPr indent="457200"/>
                <a:r>
                  <a:rPr lang="zh-CN" altLang="en-US" sz="2400" b="1" dirty="0"/>
                  <a:t>在分量方法的框架下，面向邻域的线性平滑和锐化技术可扩展到彩色图像。原始用于单色操作的典型</a:t>
                </a:r>
                <a:r>
                  <a:rPr lang="en-US" altLang="zh-CN" sz="2400" b="1" dirty="0"/>
                  <a:t>3×3</a:t>
                </a:r>
                <a:r>
                  <a:rPr lang="zh-CN" altLang="en-US" sz="2400" b="1" dirty="0"/>
                  <a:t>核变成一个数组或矢量。</a:t>
                </a:r>
              </a:p>
              <a:p>
                <a:pPr indent="457200"/>
                <a:r>
                  <a:rPr lang="zh-CN" altLang="en-US" sz="2400" b="1" dirty="0"/>
                  <a:t>例如，对</a:t>
                </a:r>
                <a:r>
                  <a:rPr lang="en-US" altLang="zh-CN" sz="2400" b="1" dirty="0"/>
                  <a:t>RGB</a:t>
                </a:r>
                <a:r>
                  <a:rPr lang="zh-CN" altLang="en-US" sz="2400" b="1" dirty="0"/>
                  <a:t>图像平均滤波器的矢量公式使用一个以坐标（</a:t>
                </a:r>
                <a:r>
                  <a:rPr lang="en-US" altLang="zh-CN" sz="2400" b="1" dirty="0" err="1"/>
                  <a:t>x,y</a:t>
                </a:r>
                <a:r>
                  <a:rPr lang="zh-CN" altLang="en-US" sz="2400" b="1" dirty="0"/>
                  <a:t>）为中心的邻域</a:t>
                </a:r>
                <a14:m>
                  <m:oMath xmlns:m="http://schemas.openxmlformats.org/officeDocument/2006/math">
                    <m:sSub>
                      <m:sSubPr>
                        <m:ctrlPr>
                          <a:rPr lang="zh-CN" altLang="zh-CN" sz="2400" b="1" i="1"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𝑺</m:t>
                        </m:r>
                      </m:e>
                      <m:sub>
                        <m:r>
                          <a:rPr lang="en-US" altLang="zh-CN" sz="2400" b="1" i="1" kern="100" smtClean="0">
                            <a:effectLst/>
                            <a:latin typeface="Cambria Math" panose="02040503050406030204" pitchFamily="18" charset="0"/>
                            <a:ea typeface="宋体" panose="02010600030101010101" pitchFamily="2" charset="-122"/>
                            <a:cs typeface="Times New Roman" panose="02020603050405020304" pitchFamily="18" charset="0"/>
                          </a:rPr>
                          <m:t>𝒙𝒚</m:t>
                        </m:r>
                      </m:sub>
                    </m:sSub>
                  </m:oMath>
                </a14:m>
                <a:r>
                  <a:rPr lang="en-US" altLang="zh-CN" sz="2400" b="1" kern="100" dirty="0">
                    <a:effectLst/>
                    <a:latin typeface="Times New Roman" panose="02020603050405020304" pitchFamily="18" charset="0"/>
                    <a:ea typeface="宋体" panose="02010600030101010101" pitchFamily="2" charset="-122"/>
                  </a:rPr>
                  <a:t>: </a:t>
                </a:r>
                <a:endParaRPr lang="en-US" altLang="zh-CN" sz="2400" b="1" dirty="0"/>
              </a:p>
              <a:p>
                <a:pPr algn="ctr"/>
                <a14:m>
                  <m:oMath xmlns:m="http://schemas.openxmlformats.org/officeDocument/2006/math">
                    <m:acc>
                      <m:accPr>
                        <m:chr m:val="̅"/>
                        <m:ctrlPr>
                          <a:rPr lang="zh-CN" altLang="zh-CN"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𝑐</m:t>
                        </m:r>
                      </m:e>
                    </m:acc>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𝐾</m:t>
                                  </m:r>
                                </m:den>
                              </m:f>
                              <m:nary>
                                <m:naryPr>
                                  <m:chr m:val="∑"/>
                                  <m:limLoc m:val="undOvr"/>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𝑥𝑦</m:t>
                                      </m:r>
                                    </m:sub>
                                  </m:sSub>
                                </m:sub>
                                <m:sup/>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𝑅</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e>
                              </m:nary>
                            </m:e>
                          </m:mr>
                          <m:mr>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𝐾</m:t>
                                  </m:r>
                                </m:den>
                              </m:f>
                              <m:nary>
                                <m:naryPr>
                                  <m:chr m:val="∑"/>
                                  <m:limLoc m:val="undOvr"/>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𝑥𝑦</m:t>
                                      </m:r>
                                    </m:sub>
                                  </m:sSub>
                                </m:sub>
                                <m:sup/>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𝐺</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e>
                              </m:nary>
                            </m:e>
                          </m:mr>
                          <m:mr>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𝐾</m:t>
                                  </m:r>
                                </m:den>
                              </m:f>
                              <m:nary>
                                <m:naryPr>
                                  <m:chr m:val="∑"/>
                                  <m:limLoc m:val="undOvr"/>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𝑥𝑦</m:t>
                                      </m:r>
                                    </m:sub>
                                  </m:sSub>
                                </m:sub>
                                <m:sup/>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𝐵</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e>
                              </m:nary>
                            </m:e>
                          </m:mr>
                        </m:m>
                      </m:e>
                    </m:d>
                  </m:oMath>
                </a14:m>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11-30</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dirty="0"/>
              </a:p>
            </p:txBody>
          </p:sp>
        </mc:Choice>
        <mc:Fallback xmlns="">
          <p:sp>
            <p:nvSpPr>
              <p:cNvPr id="5" name="文本框 4">
                <a:extLst>
                  <a:ext uri="{FF2B5EF4-FFF2-40B4-BE49-F238E27FC236}">
                    <a16:creationId xmlns="" xmlns:a16="http://schemas.microsoft.com/office/drawing/2014/main" xmlns:a14="http://schemas.microsoft.com/office/drawing/2010/main" id="{0EB4055E-708D-45F7-8E83-3C75EEF07D8A}"/>
                  </a:ext>
                </a:extLst>
              </p:cNvPr>
              <p:cNvSpPr txBox="1">
                <a:spLocks noRot="1" noChangeAspect="1" noMove="1" noResize="1" noEditPoints="1" noAdjustHandles="1" noChangeArrowheads="1" noChangeShapeType="1" noTextEdit="1"/>
              </p:cNvSpPr>
              <p:nvPr/>
            </p:nvSpPr>
            <p:spPr>
              <a:xfrm>
                <a:off x="650845" y="1308361"/>
                <a:ext cx="10653425" cy="5364930"/>
              </a:xfrm>
              <a:prstGeom prst="rect">
                <a:avLst/>
              </a:prstGeom>
              <a:blipFill rotWithShape="0">
                <a:blip r:embed="rId2"/>
                <a:stretch>
                  <a:fillRect l="-916" t="-909" r="-17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087215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7C1C0BEE-ACFE-4966-8855-83093AC8484F}"/>
              </a:ext>
            </a:extLst>
          </p:cNvPr>
          <p:cNvSpPr txBox="1"/>
          <p:nvPr/>
        </p:nvSpPr>
        <p:spPr>
          <a:xfrm>
            <a:off x="1001068" y="864953"/>
            <a:ext cx="10143182" cy="2862322"/>
          </a:xfrm>
          <a:prstGeom prst="rect">
            <a:avLst/>
          </a:prstGeom>
          <a:noFill/>
        </p:spPr>
        <p:txBody>
          <a:bodyPr wrap="square">
            <a:spAutoFit/>
          </a:bodyPr>
          <a:lstStyle/>
          <a:p>
            <a:pPr indent="457200" algn="just">
              <a:lnSpc>
                <a:spcPct val="150000"/>
              </a:lnSpc>
            </a:pPr>
            <a:r>
              <a:rPr lang="zh-CN" altLang="en-US" sz="2400" b="1" dirty="0">
                <a:latin typeface="+mn-ea"/>
              </a:rPr>
              <a:t>从</a:t>
            </a:r>
            <a:r>
              <a:rPr lang="en-US" altLang="zh-CN" sz="2400" b="1" dirty="0">
                <a:latin typeface="+mn-ea"/>
              </a:rPr>
              <a:t>11-30</a:t>
            </a:r>
            <a:r>
              <a:rPr lang="zh-CN" altLang="en-US" sz="2400" b="1" dirty="0">
                <a:latin typeface="+mn-ea"/>
              </a:rPr>
              <a:t>式中可以看出，通过对各个单独的彩色通道用标准的灰度邻域处理方法来执行邻域平均得到平滑的效果。类似的，</a:t>
            </a:r>
            <a:r>
              <a:rPr lang="zh-CN" altLang="en-US" sz="2400" b="1" dirty="0">
                <a:solidFill>
                  <a:srgbClr val="0033CC"/>
                </a:solidFill>
                <a:latin typeface="+mn-ea"/>
              </a:rPr>
              <a:t>对用</a:t>
            </a:r>
            <a:r>
              <a:rPr lang="en-US" altLang="zh-CN" sz="2400" b="1" dirty="0">
                <a:solidFill>
                  <a:srgbClr val="0033CC"/>
                </a:solidFill>
                <a:latin typeface="+mn-ea"/>
              </a:rPr>
              <a:t>RGB</a:t>
            </a:r>
            <a:r>
              <a:rPr lang="zh-CN" altLang="en-US" sz="2400" b="1" dirty="0">
                <a:solidFill>
                  <a:srgbClr val="0033CC"/>
                </a:solidFill>
                <a:latin typeface="+mn-ea"/>
              </a:rPr>
              <a:t>彩色模型表示的彩色图像的锐化可通过对各个分量图像分别使用锐化操作符（如，拉普拉斯算子）再将结果结合起来实现。</a:t>
            </a:r>
          </a:p>
          <a:p>
            <a:pPr indent="457200" algn="just">
              <a:lnSpc>
                <a:spcPct val="150000"/>
              </a:lnSpc>
            </a:pPr>
            <a:r>
              <a:rPr lang="zh-CN" altLang="en-US" sz="2400" b="1" dirty="0">
                <a:latin typeface="+mn-ea"/>
              </a:rPr>
              <a:t>在</a:t>
            </a:r>
            <a:r>
              <a:rPr lang="en-US" altLang="zh-CN" sz="2400" b="1" dirty="0">
                <a:latin typeface="+mn-ea"/>
              </a:rPr>
              <a:t>RGB</a:t>
            </a:r>
            <a:r>
              <a:rPr lang="zh-CN" altLang="en-US" sz="2400" b="1" dirty="0">
                <a:latin typeface="+mn-ea"/>
              </a:rPr>
              <a:t>彩色模型中，向量</a:t>
            </a:r>
            <a:r>
              <a:rPr lang="en-US" altLang="zh-CN" sz="2400" b="1" dirty="0">
                <a:latin typeface="+mn-ea"/>
              </a:rPr>
              <a:t>c</a:t>
            </a:r>
            <a:r>
              <a:rPr lang="zh-CN" altLang="en-US" sz="2400" b="1" dirty="0">
                <a:latin typeface="+mn-ea"/>
              </a:rPr>
              <a:t>的</a:t>
            </a:r>
            <a:r>
              <a:rPr lang="en-US" altLang="zh-CN" sz="2400" b="1" dirty="0">
                <a:latin typeface="+mn-ea"/>
              </a:rPr>
              <a:t>Laplacian</a:t>
            </a:r>
            <a:r>
              <a:rPr lang="zh-CN" altLang="en-US" sz="2400" b="1" dirty="0">
                <a:latin typeface="+mn-ea"/>
              </a:rPr>
              <a:t>变换为</a:t>
            </a:r>
            <a:r>
              <a:rPr lang="zh-CN" altLang="en-US" sz="2400" b="1" dirty="0" smtClean="0">
                <a:latin typeface="+mn-ea"/>
              </a:rPr>
              <a:t>：</a:t>
            </a:r>
            <a:endParaRPr lang="zh-CN" altLang="en-US" sz="3200" b="1" dirty="0">
              <a:latin typeface="+mn-ea"/>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xmlns="" id="{E17FD5F1-BCAA-4C39-A51E-A8850BB05820}"/>
                  </a:ext>
                </a:extLst>
              </p:cNvPr>
              <p:cNvSpPr txBox="1"/>
              <p:nvPr/>
            </p:nvSpPr>
            <p:spPr>
              <a:xfrm>
                <a:off x="2367230" y="3837322"/>
                <a:ext cx="6094520" cy="999504"/>
              </a:xfrm>
              <a:prstGeom prst="rect">
                <a:avLst/>
              </a:prstGeom>
              <a:noFill/>
            </p:spPr>
            <p:txBody>
              <a:bodyPr wrap="square">
                <a:spAutoFit/>
              </a:bodyPr>
              <a:lstStyle/>
              <a:p>
                <a:pPr algn="ctr"/>
                <a14:m>
                  <m:oMath xmlns:m="http://schemas.openxmlformats.org/officeDocument/2006/math">
                    <m:sSup>
                      <m:sSupPr>
                        <m:ctrlPr>
                          <a:rPr lang="zh-CN" altLang="zh-CN"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p>
                    </m:sSup>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𝑐</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𝑦</m:t>
                            </m:r>
                          </m:e>
                        </m:d>
                      </m:e>
                    </m:d>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𝑅</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e>
                          </m:mr>
                          <m:mr>
                            <m:e>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𝐺</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e>
                          </m:mr>
                          <m:mr>
                            <m:e>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𝐵</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e>
                          </m:mr>
                        </m:m>
                      </m:e>
                    </m:d>
                  </m:oMath>
                </a14:m>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11-31</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5" name="文本框 4">
                <a:extLst>
                  <a:ext uri="{FF2B5EF4-FFF2-40B4-BE49-F238E27FC236}">
                    <a16:creationId xmlns="" xmlns:a16="http://schemas.microsoft.com/office/drawing/2014/main" xmlns:a14="http://schemas.microsoft.com/office/drawing/2010/main" id="{E17FD5F1-BCAA-4C39-A51E-A8850BB05820}"/>
                  </a:ext>
                </a:extLst>
              </p:cNvPr>
              <p:cNvSpPr txBox="1">
                <a:spLocks noRot="1" noChangeAspect="1" noMove="1" noResize="1" noEditPoints="1" noAdjustHandles="1" noChangeArrowheads="1" noChangeShapeType="1" noTextEdit="1"/>
              </p:cNvSpPr>
              <p:nvPr/>
            </p:nvSpPr>
            <p:spPr>
              <a:xfrm>
                <a:off x="2367230" y="3837322"/>
                <a:ext cx="6094520" cy="999504"/>
              </a:xfrm>
              <a:prstGeom prst="rect">
                <a:avLst/>
              </a:prstGeom>
              <a:blipFill rotWithShape="0">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0910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6DC27858-DE0B-4CA0-BEE4-06A623D496F1}"/>
              </a:ext>
            </a:extLst>
          </p:cNvPr>
          <p:cNvSpPr txBox="1"/>
          <p:nvPr/>
        </p:nvSpPr>
        <p:spPr>
          <a:xfrm>
            <a:off x="988418" y="689549"/>
            <a:ext cx="9950092" cy="5909310"/>
          </a:xfrm>
          <a:prstGeom prst="rect">
            <a:avLst/>
          </a:prstGeom>
          <a:noFill/>
        </p:spPr>
        <p:txBody>
          <a:bodyPr wrap="square">
            <a:spAutoFit/>
          </a:bodyPr>
          <a:lstStyle/>
          <a:p>
            <a:pPr indent="457200">
              <a:lnSpc>
                <a:spcPct val="150000"/>
              </a:lnSpc>
            </a:pPr>
            <a:r>
              <a:rPr lang="zh-CN" altLang="en-US" sz="2400" b="1" dirty="0">
                <a:solidFill>
                  <a:srgbClr val="FF0000"/>
                </a:solidFill>
                <a:latin typeface="+mn-ea"/>
              </a:rPr>
              <a:t>平滑和锐化操作也可通过处理一幅采用合适彩色模型（如，</a:t>
            </a:r>
            <a:r>
              <a:rPr lang="en-US" altLang="zh-CN" sz="2400" b="1" dirty="0">
                <a:solidFill>
                  <a:srgbClr val="FF0000"/>
                </a:solidFill>
                <a:latin typeface="+mn-ea"/>
              </a:rPr>
              <a:t>YIQ</a:t>
            </a:r>
            <a:r>
              <a:rPr lang="zh-CN" altLang="en-US" sz="2400" b="1" dirty="0">
                <a:solidFill>
                  <a:srgbClr val="FF0000"/>
                </a:solidFill>
                <a:latin typeface="+mn-ea"/>
              </a:rPr>
              <a:t>或</a:t>
            </a:r>
            <a:r>
              <a:rPr lang="en-US" altLang="zh-CN" sz="2400" b="1" dirty="0">
                <a:solidFill>
                  <a:srgbClr val="FF0000"/>
                </a:solidFill>
                <a:latin typeface="+mn-ea"/>
              </a:rPr>
              <a:t>HSI</a:t>
            </a:r>
            <a:r>
              <a:rPr lang="zh-CN" altLang="en-US" sz="2400" b="1" dirty="0">
                <a:solidFill>
                  <a:srgbClr val="FF0000"/>
                </a:solidFill>
                <a:latin typeface="+mn-ea"/>
              </a:rPr>
              <a:t>）表示的图像强度（亮度）分量并将结果与原始色度通道结合来进行。</a:t>
            </a:r>
          </a:p>
          <a:p>
            <a:pPr indent="457200">
              <a:lnSpc>
                <a:spcPct val="150000"/>
              </a:lnSpc>
            </a:pPr>
            <a:r>
              <a:rPr lang="zh-CN" altLang="en-US" sz="2400" b="1" dirty="0" smtClean="0">
                <a:latin typeface="+mn-ea"/>
              </a:rPr>
              <a:t>用</a:t>
            </a:r>
            <a:r>
              <a:rPr lang="zh-CN" altLang="en-US" sz="2400" b="1" dirty="0">
                <a:latin typeface="+mn-ea"/>
              </a:rPr>
              <a:t>均值滤波来实现图像平滑</a:t>
            </a:r>
            <a:r>
              <a:rPr lang="zh-CN" altLang="en-US" sz="2400" b="1" dirty="0" smtClean="0">
                <a:latin typeface="+mn-ea"/>
              </a:rPr>
              <a:t>，在</a:t>
            </a:r>
            <a:r>
              <a:rPr lang="en-US" altLang="zh-CN" sz="2400" b="1" dirty="0">
                <a:latin typeface="+mn-ea"/>
              </a:rPr>
              <a:t>OpenCV</a:t>
            </a:r>
            <a:r>
              <a:rPr lang="zh-CN" altLang="en-US" sz="2400" b="1" dirty="0">
                <a:latin typeface="+mn-ea"/>
              </a:rPr>
              <a:t>中，提供了</a:t>
            </a:r>
            <a:r>
              <a:rPr lang="en-US" altLang="zh-CN" sz="2400" b="1" dirty="0">
                <a:latin typeface="+mn-ea"/>
              </a:rPr>
              <a:t>cv2.blur()</a:t>
            </a:r>
            <a:r>
              <a:rPr lang="zh-CN" altLang="en-US" sz="2400" b="1" dirty="0">
                <a:latin typeface="+mn-ea"/>
              </a:rPr>
              <a:t>函数来实现图像的均值滤波。其一般语法格式为：</a:t>
            </a:r>
          </a:p>
          <a:p>
            <a:pPr indent="457200" algn="ctr">
              <a:lnSpc>
                <a:spcPct val="150000"/>
              </a:lnSpc>
            </a:pPr>
            <a:r>
              <a:rPr lang="en-US" altLang="zh-CN" sz="2400" b="1" dirty="0" err="1">
                <a:solidFill>
                  <a:srgbClr val="FF0000"/>
                </a:solidFill>
                <a:latin typeface="+mn-ea"/>
              </a:rPr>
              <a:t>dst</a:t>
            </a:r>
            <a:r>
              <a:rPr lang="en-US" altLang="zh-CN" sz="2400" b="1" dirty="0">
                <a:solidFill>
                  <a:srgbClr val="FF0000"/>
                </a:solidFill>
                <a:latin typeface="+mn-ea"/>
              </a:rPr>
              <a:t> = cv2.blur(</a:t>
            </a:r>
            <a:r>
              <a:rPr lang="en-US" altLang="zh-CN" sz="2400" b="1" dirty="0" err="1">
                <a:solidFill>
                  <a:srgbClr val="FF0000"/>
                </a:solidFill>
                <a:latin typeface="+mn-ea"/>
              </a:rPr>
              <a:t>src,ksize</a:t>
            </a:r>
            <a:r>
              <a:rPr lang="en-US" altLang="zh-CN" sz="2400" b="1" dirty="0">
                <a:solidFill>
                  <a:srgbClr val="FF0000"/>
                </a:solidFill>
                <a:latin typeface="+mn-ea"/>
              </a:rPr>
              <a:t>, anchor</a:t>
            </a:r>
            <a:r>
              <a:rPr lang="en-US" altLang="zh-CN" sz="2400" b="1" dirty="0" smtClean="0">
                <a:solidFill>
                  <a:srgbClr val="FF0000"/>
                </a:solidFill>
                <a:latin typeface="+mn-ea"/>
              </a:rPr>
              <a:t>, </a:t>
            </a:r>
            <a:r>
              <a:rPr lang="en-US" altLang="zh-CN" sz="2400" b="1" dirty="0" err="1" smtClean="0">
                <a:solidFill>
                  <a:srgbClr val="FF0000"/>
                </a:solidFill>
                <a:latin typeface="+mn-ea"/>
              </a:rPr>
              <a:t>borderType</a:t>
            </a:r>
            <a:r>
              <a:rPr lang="en-US" altLang="zh-CN" sz="2400" b="1" dirty="0">
                <a:solidFill>
                  <a:srgbClr val="FF0000"/>
                </a:solidFill>
                <a:latin typeface="+mn-ea"/>
              </a:rPr>
              <a:t>)</a:t>
            </a:r>
          </a:p>
          <a:p>
            <a:pPr lvl="1" indent="457200" algn="just">
              <a:lnSpc>
                <a:spcPct val="150000"/>
              </a:lnSpc>
            </a:pPr>
            <a:r>
              <a:rPr lang="zh-CN" altLang="en-US" sz="2400" b="1" dirty="0">
                <a:latin typeface="+mn-ea"/>
              </a:rPr>
              <a:t>其中，</a:t>
            </a:r>
            <a:r>
              <a:rPr lang="en-US" altLang="zh-CN" sz="2400" b="1" dirty="0" err="1">
                <a:latin typeface="+mn-ea"/>
              </a:rPr>
              <a:t>dst</a:t>
            </a:r>
            <a:r>
              <a:rPr lang="zh-CN" altLang="en-US" sz="2400" b="1" dirty="0">
                <a:latin typeface="+mn-ea"/>
              </a:rPr>
              <a:t>表示返回的均值滤波处理的结果图像；</a:t>
            </a:r>
            <a:r>
              <a:rPr lang="en-US" altLang="zh-CN" sz="2400" b="1" dirty="0" err="1">
                <a:latin typeface="+mn-ea"/>
              </a:rPr>
              <a:t>src</a:t>
            </a:r>
            <a:r>
              <a:rPr lang="zh-CN" altLang="en-US" sz="2400" b="1" dirty="0">
                <a:latin typeface="+mn-ea"/>
              </a:rPr>
              <a:t>表示原始图像，该图像不限制通道数目；</a:t>
            </a:r>
            <a:r>
              <a:rPr lang="en-US" altLang="zh-CN" sz="2400" b="1" dirty="0" err="1">
                <a:latin typeface="+mn-ea"/>
              </a:rPr>
              <a:t>ksize</a:t>
            </a:r>
            <a:r>
              <a:rPr lang="zh-CN" altLang="en-US" sz="2400" b="1" dirty="0">
                <a:latin typeface="+mn-ea"/>
              </a:rPr>
              <a:t>表示滤波卷积核的大小；</a:t>
            </a:r>
            <a:r>
              <a:rPr lang="en-US" altLang="zh-CN" sz="2400" b="1" dirty="0">
                <a:latin typeface="+mn-ea"/>
              </a:rPr>
              <a:t>Anchor</a:t>
            </a:r>
            <a:r>
              <a:rPr lang="zh-CN" altLang="en-US" sz="2400" b="1" dirty="0">
                <a:latin typeface="+mn-ea"/>
              </a:rPr>
              <a:t>表示图像处理的锚点，其默认值为（</a:t>
            </a:r>
            <a:r>
              <a:rPr lang="en-US" altLang="zh-CN" sz="2400" b="1" dirty="0">
                <a:latin typeface="+mn-ea"/>
              </a:rPr>
              <a:t>-1</a:t>
            </a:r>
            <a:r>
              <a:rPr lang="zh-CN" altLang="en-US" sz="2400" b="1" dirty="0">
                <a:latin typeface="+mn-ea"/>
              </a:rPr>
              <a:t>，</a:t>
            </a:r>
            <a:r>
              <a:rPr lang="en-US" altLang="zh-CN" sz="2400" b="1" dirty="0">
                <a:latin typeface="+mn-ea"/>
              </a:rPr>
              <a:t>-1</a:t>
            </a:r>
            <a:r>
              <a:rPr lang="zh-CN" altLang="en-US" sz="2400" b="1" dirty="0">
                <a:latin typeface="+mn-ea"/>
              </a:rPr>
              <a:t>），表示位于卷积核中心点；</a:t>
            </a:r>
            <a:r>
              <a:rPr lang="en-US" altLang="zh-CN" sz="2400" b="1" dirty="0" err="1">
                <a:latin typeface="+mn-ea"/>
              </a:rPr>
              <a:t>borderType</a:t>
            </a:r>
            <a:r>
              <a:rPr lang="en-US" altLang="zh-CN" sz="2400" b="1" dirty="0">
                <a:latin typeface="+mn-ea"/>
              </a:rPr>
              <a:t> </a:t>
            </a:r>
            <a:r>
              <a:rPr lang="zh-CN" altLang="en-US" sz="2400" b="1" dirty="0">
                <a:latin typeface="+mn-ea"/>
              </a:rPr>
              <a:t>表示以哪种方式处理边界值。通常情况下，在使用均值滤波时，</a:t>
            </a:r>
            <a:r>
              <a:rPr lang="en-US" altLang="zh-CN" sz="2400" b="1" dirty="0">
                <a:latin typeface="+mn-ea"/>
              </a:rPr>
              <a:t>anchor</a:t>
            </a:r>
            <a:r>
              <a:rPr lang="zh-CN" altLang="en-US" sz="2400" b="1" dirty="0">
                <a:latin typeface="+mn-ea"/>
              </a:rPr>
              <a:t>和</a:t>
            </a:r>
            <a:r>
              <a:rPr lang="en-US" altLang="zh-CN" sz="2400" b="1" dirty="0" err="1">
                <a:latin typeface="+mn-ea"/>
              </a:rPr>
              <a:t>borderType</a:t>
            </a:r>
            <a:r>
              <a:rPr lang="zh-CN" altLang="en-US" sz="2400" b="1" dirty="0">
                <a:latin typeface="+mn-ea"/>
              </a:rPr>
              <a:t>参数直接使用默认值即可。</a:t>
            </a:r>
          </a:p>
          <a:p>
            <a:endParaRPr lang="zh-CN" altLang="en-US" dirty="0"/>
          </a:p>
        </p:txBody>
      </p:sp>
    </p:spTree>
    <p:extLst>
      <p:ext uri="{BB962C8B-B14F-4D97-AF65-F5344CB8AC3E}">
        <p14:creationId xmlns:p14="http://schemas.microsoft.com/office/powerpoint/2010/main" val="22204654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C647A81B-EC6E-43EF-8103-E66245CD8ED7}"/>
              </a:ext>
            </a:extLst>
          </p:cNvPr>
          <p:cNvSpPr txBox="1"/>
          <p:nvPr/>
        </p:nvSpPr>
        <p:spPr>
          <a:xfrm>
            <a:off x="720090" y="525182"/>
            <a:ext cx="11132820" cy="461665"/>
          </a:xfrm>
          <a:prstGeom prst="rect">
            <a:avLst/>
          </a:prstGeom>
          <a:noFill/>
        </p:spPr>
        <p:txBody>
          <a:bodyPr wrap="square">
            <a:spAutoFit/>
          </a:bodyPr>
          <a:lstStyle/>
          <a:p>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11.9】</a:t>
            </a:r>
            <a:r>
              <a:rPr lang="zh-CN" altLang="en-US" sz="2400" dirty="0"/>
              <a:t>定义不同卷积核大小，对彩色加噪图像进行平滑处理。程序代码如下：</a:t>
            </a:r>
          </a:p>
        </p:txBody>
      </p:sp>
      <p:sp>
        <p:nvSpPr>
          <p:cNvPr id="5" name="文本框 4">
            <a:extLst>
              <a:ext uri="{FF2B5EF4-FFF2-40B4-BE49-F238E27FC236}">
                <a16:creationId xmlns:a16="http://schemas.microsoft.com/office/drawing/2014/main" xmlns="" id="{93A2F351-4522-4EF5-91D4-FB215C8176DC}"/>
              </a:ext>
            </a:extLst>
          </p:cNvPr>
          <p:cNvSpPr txBox="1"/>
          <p:nvPr/>
        </p:nvSpPr>
        <p:spPr>
          <a:xfrm>
            <a:off x="824957" y="1001406"/>
            <a:ext cx="4889377" cy="4801314"/>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import cv2</a:t>
            </a:r>
          </a:p>
          <a:p>
            <a:r>
              <a:rPr lang="en-US" altLang="zh-CN" dirty="0">
                <a:latin typeface="Times New Roman" panose="02020603050405020304" pitchFamily="18" charset="0"/>
                <a:cs typeface="Times New Roman" panose="02020603050405020304" pitchFamily="18" charset="0"/>
              </a:rPr>
              <a:t>import </a:t>
            </a:r>
            <a:r>
              <a:rPr lang="en-US" altLang="zh-CN" dirty="0" err="1">
                <a:latin typeface="Times New Roman" panose="02020603050405020304" pitchFamily="18" charset="0"/>
                <a:cs typeface="Times New Roman" panose="02020603050405020304" pitchFamily="18" charset="0"/>
              </a:rPr>
              <a:t>numpy</a:t>
            </a:r>
            <a:r>
              <a:rPr lang="en-US" altLang="zh-CN" dirty="0">
                <a:latin typeface="Times New Roman" panose="02020603050405020304" pitchFamily="18" charset="0"/>
                <a:cs typeface="Times New Roman" panose="02020603050405020304" pitchFamily="18" charset="0"/>
              </a:rPr>
              <a:t> as np</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加椒盐噪声的函数</a:t>
            </a:r>
          </a:p>
          <a:p>
            <a:r>
              <a:rPr lang="en-US" altLang="zh-CN" dirty="0">
                <a:latin typeface="Times New Roman" panose="02020603050405020304" pitchFamily="18" charset="0"/>
                <a:cs typeface="Times New Roman" panose="02020603050405020304" pitchFamily="18" charset="0"/>
              </a:rPr>
              <a:t>def </a:t>
            </a:r>
            <a:r>
              <a:rPr lang="en-US" altLang="zh-CN" dirty="0" err="1">
                <a:latin typeface="Times New Roman" panose="02020603050405020304" pitchFamily="18" charset="0"/>
                <a:cs typeface="Times New Roman" panose="02020603050405020304" pitchFamily="18" charset="0"/>
              </a:rPr>
              <a:t>saltPepper</a:t>
            </a:r>
            <a:r>
              <a:rPr lang="en-US" altLang="zh-CN" dirty="0">
                <a:latin typeface="Times New Roman" panose="02020603050405020304" pitchFamily="18" charset="0"/>
                <a:cs typeface="Times New Roman" panose="02020603050405020304" pitchFamily="18" charset="0"/>
              </a:rPr>
              <a:t>(image, salt, pepper):</a:t>
            </a:r>
          </a:p>
          <a:p>
            <a:r>
              <a:rPr lang="en-US" altLang="zh-CN" dirty="0">
                <a:latin typeface="Times New Roman" panose="02020603050405020304" pitchFamily="18" charset="0"/>
                <a:cs typeface="Times New Roman" panose="02020603050405020304" pitchFamily="18" charset="0"/>
              </a:rPr>
              <a:t>    height, width = </a:t>
            </a:r>
            <a:r>
              <a:rPr lang="en-US" altLang="zh-CN" dirty="0" err="1">
                <a:latin typeface="Times New Roman" panose="02020603050405020304" pitchFamily="18" charset="0"/>
                <a:cs typeface="Times New Roman" panose="02020603050405020304" pitchFamily="18" charset="0"/>
              </a:rPr>
              <a:t>image.shape</a:t>
            </a:r>
            <a:r>
              <a:rPr lang="en-US" altLang="zh-CN" dirty="0">
                <a:latin typeface="Times New Roman" panose="02020603050405020304" pitchFamily="18" charset="0"/>
                <a:cs typeface="Times New Roman" panose="02020603050405020304" pitchFamily="18" charset="0"/>
              </a:rPr>
              <a:t>[0:2]</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pertotal</a:t>
            </a:r>
            <a:r>
              <a:rPr lang="en-US" altLang="zh-CN" dirty="0">
                <a:latin typeface="Times New Roman" panose="02020603050405020304" pitchFamily="18" charset="0"/>
                <a:cs typeface="Times New Roman" panose="02020603050405020304" pitchFamily="18" charset="0"/>
              </a:rPr>
              <a:t> = salt + pepper  # </a:t>
            </a:r>
            <a:r>
              <a:rPr lang="zh-CN" altLang="en-US" dirty="0">
                <a:latin typeface="Times New Roman" panose="02020603050405020304" pitchFamily="18" charset="0"/>
                <a:cs typeface="Times New Roman" panose="02020603050405020304" pitchFamily="18" charset="0"/>
              </a:rPr>
              <a:t>总噪声占比</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noiseImage</a:t>
            </a:r>
            <a:r>
              <a:rPr lang="en-US" altLang="zh-CN" dirty="0">
                <a:latin typeface="Times New Roman" panose="02020603050405020304" pitchFamily="18" charset="0"/>
                <a:cs typeface="Times New Roman" panose="02020603050405020304" pitchFamily="18" charset="0"/>
              </a:rPr>
              <a:t> = </a:t>
            </a:r>
            <a:r>
              <a:rPr lang="en-US" altLang="zh-CN" dirty="0" err="1">
                <a:latin typeface="Times New Roman" panose="02020603050405020304" pitchFamily="18" charset="0"/>
                <a:cs typeface="Times New Roman" panose="02020603050405020304" pitchFamily="18" charset="0"/>
              </a:rPr>
              <a:t>image.copy</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noiseNum</a:t>
            </a:r>
            <a:r>
              <a:rPr lang="en-US" altLang="zh-CN" dirty="0">
                <a:latin typeface="Times New Roman" panose="02020603050405020304" pitchFamily="18" charset="0"/>
                <a:cs typeface="Times New Roman" panose="02020603050405020304" pitchFamily="18" charset="0"/>
              </a:rPr>
              <a:t> = int(</a:t>
            </a:r>
            <a:r>
              <a:rPr lang="en-US" altLang="zh-CN" dirty="0" err="1">
                <a:latin typeface="Times New Roman" panose="02020603050405020304" pitchFamily="18" charset="0"/>
                <a:cs typeface="Times New Roman" panose="02020603050405020304" pitchFamily="18" charset="0"/>
              </a:rPr>
              <a:t>pertotal</a:t>
            </a:r>
            <a:r>
              <a:rPr lang="en-US" altLang="zh-CN" dirty="0">
                <a:latin typeface="Times New Roman" panose="02020603050405020304" pitchFamily="18" charset="0"/>
                <a:cs typeface="Times New Roman" panose="02020603050405020304" pitchFamily="18" charset="0"/>
              </a:rPr>
              <a:t> * height * width)</a:t>
            </a:r>
          </a:p>
          <a:p>
            <a:r>
              <a:rPr lang="en-US" altLang="zh-CN" dirty="0">
                <a:latin typeface="Times New Roman" panose="02020603050405020304" pitchFamily="18" charset="0"/>
                <a:cs typeface="Times New Roman" panose="02020603050405020304" pitchFamily="18" charset="0"/>
              </a:rPr>
              <a:t>    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in range(</a:t>
            </a:r>
            <a:r>
              <a:rPr lang="en-US" altLang="zh-CN" dirty="0" err="1">
                <a:latin typeface="Times New Roman" panose="02020603050405020304" pitchFamily="18" charset="0"/>
                <a:cs typeface="Times New Roman" panose="02020603050405020304" pitchFamily="18" charset="0"/>
              </a:rPr>
              <a:t>noiseNum</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rows = </a:t>
            </a:r>
            <a:r>
              <a:rPr lang="en-US" altLang="zh-CN" dirty="0" err="1">
                <a:latin typeface="Times New Roman" panose="02020603050405020304" pitchFamily="18" charset="0"/>
                <a:cs typeface="Times New Roman" panose="02020603050405020304" pitchFamily="18" charset="0"/>
              </a:rPr>
              <a:t>np.random.randint</a:t>
            </a:r>
            <a:r>
              <a:rPr lang="en-US" altLang="zh-CN" dirty="0">
                <a:latin typeface="Times New Roman" panose="02020603050405020304" pitchFamily="18" charset="0"/>
                <a:cs typeface="Times New Roman" panose="02020603050405020304" pitchFamily="18" charset="0"/>
              </a:rPr>
              <a:t>(0, height - 1)</a:t>
            </a:r>
          </a:p>
          <a:p>
            <a:r>
              <a:rPr lang="en-US" altLang="zh-CN" dirty="0">
                <a:latin typeface="Times New Roman" panose="02020603050405020304" pitchFamily="18" charset="0"/>
                <a:cs typeface="Times New Roman" panose="02020603050405020304" pitchFamily="18" charset="0"/>
              </a:rPr>
              <a:t>        cols = </a:t>
            </a:r>
            <a:r>
              <a:rPr lang="en-US" altLang="zh-CN" dirty="0" err="1">
                <a:latin typeface="Times New Roman" panose="02020603050405020304" pitchFamily="18" charset="0"/>
                <a:cs typeface="Times New Roman" panose="02020603050405020304" pitchFamily="18" charset="0"/>
              </a:rPr>
              <a:t>np.random.randint</a:t>
            </a:r>
            <a:r>
              <a:rPr lang="en-US" altLang="zh-CN" dirty="0">
                <a:latin typeface="Times New Roman" panose="02020603050405020304" pitchFamily="18" charset="0"/>
                <a:cs typeface="Times New Roman" panose="02020603050405020304" pitchFamily="18" charset="0"/>
              </a:rPr>
              <a:t>(0, width - 1)</a:t>
            </a:r>
          </a:p>
          <a:p>
            <a:r>
              <a:rPr lang="en-US" altLang="zh-CN" dirty="0">
                <a:latin typeface="Times New Roman" panose="02020603050405020304" pitchFamily="18" charset="0"/>
                <a:cs typeface="Times New Roman" panose="02020603050405020304" pitchFamily="18" charset="0"/>
              </a:rPr>
              <a:t>        if (</a:t>
            </a:r>
            <a:r>
              <a:rPr lang="en-US" altLang="zh-CN" dirty="0" err="1">
                <a:latin typeface="Times New Roman" panose="02020603050405020304" pitchFamily="18" charset="0"/>
                <a:cs typeface="Times New Roman" panose="02020603050405020304" pitchFamily="18" charset="0"/>
              </a:rPr>
              <a:t>np.random.randint</a:t>
            </a:r>
            <a:r>
              <a:rPr lang="en-US" altLang="zh-CN" dirty="0">
                <a:latin typeface="Times New Roman" panose="02020603050405020304" pitchFamily="18" charset="0"/>
                <a:cs typeface="Times New Roman" panose="02020603050405020304" pitchFamily="18" charset="0"/>
              </a:rPr>
              <a:t>(0, 100) &lt; salt * 100):</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noiseImage</a:t>
            </a:r>
            <a:r>
              <a:rPr lang="en-US" altLang="zh-CN" dirty="0">
                <a:latin typeface="Times New Roman" panose="02020603050405020304" pitchFamily="18" charset="0"/>
                <a:cs typeface="Times New Roman" panose="02020603050405020304" pitchFamily="18" charset="0"/>
              </a:rPr>
              <a:t>[rows, cols] = 255</a:t>
            </a:r>
          </a:p>
          <a:p>
            <a:r>
              <a:rPr lang="en-US" altLang="zh-CN" dirty="0">
                <a:latin typeface="Times New Roman" panose="02020603050405020304" pitchFamily="18" charset="0"/>
                <a:cs typeface="Times New Roman" panose="02020603050405020304" pitchFamily="18" charset="0"/>
              </a:rPr>
              <a:t>        else:</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noiseImage</a:t>
            </a:r>
            <a:r>
              <a:rPr lang="en-US" altLang="zh-CN" dirty="0">
                <a:latin typeface="Times New Roman" panose="02020603050405020304" pitchFamily="18" charset="0"/>
                <a:cs typeface="Times New Roman" panose="02020603050405020304" pitchFamily="18" charset="0"/>
              </a:rPr>
              <a:t>[rows, cols] = 0</a:t>
            </a:r>
          </a:p>
          <a:p>
            <a:r>
              <a:rPr lang="en-US" altLang="zh-CN" dirty="0">
                <a:latin typeface="Times New Roman" panose="02020603050405020304" pitchFamily="18" charset="0"/>
                <a:cs typeface="Times New Roman" panose="02020603050405020304" pitchFamily="18" charset="0"/>
              </a:rPr>
              <a:t>    return </a:t>
            </a:r>
            <a:r>
              <a:rPr lang="en-US" altLang="zh-CN" dirty="0" err="1">
                <a:latin typeface="Times New Roman" panose="02020603050405020304" pitchFamily="18" charset="0"/>
                <a:cs typeface="Times New Roman" panose="02020603050405020304" pitchFamily="18" charset="0"/>
              </a:rPr>
              <a:t>noiseImage</a:t>
            </a:r>
            <a:endParaRPr lang="en-US" altLang="zh-CN"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xmlns="" id="{166717A8-C861-4668-ACAF-3E560E19BB54}"/>
              </a:ext>
            </a:extLst>
          </p:cNvPr>
          <p:cNvSpPr txBox="1"/>
          <p:nvPr/>
        </p:nvSpPr>
        <p:spPr>
          <a:xfrm>
            <a:off x="5619232" y="1139905"/>
            <a:ext cx="6094520" cy="4524315"/>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if __name__ == "__main__":</a:t>
            </a:r>
          </a:p>
          <a:p>
            <a:r>
              <a:rPr lang="en-US" altLang="zh-CN" dirty="0">
                <a:latin typeface="Times New Roman" panose="02020603050405020304" pitchFamily="18" charset="0"/>
                <a:cs typeface="Times New Roman" panose="02020603050405020304" pitchFamily="18" charset="0"/>
              </a:rPr>
              <a:t>    image = cv2.imread("d:/pics/lena.jpg")</a:t>
            </a:r>
          </a:p>
          <a:p>
            <a:r>
              <a:rPr lang="en-US" altLang="zh-CN" dirty="0">
                <a:latin typeface="Times New Roman" panose="02020603050405020304" pitchFamily="18" charset="0"/>
                <a:cs typeface="Times New Roman" panose="02020603050405020304" pitchFamily="18" charset="0"/>
              </a:rPr>
              <a:t>    cv2.imshow("</a:t>
            </a:r>
            <a:r>
              <a:rPr lang="en-US" altLang="zh-CN" dirty="0" err="1">
                <a:latin typeface="Times New Roman" panose="02020603050405020304" pitchFamily="18" charset="0"/>
                <a:cs typeface="Times New Roman" panose="02020603050405020304" pitchFamily="18" charset="0"/>
              </a:rPr>
              <a:t>image",image</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imageNoise</a:t>
            </a:r>
            <a:r>
              <a:rPr lang="en-US" altLang="zh-CN" dirty="0">
                <a:latin typeface="Times New Roman" panose="02020603050405020304" pitchFamily="18" charset="0"/>
                <a:cs typeface="Times New Roman" panose="02020603050405020304" pitchFamily="18" charset="0"/>
              </a:rPr>
              <a:t> = </a:t>
            </a:r>
            <a:r>
              <a:rPr lang="en-US" altLang="zh-CN" dirty="0" err="1">
                <a:latin typeface="Times New Roman" panose="02020603050405020304" pitchFamily="18" charset="0"/>
                <a:cs typeface="Times New Roman" panose="02020603050405020304" pitchFamily="18" charset="0"/>
              </a:rPr>
              <a:t>saltPepper</a:t>
            </a:r>
            <a:r>
              <a:rPr lang="en-US" altLang="zh-CN" dirty="0">
                <a:latin typeface="Times New Roman" panose="02020603050405020304" pitchFamily="18" charset="0"/>
                <a:cs typeface="Times New Roman" panose="02020603050405020304" pitchFamily="18" charset="0"/>
              </a:rPr>
              <a:t>(image, 0.1, 0.1)</a:t>
            </a:r>
          </a:p>
          <a:p>
            <a:r>
              <a:rPr lang="en-US" altLang="zh-CN" dirty="0">
                <a:latin typeface="Times New Roman" panose="02020603050405020304" pitchFamily="18" charset="0"/>
                <a:cs typeface="Times New Roman" panose="02020603050405020304" pitchFamily="18" charset="0"/>
              </a:rPr>
              <a:t>    imageAver3 = cv2.blur(</a:t>
            </a:r>
            <a:r>
              <a:rPr lang="en-US" altLang="zh-CN" dirty="0" err="1">
                <a:latin typeface="Times New Roman" panose="02020603050405020304" pitchFamily="18" charset="0"/>
                <a:cs typeface="Times New Roman" panose="02020603050405020304" pitchFamily="18" charset="0"/>
              </a:rPr>
              <a:t>imageNoise</a:t>
            </a:r>
            <a:r>
              <a:rPr lang="en-US" altLang="zh-CN" dirty="0">
                <a:latin typeface="Times New Roman" panose="02020603050405020304" pitchFamily="18" charset="0"/>
                <a:cs typeface="Times New Roman" panose="02020603050405020304" pitchFamily="18" charset="0"/>
              </a:rPr>
              <a:t>, (3, 3))  #</a:t>
            </a:r>
            <a:r>
              <a:rPr lang="zh-CN" altLang="en-US" dirty="0">
                <a:latin typeface="Times New Roman" panose="02020603050405020304" pitchFamily="18" charset="0"/>
                <a:cs typeface="Times New Roman" panose="02020603050405020304" pitchFamily="18" charset="0"/>
              </a:rPr>
              <a:t>卷积核为</a:t>
            </a:r>
            <a:r>
              <a:rPr lang="en-US" altLang="zh-CN" dirty="0">
                <a:latin typeface="Times New Roman" panose="02020603050405020304" pitchFamily="18" charset="0"/>
                <a:cs typeface="Times New Roman" panose="02020603050405020304" pitchFamily="18" charset="0"/>
              </a:rPr>
              <a:t>3×3</a:t>
            </a:r>
          </a:p>
          <a:p>
            <a:r>
              <a:rPr lang="en-US" altLang="zh-CN" dirty="0">
                <a:latin typeface="Times New Roman" panose="02020603050405020304" pitchFamily="18" charset="0"/>
                <a:cs typeface="Times New Roman" panose="02020603050405020304" pitchFamily="18" charset="0"/>
              </a:rPr>
              <a:t>    imageAver5 = cv2.blur(</a:t>
            </a:r>
            <a:r>
              <a:rPr lang="en-US" altLang="zh-CN" dirty="0" err="1">
                <a:latin typeface="Times New Roman" panose="02020603050405020304" pitchFamily="18" charset="0"/>
                <a:cs typeface="Times New Roman" panose="02020603050405020304" pitchFamily="18" charset="0"/>
              </a:rPr>
              <a:t>imageNoise</a:t>
            </a:r>
            <a:r>
              <a:rPr lang="en-US" altLang="zh-CN" dirty="0">
                <a:latin typeface="Times New Roman" panose="02020603050405020304" pitchFamily="18" charset="0"/>
                <a:cs typeface="Times New Roman" panose="02020603050405020304" pitchFamily="18" charset="0"/>
              </a:rPr>
              <a:t>, (5, 5))  #</a:t>
            </a:r>
            <a:r>
              <a:rPr lang="zh-CN" altLang="en-US" dirty="0">
                <a:latin typeface="Times New Roman" panose="02020603050405020304" pitchFamily="18" charset="0"/>
                <a:cs typeface="Times New Roman" panose="02020603050405020304" pitchFamily="18" charset="0"/>
              </a:rPr>
              <a:t>卷积核为</a:t>
            </a:r>
            <a:r>
              <a:rPr lang="en-US" altLang="zh-CN" dirty="0">
                <a:latin typeface="Times New Roman" panose="02020603050405020304" pitchFamily="18" charset="0"/>
                <a:cs typeface="Times New Roman" panose="02020603050405020304" pitchFamily="18" charset="0"/>
              </a:rPr>
              <a:t>5×5</a:t>
            </a:r>
          </a:p>
          <a:p>
            <a:r>
              <a:rPr lang="en-US" altLang="zh-CN" dirty="0">
                <a:latin typeface="Times New Roman" panose="02020603050405020304" pitchFamily="18" charset="0"/>
                <a:cs typeface="Times New Roman" panose="02020603050405020304" pitchFamily="18" charset="0"/>
              </a:rPr>
              <a:t>    imageAver7 = cv2.blur(</a:t>
            </a:r>
            <a:r>
              <a:rPr lang="en-US" altLang="zh-CN" dirty="0" err="1">
                <a:latin typeface="Times New Roman" panose="02020603050405020304" pitchFamily="18" charset="0"/>
                <a:cs typeface="Times New Roman" panose="02020603050405020304" pitchFamily="18" charset="0"/>
              </a:rPr>
              <a:t>imageNoise</a:t>
            </a:r>
            <a:r>
              <a:rPr lang="en-US" altLang="zh-CN" dirty="0">
                <a:latin typeface="Times New Roman" panose="02020603050405020304" pitchFamily="18" charset="0"/>
                <a:cs typeface="Times New Roman" panose="02020603050405020304" pitchFamily="18" charset="0"/>
              </a:rPr>
              <a:t>, (7, 7))  #</a:t>
            </a:r>
            <a:r>
              <a:rPr lang="zh-CN" altLang="en-US" dirty="0">
                <a:latin typeface="Times New Roman" panose="02020603050405020304" pitchFamily="18" charset="0"/>
                <a:cs typeface="Times New Roman" panose="02020603050405020304" pitchFamily="18" charset="0"/>
              </a:rPr>
              <a:t>卷积核为</a:t>
            </a:r>
            <a:r>
              <a:rPr lang="en-US" altLang="zh-CN" dirty="0">
                <a:latin typeface="Times New Roman" panose="02020603050405020304" pitchFamily="18" charset="0"/>
                <a:cs typeface="Times New Roman" panose="02020603050405020304" pitchFamily="18" charset="0"/>
              </a:rPr>
              <a:t>7×7</a:t>
            </a:r>
          </a:p>
          <a:p>
            <a:r>
              <a:rPr lang="en-US" altLang="zh-CN" dirty="0">
                <a:latin typeface="Times New Roman" panose="02020603050405020304" pitchFamily="18" charset="0"/>
                <a:cs typeface="Times New Roman" panose="02020603050405020304" pitchFamily="18" charset="0"/>
              </a:rPr>
              <a:t>    imageAver9 = cv2.blur(</a:t>
            </a:r>
            <a:r>
              <a:rPr lang="en-US" altLang="zh-CN" dirty="0" err="1">
                <a:latin typeface="Times New Roman" panose="02020603050405020304" pitchFamily="18" charset="0"/>
                <a:cs typeface="Times New Roman" panose="02020603050405020304" pitchFamily="18" charset="0"/>
              </a:rPr>
              <a:t>imageNoise</a:t>
            </a:r>
            <a:r>
              <a:rPr lang="en-US" altLang="zh-CN" dirty="0">
                <a:latin typeface="Times New Roman" panose="02020603050405020304" pitchFamily="18" charset="0"/>
                <a:cs typeface="Times New Roman" panose="02020603050405020304" pitchFamily="18" charset="0"/>
              </a:rPr>
              <a:t>, (9, 9))  #</a:t>
            </a:r>
            <a:r>
              <a:rPr lang="zh-CN" altLang="en-US" dirty="0">
                <a:latin typeface="Times New Roman" panose="02020603050405020304" pitchFamily="18" charset="0"/>
                <a:cs typeface="Times New Roman" panose="02020603050405020304" pitchFamily="18" charset="0"/>
              </a:rPr>
              <a:t>卷积核为</a:t>
            </a:r>
            <a:r>
              <a:rPr lang="en-US" altLang="zh-CN" dirty="0">
                <a:latin typeface="Times New Roman" panose="02020603050405020304" pitchFamily="18" charset="0"/>
                <a:cs typeface="Times New Roman" panose="02020603050405020304" pitchFamily="18" charset="0"/>
              </a:rPr>
              <a:t>9×9</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cv2.imshow("</a:t>
            </a:r>
            <a:r>
              <a:rPr lang="en-US" altLang="zh-CN" dirty="0" err="1">
                <a:latin typeface="Times New Roman" panose="02020603050405020304" pitchFamily="18" charset="0"/>
                <a:cs typeface="Times New Roman" panose="02020603050405020304" pitchFamily="18" charset="0"/>
              </a:rPr>
              <a:t>imageNoise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imageNoise</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cv2.imshow("imageAver3",imageAver3)</a:t>
            </a:r>
          </a:p>
          <a:p>
            <a:r>
              <a:rPr lang="en-US" altLang="zh-CN" dirty="0">
                <a:latin typeface="Times New Roman" panose="02020603050405020304" pitchFamily="18" charset="0"/>
                <a:cs typeface="Times New Roman" panose="02020603050405020304" pitchFamily="18" charset="0"/>
              </a:rPr>
              <a:t>    cv2.imshow("imageAver5",imageAver5)</a:t>
            </a:r>
          </a:p>
          <a:p>
            <a:r>
              <a:rPr lang="en-US" altLang="zh-CN" dirty="0">
                <a:latin typeface="Times New Roman" panose="02020603050405020304" pitchFamily="18" charset="0"/>
                <a:cs typeface="Times New Roman" panose="02020603050405020304" pitchFamily="18" charset="0"/>
              </a:rPr>
              <a:t>    cv2.imshow("imageAver7",imageAver7)</a:t>
            </a:r>
          </a:p>
          <a:p>
            <a:r>
              <a:rPr lang="en-US" altLang="zh-CN" dirty="0">
                <a:latin typeface="Times New Roman" panose="02020603050405020304" pitchFamily="18" charset="0"/>
                <a:cs typeface="Times New Roman" panose="02020603050405020304" pitchFamily="18" charset="0"/>
              </a:rPr>
              <a:t>    cv2.imshow("imageAver9",imageAver9)</a:t>
            </a:r>
          </a:p>
          <a:p>
            <a:r>
              <a:rPr lang="en-US" altLang="zh-CN" dirty="0">
                <a:latin typeface="Times New Roman" panose="02020603050405020304" pitchFamily="18" charset="0"/>
                <a:cs typeface="Times New Roman" panose="02020603050405020304" pitchFamily="18" charset="0"/>
              </a:rPr>
              <a:t>    cv2.waitKey()</a:t>
            </a:r>
          </a:p>
          <a:p>
            <a:r>
              <a:rPr lang="en-US" altLang="zh-CN" dirty="0">
                <a:latin typeface="Times New Roman" panose="02020603050405020304" pitchFamily="18" charset="0"/>
                <a:cs typeface="Times New Roman" panose="02020603050405020304" pitchFamily="18" charset="0"/>
              </a:rPr>
              <a:t>    cv2.destroyAllWindows()</a:t>
            </a:r>
          </a:p>
        </p:txBody>
      </p:sp>
    </p:spTree>
    <p:extLst>
      <p:ext uri="{BB962C8B-B14F-4D97-AF65-F5344CB8AC3E}">
        <p14:creationId xmlns:p14="http://schemas.microsoft.com/office/powerpoint/2010/main" val="1838405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9B776B5E-FF1B-4263-BF35-EBE27F75EEE7}"/>
              </a:ext>
            </a:extLst>
          </p:cNvPr>
          <p:cNvSpPr txBox="1"/>
          <p:nvPr/>
        </p:nvSpPr>
        <p:spPr>
          <a:xfrm>
            <a:off x="1348741" y="222812"/>
            <a:ext cx="9269730" cy="830997"/>
          </a:xfrm>
          <a:prstGeom prst="rect">
            <a:avLst/>
          </a:prstGeom>
          <a:noFill/>
        </p:spPr>
        <p:txBody>
          <a:bodyPr wrap="square">
            <a:spAutoFit/>
          </a:bodyPr>
          <a:lstStyle/>
          <a:p>
            <a:r>
              <a:rPr lang="zh-CN" altLang="en-US" sz="2400" dirty="0">
                <a:solidFill>
                  <a:srgbClr val="0033CC"/>
                </a:solidFill>
              </a:rPr>
              <a:t>程序运行结果如图</a:t>
            </a:r>
            <a:r>
              <a:rPr lang="en-US" altLang="zh-CN" sz="2400" dirty="0">
                <a:solidFill>
                  <a:srgbClr val="0033CC"/>
                </a:solidFill>
              </a:rPr>
              <a:t>11-10</a:t>
            </a:r>
            <a:r>
              <a:rPr lang="zh-CN" altLang="en-US" sz="2400" dirty="0">
                <a:solidFill>
                  <a:srgbClr val="0033CC"/>
                </a:solidFill>
              </a:rPr>
              <a:t>所示：从图中对比可以看出，随着卷积核的增大，图像的失真情况越来越严重。</a:t>
            </a:r>
          </a:p>
        </p:txBody>
      </p:sp>
      <p:pic>
        <p:nvPicPr>
          <p:cNvPr id="4" name="图片 3">
            <a:extLst>
              <a:ext uri="{FF2B5EF4-FFF2-40B4-BE49-F238E27FC236}">
                <a16:creationId xmlns:a16="http://schemas.microsoft.com/office/drawing/2014/main" xmlns="" id="{4022F25C-FCC6-44CA-AE92-BC3B0638CD46}"/>
              </a:ext>
            </a:extLst>
          </p:cNvPr>
          <p:cNvPicPr>
            <a:picLocks noChangeAspect="1"/>
          </p:cNvPicPr>
          <p:nvPr/>
        </p:nvPicPr>
        <p:blipFill>
          <a:blip r:embed="rId2"/>
          <a:stretch>
            <a:fillRect/>
          </a:stretch>
        </p:blipFill>
        <p:spPr>
          <a:xfrm>
            <a:off x="935109" y="982791"/>
            <a:ext cx="2305241" cy="2446209"/>
          </a:xfrm>
          <a:prstGeom prst="rect">
            <a:avLst/>
          </a:prstGeom>
        </p:spPr>
      </p:pic>
      <p:pic>
        <p:nvPicPr>
          <p:cNvPr id="5" name="图片 4">
            <a:extLst>
              <a:ext uri="{FF2B5EF4-FFF2-40B4-BE49-F238E27FC236}">
                <a16:creationId xmlns:a16="http://schemas.microsoft.com/office/drawing/2014/main" xmlns="" id="{A8C5FE7F-5A9F-42C6-8409-AC115AA94B70}"/>
              </a:ext>
            </a:extLst>
          </p:cNvPr>
          <p:cNvPicPr>
            <a:picLocks noChangeAspect="1"/>
          </p:cNvPicPr>
          <p:nvPr/>
        </p:nvPicPr>
        <p:blipFill>
          <a:blip r:embed="rId3"/>
          <a:stretch>
            <a:fillRect/>
          </a:stretch>
        </p:blipFill>
        <p:spPr>
          <a:xfrm>
            <a:off x="4199881" y="957095"/>
            <a:ext cx="2305240" cy="2446208"/>
          </a:xfrm>
          <a:prstGeom prst="rect">
            <a:avLst/>
          </a:prstGeom>
        </p:spPr>
      </p:pic>
      <p:pic>
        <p:nvPicPr>
          <p:cNvPr id="6" name="图片 5">
            <a:extLst>
              <a:ext uri="{FF2B5EF4-FFF2-40B4-BE49-F238E27FC236}">
                <a16:creationId xmlns:a16="http://schemas.microsoft.com/office/drawing/2014/main" xmlns="" id="{44D2DBEA-E5B3-42D1-88EA-6E4FD3AC48C6}"/>
              </a:ext>
            </a:extLst>
          </p:cNvPr>
          <p:cNvPicPr>
            <a:picLocks noChangeAspect="1"/>
          </p:cNvPicPr>
          <p:nvPr/>
        </p:nvPicPr>
        <p:blipFill>
          <a:blip r:embed="rId4"/>
          <a:stretch>
            <a:fillRect/>
          </a:stretch>
        </p:blipFill>
        <p:spPr>
          <a:xfrm>
            <a:off x="7104017" y="957095"/>
            <a:ext cx="2305240" cy="2446208"/>
          </a:xfrm>
          <a:prstGeom prst="rect">
            <a:avLst/>
          </a:prstGeom>
        </p:spPr>
      </p:pic>
      <p:pic>
        <p:nvPicPr>
          <p:cNvPr id="7" name="图片 6">
            <a:extLst>
              <a:ext uri="{FF2B5EF4-FFF2-40B4-BE49-F238E27FC236}">
                <a16:creationId xmlns:a16="http://schemas.microsoft.com/office/drawing/2014/main" xmlns="" id="{EA67C9D5-01DC-4CCA-A8DF-9DBAECBB2241}"/>
              </a:ext>
            </a:extLst>
          </p:cNvPr>
          <p:cNvPicPr>
            <a:picLocks noChangeAspect="1"/>
          </p:cNvPicPr>
          <p:nvPr/>
        </p:nvPicPr>
        <p:blipFill>
          <a:blip r:embed="rId5"/>
          <a:stretch>
            <a:fillRect/>
          </a:stretch>
        </p:blipFill>
        <p:spPr>
          <a:xfrm>
            <a:off x="935109" y="3772636"/>
            <a:ext cx="2305241" cy="2446209"/>
          </a:xfrm>
          <a:prstGeom prst="rect">
            <a:avLst/>
          </a:prstGeom>
        </p:spPr>
      </p:pic>
      <p:pic>
        <p:nvPicPr>
          <p:cNvPr id="8" name="图片 7">
            <a:extLst>
              <a:ext uri="{FF2B5EF4-FFF2-40B4-BE49-F238E27FC236}">
                <a16:creationId xmlns:a16="http://schemas.microsoft.com/office/drawing/2014/main" xmlns="" id="{EF834834-BF68-4BE3-868D-C61677253BB5}"/>
              </a:ext>
            </a:extLst>
          </p:cNvPr>
          <p:cNvPicPr>
            <a:picLocks noChangeAspect="1"/>
          </p:cNvPicPr>
          <p:nvPr/>
        </p:nvPicPr>
        <p:blipFill>
          <a:blip r:embed="rId6"/>
          <a:stretch>
            <a:fillRect/>
          </a:stretch>
        </p:blipFill>
        <p:spPr>
          <a:xfrm>
            <a:off x="4272039" y="3772636"/>
            <a:ext cx="2305240" cy="2446208"/>
          </a:xfrm>
          <a:prstGeom prst="rect">
            <a:avLst/>
          </a:prstGeom>
        </p:spPr>
      </p:pic>
      <p:pic>
        <p:nvPicPr>
          <p:cNvPr id="9" name="图片 8">
            <a:extLst>
              <a:ext uri="{FF2B5EF4-FFF2-40B4-BE49-F238E27FC236}">
                <a16:creationId xmlns:a16="http://schemas.microsoft.com/office/drawing/2014/main" xmlns="" id="{A291209F-5385-474C-8EDE-95DAA988A0C2}"/>
              </a:ext>
            </a:extLst>
          </p:cNvPr>
          <p:cNvPicPr>
            <a:picLocks noChangeAspect="1"/>
          </p:cNvPicPr>
          <p:nvPr/>
        </p:nvPicPr>
        <p:blipFill>
          <a:blip r:embed="rId7"/>
          <a:stretch>
            <a:fillRect/>
          </a:stretch>
        </p:blipFill>
        <p:spPr>
          <a:xfrm>
            <a:off x="7169051" y="3772636"/>
            <a:ext cx="2305240" cy="2446208"/>
          </a:xfrm>
          <a:prstGeom prst="rect">
            <a:avLst/>
          </a:prstGeom>
        </p:spPr>
      </p:pic>
      <p:sp>
        <p:nvSpPr>
          <p:cNvPr id="11" name="文本框 10">
            <a:extLst>
              <a:ext uri="{FF2B5EF4-FFF2-40B4-BE49-F238E27FC236}">
                <a16:creationId xmlns:a16="http://schemas.microsoft.com/office/drawing/2014/main" xmlns="" id="{6600C464-72ED-443A-9C01-CA9311A9CB6B}"/>
              </a:ext>
            </a:extLst>
          </p:cNvPr>
          <p:cNvSpPr txBox="1"/>
          <p:nvPr/>
        </p:nvSpPr>
        <p:spPr>
          <a:xfrm>
            <a:off x="1128204" y="3403303"/>
            <a:ext cx="2112146" cy="369332"/>
          </a:xfrm>
          <a:prstGeom prst="rect">
            <a:avLst/>
          </a:prstGeom>
          <a:noFill/>
        </p:spPr>
        <p:txBody>
          <a:bodyPr wrap="square">
            <a:spAutoFit/>
          </a:bodyPr>
          <a:lstStyle/>
          <a:p>
            <a:r>
              <a:rPr lang="en-US" altLang="zh-CN" dirty="0"/>
              <a:t>(a)	</a:t>
            </a:r>
            <a:r>
              <a:rPr lang="zh-CN" altLang="en-US" dirty="0"/>
              <a:t>原始图像</a:t>
            </a:r>
          </a:p>
        </p:txBody>
      </p:sp>
      <p:sp>
        <p:nvSpPr>
          <p:cNvPr id="13" name="文本框 12">
            <a:extLst>
              <a:ext uri="{FF2B5EF4-FFF2-40B4-BE49-F238E27FC236}">
                <a16:creationId xmlns:a16="http://schemas.microsoft.com/office/drawing/2014/main" xmlns="" id="{7B432BFB-FB39-4549-9FB6-A2F940DD5FFB}"/>
              </a:ext>
            </a:extLst>
          </p:cNvPr>
          <p:cNvSpPr txBox="1"/>
          <p:nvPr/>
        </p:nvSpPr>
        <p:spPr>
          <a:xfrm>
            <a:off x="4352277" y="3357981"/>
            <a:ext cx="2225002" cy="369332"/>
          </a:xfrm>
          <a:prstGeom prst="rect">
            <a:avLst/>
          </a:prstGeom>
          <a:noFill/>
        </p:spPr>
        <p:txBody>
          <a:bodyPr wrap="square">
            <a:spAutoFit/>
          </a:bodyPr>
          <a:lstStyle/>
          <a:p>
            <a:r>
              <a:rPr lang="en-US" altLang="zh-CN" dirty="0"/>
              <a:t>(b)</a:t>
            </a:r>
            <a:r>
              <a:rPr lang="zh-CN" altLang="en-US" dirty="0"/>
              <a:t>椒盐噪声的图像</a:t>
            </a:r>
          </a:p>
        </p:txBody>
      </p:sp>
      <p:sp>
        <p:nvSpPr>
          <p:cNvPr id="15" name="文本框 14">
            <a:extLst>
              <a:ext uri="{FF2B5EF4-FFF2-40B4-BE49-F238E27FC236}">
                <a16:creationId xmlns:a16="http://schemas.microsoft.com/office/drawing/2014/main" xmlns="" id="{58B71191-5FB2-452F-8CC8-F82315F0BD4B}"/>
              </a:ext>
            </a:extLst>
          </p:cNvPr>
          <p:cNvSpPr txBox="1"/>
          <p:nvPr/>
        </p:nvSpPr>
        <p:spPr>
          <a:xfrm>
            <a:off x="7015578" y="3357981"/>
            <a:ext cx="2829758" cy="369332"/>
          </a:xfrm>
          <a:prstGeom prst="rect">
            <a:avLst/>
          </a:prstGeom>
          <a:noFill/>
        </p:spPr>
        <p:txBody>
          <a:bodyPr wrap="square">
            <a:spAutoFit/>
          </a:bodyPr>
          <a:lstStyle/>
          <a:p>
            <a:r>
              <a:rPr lang="en-US" altLang="zh-CN" dirty="0"/>
              <a:t>(c)</a:t>
            </a:r>
            <a:r>
              <a:rPr lang="zh-CN" altLang="en-US" dirty="0"/>
              <a:t>卷积核为</a:t>
            </a:r>
            <a:r>
              <a:rPr lang="en-US" altLang="zh-CN" dirty="0"/>
              <a:t>3×3</a:t>
            </a:r>
            <a:r>
              <a:rPr lang="zh-CN" altLang="en-US" dirty="0"/>
              <a:t>平滑图像</a:t>
            </a:r>
          </a:p>
        </p:txBody>
      </p:sp>
      <p:sp>
        <p:nvSpPr>
          <p:cNvPr id="17" name="文本框 16">
            <a:extLst>
              <a:ext uri="{FF2B5EF4-FFF2-40B4-BE49-F238E27FC236}">
                <a16:creationId xmlns:a16="http://schemas.microsoft.com/office/drawing/2014/main" xmlns="" id="{6B79564B-87A4-4FE0-A8D1-061F5B3C0D69}"/>
              </a:ext>
            </a:extLst>
          </p:cNvPr>
          <p:cNvSpPr txBox="1"/>
          <p:nvPr/>
        </p:nvSpPr>
        <p:spPr>
          <a:xfrm>
            <a:off x="721311" y="6265856"/>
            <a:ext cx="2794246" cy="369332"/>
          </a:xfrm>
          <a:prstGeom prst="rect">
            <a:avLst/>
          </a:prstGeom>
          <a:noFill/>
        </p:spPr>
        <p:txBody>
          <a:bodyPr wrap="square">
            <a:spAutoFit/>
          </a:bodyPr>
          <a:lstStyle/>
          <a:p>
            <a:r>
              <a:rPr lang="en-US" altLang="zh-CN" dirty="0"/>
              <a:t>(d)</a:t>
            </a:r>
            <a:r>
              <a:rPr lang="zh-CN" altLang="en-US" dirty="0"/>
              <a:t>卷积核为</a:t>
            </a:r>
            <a:r>
              <a:rPr lang="en-US" altLang="zh-CN" dirty="0"/>
              <a:t>5×5</a:t>
            </a:r>
            <a:r>
              <a:rPr lang="zh-CN" altLang="en-US" dirty="0"/>
              <a:t>平滑图像</a:t>
            </a:r>
          </a:p>
        </p:txBody>
      </p:sp>
      <p:sp>
        <p:nvSpPr>
          <p:cNvPr id="19" name="文本框 18">
            <a:extLst>
              <a:ext uri="{FF2B5EF4-FFF2-40B4-BE49-F238E27FC236}">
                <a16:creationId xmlns:a16="http://schemas.microsoft.com/office/drawing/2014/main" xmlns="" id="{5C529175-63AB-41BB-9A8C-5E2B273CB423}"/>
              </a:ext>
            </a:extLst>
          </p:cNvPr>
          <p:cNvSpPr txBox="1"/>
          <p:nvPr/>
        </p:nvSpPr>
        <p:spPr>
          <a:xfrm>
            <a:off x="4056757" y="6265856"/>
            <a:ext cx="2794246" cy="369332"/>
          </a:xfrm>
          <a:prstGeom prst="rect">
            <a:avLst/>
          </a:prstGeom>
          <a:noFill/>
        </p:spPr>
        <p:txBody>
          <a:bodyPr wrap="square">
            <a:spAutoFit/>
          </a:bodyPr>
          <a:lstStyle/>
          <a:p>
            <a:r>
              <a:rPr lang="en-US" altLang="zh-CN" dirty="0"/>
              <a:t>(e)</a:t>
            </a:r>
            <a:r>
              <a:rPr lang="zh-CN" altLang="en-US" dirty="0"/>
              <a:t>卷积核为</a:t>
            </a:r>
            <a:r>
              <a:rPr lang="en-US" altLang="zh-CN" dirty="0"/>
              <a:t>7×7</a:t>
            </a:r>
            <a:r>
              <a:rPr lang="zh-CN" altLang="en-US" dirty="0"/>
              <a:t>平滑图像</a:t>
            </a:r>
          </a:p>
        </p:txBody>
      </p:sp>
      <p:sp>
        <p:nvSpPr>
          <p:cNvPr id="21" name="文本框 20">
            <a:extLst>
              <a:ext uri="{FF2B5EF4-FFF2-40B4-BE49-F238E27FC236}">
                <a16:creationId xmlns:a16="http://schemas.microsoft.com/office/drawing/2014/main" xmlns="" id="{9179FB7F-5535-43AA-AF90-3A7D310C9D65}"/>
              </a:ext>
            </a:extLst>
          </p:cNvPr>
          <p:cNvSpPr txBox="1"/>
          <p:nvPr/>
        </p:nvSpPr>
        <p:spPr>
          <a:xfrm>
            <a:off x="7006699" y="6265856"/>
            <a:ext cx="2794246" cy="369332"/>
          </a:xfrm>
          <a:prstGeom prst="rect">
            <a:avLst/>
          </a:prstGeom>
          <a:noFill/>
        </p:spPr>
        <p:txBody>
          <a:bodyPr wrap="square">
            <a:spAutoFit/>
          </a:bodyPr>
          <a:lstStyle/>
          <a:p>
            <a:r>
              <a:rPr lang="en-US" altLang="zh-CN" dirty="0"/>
              <a:t>(f)</a:t>
            </a:r>
            <a:r>
              <a:rPr lang="zh-CN" altLang="en-US" dirty="0"/>
              <a:t>卷积核为</a:t>
            </a:r>
            <a:r>
              <a:rPr lang="en-US" altLang="zh-CN" dirty="0"/>
              <a:t>9×9</a:t>
            </a:r>
            <a:r>
              <a:rPr lang="zh-CN" altLang="en-US" dirty="0"/>
              <a:t>平滑图像</a:t>
            </a:r>
          </a:p>
        </p:txBody>
      </p:sp>
    </p:spTree>
    <p:extLst>
      <p:ext uri="{BB962C8B-B14F-4D97-AF65-F5344CB8AC3E}">
        <p14:creationId xmlns:p14="http://schemas.microsoft.com/office/powerpoint/2010/main" val="42454561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5032335A-1A2A-441F-9D89-629627ED6C9F}"/>
              </a:ext>
            </a:extLst>
          </p:cNvPr>
          <p:cNvSpPr txBox="1"/>
          <p:nvPr/>
        </p:nvSpPr>
        <p:spPr>
          <a:xfrm>
            <a:off x="1529178" y="522299"/>
            <a:ext cx="8673483" cy="400110"/>
          </a:xfrm>
          <a:prstGeom prst="rect">
            <a:avLst/>
          </a:prstGeom>
          <a:noFill/>
        </p:spPr>
        <p:txBody>
          <a:bodyPr wrap="square">
            <a:spAutoFit/>
          </a:bodyPr>
          <a:lstStyle/>
          <a:p>
            <a:r>
              <a:rPr lang="en-US" altLang="zh-CN" sz="2000" dirty="0">
                <a:solidFill>
                  <a:srgbClr val="FF0000"/>
                </a:solidFill>
              </a:rPr>
              <a:t>【</a:t>
            </a:r>
            <a:r>
              <a:rPr lang="zh-CN" altLang="en-US" sz="2000" dirty="0">
                <a:solidFill>
                  <a:srgbClr val="FF0000"/>
                </a:solidFill>
              </a:rPr>
              <a:t>例</a:t>
            </a:r>
            <a:r>
              <a:rPr lang="en-US" altLang="zh-CN" sz="2000" dirty="0">
                <a:solidFill>
                  <a:srgbClr val="FF0000"/>
                </a:solidFill>
              </a:rPr>
              <a:t>11.10】</a:t>
            </a:r>
            <a:r>
              <a:rPr lang="zh-CN" altLang="en-US" sz="2000" dirty="0"/>
              <a:t>定义不同卷积核大小，对彩色图像进行锐化处理。程序代码如下：</a:t>
            </a:r>
          </a:p>
        </p:txBody>
      </p:sp>
      <p:sp>
        <p:nvSpPr>
          <p:cNvPr id="5" name="文本框 4">
            <a:extLst>
              <a:ext uri="{FF2B5EF4-FFF2-40B4-BE49-F238E27FC236}">
                <a16:creationId xmlns:a16="http://schemas.microsoft.com/office/drawing/2014/main" xmlns="" id="{A018F4E1-5962-4F1F-BF99-3F7B45B4B828}"/>
              </a:ext>
            </a:extLst>
          </p:cNvPr>
          <p:cNvSpPr txBox="1"/>
          <p:nvPr/>
        </p:nvSpPr>
        <p:spPr>
          <a:xfrm>
            <a:off x="1529178" y="922409"/>
            <a:ext cx="6094520" cy="4801314"/>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import cv2</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image = cv2.imread("d:\pics\lena.jpg")</a:t>
            </a:r>
          </a:p>
          <a:p>
            <a:r>
              <a:rPr lang="en-US" altLang="zh-CN" dirty="0">
                <a:latin typeface="Times New Roman" panose="02020603050405020304" pitchFamily="18" charset="0"/>
                <a:cs typeface="Times New Roman" panose="02020603050405020304" pitchFamily="18" charset="0"/>
              </a:rPr>
              <a:t>imageLap3 = cv2.Laplacian(image, cv2.CV_64F, </a:t>
            </a:r>
            <a:r>
              <a:rPr lang="en-US" altLang="zh-CN" dirty="0" err="1">
                <a:latin typeface="Times New Roman" panose="02020603050405020304" pitchFamily="18" charset="0"/>
                <a:cs typeface="Times New Roman" panose="02020603050405020304" pitchFamily="18" charset="0"/>
              </a:rPr>
              <a:t>ksize</a:t>
            </a:r>
            <a:r>
              <a:rPr lang="en-US" altLang="zh-CN" dirty="0">
                <a:latin typeface="Times New Roman" panose="02020603050405020304" pitchFamily="18" charset="0"/>
                <a:cs typeface="Times New Roman" panose="02020603050405020304" pitchFamily="18" charset="0"/>
              </a:rPr>
              <a:t>=3)</a:t>
            </a:r>
          </a:p>
          <a:p>
            <a:r>
              <a:rPr lang="en-US" altLang="zh-CN" dirty="0">
                <a:latin typeface="Times New Roman" panose="02020603050405020304" pitchFamily="18" charset="0"/>
                <a:cs typeface="Times New Roman" panose="02020603050405020304" pitchFamily="18" charset="0"/>
              </a:rPr>
              <a:t>imageLap5 = cv2.Laplacian(image, cv2.CV_64F, </a:t>
            </a:r>
            <a:r>
              <a:rPr lang="en-US" altLang="zh-CN" dirty="0" err="1">
                <a:latin typeface="Times New Roman" panose="02020603050405020304" pitchFamily="18" charset="0"/>
                <a:cs typeface="Times New Roman" panose="02020603050405020304" pitchFamily="18" charset="0"/>
              </a:rPr>
              <a:t>ksize</a:t>
            </a:r>
            <a:r>
              <a:rPr lang="en-US" altLang="zh-CN" dirty="0">
                <a:latin typeface="Times New Roman" panose="02020603050405020304" pitchFamily="18" charset="0"/>
                <a:cs typeface="Times New Roman" panose="02020603050405020304" pitchFamily="18" charset="0"/>
              </a:rPr>
              <a:t>=5)</a:t>
            </a:r>
          </a:p>
          <a:p>
            <a:r>
              <a:rPr lang="en-US" altLang="zh-CN" dirty="0">
                <a:latin typeface="Times New Roman" panose="02020603050405020304" pitchFamily="18" charset="0"/>
                <a:cs typeface="Times New Roman" panose="02020603050405020304" pitchFamily="18" charset="0"/>
              </a:rPr>
              <a:t>imageLap7 = cv2.Laplacian(image, cv2.CV_64F, </a:t>
            </a:r>
            <a:r>
              <a:rPr lang="en-US" altLang="zh-CN" dirty="0" err="1">
                <a:latin typeface="Times New Roman" panose="02020603050405020304" pitchFamily="18" charset="0"/>
                <a:cs typeface="Times New Roman" panose="02020603050405020304" pitchFamily="18" charset="0"/>
              </a:rPr>
              <a:t>ksize</a:t>
            </a:r>
            <a:r>
              <a:rPr lang="en-US" altLang="zh-CN" dirty="0">
                <a:latin typeface="Times New Roman" panose="02020603050405020304" pitchFamily="18" charset="0"/>
                <a:cs typeface="Times New Roman" panose="02020603050405020304" pitchFamily="18" charset="0"/>
              </a:rPr>
              <a:t>=7)</a:t>
            </a:r>
          </a:p>
          <a:p>
            <a:r>
              <a:rPr lang="en-US" altLang="zh-CN" dirty="0">
                <a:latin typeface="Times New Roman" panose="02020603050405020304" pitchFamily="18" charset="0"/>
                <a:cs typeface="Times New Roman" panose="02020603050405020304" pitchFamily="18" charset="0"/>
              </a:rPr>
              <a:t>imageLap9 = cv2.Laplacian(image, cv2.CV_64F, </a:t>
            </a:r>
            <a:r>
              <a:rPr lang="en-US" altLang="zh-CN" dirty="0" err="1">
                <a:latin typeface="Times New Roman" panose="02020603050405020304" pitchFamily="18" charset="0"/>
                <a:cs typeface="Times New Roman" panose="02020603050405020304" pitchFamily="18" charset="0"/>
              </a:rPr>
              <a:t>ksize</a:t>
            </a:r>
            <a:r>
              <a:rPr lang="en-US" altLang="zh-CN" dirty="0">
                <a:latin typeface="Times New Roman" panose="02020603050405020304" pitchFamily="18" charset="0"/>
                <a:cs typeface="Times New Roman" panose="02020603050405020304" pitchFamily="18" charset="0"/>
              </a:rPr>
              <a:t>=9)</a:t>
            </a:r>
          </a:p>
          <a:p>
            <a:r>
              <a:rPr lang="en-US" altLang="zh-CN" dirty="0">
                <a:latin typeface="Times New Roman" panose="02020603050405020304" pitchFamily="18" charset="0"/>
                <a:cs typeface="Times New Roman" panose="02020603050405020304" pitchFamily="18" charset="0"/>
              </a:rPr>
              <a:t>imageLap11 = cv2.Laplacian(image, cv2.CV_64F, </a:t>
            </a:r>
            <a:r>
              <a:rPr lang="en-US" altLang="zh-CN" dirty="0" err="1">
                <a:latin typeface="Times New Roman" panose="02020603050405020304" pitchFamily="18" charset="0"/>
                <a:cs typeface="Times New Roman" panose="02020603050405020304" pitchFamily="18" charset="0"/>
              </a:rPr>
              <a:t>ksize</a:t>
            </a:r>
            <a:r>
              <a:rPr lang="en-US" altLang="zh-CN" dirty="0">
                <a:latin typeface="Times New Roman" panose="02020603050405020304" pitchFamily="18" charset="0"/>
                <a:cs typeface="Times New Roman" panose="02020603050405020304" pitchFamily="18" charset="0"/>
              </a:rPr>
              <a:t>=11)</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cv2.imshow("RGB", image)</a:t>
            </a:r>
          </a:p>
          <a:p>
            <a:r>
              <a:rPr lang="en-US" altLang="zh-CN" dirty="0">
                <a:latin typeface="Times New Roman" panose="02020603050405020304" pitchFamily="18" charset="0"/>
                <a:cs typeface="Times New Roman" panose="02020603050405020304" pitchFamily="18" charset="0"/>
              </a:rPr>
              <a:t>cv2.imshow("imageLap3", imageLap3)</a:t>
            </a:r>
          </a:p>
          <a:p>
            <a:r>
              <a:rPr lang="en-US" altLang="zh-CN" dirty="0">
                <a:latin typeface="Times New Roman" panose="02020603050405020304" pitchFamily="18" charset="0"/>
                <a:cs typeface="Times New Roman" panose="02020603050405020304" pitchFamily="18" charset="0"/>
              </a:rPr>
              <a:t>cv2.imshow("imageLap5", imageLap5)</a:t>
            </a:r>
          </a:p>
          <a:p>
            <a:r>
              <a:rPr lang="en-US" altLang="zh-CN" dirty="0">
                <a:latin typeface="Times New Roman" panose="02020603050405020304" pitchFamily="18" charset="0"/>
                <a:cs typeface="Times New Roman" panose="02020603050405020304" pitchFamily="18" charset="0"/>
              </a:rPr>
              <a:t>cv2.imshow("imageLap7", imageLap7)</a:t>
            </a:r>
          </a:p>
          <a:p>
            <a:r>
              <a:rPr lang="en-US" altLang="zh-CN" dirty="0">
                <a:latin typeface="Times New Roman" panose="02020603050405020304" pitchFamily="18" charset="0"/>
                <a:cs typeface="Times New Roman" panose="02020603050405020304" pitchFamily="18" charset="0"/>
              </a:rPr>
              <a:t>cv2.imshow("imageLap9", imageLap9)</a:t>
            </a:r>
          </a:p>
          <a:p>
            <a:r>
              <a:rPr lang="en-US" altLang="zh-CN" dirty="0">
                <a:latin typeface="Times New Roman" panose="02020603050405020304" pitchFamily="18" charset="0"/>
                <a:cs typeface="Times New Roman" panose="02020603050405020304" pitchFamily="18" charset="0"/>
              </a:rPr>
              <a:t>cv2.imshow("imageLap11", imageLap11)</a:t>
            </a:r>
          </a:p>
          <a:p>
            <a:r>
              <a:rPr lang="en-US" altLang="zh-CN" dirty="0">
                <a:latin typeface="Times New Roman" panose="02020603050405020304" pitchFamily="18" charset="0"/>
                <a:cs typeface="Times New Roman" panose="02020603050405020304" pitchFamily="18" charset="0"/>
              </a:rPr>
              <a:t>cv2.waitKey()</a:t>
            </a:r>
          </a:p>
          <a:p>
            <a:r>
              <a:rPr lang="en-US" altLang="zh-CN" dirty="0">
                <a:latin typeface="Times New Roman" panose="02020603050405020304" pitchFamily="18" charset="0"/>
                <a:cs typeface="Times New Roman" panose="02020603050405020304" pitchFamily="18" charset="0"/>
              </a:rPr>
              <a:t>cv2.destroyAllWindows()</a:t>
            </a:r>
          </a:p>
        </p:txBody>
      </p:sp>
    </p:spTree>
    <p:extLst>
      <p:ext uri="{BB962C8B-B14F-4D97-AF65-F5344CB8AC3E}">
        <p14:creationId xmlns:p14="http://schemas.microsoft.com/office/powerpoint/2010/main" val="1257985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xmlns="" id="{685F043A-ACF3-4AB5-8E10-22F6AE1CD4A9}"/>
              </a:ext>
            </a:extLst>
          </p:cNvPr>
          <p:cNvPicPr>
            <a:picLocks noChangeAspect="1"/>
          </p:cNvPicPr>
          <p:nvPr/>
        </p:nvPicPr>
        <p:blipFill>
          <a:blip r:embed="rId2"/>
          <a:stretch>
            <a:fillRect/>
          </a:stretch>
        </p:blipFill>
        <p:spPr>
          <a:xfrm>
            <a:off x="1025038" y="743323"/>
            <a:ext cx="2096843" cy="2409314"/>
          </a:xfrm>
          <a:prstGeom prst="rect">
            <a:avLst/>
          </a:prstGeom>
        </p:spPr>
      </p:pic>
      <p:pic>
        <p:nvPicPr>
          <p:cNvPr id="3" name="图片 2">
            <a:extLst>
              <a:ext uri="{FF2B5EF4-FFF2-40B4-BE49-F238E27FC236}">
                <a16:creationId xmlns:a16="http://schemas.microsoft.com/office/drawing/2014/main" xmlns="" id="{B5B8A3FB-059E-4836-A297-71F8B824CBB7}"/>
              </a:ext>
            </a:extLst>
          </p:cNvPr>
          <p:cNvPicPr>
            <a:picLocks noChangeAspect="1"/>
          </p:cNvPicPr>
          <p:nvPr/>
        </p:nvPicPr>
        <p:blipFill>
          <a:blip r:embed="rId3"/>
          <a:stretch>
            <a:fillRect/>
          </a:stretch>
        </p:blipFill>
        <p:spPr>
          <a:xfrm>
            <a:off x="4050258" y="757959"/>
            <a:ext cx="2096103" cy="2409314"/>
          </a:xfrm>
          <a:prstGeom prst="rect">
            <a:avLst/>
          </a:prstGeom>
        </p:spPr>
      </p:pic>
      <p:pic>
        <p:nvPicPr>
          <p:cNvPr id="4" name="图片 3">
            <a:extLst>
              <a:ext uri="{FF2B5EF4-FFF2-40B4-BE49-F238E27FC236}">
                <a16:creationId xmlns:a16="http://schemas.microsoft.com/office/drawing/2014/main" xmlns="" id="{40EBEAF8-504A-4B48-9681-FFF6D2AAA064}"/>
              </a:ext>
            </a:extLst>
          </p:cNvPr>
          <p:cNvPicPr>
            <a:picLocks noChangeAspect="1"/>
          </p:cNvPicPr>
          <p:nvPr/>
        </p:nvPicPr>
        <p:blipFill>
          <a:blip r:embed="rId4"/>
          <a:stretch>
            <a:fillRect/>
          </a:stretch>
        </p:blipFill>
        <p:spPr>
          <a:xfrm>
            <a:off x="7074738" y="760369"/>
            <a:ext cx="2091871" cy="2409314"/>
          </a:xfrm>
          <a:prstGeom prst="rect">
            <a:avLst/>
          </a:prstGeom>
        </p:spPr>
      </p:pic>
      <p:pic>
        <p:nvPicPr>
          <p:cNvPr id="5" name="图片 4">
            <a:extLst>
              <a:ext uri="{FF2B5EF4-FFF2-40B4-BE49-F238E27FC236}">
                <a16:creationId xmlns:a16="http://schemas.microsoft.com/office/drawing/2014/main" xmlns="" id="{4B81943A-82EC-4051-93CB-DE670C7DE912}"/>
              </a:ext>
            </a:extLst>
          </p:cNvPr>
          <p:cNvPicPr>
            <a:picLocks noChangeAspect="1"/>
          </p:cNvPicPr>
          <p:nvPr/>
        </p:nvPicPr>
        <p:blipFill>
          <a:blip r:embed="rId5"/>
          <a:stretch>
            <a:fillRect/>
          </a:stretch>
        </p:blipFill>
        <p:spPr>
          <a:xfrm>
            <a:off x="1025038" y="3715320"/>
            <a:ext cx="2096843" cy="2409314"/>
          </a:xfrm>
          <a:prstGeom prst="rect">
            <a:avLst/>
          </a:prstGeom>
        </p:spPr>
      </p:pic>
      <p:pic>
        <p:nvPicPr>
          <p:cNvPr id="6" name="图片 5">
            <a:extLst>
              <a:ext uri="{FF2B5EF4-FFF2-40B4-BE49-F238E27FC236}">
                <a16:creationId xmlns:a16="http://schemas.microsoft.com/office/drawing/2014/main" xmlns="" id="{12D13F6A-1F4D-40F2-B145-F3EDFA13AE40}"/>
              </a:ext>
            </a:extLst>
          </p:cNvPr>
          <p:cNvPicPr>
            <a:picLocks noChangeAspect="1"/>
          </p:cNvPicPr>
          <p:nvPr/>
        </p:nvPicPr>
        <p:blipFill>
          <a:blip r:embed="rId6"/>
          <a:stretch>
            <a:fillRect/>
          </a:stretch>
        </p:blipFill>
        <p:spPr>
          <a:xfrm>
            <a:off x="4046431" y="3760976"/>
            <a:ext cx="2096103" cy="2414188"/>
          </a:xfrm>
          <a:prstGeom prst="rect">
            <a:avLst/>
          </a:prstGeom>
        </p:spPr>
      </p:pic>
      <p:pic>
        <p:nvPicPr>
          <p:cNvPr id="7" name="图片 6">
            <a:extLst>
              <a:ext uri="{FF2B5EF4-FFF2-40B4-BE49-F238E27FC236}">
                <a16:creationId xmlns:a16="http://schemas.microsoft.com/office/drawing/2014/main" xmlns="" id="{983761DD-FCE1-4D72-85D4-CBF2C3B2BB4A}"/>
              </a:ext>
            </a:extLst>
          </p:cNvPr>
          <p:cNvPicPr>
            <a:picLocks noChangeAspect="1"/>
          </p:cNvPicPr>
          <p:nvPr/>
        </p:nvPicPr>
        <p:blipFill>
          <a:blip r:embed="rId7"/>
          <a:stretch>
            <a:fillRect/>
          </a:stretch>
        </p:blipFill>
        <p:spPr>
          <a:xfrm>
            <a:off x="7074737" y="3760976"/>
            <a:ext cx="2091871" cy="2414940"/>
          </a:xfrm>
          <a:prstGeom prst="rect">
            <a:avLst/>
          </a:prstGeom>
        </p:spPr>
      </p:pic>
      <p:sp>
        <p:nvSpPr>
          <p:cNvPr id="9" name="文本框 8">
            <a:extLst>
              <a:ext uri="{FF2B5EF4-FFF2-40B4-BE49-F238E27FC236}">
                <a16:creationId xmlns:a16="http://schemas.microsoft.com/office/drawing/2014/main" xmlns="" id="{9C9E59CA-6F75-4F70-A3B3-403F621C5335}"/>
              </a:ext>
            </a:extLst>
          </p:cNvPr>
          <p:cNvSpPr txBox="1"/>
          <p:nvPr/>
        </p:nvSpPr>
        <p:spPr>
          <a:xfrm>
            <a:off x="999171" y="3200741"/>
            <a:ext cx="1744029" cy="369332"/>
          </a:xfrm>
          <a:prstGeom prst="rect">
            <a:avLst/>
          </a:prstGeom>
          <a:noFill/>
        </p:spPr>
        <p:txBody>
          <a:bodyPr wrap="square">
            <a:spAutoFit/>
          </a:bodyPr>
          <a:lstStyle/>
          <a:p>
            <a:r>
              <a:rPr lang="en-US" altLang="zh-CN" dirty="0"/>
              <a:t>(a)	</a:t>
            </a:r>
            <a:r>
              <a:rPr lang="zh-CN" altLang="en-US" dirty="0"/>
              <a:t>原始图像</a:t>
            </a:r>
          </a:p>
        </p:txBody>
      </p:sp>
      <p:sp>
        <p:nvSpPr>
          <p:cNvPr id="11" name="文本框 10">
            <a:extLst>
              <a:ext uri="{FF2B5EF4-FFF2-40B4-BE49-F238E27FC236}">
                <a16:creationId xmlns:a16="http://schemas.microsoft.com/office/drawing/2014/main" xmlns="" id="{784CA51D-AE66-4AD9-9727-39B1DB75B5EE}"/>
              </a:ext>
            </a:extLst>
          </p:cNvPr>
          <p:cNvSpPr txBox="1"/>
          <p:nvPr/>
        </p:nvSpPr>
        <p:spPr>
          <a:xfrm>
            <a:off x="3972097" y="3219561"/>
            <a:ext cx="2281128" cy="369332"/>
          </a:xfrm>
          <a:prstGeom prst="rect">
            <a:avLst/>
          </a:prstGeom>
          <a:noFill/>
        </p:spPr>
        <p:txBody>
          <a:bodyPr wrap="square">
            <a:spAutoFit/>
          </a:bodyPr>
          <a:lstStyle/>
          <a:p>
            <a:r>
              <a:rPr lang="en-US" altLang="zh-CN" dirty="0"/>
              <a:t>(b)	</a:t>
            </a:r>
            <a:r>
              <a:rPr lang="en-US" altLang="zh-CN" dirty="0" err="1"/>
              <a:t>ksize</a:t>
            </a:r>
            <a:r>
              <a:rPr lang="en-US" altLang="zh-CN" dirty="0"/>
              <a:t>=3</a:t>
            </a:r>
            <a:r>
              <a:rPr lang="zh-CN" altLang="en-US" dirty="0"/>
              <a:t>锐化图像</a:t>
            </a:r>
          </a:p>
        </p:txBody>
      </p:sp>
      <p:sp>
        <p:nvSpPr>
          <p:cNvPr id="13" name="文本框 12">
            <a:extLst>
              <a:ext uri="{FF2B5EF4-FFF2-40B4-BE49-F238E27FC236}">
                <a16:creationId xmlns:a16="http://schemas.microsoft.com/office/drawing/2014/main" xmlns="" id="{A951FC7B-35BF-4EBD-A7BD-82A913002CE6}"/>
              </a:ext>
            </a:extLst>
          </p:cNvPr>
          <p:cNvSpPr txBox="1"/>
          <p:nvPr/>
        </p:nvSpPr>
        <p:spPr>
          <a:xfrm>
            <a:off x="6978281" y="3226484"/>
            <a:ext cx="2485315" cy="369332"/>
          </a:xfrm>
          <a:prstGeom prst="rect">
            <a:avLst/>
          </a:prstGeom>
          <a:noFill/>
        </p:spPr>
        <p:txBody>
          <a:bodyPr wrap="square">
            <a:spAutoFit/>
          </a:bodyPr>
          <a:lstStyle/>
          <a:p>
            <a:r>
              <a:rPr lang="en-US" altLang="zh-CN" dirty="0"/>
              <a:t>(c)	</a:t>
            </a:r>
            <a:r>
              <a:rPr lang="en-US" altLang="zh-CN" dirty="0" err="1"/>
              <a:t>ksize</a:t>
            </a:r>
            <a:r>
              <a:rPr lang="en-US" altLang="zh-CN" dirty="0"/>
              <a:t>=5</a:t>
            </a:r>
            <a:r>
              <a:rPr lang="zh-CN" altLang="en-US" dirty="0"/>
              <a:t>锐化图像</a:t>
            </a:r>
          </a:p>
        </p:txBody>
      </p:sp>
      <p:sp>
        <p:nvSpPr>
          <p:cNvPr id="15" name="文本框 14">
            <a:extLst>
              <a:ext uri="{FF2B5EF4-FFF2-40B4-BE49-F238E27FC236}">
                <a16:creationId xmlns:a16="http://schemas.microsoft.com/office/drawing/2014/main" xmlns="" id="{CA439763-CBDB-45E9-A317-678723AEDF5B}"/>
              </a:ext>
            </a:extLst>
          </p:cNvPr>
          <p:cNvSpPr txBox="1"/>
          <p:nvPr/>
        </p:nvSpPr>
        <p:spPr>
          <a:xfrm>
            <a:off x="935220" y="6204265"/>
            <a:ext cx="2335134" cy="369332"/>
          </a:xfrm>
          <a:prstGeom prst="rect">
            <a:avLst/>
          </a:prstGeom>
          <a:noFill/>
        </p:spPr>
        <p:txBody>
          <a:bodyPr wrap="square">
            <a:spAutoFit/>
          </a:bodyPr>
          <a:lstStyle/>
          <a:p>
            <a:r>
              <a:rPr lang="en-US" altLang="zh-CN" dirty="0"/>
              <a:t>(d)	</a:t>
            </a:r>
            <a:r>
              <a:rPr lang="en-US" altLang="zh-CN" dirty="0" err="1"/>
              <a:t>ksize</a:t>
            </a:r>
            <a:r>
              <a:rPr lang="en-US" altLang="zh-CN" dirty="0"/>
              <a:t>=7</a:t>
            </a:r>
            <a:r>
              <a:rPr lang="zh-CN" altLang="en-US" dirty="0"/>
              <a:t>锐化图像</a:t>
            </a:r>
          </a:p>
        </p:txBody>
      </p:sp>
      <p:sp>
        <p:nvSpPr>
          <p:cNvPr id="17" name="文本框 16">
            <a:extLst>
              <a:ext uri="{FF2B5EF4-FFF2-40B4-BE49-F238E27FC236}">
                <a16:creationId xmlns:a16="http://schemas.microsoft.com/office/drawing/2014/main" xmlns="" id="{9847CB17-4A5E-463C-925C-E7AE3CBE00FB}"/>
              </a:ext>
            </a:extLst>
          </p:cNvPr>
          <p:cNvSpPr txBox="1"/>
          <p:nvPr/>
        </p:nvSpPr>
        <p:spPr>
          <a:xfrm>
            <a:off x="3972097" y="6272315"/>
            <a:ext cx="2372124" cy="369332"/>
          </a:xfrm>
          <a:prstGeom prst="rect">
            <a:avLst/>
          </a:prstGeom>
          <a:noFill/>
        </p:spPr>
        <p:txBody>
          <a:bodyPr wrap="square">
            <a:spAutoFit/>
          </a:bodyPr>
          <a:lstStyle/>
          <a:p>
            <a:r>
              <a:rPr lang="en-US" altLang="zh-CN" dirty="0"/>
              <a:t>(e)	</a:t>
            </a:r>
            <a:r>
              <a:rPr lang="en-US" altLang="zh-CN" dirty="0" err="1"/>
              <a:t>ksize</a:t>
            </a:r>
            <a:r>
              <a:rPr lang="en-US" altLang="zh-CN" dirty="0"/>
              <a:t>=9</a:t>
            </a:r>
            <a:r>
              <a:rPr lang="zh-CN" altLang="en-US" dirty="0"/>
              <a:t>锐化图像</a:t>
            </a:r>
          </a:p>
        </p:txBody>
      </p:sp>
      <p:sp>
        <p:nvSpPr>
          <p:cNvPr id="19" name="文本框 18">
            <a:extLst>
              <a:ext uri="{FF2B5EF4-FFF2-40B4-BE49-F238E27FC236}">
                <a16:creationId xmlns:a16="http://schemas.microsoft.com/office/drawing/2014/main" xmlns="" id="{2870B207-FF3D-45B8-8C17-DCBCE722765D}"/>
              </a:ext>
            </a:extLst>
          </p:cNvPr>
          <p:cNvSpPr txBox="1"/>
          <p:nvPr/>
        </p:nvSpPr>
        <p:spPr>
          <a:xfrm>
            <a:off x="6978281" y="6269881"/>
            <a:ext cx="2607816" cy="369332"/>
          </a:xfrm>
          <a:prstGeom prst="rect">
            <a:avLst/>
          </a:prstGeom>
          <a:noFill/>
        </p:spPr>
        <p:txBody>
          <a:bodyPr wrap="square">
            <a:spAutoFit/>
          </a:bodyPr>
          <a:lstStyle/>
          <a:p>
            <a:r>
              <a:rPr lang="en-US" altLang="zh-CN" dirty="0"/>
              <a:t>(f)	</a:t>
            </a:r>
            <a:r>
              <a:rPr lang="en-US" altLang="zh-CN" dirty="0" err="1"/>
              <a:t>ksize</a:t>
            </a:r>
            <a:r>
              <a:rPr lang="en-US" altLang="zh-CN" dirty="0"/>
              <a:t>=11</a:t>
            </a:r>
            <a:r>
              <a:rPr lang="zh-CN" altLang="en-US" dirty="0"/>
              <a:t>锐化图像</a:t>
            </a:r>
          </a:p>
        </p:txBody>
      </p:sp>
      <p:sp>
        <p:nvSpPr>
          <p:cNvPr id="21" name="文本框 20">
            <a:extLst>
              <a:ext uri="{FF2B5EF4-FFF2-40B4-BE49-F238E27FC236}">
                <a16:creationId xmlns:a16="http://schemas.microsoft.com/office/drawing/2014/main" xmlns="" id="{37F46211-A587-44BE-A54B-5C36064AFD69}"/>
              </a:ext>
            </a:extLst>
          </p:cNvPr>
          <p:cNvSpPr txBox="1"/>
          <p:nvPr/>
        </p:nvSpPr>
        <p:spPr>
          <a:xfrm>
            <a:off x="9463596" y="743323"/>
            <a:ext cx="1440624" cy="4154984"/>
          </a:xfrm>
          <a:prstGeom prst="rect">
            <a:avLst/>
          </a:prstGeom>
          <a:noFill/>
        </p:spPr>
        <p:txBody>
          <a:bodyPr wrap="square">
            <a:spAutoFit/>
          </a:bodyPr>
          <a:lstStyle/>
          <a:p>
            <a:pPr algn="just"/>
            <a:r>
              <a:rPr lang="zh-CN" altLang="en-US" sz="2400" dirty="0">
                <a:solidFill>
                  <a:srgbClr val="0033CC"/>
                </a:solidFill>
              </a:rPr>
              <a:t>程序运行结果如图</a:t>
            </a:r>
            <a:r>
              <a:rPr lang="en-US" altLang="zh-CN" sz="2400" dirty="0">
                <a:solidFill>
                  <a:srgbClr val="0033CC"/>
                </a:solidFill>
              </a:rPr>
              <a:t>11-11</a:t>
            </a:r>
            <a:r>
              <a:rPr lang="zh-CN" altLang="en-US" sz="2400" dirty="0">
                <a:solidFill>
                  <a:srgbClr val="0033CC"/>
                </a:solidFill>
              </a:rPr>
              <a:t>所示：通过图中图像的对比，随着卷积核增大，图像的细节越来越粗糙。</a:t>
            </a:r>
          </a:p>
        </p:txBody>
      </p:sp>
    </p:spTree>
    <p:extLst>
      <p:ext uri="{BB962C8B-B14F-4D97-AF65-F5344CB8AC3E}">
        <p14:creationId xmlns:p14="http://schemas.microsoft.com/office/powerpoint/2010/main" val="34449467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11E0A234-BBF3-4C1C-A033-FDB4BD4AC4C9}"/>
              </a:ext>
            </a:extLst>
          </p:cNvPr>
          <p:cNvSpPr txBox="1"/>
          <p:nvPr/>
        </p:nvSpPr>
        <p:spPr>
          <a:xfrm>
            <a:off x="2904108" y="316922"/>
            <a:ext cx="6094520" cy="646331"/>
          </a:xfrm>
          <a:prstGeom prst="rect">
            <a:avLst/>
          </a:prstGeom>
          <a:noFill/>
        </p:spPr>
        <p:txBody>
          <a:bodyPr wrap="square">
            <a:spAutoFit/>
          </a:bodyPr>
          <a:lstStyle/>
          <a:p>
            <a:r>
              <a:rPr lang="en-US" altLang="zh-CN" sz="3600" b="1" dirty="0" smtClean="0">
                <a:solidFill>
                  <a:srgbClr val="00B0F0"/>
                </a:solidFill>
              </a:rPr>
              <a:t>11.4.4  </a:t>
            </a:r>
            <a:r>
              <a:rPr lang="zh-CN" altLang="en-US" sz="3600" b="1" dirty="0" smtClean="0">
                <a:solidFill>
                  <a:srgbClr val="00B0F0"/>
                </a:solidFill>
              </a:rPr>
              <a:t>基于</a:t>
            </a:r>
            <a:r>
              <a:rPr lang="zh-CN" altLang="en-US" sz="3600" b="1" dirty="0">
                <a:solidFill>
                  <a:srgbClr val="00B0F0"/>
                </a:solidFill>
              </a:rPr>
              <a:t>彩色的图像分割</a:t>
            </a:r>
          </a:p>
        </p:txBody>
      </p:sp>
      <p:sp>
        <p:nvSpPr>
          <p:cNvPr id="5" name="文本框 4">
            <a:extLst>
              <a:ext uri="{FF2B5EF4-FFF2-40B4-BE49-F238E27FC236}">
                <a16:creationId xmlns:a16="http://schemas.microsoft.com/office/drawing/2014/main" xmlns="" id="{908BFA91-F428-48CA-BB0F-49EC1AEC35E2}"/>
              </a:ext>
            </a:extLst>
          </p:cNvPr>
          <p:cNvSpPr txBox="1"/>
          <p:nvPr/>
        </p:nvSpPr>
        <p:spPr>
          <a:xfrm>
            <a:off x="419470" y="1228397"/>
            <a:ext cx="5101220" cy="5262979"/>
          </a:xfrm>
          <a:prstGeom prst="rect">
            <a:avLst/>
          </a:prstGeom>
          <a:noFill/>
        </p:spPr>
        <p:txBody>
          <a:bodyPr wrap="square">
            <a:spAutoFit/>
          </a:bodyPr>
          <a:lstStyle/>
          <a:p>
            <a:pPr indent="457200"/>
            <a:r>
              <a:rPr lang="zh-CN" altLang="en-US" sz="2400" b="1" dirty="0">
                <a:latin typeface="+mn-ea"/>
              </a:rPr>
              <a:t>在彩色图像阈值化分割中，要将单色图像中常用的图像阈值化方法推广到彩色图像中有若干种可能的方法。基本的思路是使用恰当选择的阈值将彩色空间分解成若干个区域。</a:t>
            </a:r>
          </a:p>
          <a:p>
            <a:pPr indent="457200"/>
            <a:r>
              <a:rPr lang="zh-CN" altLang="en-US" sz="2400" b="1" dirty="0">
                <a:latin typeface="+mn-ea"/>
              </a:rPr>
              <a:t>一幅图像包括目标物体、背景还有噪声，要想从数字图像中直接提取出目标物体，常用的方法就是设定一个阈值</a:t>
            </a:r>
            <a:r>
              <a:rPr lang="en-US" altLang="zh-CN" sz="2400" b="1" dirty="0">
                <a:latin typeface="+mn-ea"/>
              </a:rPr>
              <a:t>T</a:t>
            </a:r>
            <a:r>
              <a:rPr lang="zh-CN" altLang="en-US" sz="2400" b="1" dirty="0">
                <a:latin typeface="+mn-ea"/>
              </a:rPr>
              <a:t>，用</a:t>
            </a:r>
            <a:r>
              <a:rPr lang="en-US" altLang="zh-CN" sz="2400" b="1" dirty="0">
                <a:latin typeface="+mn-ea"/>
              </a:rPr>
              <a:t>T</a:t>
            </a:r>
            <a:r>
              <a:rPr lang="zh-CN" altLang="en-US" sz="2400" b="1" dirty="0">
                <a:latin typeface="+mn-ea"/>
              </a:rPr>
              <a:t>将图像的数据分成两部分：大于</a:t>
            </a:r>
            <a:r>
              <a:rPr lang="en-US" altLang="zh-CN" sz="2400" b="1" dirty="0">
                <a:latin typeface="+mn-ea"/>
              </a:rPr>
              <a:t>T</a:t>
            </a:r>
            <a:r>
              <a:rPr lang="zh-CN" altLang="en-US" sz="2400" b="1" dirty="0">
                <a:latin typeface="+mn-ea"/>
              </a:rPr>
              <a:t>的像素群和小于</a:t>
            </a:r>
            <a:r>
              <a:rPr lang="en-US" altLang="zh-CN" sz="2400" b="1" dirty="0">
                <a:latin typeface="+mn-ea"/>
              </a:rPr>
              <a:t>T</a:t>
            </a:r>
            <a:r>
              <a:rPr lang="zh-CN" altLang="en-US" sz="2400" b="1" dirty="0">
                <a:latin typeface="+mn-ea"/>
              </a:rPr>
              <a:t>的像素群。</a:t>
            </a:r>
          </a:p>
          <a:p>
            <a:pPr indent="457200"/>
            <a:r>
              <a:rPr lang="zh-CN" altLang="en-US" sz="2400" b="1" dirty="0">
                <a:latin typeface="+mn-ea"/>
              </a:rPr>
              <a:t>阈值分割法的特点是</a:t>
            </a:r>
            <a:r>
              <a:rPr lang="en-US" altLang="zh-CN" sz="2400" b="1" dirty="0">
                <a:latin typeface="+mn-ea"/>
              </a:rPr>
              <a:t>:</a:t>
            </a:r>
            <a:r>
              <a:rPr lang="zh-CN" altLang="en-US" sz="2400" b="1" dirty="0">
                <a:solidFill>
                  <a:srgbClr val="FF0000"/>
                </a:solidFill>
                <a:latin typeface="+mn-ea"/>
              </a:rPr>
              <a:t>适用于目标与背景灰度有较强对比的情况，重要的是背景或物体的灰度比较单一，而且总可以得到封闭且连通区域的边界。</a:t>
            </a:r>
          </a:p>
        </p:txBody>
      </p:sp>
      <p:sp>
        <p:nvSpPr>
          <p:cNvPr id="7" name="文本框 6">
            <a:extLst>
              <a:ext uri="{FF2B5EF4-FFF2-40B4-BE49-F238E27FC236}">
                <a16:creationId xmlns:a16="http://schemas.microsoft.com/office/drawing/2014/main" xmlns="" id="{9D50DD2D-580C-4501-9D17-1F389AA506B0}"/>
              </a:ext>
            </a:extLst>
          </p:cNvPr>
          <p:cNvSpPr txBox="1"/>
          <p:nvPr/>
        </p:nvSpPr>
        <p:spPr>
          <a:xfrm>
            <a:off x="5678010" y="1305809"/>
            <a:ext cx="6094520" cy="4899803"/>
          </a:xfrm>
          <a:prstGeom prst="rect">
            <a:avLst/>
          </a:prstGeom>
          <a:noFill/>
        </p:spPr>
        <p:txBody>
          <a:bodyPr wrap="square">
            <a:spAutoFit/>
          </a:bodyPr>
          <a:lstStyle/>
          <a:p>
            <a:pPr>
              <a:lnSpc>
                <a:spcPct val="110000"/>
              </a:lnSpc>
            </a:pPr>
            <a:r>
              <a:rPr lang="en-US" altLang="zh-CN" sz="2400" b="1" dirty="0">
                <a:solidFill>
                  <a:srgbClr val="FF0000"/>
                </a:solidFill>
              </a:rPr>
              <a:t>1. </a:t>
            </a:r>
            <a:r>
              <a:rPr lang="zh-CN" altLang="en-US" sz="2400" b="1" dirty="0">
                <a:solidFill>
                  <a:srgbClr val="FF0000"/>
                </a:solidFill>
              </a:rPr>
              <a:t>全阈值处理</a:t>
            </a:r>
          </a:p>
          <a:p>
            <a:pPr indent="457200">
              <a:lnSpc>
                <a:spcPct val="110000"/>
              </a:lnSpc>
            </a:pPr>
            <a:r>
              <a:rPr lang="zh-CN" altLang="en-US" sz="2000" b="1" dirty="0" smtClean="0"/>
              <a:t>函数</a:t>
            </a:r>
            <a:r>
              <a:rPr lang="zh-CN" altLang="en-US" sz="2000" b="1" dirty="0"/>
              <a:t>为</a:t>
            </a:r>
            <a:r>
              <a:rPr lang="en-US" altLang="zh-CN" sz="2000" b="1" dirty="0">
                <a:latin typeface="Times New Roman" panose="02020603050405020304" pitchFamily="18" charset="0"/>
                <a:cs typeface="Times New Roman" panose="02020603050405020304" pitchFamily="18" charset="0"/>
              </a:rPr>
              <a:t>cv2.threshold()</a:t>
            </a:r>
            <a:r>
              <a:rPr lang="zh-CN" altLang="en-US" sz="2000" b="1" dirty="0"/>
              <a:t>，其一般格式为：</a:t>
            </a:r>
          </a:p>
          <a:p>
            <a:pPr indent="457200" algn="ctr">
              <a:lnSpc>
                <a:spcPct val="110000"/>
              </a:lnSpc>
            </a:pPr>
            <a:r>
              <a:rPr lang="en-US" altLang="zh-CN" sz="2000" b="1" dirty="0">
                <a:solidFill>
                  <a:srgbClr val="FF0000"/>
                </a:solidFill>
                <a:latin typeface="Times New Roman" panose="02020603050405020304" pitchFamily="18" charset="0"/>
                <a:cs typeface="Times New Roman" panose="02020603050405020304" pitchFamily="18" charset="0"/>
              </a:rPr>
              <a:t>ret, </a:t>
            </a:r>
            <a:r>
              <a:rPr lang="en-US" altLang="zh-CN" sz="2000" b="1" dirty="0" err="1">
                <a:solidFill>
                  <a:srgbClr val="FF0000"/>
                </a:solidFill>
                <a:latin typeface="Times New Roman" panose="02020603050405020304" pitchFamily="18" charset="0"/>
                <a:cs typeface="Times New Roman" panose="02020603050405020304" pitchFamily="18" charset="0"/>
              </a:rPr>
              <a:t>dst</a:t>
            </a:r>
            <a:r>
              <a:rPr lang="en-US" altLang="zh-CN" sz="2000" b="1" dirty="0">
                <a:solidFill>
                  <a:srgbClr val="FF0000"/>
                </a:solidFill>
                <a:latin typeface="Times New Roman" panose="02020603050405020304" pitchFamily="18" charset="0"/>
                <a:cs typeface="Times New Roman" panose="02020603050405020304" pitchFamily="18" charset="0"/>
              </a:rPr>
              <a:t> = cv2.threshold(</a:t>
            </a:r>
            <a:r>
              <a:rPr lang="en-US" altLang="zh-CN" sz="2000" b="1" dirty="0" err="1">
                <a:solidFill>
                  <a:srgbClr val="FF0000"/>
                </a:solidFill>
                <a:latin typeface="Times New Roman" panose="02020603050405020304" pitchFamily="18" charset="0"/>
                <a:cs typeface="Times New Roman" panose="02020603050405020304" pitchFamily="18" charset="0"/>
              </a:rPr>
              <a:t>src</a:t>
            </a:r>
            <a:r>
              <a:rPr lang="en-US" altLang="zh-CN" sz="2000" b="1" dirty="0">
                <a:solidFill>
                  <a:srgbClr val="FF0000"/>
                </a:solidFill>
                <a:latin typeface="Times New Roman" panose="02020603050405020304" pitchFamily="18" charset="0"/>
                <a:cs typeface="Times New Roman" panose="02020603050405020304" pitchFamily="18" charset="0"/>
              </a:rPr>
              <a:t>, thresh, </a:t>
            </a:r>
            <a:r>
              <a:rPr lang="en-US" altLang="zh-CN" sz="2000" b="1" dirty="0" err="1">
                <a:solidFill>
                  <a:srgbClr val="FF0000"/>
                </a:solidFill>
                <a:latin typeface="Times New Roman" panose="02020603050405020304" pitchFamily="18" charset="0"/>
                <a:cs typeface="Times New Roman" panose="02020603050405020304" pitchFamily="18" charset="0"/>
              </a:rPr>
              <a:t>maxval</a:t>
            </a:r>
            <a:r>
              <a:rPr lang="en-US" altLang="zh-CN" sz="2000" b="1" dirty="0">
                <a:solidFill>
                  <a:srgbClr val="FF0000"/>
                </a:solidFill>
                <a:latin typeface="Times New Roman" panose="02020603050405020304" pitchFamily="18" charset="0"/>
                <a:cs typeface="Times New Roman" panose="02020603050405020304" pitchFamily="18" charset="0"/>
              </a:rPr>
              <a:t>, type)</a:t>
            </a:r>
          </a:p>
          <a:p>
            <a:pPr indent="457200">
              <a:lnSpc>
                <a:spcPct val="110000"/>
              </a:lnSpc>
            </a:pPr>
            <a:r>
              <a:rPr lang="zh-CN" altLang="en-US" sz="2000" b="1" dirty="0"/>
              <a:t>其中，</a:t>
            </a:r>
            <a:r>
              <a:rPr lang="en-US" altLang="zh-CN" sz="2000" b="1" dirty="0"/>
              <a:t>ret</a:t>
            </a:r>
            <a:r>
              <a:rPr lang="zh-CN" altLang="en-US" sz="2000" b="1" dirty="0"/>
              <a:t>表示返回的阈值；</a:t>
            </a:r>
            <a:r>
              <a:rPr lang="en-US" altLang="zh-CN" sz="2000" b="1" dirty="0" err="1"/>
              <a:t>dst</a:t>
            </a:r>
            <a:r>
              <a:rPr lang="zh-CN" altLang="en-US" sz="2000" b="1" dirty="0"/>
              <a:t>表示输出的图像；</a:t>
            </a:r>
            <a:r>
              <a:rPr lang="en-US" altLang="zh-CN" sz="2000" b="1" dirty="0" err="1"/>
              <a:t>src</a:t>
            </a:r>
            <a:r>
              <a:rPr lang="zh-CN" altLang="en-US" sz="2000" b="1" dirty="0"/>
              <a:t>表示要进行阈值分割的输入图像，可以是多通道的图像；</a:t>
            </a:r>
            <a:r>
              <a:rPr lang="en-US" altLang="zh-CN" sz="2000" b="1" dirty="0"/>
              <a:t>thresh</a:t>
            </a:r>
            <a:r>
              <a:rPr lang="zh-CN" altLang="en-US" sz="2000" b="1" dirty="0"/>
              <a:t>表示设定的阈值；</a:t>
            </a:r>
            <a:r>
              <a:rPr lang="en-US" altLang="zh-CN" sz="2000" b="1" dirty="0" err="1">
                <a:latin typeface="Times New Roman" panose="02020603050405020304" pitchFamily="18" charset="0"/>
                <a:cs typeface="Times New Roman" panose="02020603050405020304" pitchFamily="18" charset="0"/>
              </a:rPr>
              <a:t>maxval</a:t>
            </a:r>
            <a:r>
              <a:rPr lang="zh-CN" altLang="en-US" sz="2000" b="1" dirty="0"/>
              <a:t>表示</a:t>
            </a:r>
            <a:r>
              <a:rPr lang="en-US" altLang="zh-CN" sz="2000" b="1" dirty="0"/>
              <a:t>type</a:t>
            </a:r>
            <a:r>
              <a:rPr lang="zh-CN" altLang="en-US" sz="2000" b="1" dirty="0"/>
              <a:t>参数为</a:t>
            </a:r>
            <a:r>
              <a:rPr lang="en-US" altLang="zh-CN" sz="2000" b="1" dirty="0">
                <a:latin typeface="Times New Roman" panose="02020603050405020304" pitchFamily="18" charset="0"/>
                <a:cs typeface="Times New Roman" panose="02020603050405020304" pitchFamily="18" charset="0"/>
              </a:rPr>
              <a:t>THRESH_BINARY</a:t>
            </a:r>
            <a:r>
              <a:rPr lang="zh-CN" altLang="en-US" sz="2000" b="1" dirty="0"/>
              <a:t>或</a:t>
            </a:r>
            <a:r>
              <a:rPr lang="en-US" altLang="zh-CN" sz="2000" b="1" dirty="0">
                <a:latin typeface="Times New Roman" panose="02020603050405020304" pitchFamily="18" charset="0"/>
                <a:cs typeface="Times New Roman" panose="02020603050405020304" pitchFamily="18" charset="0"/>
              </a:rPr>
              <a:t>THRESH_BINARY_INV</a:t>
            </a:r>
            <a:r>
              <a:rPr lang="zh-CN" altLang="en-US" sz="2000" b="1" dirty="0"/>
              <a:t>类型时所设定的最大值。在显示二值化图像时，一般设置为</a:t>
            </a:r>
            <a:r>
              <a:rPr lang="en-US" altLang="zh-CN" sz="2000" b="1" dirty="0"/>
              <a:t>255</a:t>
            </a:r>
            <a:r>
              <a:rPr lang="zh-CN" altLang="en-US" sz="2000" b="1" dirty="0"/>
              <a:t>。</a:t>
            </a:r>
            <a:r>
              <a:rPr lang="en-US" altLang="zh-CN" sz="2000" b="1" dirty="0"/>
              <a:t>type</a:t>
            </a:r>
            <a:r>
              <a:rPr lang="zh-CN" altLang="en-US" sz="2000" b="1" dirty="0"/>
              <a:t>表示阈值分割的类型，常用的有</a:t>
            </a:r>
            <a:r>
              <a:rPr lang="zh-CN" altLang="en-US" sz="2000" b="1" dirty="0" smtClean="0"/>
              <a:t>：</a:t>
            </a:r>
            <a:endParaRPr lang="en-US" altLang="zh-CN" sz="2000" b="1" dirty="0" smtClean="0"/>
          </a:p>
          <a:p>
            <a:pPr indent="457200">
              <a:lnSpc>
                <a:spcPct val="110000"/>
              </a:lnSpc>
            </a:pPr>
            <a:r>
              <a:rPr lang="en-US" altLang="zh-CN" sz="2000" b="1" dirty="0" smtClean="0">
                <a:solidFill>
                  <a:srgbClr val="0033CC"/>
                </a:solidFill>
                <a:latin typeface="Times New Roman" panose="02020603050405020304" pitchFamily="18" charset="0"/>
                <a:cs typeface="Times New Roman" panose="02020603050405020304" pitchFamily="18" charset="0"/>
              </a:rPr>
              <a:t>cv2.THRESH_BINARY</a:t>
            </a:r>
          </a:p>
          <a:p>
            <a:pPr indent="457200">
              <a:lnSpc>
                <a:spcPct val="110000"/>
              </a:lnSpc>
            </a:pPr>
            <a:r>
              <a:rPr lang="en-US" altLang="zh-CN" sz="2000" b="1" dirty="0" smtClean="0">
                <a:solidFill>
                  <a:srgbClr val="0033CC"/>
                </a:solidFill>
                <a:latin typeface="Times New Roman" panose="02020603050405020304" pitchFamily="18" charset="0"/>
                <a:cs typeface="Times New Roman" panose="02020603050405020304" pitchFamily="18" charset="0"/>
              </a:rPr>
              <a:t>cv2.THRESH_BINARY_INV</a:t>
            </a:r>
          </a:p>
          <a:p>
            <a:pPr indent="457200">
              <a:lnSpc>
                <a:spcPct val="110000"/>
              </a:lnSpc>
            </a:pPr>
            <a:r>
              <a:rPr lang="en-US" altLang="zh-CN" sz="2000" b="1" dirty="0" smtClean="0">
                <a:solidFill>
                  <a:srgbClr val="0033CC"/>
                </a:solidFill>
                <a:latin typeface="Times New Roman" panose="02020603050405020304" pitchFamily="18" charset="0"/>
                <a:cs typeface="Times New Roman" panose="02020603050405020304" pitchFamily="18" charset="0"/>
              </a:rPr>
              <a:t>cv2.THRESH_TRUNC</a:t>
            </a:r>
          </a:p>
          <a:p>
            <a:pPr indent="446088">
              <a:lnSpc>
                <a:spcPct val="110000"/>
              </a:lnSpc>
            </a:pPr>
            <a:r>
              <a:rPr lang="en-US" altLang="zh-CN" sz="2000" b="1" dirty="0" smtClean="0">
                <a:solidFill>
                  <a:srgbClr val="0033CC"/>
                </a:solidFill>
                <a:latin typeface="Times New Roman" panose="02020603050405020304" pitchFamily="18" charset="0"/>
                <a:cs typeface="Times New Roman" panose="02020603050405020304" pitchFamily="18" charset="0"/>
              </a:rPr>
              <a:t>cv2.THRESH_TOZERO</a:t>
            </a:r>
          </a:p>
          <a:p>
            <a:pPr indent="446088">
              <a:lnSpc>
                <a:spcPct val="110000"/>
              </a:lnSpc>
            </a:pPr>
            <a:r>
              <a:rPr lang="en-US" altLang="zh-CN" sz="2000" b="1" dirty="0" smtClean="0">
                <a:solidFill>
                  <a:srgbClr val="0033CC"/>
                </a:solidFill>
                <a:latin typeface="Times New Roman" panose="02020603050405020304" pitchFamily="18" charset="0"/>
                <a:cs typeface="Times New Roman" panose="02020603050405020304" pitchFamily="18" charset="0"/>
              </a:rPr>
              <a:t>cv2.THRESH_TOZERO_INV</a:t>
            </a:r>
            <a:endParaRPr lang="zh-CN" altLang="en-US" sz="2000" b="1" dirty="0">
              <a:solidFill>
                <a:srgbClr val="00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50062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xmlns="" id="{5ED98300-E925-4FDA-BCE9-C9270E7391CD}"/>
              </a:ext>
            </a:extLst>
          </p:cNvPr>
          <p:cNvSpPr txBox="1"/>
          <p:nvPr/>
        </p:nvSpPr>
        <p:spPr>
          <a:xfrm>
            <a:off x="1245092" y="577918"/>
            <a:ext cx="9224788" cy="461665"/>
          </a:xfrm>
          <a:prstGeom prst="rect">
            <a:avLst/>
          </a:prstGeom>
          <a:noFill/>
        </p:spPr>
        <p:txBody>
          <a:bodyPr wrap="square">
            <a:spAutoFit/>
          </a:bodyPr>
          <a:lstStyle/>
          <a:p>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11.11】</a:t>
            </a:r>
            <a:r>
              <a:rPr lang="zh-CN" altLang="en-US" sz="2400" dirty="0"/>
              <a:t>对彩色图像进行全局阈值分割处理。程序代码如下：</a:t>
            </a:r>
          </a:p>
        </p:txBody>
      </p:sp>
      <p:sp>
        <p:nvSpPr>
          <p:cNvPr id="7" name="文本框 6">
            <a:extLst>
              <a:ext uri="{FF2B5EF4-FFF2-40B4-BE49-F238E27FC236}">
                <a16:creationId xmlns:a16="http://schemas.microsoft.com/office/drawing/2014/main" xmlns="" id="{5654DD8E-2819-4A64-A695-65B29B994ACA}"/>
              </a:ext>
            </a:extLst>
          </p:cNvPr>
          <p:cNvSpPr txBox="1"/>
          <p:nvPr/>
        </p:nvSpPr>
        <p:spPr>
          <a:xfrm>
            <a:off x="410592" y="1726161"/>
            <a:ext cx="6814351" cy="3970318"/>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import cv2</a:t>
            </a:r>
          </a:p>
          <a:p>
            <a:endParaRPr lang="en-US" altLang="zh-CN" dirty="0">
              <a:latin typeface="Times New Roman" panose="02020603050405020304" pitchFamily="18" charset="0"/>
              <a:cs typeface="Times New Roman" panose="02020603050405020304" pitchFamily="18" charset="0"/>
            </a:endParaRPr>
          </a:p>
          <a:p>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 = cv2.imread('d:/pics/lena.jpg')</a:t>
            </a:r>
          </a:p>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二值化阈值处理</a:t>
            </a:r>
          </a:p>
          <a:p>
            <a:r>
              <a:rPr lang="en-US" altLang="zh-CN" dirty="0">
                <a:latin typeface="Times New Roman" panose="02020603050405020304" pitchFamily="18" charset="0"/>
                <a:cs typeface="Times New Roman" panose="02020603050405020304" pitchFamily="18" charset="0"/>
              </a:rPr>
              <a:t>ret,thresh1=cv2.threshold(img,127,255,cv2.THRESH_BINARY)  </a:t>
            </a:r>
          </a:p>
          <a:p>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反二值化阈值处理</a:t>
            </a:r>
          </a:p>
          <a:p>
            <a:r>
              <a:rPr lang="en-US" altLang="zh-CN" dirty="0">
                <a:latin typeface="Times New Roman" panose="02020603050405020304" pitchFamily="18" charset="0"/>
                <a:cs typeface="Times New Roman" panose="02020603050405020304" pitchFamily="18" charset="0"/>
              </a:rPr>
              <a:t>ret,thresh2=cv2.threshold(img,127,255,cv2.THRESH_BINARY_INV)</a:t>
            </a:r>
          </a:p>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截断阈值处理</a:t>
            </a:r>
          </a:p>
          <a:p>
            <a:r>
              <a:rPr lang="en-US" altLang="zh-CN" dirty="0">
                <a:latin typeface="Times New Roman" panose="02020603050405020304" pitchFamily="18" charset="0"/>
                <a:cs typeface="Times New Roman" panose="02020603050405020304" pitchFamily="18" charset="0"/>
              </a:rPr>
              <a:t>ret,thresh3=cv2.threshold(img,127,255,cv2.THRESH_TRUNC)</a:t>
            </a:r>
          </a:p>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低阈值零处理</a:t>
            </a:r>
          </a:p>
          <a:p>
            <a:r>
              <a:rPr lang="en-US" altLang="zh-CN" dirty="0">
                <a:latin typeface="Times New Roman" panose="02020603050405020304" pitchFamily="18" charset="0"/>
                <a:cs typeface="Times New Roman" panose="02020603050405020304" pitchFamily="18" charset="0"/>
              </a:rPr>
              <a:t>ret,thresh4=cv2.threshold(img,127,255,cv2.THRESH_TOZERO)  </a:t>
            </a:r>
          </a:p>
          <a:p>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超阈值零处理</a:t>
            </a:r>
          </a:p>
          <a:p>
            <a:r>
              <a:rPr lang="en-US" altLang="zh-CN" dirty="0">
                <a:latin typeface="Times New Roman" panose="02020603050405020304" pitchFamily="18" charset="0"/>
                <a:cs typeface="Times New Roman" panose="02020603050405020304" pitchFamily="18" charset="0"/>
              </a:rPr>
              <a:t>ret,thresh5=cv2.threshold(img,127,255,cv2.THRESH_TOZERO_INV) </a:t>
            </a:r>
          </a:p>
          <a:p>
            <a:endParaRPr lang="en-US" altLang="zh-CN" dirty="0"/>
          </a:p>
        </p:txBody>
      </p:sp>
      <p:sp>
        <p:nvSpPr>
          <p:cNvPr id="9" name="文本框 8">
            <a:extLst>
              <a:ext uri="{FF2B5EF4-FFF2-40B4-BE49-F238E27FC236}">
                <a16:creationId xmlns:a16="http://schemas.microsoft.com/office/drawing/2014/main" xmlns="" id="{C5EC50B7-E84E-44B1-83D1-B20F218BB092}"/>
              </a:ext>
            </a:extLst>
          </p:cNvPr>
          <p:cNvSpPr txBox="1"/>
          <p:nvPr/>
        </p:nvSpPr>
        <p:spPr>
          <a:xfrm>
            <a:off x="7453543" y="1726161"/>
            <a:ext cx="4627486" cy="2308324"/>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cv2.imshow('</a:t>
            </a:r>
            <a:r>
              <a:rPr lang="en-US" altLang="zh-CN" dirty="0" err="1">
                <a:latin typeface="Times New Roman" panose="02020603050405020304" pitchFamily="18" charset="0"/>
                <a:cs typeface="Times New Roman" panose="02020603050405020304" pitchFamily="18" charset="0"/>
              </a:rPr>
              <a:t>origin_img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cv2.imshow('thresh1_img', thresh1)</a:t>
            </a:r>
          </a:p>
          <a:p>
            <a:r>
              <a:rPr lang="en-US" altLang="zh-CN" dirty="0">
                <a:latin typeface="Times New Roman" panose="02020603050405020304" pitchFamily="18" charset="0"/>
                <a:cs typeface="Times New Roman" panose="02020603050405020304" pitchFamily="18" charset="0"/>
              </a:rPr>
              <a:t>cv2.imshow('thresh2_img', thresh2)</a:t>
            </a:r>
          </a:p>
          <a:p>
            <a:r>
              <a:rPr lang="en-US" altLang="zh-CN" dirty="0">
                <a:latin typeface="Times New Roman" panose="02020603050405020304" pitchFamily="18" charset="0"/>
                <a:cs typeface="Times New Roman" panose="02020603050405020304" pitchFamily="18" charset="0"/>
              </a:rPr>
              <a:t>cv2.imshow('thresh3_img', thresh3)</a:t>
            </a:r>
          </a:p>
          <a:p>
            <a:r>
              <a:rPr lang="en-US" altLang="zh-CN" dirty="0">
                <a:latin typeface="Times New Roman" panose="02020603050405020304" pitchFamily="18" charset="0"/>
                <a:cs typeface="Times New Roman" panose="02020603050405020304" pitchFamily="18" charset="0"/>
              </a:rPr>
              <a:t>cv2.imshow('thresh4_img', thresh4)</a:t>
            </a:r>
          </a:p>
          <a:p>
            <a:r>
              <a:rPr lang="en-US" altLang="zh-CN" dirty="0">
                <a:latin typeface="Times New Roman" panose="02020603050405020304" pitchFamily="18" charset="0"/>
                <a:cs typeface="Times New Roman" panose="02020603050405020304" pitchFamily="18" charset="0"/>
              </a:rPr>
              <a:t>cv2.imshow('thresh5_img', thresh5)</a:t>
            </a:r>
          </a:p>
          <a:p>
            <a:r>
              <a:rPr lang="en-US" altLang="zh-CN" dirty="0">
                <a:latin typeface="Times New Roman" panose="02020603050405020304" pitchFamily="18" charset="0"/>
                <a:cs typeface="Times New Roman" panose="02020603050405020304" pitchFamily="18" charset="0"/>
              </a:rPr>
              <a:t>cv2.waitKey(0)</a:t>
            </a:r>
          </a:p>
          <a:p>
            <a:r>
              <a:rPr lang="en-US" altLang="zh-CN" dirty="0">
                <a:latin typeface="Times New Roman" panose="02020603050405020304" pitchFamily="18" charset="0"/>
                <a:cs typeface="Times New Roman" panose="02020603050405020304" pitchFamily="18" charset="0"/>
              </a:rPr>
              <a:t>cv2.destroyAllWindows()</a:t>
            </a:r>
          </a:p>
        </p:txBody>
      </p:sp>
    </p:spTree>
    <p:extLst>
      <p:ext uri="{BB962C8B-B14F-4D97-AF65-F5344CB8AC3E}">
        <p14:creationId xmlns:p14="http://schemas.microsoft.com/office/powerpoint/2010/main" val="22548736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FE2B45FD-0B80-4616-AA3F-CE22F251345C}"/>
              </a:ext>
            </a:extLst>
          </p:cNvPr>
          <p:cNvSpPr txBox="1"/>
          <p:nvPr/>
        </p:nvSpPr>
        <p:spPr>
          <a:xfrm>
            <a:off x="7970915" y="570846"/>
            <a:ext cx="3207626" cy="5746894"/>
          </a:xfrm>
          <a:prstGeom prst="rect">
            <a:avLst/>
          </a:prstGeom>
          <a:noFill/>
        </p:spPr>
        <p:txBody>
          <a:bodyPr wrap="square">
            <a:spAutoFit/>
          </a:bodyPr>
          <a:lstStyle/>
          <a:p>
            <a:pPr>
              <a:lnSpc>
                <a:spcPct val="110000"/>
              </a:lnSpc>
            </a:pPr>
            <a:r>
              <a:rPr lang="zh-CN" altLang="en-US"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程序运行结果如图</a:t>
            </a:r>
            <a:r>
              <a:rPr lang="en-US" altLang="zh-CN"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11-12</a:t>
            </a:r>
            <a:r>
              <a:rPr lang="zh-CN" altLang="en-US"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所示</a:t>
            </a:r>
            <a:r>
              <a:rPr lang="zh-CN" altLang="en-US"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pPr>
            <a:r>
              <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图为原始图像</a:t>
            </a:r>
            <a:r>
              <a:rPr lang="zh-CN" altLang="en-US"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pPr>
            <a:r>
              <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图是二值化阈值处理的结果，可以看出图像被处理为二值图像</a:t>
            </a:r>
            <a:r>
              <a:rPr lang="zh-CN" altLang="en-US"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pPr>
            <a:r>
              <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图是反二值化阈值处理的结果，与</a:t>
            </a:r>
            <a:r>
              <a:rPr lang="en-US" altLang="zh-CN"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图对比，二者的颜色刚好相反</a:t>
            </a:r>
            <a:r>
              <a:rPr lang="zh-CN" altLang="en-US"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pPr>
            <a:r>
              <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d)</a:t>
            </a:r>
            <a:r>
              <a:rPr lang="zh-CN" altLang="en-US"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图是截断阈值处理</a:t>
            </a:r>
            <a:r>
              <a:rPr lang="zh-CN" altLang="en-US"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pPr>
            <a:r>
              <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图是低阈值零处理</a:t>
            </a:r>
            <a:r>
              <a:rPr lang="zh-CN" altLang="en-US"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pPr>
            <a:r>
              <a:rPr lang="en-US" altLang="zh-CN" sz="2400" b="1" dirty="0" smtClean="0">
                <a:solidFill>
                  <a:srgbClr val="0033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b="1"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图是超阈值零处理。</a:t>
            </a:r>
          </a:p>
        </p:txBody>
      </p:sp>
      <p:pic>
        <p:nvPicPr>
          <p:cNvPr id="4" name="图片 3">
            <a:extLst>
              <a:ext uri="{FF2B5EF4-FFF2-40B4-BE49-F238E27FC236}">
                <a16:creationId xmlns:a16="http://schemas.microsoft.com/office/drawing/2014/main" xmlns="" id="{49406C08-1F46-4E52-816E-80B1F33FC79D}"/>
              </a:ext>
            </a:extLst>
          </p:cNvPr>
          <p:cNvPicPr>
            <a:picLocks noChangeAspect="1"/>
          </p:cNvPicPr>
          <p:nvPr/>
        </p:nvPicPr>
        <p:blipFill>
          <a:blip r:embed="rId2"/>
          <a:stretch>
            <a:fillRect/>
          </a:stretch>
        </p:blipFill>
        <p:spPr>
          <a:xfrm>
            <a:off x="313209" y="570846"/>
            <a:ext cx="2033920" cy="2343776"/>
          </a:xfrm>
          <a:prstGeom prst="rect">
            <a:avLst/>
          </a:prstGeom>
        </p:spPr>
      </p:pic>
      <p:pic>
        <p:nvPicPr>
          <p:cNvPr id="5" name="图片 4">
            <a:extLst>
              <a:ext uri="{FF2B5EF4-FFF2-40B4-BE49-F238E27FC236}">
                <a16:creationId xmlns:a16="http://schemas.microsoft.com/office/drawing/2014/main" xmlns="" id="{A1A491F9-F083-489D-96EA-216C89453ACA}"/>
              </a:ext>
            </a:extLst>
          </p:cNvPr>
          <p:cNvPicPr>
            <a:picLocks noChangeAspect="1"/>
          </p:cNvPicPr>
          <p:nvPr/>
        </p:nvPicPr>
        <p:blipFill>
          <a:blip r:embed="rId3"/>
          <a:stretch>
            <a:fillRect/>
          </a:stretch>
        </p:blipFill>
        <p:spPr>
          <a:xfrm>
            <a:off x="3055090" y="570846"/>
            <a:ext cx="2004187" cy="2308324"/>
          </a:xfrm>
          <a:prstGeom prst="rect">
            <a:avLst/>
          </a:prstGeom>
        </p:spPr>
      </p:pic>
      <p:pic>
        <p:nvPicPr>
          <p:cNvPr id="6" name="图片 5">
            <a:extLst>
              <a:ext uri="{FF2B5EF4-FFF2-40B4-BE49-F238E27FC236}">
                <a16:creationId xmlns:a16="http://schemas.microsoft.com/office/drawing/2014/main" xmlns="" id="{A9D79E3E-3964-436B-917E-F4F7224DA763}"/>
              </a:ext>
            </a:extLst>
          </p:cNvPr>
          <p:cNvPicPr>
            <a:picLocks noChangeAspect="1"/>
          </p:cNvPicPr>
          <p:nvPr/>
        </p:nvPicPr>
        <p:blipFill>
          <a:blip r:embed="rId4"/>
          <a:stretch>
            <a:fillRect/>
          </a:stretch>
        </p:blipFill>
        <p:spPr>
          <a:xfrm>
            <a:off x="5553724" y="570846"/>
            <a:ext cx="2006229" cy="2308324"/>
          </a:xfrm>
          <a:prstGeom prst="rect">
            <a:avLst/>
          </a:prstGeom>
        </p:spPr>
      </p:pic>
      <p:pic>
        <p:nvPicPr>
          <p:cNvPr id="7" name="图片 6">
            <a:extLst>
              <a:ext uri="{FF2B5EF4-FFF2-40B4-BE49-F238E27FC236}">
                <a16:creationId xmlns:a16="http://schemas.microsoft.com/office/drawing/2014/main" xmlns="" id="{5A17AC33-90C2-4EBF-9529-3ECDFC379C62}"/>
              </a:ext>
            </a:extLst>
          </p:cNvPr>
          <p:cNvPicPr>
            <a:picLocks noChangeAspect="1"/>
          </p:cNvPicPr>
          <p:nvPr/>
        </p:nvPicPr>
        <p:blipFill>
          <a:blip r:embed="rId5"/>
          <a:stretch>
            <a:fillRect/>
          </a:stretch>
        </p:blipFill>
        <p:spPr>
          <a:xfrm>
            <a:off x="313209" y="3728247"/>
            <a:ext cx="2033920" cy="2343776"/>
          </a:xfrm>
          <a:prstGeom prst="rect">
            <a:avLst/>
          </a:prstGeom>
        </p:spPr>
      </p:pic>
      <p:pic>
        <p:nvPicPr>
          <p:cNvPr id="8" name="图片 7">
            <a:extLst>
              <a:ext uri="{FF2B5EF4-FFF2-40B4-BE49-F238E27FC236}">
                <a16:creationId xmlns:a16="http://schemas.microsoft.com/office/drawing/2014/main" xmlns="" id="{6B76AB98-E984-446E-A950-9AC64B82A896}"/>
              </a:ext>
            </a:extLst>
          </p:cNvPr>
          <p:cNvPicPr>
            <a:picLocks noChangeAspect="1"/>
          </p:cNvPicPr>
          <p:nvPr/>
        </p:nvPicPr>
        <p:blipFill>
          <a:blip r:embed="rId6"/>
          <a:stretch>
            <a:fillRect/>
          </a:stretch>
        </p:blipFill>
        <p:spPr>
          <a:xfrm>
            <a:off x="3055090" y="3726962"/>
            <a:ext cx="2033920" cy="2335830"/>
          </a:xfrm>
          <a:prstGeom prst="rect">
            <a:avLst/>
          </a:prstGeom>
        </p:spPr>
      </p:pic>
      <p:pic>
        <p:nvPicPr>
          <p:cNvPr id="9" name="图片 8">
            <a:extLst>
              <a:ext uri="{FF2B5EF4-FFF2-40B4-BE49-F238E27FC236}">
                <a16:creationId xmlns:a16="http://schemas.microsoft.com/office/drawing/2014/main" xmlns="" id="{D93FB33B-131D-45F8-9C49-410F7FC5E0E7}"/>
              </a:ext>
            </a:extLst>
          </p:cNvPr>
          <p:cNvPicPr>
            <a:picLocks noChangeAspect="1"/>
          </p:cNvPicPr>
          <p:nvPr/>
        </p:nvPicPr>
        <p:blipFill>
          <a:blip r:embed="rId7"/>
          <a:stretch>
            <a:fillRect/>
          </a:stretch>
        </p:blipFill>
        <p:spPr>
          <a:xfrm>
            <a:off x="5553724" y="3726962"/>
            <a:ext cx="2006229" cy="2313063"/>
          </a:xfrm>
          <a:prstGeom prst="rect">
            <a:avLst/>
          </a:prstGeom>
        </p:spPr>
      </p:pic>
      <p:sp>
        <p:nvSpPr>
          <p:cNvPr id="11" name="文本框 10">
            <a:extLst>
              <a:ext uri="{FF2B5EF4-FFF2-40B4-BE49-F238E27FC236}">
                <a16:creationId xmlns:a16="http://schemas.microsoft.com/office/drawing/2014/main" xmlns="" id="{266214DA-E1AE-4E20-ACE3-504C451D47E2}"/>
              </a:ext>
            </a:extLst>
          </p:cNvPr>
          <p:cNvSpPr txBox="1"/>
          <p:nvPr/>
        </p:nvSpPr>
        <p:spPr>
          <a:xfrm>
            <a:off x="510230" y="3073359"/>
            <a:ext cx="1639878" cy="369332"/>
          </a:xfrm>
          <a:prstGeom prst="rect">
            <a:avLst/>
          </a:prstGeom>
          <a:noFill/>
        </p:spPr>
        <p:txBody>
          <a:bodyPr wrap="square">
            <a:spAutoFit/>
          </a:bodyPr>
          <a:lstStyle/>
          <a:p>
            <a:r>
              <a:rPr lang="en-US" altLang="zh-CN" dirty="0"/>
              <a:t>(a) </a:t>
            </a:r>
            <a:r>
              <a:rPr lang="zh-CN" altLang="en-US" dirty="0"/>
              <a:t>原始图像</a:t>
            </a:r>
          </a:p>
        </p:txBody>
      </p:sp>
      <p:sp>
        <p:nvSpPr>
          <p:cNvPr id="13" name="文本框 12">
            <a:extLst>
              <a:ext uri="{FF2B5EF4-FFF2-40B4-BE49-F238E27FC236}">
                <a16:creationId xmlns:a16="http://schemas.microsoft.com/office/drawing/2014/main" xmlns="" id="{7EAB96BB-DBED-4155-91A8-1969D53FFEFD}"/>
              </a:ext>
            </a:extLst>
          </p:cNvPr>
          <p:cNvSpPr txBox="1"/>
          <p:nvPr/>
        </p:nvSpPr>
        <p:spPr>
          <a:xfrm>
            <a:off x="3055090" y="3059668"/>
            <a:ext cx="2163932" cy="369332"/>
          </a:xfrm>
          <a:prstGeom prst="rect">
            <a:avLst/>
          </a:prstGeom>
          <a:noFill/>
        </p:spPr>
        <p:txBody>
          <a:bodyPr wrap="square">
            <a:spAutoFit/>
          </a:bodyPr>
          <a:lstStyle/>
          <a:p>
            <a:r>
              <a:rPr lang="en-US" altLang="zh-CN" dirty="0"/>
              <a:t>(b) </a:t>
            </a:r>
            <a:r>
              <a:rPr lang="zh-CN" altLang="en-US" dirty="0"/>
              <a:t>二值化阈值处理</a:t>
            </a:r>
          </a:p>
        </p:txBody>
      </p:sp>
      <p:sp>
        <p:nvSpPr>
          <p:cNvPr id="15" name="文本框 14">
            <a:extLst>
              <a:ext uri="{FF2B5EF4-FFF2-40B4-BE49-F238E27FC236}">
                <a16:creationId xmlns:a16="http://schemas.microsoft.com/office/drawing/2014/main" xmlns="" id="{3A11B24F-9778-4B67-84FF-3794E1274150}"/>
              </a:ext>
            </a:extLst>
          </p:cNvPr>
          <p:cNvSpPr txBox="1"/>
          <p:nvPr/>
        </p:nvSpPr>
        <p:spPr>
          <a:xfrm>
            <a:off x="5408720" y="3054775"/>
            <a:ext cx="2350363" cy="369332"/>
          </a:xfrm>
          <a:prstGeom prst="rect">
            <a:avLst/>
          </a:prstGeom>
          <a:noFill/>
        </p:spPr>
        <p:txBody>
          <a:bodyPr wrap="square">
            <a:spAutoFit/>
          </a:bodyPr>
          <a:lstStyle/>
          <a:p>
            <a:r>
              <a:rPr lang="en-US" altLang="zh-CN" dirty="0"/>
              <a:t>(c) </a:t>
            </a:r>
            <a:r>
              <a:rPr lang="zh-CN" altLang="en-US" dirty="0"/>
              <a:t>反二值化阈值处理</a:t>
            </a:r>
          </a:p>
        </p:txBody>
      </p:sp>
      <p:sp>
        <p:nvSpPr>
          <p:cNvPr id="17" name="文本框 16">
            <a:extLst>
              <a:ext uri="{FF2B5EF4-FFF2-40B4-BE49-F238E27FC236}">
                <a16:creationId xmlns:a16="http://schemas.microsoft.com/office/drawing/2014/main" xmlns="" id="{9EDB5CEF-CEF4-4742-9B6D-95E28AB486DB}"/>
              </a:ext>
            </a:extLst>
          </p:cNvPr>
          <p:cNvSpPr txBox="1"/>
          <p:nvPr/>
        </p:nvSpPr>
        <p:spPr>
          <a:xfrm>
            <a:off x="376965" y="6102488"/>
            <a:ext cx="1970164" cy="369332"/>
          </a:xfrm>
          <a:prstGeom prst="rect">
            <a:avLst/>
          </a:prstGeom>
          <a:noFill/>
        </p:spPr>
        <p:txBody>
          <a:bodyPr wrap="square">
            <a:spAutoFit/>
          </a:bodyPr>
          <a:lstStyle/>
          <a:p>
            <a:r>
              <a:rPr lang="en-US" altLang="zh-CN" dirty="0"/>
              <a:t>(d) </a:t>
            </a:r>
            <a:r>
              <a:rPr lang="zh-CN" altLang="en-US" dirty="0"/>
              <a:t>截断阈值处理</a:t>
            </a:r>
          </a:p>
        </p:txBody>
      </p:sp>
      <p:sp>
        <p:nvSpPr>
          <p:cNvPr id="19" name="文本框 18">
            <a:extLst>
              <a:ext uri="{FF2B5EF4-FFF2-40B4-BE49-F238E27FC236}">
                <a16:creationId xmlns:a16="http://schemas.microsoft.com/office/drawing/2014/main" xmlns="" id="{B5D7D6E8-850E-4DFE-8FA2-7214D3ECDC50}"/>
              </a:ext>
            </a:extLst>
          </p:cNvPr>
          <p:cNvSpPr txBox="1"/>
          <p:nvPr/>
        </p:nvSpPr>
        <p:spPr>
          <a:xfrm>
            <a:off x="3078473" y="6102488"/>
            <a:ext cx="2010537" cy="369332"/>
          </a:xfrm>
          <a:prstGeom prst="rect">
            <a:avLst/>
          </a:prstGeom>
          <a:noFill/>
        </p:spPr>
        <p:txBody>
          <a:bodyPr wrap="square">
            <a:spAutoFit/>
          </a:bodyPr>
          <a:lstStyle/>
          <a:p>
            <a:r>
              <a:rPr lang="en-US" altLang="zh-CN" dirty="0"/>
              <a:t>(e) </a:t>
            </a:r>
            <a:r>
              <a:rPr lang="zh-CN" altLang="en-US" dirty="0"/>
              <a:t>低阈值零处理</a:t>
            </a:r>
          </a:p>
        </p:txBody>
      </p:sp>
      <p:sp>
        <p:nvSpPr>
          <p:cNvPr id="21" name="文本框 20">
            <a:extLst>
              <a:ext uri="{FF2B5EF4-FFF2-40B4-BE49-F238E27FC236}">
                <a16:creationId xmlns:a16="http://schemas.microsoft.com/office/drawing/2014/main" xmlns="" id="{00C223BE-6A5B-49D9-958F-5C32294A6EE9}"/>
              </a:ext>
            </a:extLst>
          </p:cNvPr>
          <p:cNvSpPr txBox="1"/>
          <p:nvPr/>
        </p:nvSpPr>
        <p:spPr>
          <a:xfrm>
            <a:off x="5553724" y="6102488"/>
            <a:ext cx="2006229" cy="369332"/>
          </a:xfrm>
          <a:prstGeom prst="rect">
            <a:avLst/>
          </a:prstGeom>
          <a:noFill/>
        </p:spPr>
        <p:txBody>
          <a:bodyPr wrap="square">
            <a:spAutoFit/>
          </a:bodyPr>
          <a:lstStyle/>
          <a:p>
            <a:r>
              <a:rPr lang="en-US" altLang="zh-CN" dirty="0"/>
              <a:t>(f) </a:t>
            </a:r>
            <a:r>
              <a:rPr lang="zh-CN" altLang="en-US" dirty="0"/>
              <a:t>超阈值零处理</a:t>
            </a:r>
          </a:p>
        </p:txBody>
      </p:sp>
    </p:spTree>
    <p:extLst>
      <p:ext uri="{BB962C8B-B14F-4D97-AF65-F5344CB8AC3E}">
        <p14:creationId xmlns:p14="http://schemas.microsoft.com/office/powerpoint/2010/main" val="38512302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E9320ECA-6E5E-44D9-82A2-B86468977592}"/>
              </a:ext>
            </a:extLst>
          </p:cNvPr>
          <p:cNvSpPr txBox="1"/>
          <p:nvPr/>
        </p:nvSpPr>
        <p:spPr>
          <a:xfrm>
            <a:off x="1188720" y="736074"/>
            <a:ext cx="10172700" cy="5924699"/>
          </a:xfrm>
          <a:prstGeom prst="rect">
            <a:avLst/>
          </a:prstGeom>
          <a:noFill/>
        </p:spPr>
        <p:txBody>
          <a:bodyPr wrap="square">
            <a:spAutoFit/>
          </a:bodyPr>
          <a:lstStyle/>
          <a:p>
            <a:r>
              <a:rPr lang="en-US" altLang="zh-CN" sz="2800" b="1" dirty="0">
                <a:solidFill>
                  <a:srgbClr val="FF0000"/>
                </a:solidFill>
                <a:latin typeface="+mn-ea"/>
              </a:rPr>
              <a:t>2.</a:t>
            </a:r>
            <a:r>
              <a:rPr lang="zh-CN" altLang="en-US" sz="2800" b="1" dirty="0">
                <a:solidFill>
                  <a:srgbClr val="FF0000"/>
                </a:solidFill>
                <a:latin typeface="+mn-ea"/>
              </a:rPr>
              <a:t>局部阈值处理</a:t>
            </a:r>
          </a:p>
          <a:p>
            <a:pPr indent="457200">
              <a:lnSpc>
                <a:spcPct val="150000"/>
              </a:lnSpc>
            </a:pPr>
            <a:r>
              <a:rPr lang="zh-CN" altLang="en-US" sz="2400" b="1" dirty="0">
                <a:latin typeface="+mn-ea"/>
              </a:rPr>
              <a:t>在比较理想的情况下，如色彩均衡的图像，对整个图像使用单个阈值进行阈值化就会成功。但是，受到多种因素的影响，图像的色彩并不会很均衡，在这种情况下，使用</a:t>
            </a:r>
            <a:r>
              <a:rPr lang="zh-CN" altLang="en-US" sz="2400" b="1" dirty="0">
                <a:solidFill>
                  <a:srgbClr val="0033CC"/>
                </a:solidFill>
                <a:latin typeface="+mn-ea"/>
              </a:rPr>
              <a:t>局部阈值（又称自适应值）</a:t>
            </a:r>
            <a:r>
              <a:rPr lang="zh-CN" altLang="en-US" sz="2400" b="1" dirty="0">
                <a:latin typeface="+mn-ea"/>
              </a:rPr>
              <a:t>进行分割可以产生很好的结果。</a:t>
            </a:r>
          </a:p>
          <a:p>
            <a:pPr indent="457200">
              <a:lnSpc>
                <a:spcPct val="150000"/>
              </a:lnSpc>
            </a:pPr>
            <a:r>
              <a:rPr lang="en-US" altLang="zh-CN" sz="2400" b="1" dirty="0">
                <a:latin typeface="+mn-ea"/>
              </a:rPr>
              <a:t>OpenCV</a:t>
            </a:r>
            <a:r>
              <a:rPr lang="zh-CN" altLang="en-US" sz="2400" b="1" dirty="0">
                <a:latin typeface="+mn-ea"/>
              </a:rPr>
              <a:t>中提供了函数</a:t>
            </a:r>
            <a:r>
              <a:rPr lang="en-US" altLang="zh-CN" sz="2400" b="1" dirty="0">
                <a:latin typeface="+mn-ea"/>
              </a:rPr>
              <a:t>cv2.adaptiveThreshold()</a:t>
            </a:r>
            <a:r>
              <a:rPr lang="zh-CN" altLang="en-US" sz="2400" b="1" dirty="0">
                <a:latin typeface="+mn-ea"/>
              </a:rPr>
              <a:t>来实现</a:t>
            </a:r>
            <a:r>
              <a:rPr lang="zh-CN" altLang="en-US" sz="2400" b="1" dirty="0">
                <a:solidFill>
                  <a:srgbClr val="0033CC"/>
                </a:solidFill>
                <a:latin typeface="+mn-ea"/>
              </a:rPr>
              <a:t>自适应阈值处理</a:t>
            </a:r>
            <a:r>
              <a:rPr lang="zh-CN" altLang="en-US" sz="2400" b="1" dirty="0">
                <a:latin typeface="+mn-ea"/>
              </a:rPr>
              <a:t>，其语法格式为：</a:t>
            </a:r>
          </a:p>
          <a:p>
            <a:pPr indent="457200" algn="ctr">
              <a:lnSpc>
                <a:spcPct val="150000"/>
              </a:lnSpc>
            </a:pPr>
            <a:r>
              <a:rPr lang="en-US" altLang="zh-CN" b="1" dirty="0" err="1">
                <a:solidFill>
                  <a:srgbClr val="FF0000"/>
                </a:solidFill>
                <a:latin typeface="+mn-ea"/>
              </a:rPr>
              <a:t>dst</a:t>
            </a:r>
            <a:r>
              <a:rPr lang="en-US" altLang="zh-CN" b="1" dirty="0">
                <a:solidFill>
                  <a:srgbClr val="FF0000"/>
                </a:solidFill>
                <a:latin typeface="+mn-ea"/>
              </a:rPr>
              <a:t> = cv2.adaptiveThreshold(</a:t>
            </a:r>
            <a:r>
              <a:rPr lang="en-US" altLang="zh-CN" b="1" dirty="0" err="1">
                <a:solidFill>
                  <a:srgbClr val="FF0000"/>
                </a:solidFill>
                <a:latin typeface="+mn-ea"/>
              </a:rPr>
              <a:t>src,maxValue,adaptiveMethod,thresholdType,blockSize,c</a:t>
            </a:r>
            <a:r>
              <a:rPr lang="en-US" altLang="zh-CN" b="1" dirty="0">
                <a:solidFill>
                  <a:srgbClr val="FF0000"/>
                </a:solidFill>
                <a:latin typeface="+mn-ea"/>
              </a:rPr>
              <a:t>)</a:t>
            </a:r>
          </a:p>
          <a:p>
            <a:pPr lvl="1" indent="457200">
              <a:lnSpc>
                <a:spcPct val="150000"/>
              </a:lnSpc>
            </a:pPr>
            <a:r>
              <a:rPr lang="zh-CN" altLang="en-US" sz="2400" b="1" dirty="0">
                <a:latin typeface="+mn-ea"/>
              </a:rPr>
              <a:t>其中：</a:t>
            </a:r>
            <a:r>
              <a:rPr lang="en-US" altLang="zh-CN" sz="2400" b="1" dirty="0" err="1">
                <a:latin typeface="+mn-ea"/>
              </a:rPr>
              <a:t>dst</a:t>
            </a:r>
            <a:r>
              <a:rPr lang="zh-CN" altLang="en-US" sz="2400" b="1" dirty="0">
                <a:latin typeface="+mn-ea"/>
              </a:rPr>
              <a:t>表示输出的图像；</a:t>
            </a:r>
            <a:r>
              <a:rPr lang="en-US" altLang="zh-CN" sz="2400" b="1" dirty="0" err="1">
                <a:latin typeface="+mn-ea"/>
              </a:rPr>
              <a:t>src</a:t>
            </a:r>
            <a:r>
              <a:rPr lang="zh-CN" altLang="en-US" sz="2400" b="1" dirty="0">
                <a:latin typeface="+mn-ea"/>
              </a:rPr>
              <a:t>表示原始图像，且图像必须是</a:t>
            </a:r>
            <a:r>
              <a:rPr lang="en-US" altLang="zh-CN" sz="2400" b="1" dirty="0">
                <a:latin typeface="+mn-ea"/>
              </a:rPr>
              <a:t>8</a:t>
            </a:r>
            <a:r>
              <a:rPr lang="zh-CN" altLang="en-US" sz="2400" b="1" dirty="0">
                <a:latin typeface="+mn-ea"/>
              </a:rPr>
              <a:t>位单通道的图像；</a:t>
            </a:r>
            <a:r>
              <a:rPr lang="en-US" altLang="zh-CN" sz="2400" b="1" dirty="0" err="1">
                <a:latin typeface="+mn-ea"/>
              </a:rPr>
              <a:t>maxValue</a:t>
            </a:r>
            <a:r>
              <a:rPr lang="zh-CN" altLang="en-US" sz="2400" b="1" dirty="0">
                <a:latin typeface="+mn-ea"/>
              </a:rPr>
              <a:t>表示最大值；</a:t>
            </a:r>
            <a:r>
              <a:rPr lang="en-US" altLang="zh-CN" sz="2400" b="1" dirty="0" err="1">
                <a:latin typeface="+mn-ea"/>
              </a:rPr>
              <a:t>adaptiveMethod</a:t>
            </a:r>
            <a:r>
              <a:rPr lang="en-US" altLang="zh-CN" sz="2400" b="1" dirty="0">
                <a:latin typeface="+mn-ea"/>
              </a:rPr>
              <a:t> </a:t>
            </a:r>
            <a:r>
              <a:rPr lang="zh-CN" altLang="en-US" sz="2400" b="1" dirty="0">
                <a:latin typeface="+mn-ea"/>
              </a:rPr>
              <a:t>表示自适应方法；</a:t>
            </a:r>
            <a:r>
              <a:rPr lang="en-US" altLang="zh-CN" sz="2400" b="1" dirty="0" err="1">
                <a:latin typeface="+mn-ea"/>
              </a:rPr>
              <a:t>thresholdType</a:t>
            </a:r>
            <a:r>
              <a:rPr lang="zh-CN" altLang="en-US" sz="2400" b="1" dirty="0">
                <a:latin typeface="+mn-ea"/>
              </a:rPr>
              <a:t>表示阈值处理方式；</a:t>
            </a:r>
            <a:r>
              <a:rPr lang="en-US" altLang="zh-CN" sz="2400" b="1" dirty="0" err="1">
                <a:latin typeface="+mn-ea"/>
              </a:rPr>
              <a:t>blockSize</a:t>
            </a:r>
            <a:r>
              <a:rPr lang="zh-CN" altLang="en-US" sz="2400" b="1" dirty="0">
                <a:latin typeface="+mn-ea"/>
              </a:rPr>
              <a:t>表示块大小；</a:t>
            </a:r>
            <a:r>
              <a:rPr lang="en-US" altLang="zh-CN" sz="2400" b="1" dirty="0">
                <a:latin typeface="+mn-ea"/>
              </a:rPr>
              <a:t>c</a:t>
            </a:r>
            <a:r>
              <a:rPr lang="zh-CN" altLang="en-US" sz="2400" b="1" dirty="0">
                <a:latin typeface="+mn-ea"/>
              </a:rPr>
              <a:t>是常量。</a:t>
            </a:r>
          </a:p>
        </p:txBody>
      </p:sp>
    </p:spTree>
    <p:extLst>
      <p:ext uri="{BB962C8B-B14F-4D97-AF65-F5344CB8AC3E}">
        <p14:creationId xmlns:p14="http://schemas.microsoft.com/office/powerpoint/2010/main" val="2592172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67C0270B-5412-4443-9C35-DFE4EF3C981E}"/>
              </a:ext>
            </a:extLst>
          </p:cNvPr>
          <p:cNvSpPr txBox="1"/>
          <p:nvPr/>
        </p:nvSpPr>
        <p:spPr>
          <a:xfrm>
            <a:off x="1129682" y="400364"/>
            <a:ext cx="7969929" cy="400110"/>
          </a:xfrm>
          <a:prstGeom prst="rect">
            <a:avLst/>
          </a:prstGeom>
          <a:noFill/>
        </p:spPr>
        <p:txBody>
          <a:bodyPr wrap="square">
            <a:spAutoFit/>
          </a:bodyPr>
          <a:lstStyle/>
          <a:p>
            <a:r>
              <a:rPr lang="en-US" altLang="zh-CN" sz="2000" dirty="0">
                <a:solidFill>
                  <a:srgbClr val="FF0000"/>
                </a:solidFill>
              </a:rPr>
              <a:t>【11.12】</a:t>
            </a:r>
            <a:r>
              <a:rPr lang="zh-CN" altLang="en-US" sz="2000" dirty="0"/>
              <a:t>对彩色图像进行自适应局部阈值处理。程序代码如下：</a:t>
            </a:r>
          </a:p>
        </p:txBody>
      </p:sp>
      <p:sp>
        <p:nvSpPr>
          <p:cNvPr id="5" name="文本框 4">
            <a:extLst>
              <a:ext uri="{FF2B5EF4-FFF2-40B4-BE49-F238E27FC236}">
                <a16:creationId xmlns:a16="http://schemas.microsoft.com/office/drawing/2014/main" xmlns="" id="{48E3B483-5B4B-4B29-86E7-BAF19B813256}"/>
              </a:ext>
            </a:extLst>
          </p:cNvPr>
          <p:cNvSpPr txBox="1"/>
          <p:nvPr/>
        </p:nvSpPr>
        <p:spPr>
          <a:xfrm>
            <a:off x="1129681" y="1046695"/>
            <a:ext cx="11062319" cy="4985980"/>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import cv2</a:t>
            </a:r>
          </a:p>
          <a:p>
            <a:endParaRPr lang="en-US" altLang="zh-CN" sz="2000" dirty="0">
              <a:latin typeface="Times New Roman" panose="02020603050405020304" pitchFamily="18" charset="0"/>
              <a:cs typeface="Times New Roman" panose="02020603050405020304" pitchFamily="18" charset="0"/>
            </a:endParaRPr>
          </a:p>
          <a:p>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 = cv2.imread('d:/pics/lena.jpg')</a:t>
            </a:r>
          </a:p>
          <a:p>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全局阈值中的二值化阈值处理的彩色图像</a:t>
            </a:r>
          </a:p>
          <a:p>
            <a:r>
              <a:rPr lang="en-US" altLang="zh-CN" sz="2000" dirty="0">
                <a:latin typeface="Times New Roman" panose="02020603050405020304" pitchFamily="18" charset="0"/>
                <a:cs typeface="Times New Roman" panose="02020603050405020304" pitchFamily="18" charset="0"/>
              </a:rPr>
              <a:t>ret,th1=cv2.threshold(img,127,255,cv2.THRESH_BINARY)</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solidFill>
                  <a:srgbClr val="0033CC"/>
                </a:solidFill>
                <a:latin typeface="Times New Roman" panose="02020603050405020304" pitchFamily="18" charset="0"/>
                <a:cs typeface="Times New Roman" panose="02020603050405020304" pitchFamily="18" charset="0"/>
              </a:rPr>
              <a:t>#</a:t>
            </a:r>
            <a:r>
              <a:rPr lang="zh-CN" altLang="en-US" sz="2000" dirty="0">
                <a:solidFill>
                  <a:srgbClr val="0033CC"/>
                </a:solidFill>
                <a:latin typeface="Times New Roman" panose="02020603050405020304" pitchFamily="18" charset="0"/>
                <a:cs typeface="Times New Roman" panose="02020603050405020304" pitchFamily="18" charset="0"/>
              </a:rPr>
              <a:t>采用权重相等方式的局部阈值处理的彩色图像</a:t>
            </a:r>
          </a:p>
          <a:p>
            <a:r>
              <a:rPr lang="en-US" altLang="zh-CN" sz="2000" dirty="0" err="1">
                <a:latin typeface="Times New Roman" panose="02020603050405020304" pitchFamily="18" charset="0"/>
                <a:cs typeface="Times New Roman" panose="02020603050405020304" pitchFamily="18" charset="0"/>
              </a:rPr>
              <a:t>img_b</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img_g</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img_r</a:t>
            </a:r>
            <a:r>
              <a:rPr lang="en-US" altLang="zh-CN" sz="2000" dirty="0">
                <a:latin typeface="Times New Roman" panose="02020603050405020304" pitchFamily="18" charset="0"/>
                <a:cs typeface="Times New Roman" panose="02020603050405020304" pitchFamily="18" charset="0"/>
              </a:rPr>
              <a:t> = cv2.split(</a:t>
            </a:r>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a:t>
            </a:r>
          </a:p>
          <a:p>
            <a:r>
              <a:rPr lang="en-US" altLang="zh-CN" sz="2000" dirty="0">
                <a:latin typeface="Times New Roman" panose="02020603050405020304" pitchFamily="18" charset="0"/>
                <a:cs typeface="Times New Roman" panose="02020603050405020304" pitchFamily="18" charset="0"/>
              </a:rPr>
              <a:t>ath2_b = cv2.adaptiveThreshold(img_b,255,cv2.ADAPTIVE_THRESH_MEAN_C,</a:t>
            </a:r>
          </a:p>
          <a:p>
            <a:r>
              <a:rPr lang="en-US" altLang="zh-CN" sz="2000" dirty="0">
                <a:latin typeface="Times New Roman" panose="02020603050405020304" pitchFamily="18" charset="0"/>
                <a:cs typeface="Times New Roman" panose="02020603050405020304" pitchFamily="18" charset="0"/>
              </a:rPr>
              <a:t>                             cv2.THRESH_BINARY,5,3)</a:t>
            </a:r>
          </a:p>
          <a:p>
            <a:r>
              <a:rPr lang="en-US" altLang="zh-CN" sz="2000" dirty="0">
                <a:latin typeface="Times New Roman" panose="02020603050405020304" pitchFamily="18" charset="0"/>
                <a:cs typeface="Times New Roman" panose="02020603050405020304" pitchFamily="18" charset="0"/>
              </a:rPr>
              <a:t>ath2_g = cv2.adaptiveThreshold(img_g,255,cv2.ADAPTIVE_THRESH_MEAN_C,</a:t>
            </a:r>
          </a:p>
          <a:p>
            <a:r>
              <a:rPr lang="en-US" altLang="zh-CN" sz="2000" dirty="0">
                <a:latin typeface="Times New Roman" panose="02020603050405020304" pitchFamily="18" charset="0"/>
                <a:cs typeface="Times New Roman" panose="02020603050405020304" pitchFamily="18" charset="0"/>
              </a:rPr>
              <a:t>                             cv2.THRESH_BINARY,5,3)</a:t>
            </a:r>
          </a:p>
          <a:p>
            <a:r>
              <a:rPr lang="en-US" altLang="zh-CN" sz="2000" dirty="0">
                <a:latin typeface="Times New Roman" panose="02020603050405020304" pitchFamily="18" charset="0"/>
                <a:cs typeface="Times New Roman" panose="02020603050405020304" pitchFamily="18" charset="0"/>
              </a:rPr>
              <a:t>ath2_r = cv2.adaptiveThreshold(img_r,255,cv2.ADAPTIVE_THRESH_MEAN_C,</a:t>
            </a:r>
          </a:p>
          <a:p>
            <a:r>
              <a:rPr lang="en-US" altLang="zh-CN" sz="2000" dirty="0">
                <a:latin typeface="Times New Roman" panose="02020603050405020304" pitchFamily="18" charset="0"/>
                <a:cs typeface="Times New Roman" panose="02020603050405020304" pitchFamily="18" charset="0"/>
              </a:rPr>
              <a:t>                             cv2.THRESH_BINARY,5,3)</a:t>
            </a:r>
          </a:p>
          <a:p>
            <a:r>
              <a:rPr lang="en-US" altLang="zh-CN" sz="2000" dirty="0" err="1">
                <a:latin typeface="Times New Roman" panose="02020603050405020304" pitchFamily="18" charset="0"/>
                <a:cs typeface="Times New Roman" panose="02020603050405020304" pitchFamily="18" charset="0"/>
              </a:rPr>
              <a:t>mean_ada_img</a:t>
            </a:r>
            <a:r>
              <a:rPr lang="en-US" altLang="zh-CN" sz="2000" dirty="0">
                <a:latin typeface="Times New Roman" panose="02020603050405020304" pitchFamily="18" charset="0"/>
                <a:cs typeface="Times New Roman" panose="02020603050405020304" pitchFamily="18" charset="0"/>
              </a:rPr>
              <a:t> = cv2.merge([ath2_b,ath2_g,ath2_r])  #</a:t>
            </a:r>
            <a:r>
              <a:rPr lang="zh-CN" altLang="en-US" sz="2000" dirty="0">
                <a:latin typeface="Times New Roman" panose="02020603050405020304" pitchFamily="18" charset="0"/>
                <a:cs typeface="Times New Roman" panose="02020603050405020304" pitchFamily="18" charset="0"/>
              </a:rPr>
              <a:t>合并通道</a:t>
            </a:r>
          </a:p>
          <a:p>
            <a:endParaRPr lang="zh-CN" altLang="en-US" dirty="0"/>
          </a:p>
        </p:txBody>
      </p:sp>
    </p:spTree>
    <p:extLst>
      <p:ext uri="{BB962C8B-B14F-4D97-AF65-F5344CB8AC3E}">
        <p14:creationId xmlns:p14="http://schemas.microsoft.com/office/powerpoint/2010/main" val="23488610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DD8EF334-32F4-4A95-8E14-01575D4835B4}"/>
              </a:ext>
            </a:extLst>
          </p:cNvPr>
          <p:cNvSpPr txBox="1"/>
          <p:nvPr/>
        </p:nvSpPr>
        <p:spPr>
          <a:xfrm>
            <a:off x="1198486" y="959502"/>
            <a:ext cx="9765436" cy="4708981"/>
          </a:xfrm>
          <a:prstGeom prst="rect">
            <a:avLst/>
          </a:prstGeom>
          <a:noFill/>
        </p:spPr>
        <p:txBody>
          <a:bodyPr wrap="square">
            <a:spAutoFit/>
          </a:bodyPr>
          <a:lstStyle/>
          <a:p>
            <a:r>
              <a:rPr lang="en-US" altLang="zh-CN" sz="2000" dirty="0">
                <a:solidFill>
                  <a:srgbClr val="0033CC"/>
                </a:solidFill>
                <a:latin typeface="Times New Roman" panose="02020603050405020304" pitchFamily="18" charset="0"/>
                <a:cs typeface="Times New Roman" panose="02020603050405020304" pitchFamily="18" charset="0"/>
              </a:rPr>
              <a:t>#</a:t>
            </a:r>
            <a:r>
              <a:rPr lang="zh-CN" altLang="en-US" sz="2000" dirty="0">
                <a:solidFill>
                  <a:srgbClr val="0033CC"/>
                </a:solidFill>
                <a:latin typeface="Times New Roman" panose="02020603050405020304" pitchFamily="18" charset="0"/>
                <a:cs typeface="Times New Roman" panose="02020603050405020304" pitchFamily="18" charset="0"/>
              </a:rPr>
              <a:t>采用权重为高斯分布的局部阈值处理的彩色图像</a:t>
            </a:r>
          </a:p>
          <a:p>
            <a:r>
              <a:rPr lang="en-US" altLang="zh-CN" sz="2000" dirty="0">
                <a:latin typeface="Times New Roman" panose="02020603050405020304" pitchFamily="18" charset="0"/>
                <a:cs typeface="Times New Roman" panose="02020603050405020304" pitchFamily="18" charset="0"/>
              </a:rPr>
              <a:t>ath3_b = cv2.adaptiveThreshold(img_b,255,cv2.ADAPTIVE_THRESH_GAUSSIAN_C,</a:t>
            </a:r>
          </a:p>
          <a:p>
            <a:r>
              <a:rPr lang="en-US" altLang="zh-CN" sz="2000" dirty="0">
                <a:latin typeface="Times New Roman" panose="02020603050405020304" pitchFamily="18" charset="0"/>
                <a:cs typeface="Times New Roman" panose="02020603050405020304" pitchFamily="18" charset="0"/>
              </a:rPr>
              <a:t>                             cv2.THRESH_BINARY,5,3)</a:t>
            </a:r>
          </a:p>
          <a:p>
            <a:r>
              <a:rPr lang="en-US" altLang="zh-CN" sz="2000" dirty="0">
                <a:latin typeface="Times New Roman" panose="02020603050405020304" pitchFamily="18" charset="0"/>
                <a:cs typeface="Times New Roman" panose="02020603050405020304" pitchFamily="18" charset="0"/>
              </a:rPr>
              <a:t>ath3_g = cv2.adaptiveThreshold(img_g,255,cv2.ADAPTIVE_THRESH_GAUSSIAN_C,</a:t>
            </a:r>
          </a:p>
          <a:p>
            <a:r>
              <a:rPr lang="en-US" altLang="zh-CN" sz="2000" dirty="0">
                <a:latin typeface="Times New Roman" panose="02020603050405020304" pitchFamily="18" charset="0"/>
                <a:cs typeface="Times New Roman" panose="02020603050405020304" pitchFamily="18" charset="0"/>
              </a:rPr>
              <a:t>                             cv2.THRESH_BINARY,5,3)</a:t>
            </a:r>
          </a:p>
          <a:p>
            <a:r>
              <a:rPr lang="en-US" altLang="zh-CN" sz="2000" dirty="0">
                <a:latin typeface="Times New Roman" panose="02020603050405020304" pitchFamily="18" charset="0"/>
                <a:cs typeface="Times New Roman" panose="02020603050405020304" pitchFamily="18" charset="0"/>
              </a:rPr>
              <a:t>ath3_r = cv2.adaptiveThreshold(img_r,255,cv2.ADAPTIVE_THRESH_GAUSSIAN_C,</a:t>
            </a:r>
          </a:p>
          <a:p>
            <a:r>
              <a:rPr lang="en-US" altLang="zh-CN" sz="2000" dirty="0">
                <a:latin typeface="Times New Roman" panose="02020603050405020304" pitchFamily="18" charset="0"/>
                <a:cs typeface="Times New Roman" panose="02020603050405020304" pitchFamily="18" charset="0"/>
              </a:rPr>
              <a:t>                             cv2.THRESH_BINARY,5,3)</a:t>
            </a:r>
          </a:p>
          <a:p>
            <a:endParaRPr lang="en-US" altLang="zh-CN" sz="2000" dirty="0">
              <a:latin typeface="Times New Roman" panose="02020603050405020304" pitchFamily="18" charset="0"/>
              <a:cs typeface="Times New Roman" panose="02020603050405020304" pitchFamily="18" charset="0"/>
            </a:endParaRPr>
          </a:p>
          <a:p>
            <a:r>
              <a:rPr lang="en-US" altLang="zh-CN" sz="2000" dirty="0" err="1">
                <a:latin typeface="Times New Roman" panose="02020603050405020304" pitchFamily="18" charset="0"/>
                <a:cs typeface="Times New Roman" panose="02020603050405020304" pitchFamily="18" charset="0"/>
              </a:rPr>
              <a:t>gauss_ada_img</a:t>
            </a:r>
            <a:r>
              <a:rPr lang="en-US" altLang="zh-CN" sz="2000" dirty="0">
                <a:latin typeface="Times New Roman" panose="02020603050405020304" pitchFamily="18" charset="0"/>
                <a:cs typeface="Times New Roman" panose="02020603050405020304" pitchFamily="18" charset="0"/>
              </a:rPr>
              <a:t> = cv2.merge([ath3_b,ath3_g,ath3_r])  #</a:t>
            </a:r>
            <a:r>
              <a:rPr lang="zh-CN" altLang="en-US" sz="2000" dirty="0">
                <a:latin typeface="Times New Roman" panose="02020603050405020304" pitchFamily="18" charset="0"/>
                <a:cs typeface="Times New Roman" panose="02020603050405020304" pitchFamily="18" charset="0"/>
              </a:rPr>
              <a:t>合并通道</a:t>
            </a:r>
          </a:p>
          <a:p>
            <a:r>
              <a:rPr lang="en-US" altLang="zh-CN" sz="2000" dirty="0">
                <a:latin typeface="Times New Roman" panose="02020603050405020304" pitchFamily="18" charset="0"/>
                <a:cs typeface="Times New Roman" panose="02020603050405020304" pitchFamily="18" charset="0"/>
              </a:rPr>
              <a:t>cv2.imshow('</a:t>
            </a:r>
            <a:r>
              <a:rPr lang="en-US" altLang="zh-CN" sz="2000" dirty="0" err="1">
                <a:latin typeface="Times New Roman" panose="02020603050405020304" pitchFamily="18" charset="0"/>
                <a:cs typeface="Times New Roman" panose="02020603050405020304" pitchFamily="18" charset="0"/>
              </a:rPr>
              <a:t>origin_img</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img</a:t>
            </a:r>
            <a:r>
              <a:rPr lang="en-US" altLang="zh-CN" sz="2000" dirty="0">
                <a:latin typeface="Times New Roman" panose="02020603050405020304" pitchFamily="18" charset="0"/>
                <a:cs typeface="Times New Roman" panose="02020603050405020304" pitchFamily="18" charset="0"/>
              </a:rPr>
              <a:t>)</a:t>
            </a:r>
          </a:p>
          <a:p>
            <a:r>
              <a:rPr lang="en-US" altLang="zh-CN" sz="2000" dirty="0">
                <a:latin typeface="Times New Roman" panose="02020603050405020304" pitchFamily="18" charset="0"/>
                <a:cs typeface="Times New Roman" panose="02020603050405020304" pitchFamily="18" charset="0"/>
              </a:rPr>
              <a:t>cv2.imshow('</a:t>
            </a:r>
            <a:r>
              <a:rPr lang="en-US" altLang="zh-CN" sz="2000" dirty="0" err="1">
                <a:latin typeface="Times New Roman" panose="02020603050405020304" pitchFamily="18" charset="0"/>
                <a:cs typeface="Times New Roman" panose="02020603050405020304" pitchFamily="18" charset="0"/>
              </a:rPr>
              <a:t>threshold_img</a:t>
            </a:r>
            <a:r>
              <a:rPr lang="en-US" altLang="zh-CN" sz="2000" dirty="0">
                <a:latin typeface="Times New Roman" panose="02020603050405020304" pitchFamily="18" charset="0"/>
                <a:cs typeface="Times New Roman" panose="02020603050405020304" pitchFamily="18" charset="0"/>
              </a:rPr>
              <a:t>', th1)</a:t>
            </a:r>
          </a:p>
          <a:p>
            <a:r>
              <a:rPr lang="en-US" altLang="zh-CN" sz="2000" dirty="0">
                <a:latin typeface="Times New Roman" panose="02020603050405020304" pitchFamily="18" charset="0"/>
                <a:cs typeface="Times New Roman" panose="02020603050405020304" pitchFamily="18" charset="0"/>
              </a:rPr>
              <a:t>cv2.imshow('</a:t>
            </a:r>
            <a:r>
              <a:rPr lang="en-US" altLang="zh-CN" sz="2000" dirty="0" err="1">
                <a:latin typeface="Times New Roman" panose="02020603050405020304" pitchFamily="18" charset="0"/>
                <a:cs typeface="Times New Roman" panose="02020603050405020304" pitchFamily="18" charset="0"/>
              </a:rPr>
              <a:t>mean_ada_thr</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mean_ada_img</a:t>
            </a:r>
            <a:r>
              <a:rPr lang="en-US" altLang="zh-CN" sz="2000" dirty="0">
                <a:latin typeface="Times New Roman" panose="02020603050405020304" pitchFamily="18" charset="0"/>
                <a:cs typeface="Times New Roman" panose="02020603050405020304" pitchFamily="18" charset="0"/>
              </a:rPr>
              <a:t>)</a:t>
            </a:r>
          </a:p>
          <a:p>
            <a:r>
              <a:rPr lang="en-US" altLang="zh-CN" sz="2000" dirty="0">
                <a:latin typeface="Times New Roman" panose="02020603050405020304" pitchFamily="18" charset="0"/>
                <a:cs typeface="Times New Roman" panose="02020603050405020304" pitchFamily="18" charset="0"/>
              </a:rPr>
              <a:t>cv2.imshow('</a:t>
            </a:r>
            <a:r>
              <a:rPr lang="en-US" altLang="zh-CN" sz="2000" dirty="0" err="1">
                <a:latin typeface="Times New Roman" panose="02020603050405020304" pitchFamily="18" charset="0"/>
                <a:cs typeface="Times New Roman" panose="02020603050405020304" pitchFamily="18" charset="0"/>
              </a:rPr>
              <a:t>gauss_ada_thr</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gauss_ada_img</a:t>
            </a:r>
            <a:r>
              <a:rPr lang="en-US" altLang="zh-CN" sz="2000" dirty="0">
                <a:latin typeface="Times New Roman" panose="02020603050405020304" pitchFamily="18" charset="0"/>
                <a:cs typeface="Times New Roman" panose="02020603050405020304" pitchFamily="18" charset="0"/>
              </a:rPr>
              <a:t>)</a:t>
            </a:r>
          </a:p>
          <a:p>
            <a:r>
              <a:rPr lang="en-US" altLang="zh-CN" sz="2000" dirty="0">
                <a:latin typeface="Times New Roman" panose="02020603050405020304" pitchFamily="18" charset="0"/>
                <a:cs typeface="Times New Roman" panose="02020603050405020304" pitchFamily="18" charset="0"/>
              </a:rPr>
              <a:t>cv2.waitKey(0)</a:t>
            </a:r>
          </a:p>
          <a:p>
            <a:r>
              <a:rPr lang="en-US" altLang="zh-CN" sz="2000" dirty="0">
                <a:latin typeface="Times New Roman" panose="02020603050405020304" pitchFamily="18" charset="0"/>
                <a:cs typeface="Times New Roman" panose="02020603050405020304" pitchFamily="18" charset="0"/>
              </a:rPr>
              <a:t>cv2.destroyAllWindows()</a:t>
            </a:r>
          </a:p>
        </p:txBody>
      </p:sp>
    </p:spTree>
    <p:extLst>
      <p:ext uri="{BB962C8B-B14F-4D97-AF65-F5344CB8AC3E}">
        <p14:creationId xmlns:p14="http://schemas.microsoft.com/office/powerpoint/2010/main" val="32826654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6E90BFCB-9165-4319-B23F-3E6B79F81360}"/>
              </a:ext>
            </a:extLst>
          </p:cNvPr>
          <p:cNvSpPr txBox="1"/>
          <p:nvPr/>
        </p:nvSpPr>
        <p:spPr>
          <a:xfrm>
            <a:off x="7176486" y="176257"/>
            <a:ext cx="4246863" cy="6186309"/>
          </a:xfrm>
          <a:prstGeom prst="rect">
            <a:avLst/>
          </a:prstGeom>
          <a:noFill/>
        </p:spPr>
        <p:txBody>
          <a:bodyPr wrap="square">
            <a:spAutoFit/>
          </a:bodyPr>
          <a:lstStyle/>
          <a:p>
            <a:pPr>
              <a:lnSpc>
                <a:spcPct val="150000"/>
              </a:lnSpc>
            </a:pPr>
            <a:r>
              <a:rPr lang="zh-CN" altLang="en-US" sz="2400" b="1" dirty="0">
                <a:solidFill>
                  <a:srgbClr val="C00000"/>
                </a:solidFill>
                <a:latin typeface="+mn-ea"/>
              </a:rPr>
              <a:t>程序运行结果如图</a:t>
            </a:r>
            <a:r>
              <a:rPr lang="en-US" altLang="zh-CN" sz="2400" b="1" dirty="0">
                <a:solidFill>
                  <a:srgbClr val="C00000"/>
                </a:solidFill>
                <a:latin typeface="+mn-ea"/>
              </a:rPr>
              <a:t>11-13</a:t>
            </a:r>
            <a:r>
              <a:rPr lang="zh-CN" altLang="en-US" sz="2400" b="1" dirty="0">
                <a:solidFill>
                  <a:srgbClr val="C00000"/>
                </a:solidFill>
                <a:latin typeface="+mn-ea"/>
              </a:rPr>
              <a:t>所示：</a:t>
            </a:r>
            <a:r>
              <a:rPr lang="en-US" altLang="zh-CN" sz="2400" b="1" dirty="0">
                <a:latin typeface="+mn-ea"/>
              </a:rPr>
              <a:t>(a)</a:t>
            </a:r>
            <a:r>
              <a:rPr lang="zh-CN" altLang="en-US" sz="2400" b="1" dirty="0">
                <a:latin typeface="+mn-ea"/>
              </a:rPr>
              <a:t>图是原始图像</a:t>
            </a:r>
            <a:r>
              <a:rPr lang="zh-CN" altLang="en-US" sz="2400" b="1" dirty="0" smtClean="0">
                <a:latin typeface="+mn-ea"/>
              </a:rPr>
              <a:t>；</a:t>
            </a:r>
            <a:endParaRPr lang="en-US" altLang="zh-CN" sz="2400" b="1" dirty="0" smtClean="0">
              <a:latin typeface="+mn-ea"/>
            </a:endParaRPr>
          </a:p>
          <a:p>
            <a:pPr>
              <a:lnSpc>
                <a:spcPct val="150000"/>
              </a:lnSpc>
            </a:pPr>
            <a:r>
              <a:rPr lang="en-US" altLang="zh-CN" sz="2400" b="1" dirty="0" smtClean="0">
                <a:solidFill>
                  <a:srgbClr val="0033CC"/>
                </a:solidFill>
                <a:latin typeface="+mn-ea"/>
              </a:rPr>
              <a:t>(</a:t>
            </a:r>
            <a:r>
              <a:rPr lang="en-US" altLang="zh-CN" sz="2400" b="1" dirty="0">
                <a:solidFill>
                  <a:srgbClr val="0033CC"/>
                </a:solidFill>
                <a:latin typeface="+mn-ea"/>
              </a:rPr>
              <a:t>b)</a:t>
            </a:r>
            <a:r>
              <a:rPr lang="zh-CN" altLang="en-US" sz="2400" b="1" dirty="0">
                <a:solidFill>
                  <a:srgbClr val="0033CC"/>
                </a:solidFill>
                <a:latin typeface="+mn-ea"/>
              </a:rPr>
              <a:t>图是采用全局阈值中的二值化阈值处理的彩色</a:t>
            </a:r>
            <a:r>
              <a:rPr lang="zh-CN" altLang="en-US" sz="2400" b="1" dirty="0" smtClean="0">
                <a:solidFill>
                  <a:srgbClr val="0033CC"/>
                </a:solidFill>
                <a:latin typeface="+mn-ea"/>
              </a:rPr>
              <a:t>图像；</a:t>
            </a:r>
            <a:endParaRPr lang="en-US" altLang="zh-CN" sz="2400" b="1" dirty="0" smtClean="0">
              <a:solidFill>
                <a:srgbClr val="0033CC"/>
              </a:solidFill>
              <a:latin typeface="+mn-ea"/>
            </a:endParaRPr>
          </a:p>
          <a:p>
            <a:pPr>
              <a:lnSpc>
                <a:spcPct val="150000"/>
              </a:lnSpc>
            </a:pPr>
            <a:r>
              <a:rPr lang="en-US" altLang="zh-CN" sz="2400" b="1" dirty="0">
                <a:latin typeface="+mn-ea"/>
              </a:rPr>
              <a:t>(c)</a:t>
            </a:r>
            <a:r>
              <a:rPr lang="zh-CN" altLang="en-US" sz="2400" b="1" dirty="0">
                <a:latin typeface="+mn-ea"/>
              </a:rPr>
              <a:t>图是采用权重相等方式的局部阈值处理的彩色图像；</a:t>
            </a:r>
            <a:endParaRPr lang="en-US" altLang="zh-CN" sz="2400" b="1" dirty="0">
              <a:latin typeface="+mn-ea"/>
            </a:endParaRPr>
          </a:p>
          <a:p>
            <a:pPr>
              <a:lnSpc>
                <a:spcPct val="150000"/>
              </a:lnSpc>
            </a:pPr>
            <a:r>
              <a:rPr lang="en-US" altLang="zh-CN" sz="2400" b="1" dirty="0" smtClean="0">
                <a:solidFill>
                  <a:srgbClr val="0033CC"/>
                </a:solidFill>
                <a:latin typeface="+mn-ea"/>
              </a:rPr>
              <a:t>(d</a:t>
            </a:r>
            <a:r>
              <a:rPr lang="en-US" altLang="zh-CN" sz="2400" b="1" dirty="0">
                <a:solidFill>
                  <a:srgbClr val="0033CC"/>
                </a:solidFill>
                <a:latin typeface="+mn-ea"/>
              </a:rPr>
              <a:t>)</a:t>
            </a:r>
            <a:r>
              <a:rPr lang="zh-CN" altLang="en-US" sz="2400" b="1" dirty="0">
                <a:solidFill>
                  <a:srgbClr val="0033CC"/>
                </a:solidFill>
                <a:latin typeface="+mn-ea"/>
              </a:rPr>
              <a:t>图是采用权重为高斯分布的局部阈值处理的彩色图像。</a:t>
            </a:r>
            <a:r>
              <a:rPr lang="zh-CN" altLang="en-US" sz="2400" b="1" dirty="0">
                <a:latin typeface="+mn-ea"/>
              </a:rPr>
              <a:t>可以看出，相对于</a:t>
            </a:r>
            <a:r>
              <a:rPr lang="en-US" altLang="zh-CN" sz="2400" b="1" dirty="0">
                <a:latin typeface="+mn-ea"/>
              </a:rPr>
              <a:t>(b)</a:t>
            </a:r>
            <a:r>
              <a:rPr lang="zh-CN" altLang="en-US" sz="2400" b="1" dirty="0">
                <a:latin typeface="+mn-ea"/>
              </a:rPr>
              <a:t>图，</a:t>
            </a:r>
            <a:r>
              <a:rPr lang="en-US" altLang="zh-CN" sz="2400" b="1" dirty="0">
                <a:latin typeface="+mn-ea"/>
              </a:rPr>
              <a:t>(c)</a:t>
            </a:r>
            <a:r>
              <a:rPr lang="zh-CN" altLang="en-US" sz="2400" b="1" dirty="0">
                <a:latin typeface="+mn-ea"/>
              </a:rPr>
              <a:t>图和</a:t>
            </a:r>
            <a:r>
              <a:rPr lang="en-US" altLang="zh-CN" sz="2400" b="1" dirty="0">
                <a:latin typeface="+mn-ea"/>
              </a:rPr>
              <a:t>(d)</a:t>
            </a:r>
            <a:r>
              <a:rPr lang="zh-CN" altLang="en-US" sz="2400" b="1" dirty="0">
                <a:latin typeface="+mn-ea"/>
              </a:rPr>
              <a:t>图保留了大量的细节信息。</a:t>
            </a:r>
          </a:p>
        </p:txBody>
      </p:sp>
      <p:pic>
        <p:nvPicPr>
          <p:cNvPr id="4" name="图片 3">
            <a:extLst>
              <a:ext uri="{FF2B5EF4-FFF2-40B4-BE49-F238E27FC236}">
                <a16:creationId xmlns:a16="http://schemas.microsoft.com/office/drawing/2014/main" xmlns="" id="{91625ECB-C0B4-4509-BF47-30C767897515}"/>
              </a:ext>
            </a:extLst>
          </p:cNvPr>
          <p:cNvPicPr>
            <a:picLocks noChangeAspect="1"/>
          </p:cNvPicPr>
          <p:nvPr/>
        </p:nvPicPr>
        <p:blipFill>
          <a:blip r:embed="rId2"/>
          <a:stretch>
            <a:fillRect/>
          </a:stretch>
        </p:blipFill>
        <p:spPr>
          <a:xfrm>
            <a:off x="799910" y="123154"/>
            <a:ext cx="2502583" cy="2883411"/>
          </a:xfrm>
          <a:prstGeom prst="rect">
            <a:avLst/>
          </a:prstGeom>
        </p:spPr>
      </p:pic>
      <p:pic>
        <p:nvPicPr>
          <p:cNvPr id="5" name="图片 4">
            <a:extLst>
              <a:ext uri="{FF2B5EF4-FFF2-40B4-BE49-F238E27FC236}">
                <a16:creationId xmlns:a16="http://schemas.microsoft.com/office/drawing/2014/main" xmlns="" id="{4EE91697-1AD6-46C2-96BB-5EAA6AB441CB}"/>
              </a:ext>
            </a:extLst>
          </p:cNvPr>
          <p:cNvPicPr>
            <a:picLocks noChangeAspect="1"/>
          </p:cNvPicPr>
          <p:nvPr/>
        </p:nvPicPr>
        <p:blipFill>
          <a:blip r:embed="rId3"/>
          <a:stretch>
            <a:fillRect/>
          </a:stretch>
        </p:blipFill>
        <p:spPr>
          <a:xfrm>
            <a:off x="4436425" y="176257"/>
            <a:ext cx="2502583" cy="2883411"/>
          </a:xfrm>
          <a:prstGeom prst="rect">
            <a:avLst/>
          </a:prstGeom>
        </p:spPr>
      </p:pic>
      <p:pic>
        <p:nvPicPr>
          <p:cNvPr id="6" name="图片 5">
            <a:extLst>
              <a:ext uri="{FF2B5EF4-FFF2-40B4-BE49-F238E27FC236}">
                <a16:creationId xmlns:a16="http://schemas.microsoft.com/office/drawing/2014/main" xmlns="" id="{81A7264A-B143-483A-BA9E-F2A2D30C0241}"/>
              </a:ext>
            </a:extLst>
          </p:cNvPr>
          <p:cNvPicPr>
            <a:picLocks noChangeAspect="1"/>
          </p:cNvPicPr>
          <p:nvPr/>
        </p:nvPicPr>
        <p:blipFill>
          <a:blip r:embed="rId4"/>
          <a:stretch>
            <a:fillRect/>
          </a:stretch>
        </p:blipFill>
        <p:spPr>
          <a:xfrm>
            <a:off x="799908" y="3569485"/>
            <a:ext cx="2502583" cy="2884597"/>
          </a:xfrm>
          <a:prstGeom prst="rect">
            <a:avLst/>
          </a:prstGeom>
        </p:spPr>
      </p:pic>
      <p:pic>
        <p:nvPicPr>
          <p:cNvPr id="7" name="图片 6">
            <a:extLst>
              <a:ext uri="{FF2B5EF4-FFF2-40B4-BE49-F238E27FC236}">
                <a16:creationId xmlns:a16="http://schemas.microsoft.com/office/drawing/2014/main" xmlns="" id="{4CB82AB0-E33F-485E-B8F2-3047E8B98A1E}"/>
              </a:ext>
            </a:extLst>
          </p:cNvPr>
          <p:cNvPicPr>
            <a:picLocks noChangeAspect="1"/>
          </p:cNvPicPr>
          <p:nvPr/>
        </p:nvPicPr>
        <p:blipFill>
          <a:blip r:embed="rId5"/>
          <a:stretch>
            <a:fillRect/>
          </a:stretch>
        </p:blipFill>
        <p:spPr>
          <a:xfrm>
            <a:off x="4460099" y="3562561"/>
            <a:ext cx="2502583" cy="2883411"/>
          </a:xfrm>
          <a:prstGeom prst="rect">
            <a:avLst/>
          </a:prstGeom>
        </p:spPr>
      </p:pic>
      <p:sp>
        <p:nvSpPr>
          <p:cNvPr id="9" name="文本框 8">
            <a:extLst>
              <a:ext uri="{FF2B5EF4-FFF2-40B4-BE49-F238E27FC236}">
                <a16:creationId xmlns:a16="http://schemas.microsoft.com/office/drawing/2014/main" xmlns="" id="{62FCC897-DA2B-4CA5-B7BA-448F3824B021}"/>
              </a:ext>
            </a:extLst>
          </p:cNvPr>
          <p:cNvSpPr txBox="1"/>
          <p:nvPr/>
        </p:nvSpPr>
        <p:spPr>
          <a:xfrm>
            <a:off x="1218829" y="3099304"/>
            <a:ext cx="1664743" cy="369332"/>
          </a:xfrm>
          <a:prstGeom prst="rect">
            <a:avLst/>
          </a:prstGeom>
          <a:noFill/>
        </p:spPr>
        <p:txBody>
          <a:bodyPr wrap="square">
            <a:spAutoFit/>
          </a:bodyPr>
          <a:lstStyle/>
          <a:p>
            <a:r>
              <a:rPr lang="en-US" altLang="zh-CN" dirty="0"/>
              <a:t>(a) </a:t>
            </a:r>
            <a:r>
              <a:rPr lang="zh-CN" altLang="en-US" dirty="0"/>
              <a:t>原始图像 </a:t>
            </a:r>
          </a:p>
        </p:txBody>
      </p:sp>
      <p:sp>
        <p:nvSpPr>
          <p:cNvPr id="11" name="文本框 10">
            <a:extLst>
              <a:ext uri="{FF2B5EF4-FFF2-40B4-BE49-F238E27FC236}">
                <a16:creationId xmlns:a16="http://schemas.microsoft.com/office/drawing/2014/main" xmlns="" id="{84D33430-FC95-4826-9F4B-C0F3BF6DC8CD}"/>
              </a:ext>
            </a:extLst>
          </p:cNvPr>
          <p:cNvSpPr txBox="1"/>
          <p:nvPr/>
        </p:nvSpPr>
        <p:spPr>
          <a:xfrm>
            <a:off x="4673903" y="3059668"/>
            <a:ext cx="2265105" cy="369332"/>
          </a:xfrm>
          <a:prstGeom prst="rect">
            <a:avLst/>
          </a:prstGeom>
          <a:noFill/>
        </p:spPr>
        <p:txBody>
          <a:bodyPr wrap="square">
            <a:spAutoFit/>
          </a:bodyPr>
          <a:lstStyle/>
          <a:p>
            <a:r>
              <a:rPr lang="zh-CN" altLang="en-US" dirty="0"/>
              <a:t> </a:t>
            </a:r>
            <a:r>
              <a:rPr lang="en-US" altLang="zh-CN" dirty="0"/>
              <a:t>(b) </a:t>
            </a:r>
            <a:r>
              <a:rPr lang="zh-CN" altLang="en-US" dirty="0"/>
              <a:t>二值化阈值处理</a:t>
            </a:r>
          </a:p>
        </p:txBody>
      </p:sp>
      <p:sp>
        <p:nvSpPr>
          <p:cNvPr id="13" name="文本框 12">
            <a:extLst>
              <a:ext uri="{FF2B5EF4-FFF2-40B4-BE49-F238E27FC236}">
                <a16:creationId xmlns:a16="http://schemas.microsoft.com/office/drawing/2014/main" xmlns="" id="{6C2DF9C0-785B-4A69-993E-204884A16216}"/>
              </a:ext>
            </a:extLst>
          </p:cNvPr>
          <p:cNvSpPr txBox="1"/>
          <p:nvPr/>
        </p:nvSpPr>
        <p:spPr>
          <a:xfrm>
            <a:off x="541539" y="6445972"/>
            <a:ext cx="3080550" cy="369332"/>
          </a:xfrm>
          <a:prstGeom prst="rect">
            <a:avLst/>
          </a:prstGeom>
          <a:noFill/>
        </p:spPr>
        <p:txBody>
          <a:bodyPr wrap="square">
            <a:spAutoFit/>
          </a:bodyPr>
          <a:lstStyle/>
          <a:p>
            <a:r>
              <a:rPr lang="en-US" altLang="zh-CN" dirty="0"/>
              <a:t>(c) </a:t>
            </a:r>
            <a:r>
              <a:rPr lang="zh-CN" altLang="en-US" dirty="0"/>
              <a:t>权重相等的局部阈值处理</a:t>
            </a:r>
          </a:p>
        </p:txBody>
      </p:sp>
      <p:sp>
        <p:nvSpPr>
          <p:cNvPr id="15" name="文本框 14">
            <a:extLst>
              <a:ext uri="{FF2B5EF4-FFF2-40B4-BE49-F238E27FC236}">
                <a16:creationId xmlns:a16="http://schemas.microsoft.com/office/drawing/2014/main" xmlns="" id="{DB640763-1632-4D5A-9359-DB15E652056D}"/>
              </a:ext>
            </a:extLst>
          </p:cNvPr>
          <p:cNvSpPr txBox="1"/>
          <p:nvPr/>
        </p:nvSpPr>
        <p:spPr>
          <a:xfrm>
            <a:off x="4208016" y="6454082"/>
            <a:ext cx="3080550" cy="369332"/>
          </a:xfrm>
          <a:prstGeom prst="rect">
            <a:avLst/>
          </a:prstGeom>
          <a:noFill/>
        </p:spPr>
        <p:txBody>
          <a:bodyPr wrap="square">
            <a:spAutoFit/>
          </a:bodyPr>
          <a:lstStyle/>
          <a:p>
            <a:r>
              <a:rPr lang="zh-CN" altLang="en-US" dirty="0"/>
              <a:t> </a:t>
            </a:r>
            <a:r>
              <a:rPr lang="en-US" altLang="zh-CN" dirty="0"/>
              <a:t>(d)</a:t>
            </a:r>
            <a:r>
              <a:rPr lang="zh-CN" altLang="en-US" dirty="0"/>
              <a:t>高斯分布的局部阈值处理</a:t>
            </a:r>
          </a:p>
        </p:txBody>
      </p:sp>
    </p:spTree>
    <p:extLst>
      <p:ext uri="{BB962C8B-B14F-4D97-AF65-F5344CB8AC3E}">
        <p14:creationId xmlns:p14="http://schemas.microsoft.com/office/powerpoint/2010/main" val="32858369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2F9B9F53-C41A-4D80-BF21-3D8FAC7F8534}"/>
              </a:ext>
            </a:extLst>
          </p:cNvPr>
          <p:cNvSpPr txBox="1"/>
          <p:nvPr/>
        </p:nvSpPr>
        <p:spPr>
          <a:xfrm>
            <a:off x="1253971" y="1507242"/>
            <a:ext cx="9787409" cy="2775760"/>
          </a:xfrm>
          <a:prstGeom prst="rect">
            <a:avLst/>
          </a:prstGeom>
          <a:noFill/>
        </p:spPr>
        <p:txBody>
          <a:bodyPr wrap="square">
            <a:spAutoFit/>
          </a:bodyPr>
          <a:lstStyle/>
          <a:p>
            <a:pPr algn="just">
              <a:lnSpc>
                <a:spcPct val="150000"/>
              </a:lnSpc>
            </a:pPr>
            <a:r>
              <a:rPr lang="zh-CN" altLang="en-US" sz="2400" b="1" dirty="0">
                <a:latin typeface="+mn-ea"/>
              </a:rPr>
              <a:t>在使用</a:t>
            </a:r>
            <a:r>
              <a:rPr lang="en-US" altLang="zh-CN" sz="2400" b="1" dirty="0">
                <a:latin typeface="+mn-ea"/>
              </a:rPr>
              <a:t>threshold()</a:t>
            </a:r>
            <a:r>
              <a:rPr lang="zh-CN" altLang="en-US" sz="2400" b="1" dirty="0">
                <a:latin typeface="+mn-ea"/>
              </a:rPr>
              <a:t>函数对图像进行阈值分割时，需要自定义一个阈值。这种阈值对于色彩均衡的图像较为容易选择，但是，对于色彩不均衡的图像，阈值的选择会变得很复杂，使用</a:t>
            </a:r>
            <a:r>
              <a:rPr lang="en-US" altLang="zh-CN" sz="2400" b="1" dirty="0">
                <a:latin typeface="+mn-ea"/>
              </a:rPr>
              <a:t>Otsu’s</a:t>
            </a:r>
            <a:r>
              <a:rPr lang="zh-CN" altLang="en-US" sz="2400" b="1" dirty="0">
                <a:latin typeface="+mn-ea"/>
              </a:rPr>
              <a:t>方法可以较为方便地选择出图像分割的最佳阈值，它会遍历当前图像的所有阈值，选取最佳阈值。</a:t>
            </a:r>
          </a:p>
        </p:txBody>
      </p:sp>
      <p:sp>
        <p:nvSpPr>
          <p:cNvPr id="5" name="文本框 4">
            <a:extLst>
              <a:ext uri="{FF2B5EF4-FFF2-40B4-BE49-F238E27FC236}">
                <a16:creationId xmlns:a16="http://schemas.microsoft.com/office/drawing/2014/main" xmlns="" id="{80F8E583-9929-4DF8-9AA4-31824DB21142}"/>
              </a:ext>
            </a:extLst>
          </p:cNvPr>
          <p:cNvSpPr txBox="1"/>
          <p:nvPr/>
        </p:nvSpPr>
        <p:spPr>
          <a:xfrm>
            <a:off x="1253971" y="823726"/>
            <a:ext cx="6094520" cy="523220"/>
          </a:xfrm>
          <a:prstGeom prst="rect">
            <a:avLst/>
          </a:prstGeom>
          <a:noFill/>
        </p:spPr>
        <p:txBody>
          <a:bodyPr wrap="square">
            <a:spAutoFit/>
          </a:bodyPr>
          <a:lstStyle/>
          <a:p>
            <a:r>
              <a:rPr lang="en-US" altLang="zh-CN" sz="2800" dirty="0">
                <a:solidFill>
                  <a:srgbClr val="FF0000"/>
                </a:solidFill>
                <a:latin typeface="Times New Roman" panose="02020603050405020304" pitchFamily="18" charset="0"/>
                <a:cs typeface="Times New Roman" panose="02020603050405020304" pitchFamily="18" charset="0"/>
              </a:rPr>
              <a:t>3. Otsu’s</a:t>
            </a:r>
            <a:r>
              <a:rPr lang="zh-CN" altLang="en-US" sz="2800" dirty="0">
                <a:solidFill>
                  <a:srgbClr val="FF0000"/>
                </a:solidFill>
                <a:latin typeface="Times New Roman" panose="02020603050405020304" pitchFamily="18" charset="0"/>
                <a:cs typeface="Times New Roman" panose="02020603050405020304" pitchFamily="18" charset="0"/>
              </a:rPr>
              <a:t>阈值处理</a:t>
            </a:r>
          </a:p>
        </p:txBody>
      </p:sp>
    </p:spTree>
    <p:extLst>
      <p:ext uri="{BB962C8B-B14F-4D97-AF65-F5344CB8AC3E}">
        <p14:creationId xmlns:p14="http://schemas.microsoft.com/office/powerpoint/2010/main" val="29711605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0CC40180-6206-434E-B7B7-D91BB4BA4FA8}"/>
              </a:ext>
            </a:extLst>
          </p:cNvPr>
          <p:cNvSpPr txBox="1"/>
          <p:nvPr/>
        </p:nvSpPr>
        <p:spPr>
          <a:xfrm>
            <a:off x="1032028" y="577919"/>
            <a:ext cx="10112221" cy="461665"/>
          </a:xfrm>
          <a:prstGeom prst="rect">
            <a:avLst/>
          </a:prstGeom>
          <a:noFill/>
        </p:spPr>
        <p:txBody>
          <a:bodyPr wrap="square">
            <a:spAutoFit/>
          </a:bodyPr>
          <a:lstStyle/>
          <a:p>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11.13】</a:t>
            </a:r>
            <a:r>
              <a:rPr lang="zh-CN" altLang="en-US" sz="2400" dirty="0"/>
              <a:t>使用</a:t>
            </a:r>
            <a:r>
              <a:rPr lang="en-US" altLang="zh-CN" sz="2400" dirty="0"/>
              <a:t>Otsu’s</a:t>
            </a:r>
            <a:r>
              <a:rPr lang="zh-CN" altLang="en-US" sz="2400" dirty="0"/>
              <a:t>方法实现彩色图像的阈值分割。程序代码如下：</a:t>
            </a:r>
          </a:p>
        </p:txBody>
      </p:sp>
      <p:sp>
        <p:nvSpPr>
          <p:cNvPr id="5" name="文本框 4">
            <a:extLst>
              <a:ext uri="{FF2B5EF4-FFF2-40B4-BE49-F238E27FC236}">
                <a16:creationId xmlns:a16="http://schemas.microsoft.com/office/drawing/2014/main" xmlns="" id="{F042C098-FFB6-4DBE-810B-D79AE51D3666}"/>
              </a:ext>
            </a:extLst>
          </p:cNvPr>
          <p:cNvSpPr txBox="1"/>
          <p:nvPr/>
        </p:nvSpPr>
        <p:spPr>
          <a:xfrm>
            <a:off x="1167042" y="997857"/>
            <a:ext cx="9248314" cy="313932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import cv2</a:t>
            </a:r>
          </a:p>
          <a:p>
            <a:endParaRPr lang="en-US" altLang="zh-CN" dirty="0">
              <a:latin typeface="Times New Roman" panose="02020603050405020304" pitchFamily="18" charset="0"/>
              <a:cs typeface="Times New Roman" panose="02020603050405020304" pitchFamily="18" charset="0"/>
            </a:endParaRPr>
          </a:p>
          <a:p>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 = cv2.imread('d:/pics/lena.jpg')</a:t>
            </a:r>
          </a:p>
          <a:p>
            <a:r>
              <a:rPr lang="en-US" altLang="zh-CN" dirty="0">
                <a:latin typeface="Times New Roman" panose="02020603050405020304" pitchFamily="18" charset="0"/>
                <a:cs typeface="Times New Roman" panose="02020603050405020304" pitchFamily="18" charset="0"/>
              </a:rPr>
              <a:t>ret1,th_img = cv2.threshold(img,50,255,cv2.THRESH_BINARY)  # </a:t>
            </a:r>
            <a:r>
              <a:rPr lang="zh-CN" altLang="en-US" dirty="0">
                <a:latin typeface="Times New Roman" panose="02020603050405020304" pitchFamily="18" charset="0"/>
                <a:cs typeface="Times New Roman" panose="02020603050405020304" pitchFamily="18" charset="0"/>
              </a:rPr>
              <a:t>全局阈值</a:t>
            </a:r>
          </a:p>
          <a:p>
            <a:endParaRPr lang="zh-CN" altLang="en-US"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 Otsu's</a:t>
            </a:r>
            <a:r>
              <a:rPr lang="zh-CN" altLang="en-US" dirty="0">
                <a:latin typeface="Times New Roman" panose="02020603050405020304" pitchFamily="18" charset="0"/>
                <a:cs typeface="Times New Roman" panose="02020603050405020304" pitchFamily="18" charset="0"/>
              </a:rPr>
              <a:t>阈值处理彩色图像</a:t>
            </a:r>
          </a:p>
          <a:p>
            <a:r>
              <a:rPr lang="en-US" altLang="zh-CN" dirty="0" err="1">
                <a:latin typeface="Times New Roman" panose="02020603050405020304" pitchFamily="18" charset="0"/>
                <a:cs typeface="Times New Roman" panose="02020603050405020304" pitchFamily="18" charset="0"/>
              </a:rPr>
              <a:t>img_b</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img_g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img_r</a:t>
            </a:r>
            <a:r>
              <a:rPr lang="en-US" altLang="zh-CN" dirty="0">
                <a:latin typeface="Times New Roman" panose="02020603050405020304" pitchFamily="18" charset="0"/>
                <a:cs typeface="Times New Roman" panose="02020603050405020304" pitchFamily="18" charset="0"/>
              </a:rPr>
              <a:t> = cv2.split(</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通道分离</a:t>
            </a:r>
          </a:p>
          <a:p>
            <a:r>
              <a:rPr lang="en-US" altLang="zh-CN" dirty="0">
                <a:latin typeface="Times New Roman" panose="02020603050405020304" pitchFamily="18" charset="0"/>
                <a:cs typeface="Times New Roman" panose="02020603050405020304" pitchFamily="18" charset="0"/>
              </a:rPr>
              <a:t>ret2_b,Oth_b = cv2.threshold(img_b,0,255,cv2.THRESH_BINARY+cv2.THRESH_OTSU)  </a:t>
            </a:r>
          </a:p>
          <a:p>
            <a:r>
              <a:rPr lang="en-US" altLang="zh-CN" dirty="0">
                <a:latin typeface="Times New Roman" panose="02020603050405020304" pitchFamily="18" charset="0"/>
                <a:cs typeface="Times New Roman" panose="02020603050405020304" pitchFamily="18" charset="0"/>
              </a:rPr>
              <a:t>ret2_g,Oth_g = cv2.threshold(img_g,0,255,cv2.THRESH_BINARY+cv2.THRESH_OTSU)  </a:t>
            </a:r>
          </a:p>
          <a:p>
            <a:r>
              <a:rPr lang="en-US" altLang="zh-CN" dirty="0">
                <a:latin typeface="Times New Roman" panose="02020603050405020304" pitchFamily="18" charset="0"/>
                <a:cs typeface="Times New Roman" panose="02020603050405020304" pitchFamily="18" charset="0"/>
              </a:rPr>
              <a:t>ret2_r,Oth_r = cv2.threshold(img_r,0,255,cv2.THRESH_BINARY+cv2.THRESH_OTSU)  </a:t>
            </a:r>
          </a:p>
          <a:p>
            <a:r>
              <a:rPr lang="en-US" altLang="zh-CN" dirty="0" err="1">
                <a:latin typeface="Times New Roman" panose="02020603050405020304" pitchFamily="18" charset="0"/>
                <a:cs typeface="Times New Roman" panose="02020603050405020304" pitchFamily="18" charset="0"/>
              </a:rPr>
              <a:t>Otsu_img</a:t>
            </a:r>
            <a:r>
              <a:rPr lang="en-US" altLang="zh-CN" dirty="0">
                <a:latin typeface="Times New Roman" panose="02020603050405020304" pitchFamily="18" charset="0"/>
                <a:cs typeface="Times New Roman" panose="02020603050405020304" pitchFamily="18" charset="0"/>
              </a:rPr>
              <a:t> = cv2.merge([</a:t>
            </a:r>
            <a:r>
              <a:rPr lang="en-US" altLang="zh-CN" dirty="0" err="1">
                <a:latin typeface="Times New Roman" panose="02020603050405020304" pitchFamily="18" charset="0"/>
                <a:cs typeface="Times New Roman" panose="02020603050405020304" pitchFamily="18" charset="0"/>
              </a:rPr>
              <a:t>Oth_b,Oth_g,Oth_r</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通道合并</a:t>
            </a:r>
          </a:p>
        </p:txBody>
      </p:sp>
      <p:sp>
        <p:nvSpPr>
          <p:cNvPr id="7" name="文本框 6">
            <a:extLst>
              <a:ext uri="{FF2B5EF4-FFF2-40B4-BE49-F238E27FC236}">
                <a16:creationId xmlns:a16="http://schemas.microsoft.com/office/drawing/2014/main" xmlns="" id="{625C719F-1D8C-4D32-9EDA-FFCA0686F762}"/>
              </a:ext>
            </a:extLst>
          </p:cNvPr>
          <p:cNvSpPr txBox="1"/>
          <p:nvPr/>
        </p:nvSpPr>
        <p:spPr>
          <a:xfrm>
            <a:off x="1167042" y="4141582"/>
            <a:ext cx="5540406" cy="2308324"/>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print("</a:t>
            </a:r>
            <a:r>
              <a:rPr lang="zh-CN" altLang="en-US" dirty="0">
                <a:latin typeface="Times New Roman" panose="02020603050405020304" pitchFamily="18" charset="0"/>
                <a:cs typeface="Times New Roman" panose="02020603050405020304" pitchFamily="18" charset="0"/>
              </a:rPr>
              <a:t>全局阈值 </a:t>
            </a:r>
            <a:r>
              <a:rPr lang="en-US" altLang="zh-CN" dirty="0">
                <a:latin typeface="Times New Roman" panose="02020603050405020304" pitchFamily="18" charset="0"/>
                <a:cs typeface="Times New Roman" panose="02020603050405020304" pitchFamily="18" charset="0"/>
              </a:rPr>
              <a:t>=",ret1)</a:t>
            </a:r>
          </a:p>
          <a:p>
            <a:r>
              <a:rPr lang="en-US" altLang="zh-CN" dirty="0">
                <a:latin typeface="Times New Roman" panose="02020603050405020304" pitchFamily="18" charset="0"/>
                <a:cs typeface="Times New Roman" panose="02020603050405020304" pitchFamily="18" charset="0"/>
              </a:rPr>
              <a:t>print("BGR</a:t>
            </a:r>
            <a:r>
              <a:rPr lang="zh-CN" altLang="en-US" dirty="0">
                <a:latin typeface="Times New Roman" panose="02020603050405020304" pitchFamily="18" charset="0"/>
                <a:cs typeface="Times New Roman" panose="02020603050405020304" pitchFamily="18" charset="0"/>
              </a:rPr>
              <a:t>三个通道</a:t>
            </a:r>
            <a:r>
              <a:rPr lang="en-US" altLang="zh-CN" dirty="0" err="1">
                <a:latin typeface="Times New Roman" panose="02020603050405020304" pitchFamily="18" charset="0"/>
                <a:cs typeface="Times New Roman" panose="02020603050405020304" pitchFamily="18" charset="0"/>
              </a:rPr>
              <a:t>Ostu's</a:t>
            </a:r>
            <a:r>
              <a:rPr lang="zh-CN" altLang="en-US" dirty="0">
                <a:latin typeface="Times New Roman" panose="02020603050405020304" pitchFamily="18" charset="0"/>
                <a:cs typeface="Times New Roman" panose="02020603050405020304" pitchFamily="18" charset="0"/>
              </a:rPr>
              <a:t>阈值 </a:t>
            </a:r>
            <a:r>
              <a:rPr lang="en-US" altLang="zh-CN" dirty="0">
                <a:latin typeface="Times New Roman" panose="02020603050405020304" pitchFamily="18" charset="0"/>
                <a:cs typeface="Times New Roman" panose="02020603050405020304" pitchFamily="18" charset="0"/>
              </a:rPr>
              <a:t>=", ret2_b, ret2_g, ret2_r)</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cv2.imshow('</a:t>
            </a:r>
            <a:r>
              <a:rPr lang="en-US" altLang="zh-CN" dirty="0" err="1">
                <a:latin typeface="Times New Roman" panose="02020603050405020304" pitchFamily="18" charset="0"/>
                <a:cs typeface="Times New Roman" panose="02020603050405020304" pitchFamily="18" charset="0"/>
              </a:rPr>
              <a:t>Origin_img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img</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cv2.imshow('</a:t>
            </a:r>
            <a:r>
              <a:rPr lang="en-US" altLang="zh-CN" dirty="0" err="1">
                <a:latin typeface="Times New Roman" panose="02020603050405020304" pitchFamily="18" charset="0"/>
                <a:cs typeface="Times New Roman" panose="02020603050405020304" pitchFamily="18" charset="0"/>
              </a:rPr>
              <a:t>Binary_img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th_img</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cv2.imshow('</a:t>
            </a:r>
            <a:r>
              <a:rPr lang="en-US" altLang="zh-CN" dirty="0" err="1">
                <a:latin typeface="Times New Roman" panose="02020603050405020304" pitchFamily="18" charset="0"/>
                <a:cs typeface="Times New Roman" panose="02020603050405020304" pitchFamily="18" charset="0"/>
              </a:rPr>
              <a:t>Otsu"s_img</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Otsu_img</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cv2.waitKey(0)</a:t>
            </a:r>
          </a:p>
          <a:p>
            <a:r>
              <a:rPr lang="en-US" altLang="zh-CN" dirty="0">
                <a:latin typeface="Times New Roman" panose="02020603050405020304" pitchFamily="18" charset="0"/>
                <a:cs typeface="Times New Roman" panose="02020603050405020304" pitchFamily="18" charset="0"/>
              </a:rPr>
              <a:t>cv2.destroyAllWindows()</a:t>
            </a:r>
          </a:p>
        </p:txBody>
      </p:sp>
    </p:spTree>
    <p:extLst>
      <p:ext uri="{BB962C8B-B14F-4D97-AF65-F5344CB8AC3E}">
        <p14:creationId xmlns:p14="http://schemas.microsoft.com/office/powerpoint/2010/main" val="41220904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xmlns="" id="{E724E02D-2481-4233-91C4-C4D430FC078D}"/>
              </a:ext>
            </a:extLst>
          </p:cNvPr>
          <p:cNvSpPr txBox="1"/>
          <p:nvPr/>
        </p:nvSpPr>
        <p:spPr>
          <a:xfrm>
            <a:off x="1165860" y="303027"/>
            <a:ext cx="9784080" cy="1015663"/>
          </a:xfrm>
          <a:prstGeom prst="rect">
            <a:avLst/>
          </a:prstGeom>
          <a:noFill/>
        </p:spPr>
        <p:txBody>
          <a:bodyPr wrap="square">
            <a:spAutoFit/>
          </a:bodyPr>
          <a:lstStyle/>
          <a:p>
            <a:r>
              <a:rPr lang="zh-CN" altLang="en-US" sz="2000" dirty="0"/>
              <a:t>程序运行输出如下面所示，及图像显示结果如图</a:t>
            </a:r>
            <a:r>
              <a:rPr lang="en-US" altLang="zh-CN" sz="2000" dirty="0"/>
              <a:t>11-14</a:t>
            </a:r>
            <a:r>
              <a:rPr lang="zh-CN" altLang="en-US" sz="2000" dirty="0"/>
              <a:t>所示：</a:t>
            </a:r>
            <a:r>
              <a:rPr lang="en-US" altLang="zh-CN" sz="2000" dirty="0"/>
              <a:t>(a)</a:t>
            </a:r>
            <a:r>
              <a:rPr lang="zh-CN" altLang="en-US" sz="2000" dirty="0"/>
              <a:t>图是原始图像；</a:t>
            </a:r>
            <a:r>
              <a:rPr lang="en-US" altLang="zh-CN" sz="2000" dirty="0"/>
              <a:t>(b)</a:t>
            </a:r>
            <a:r>
              <a:rPr lang="zh-CN" altLang="en-US" sz="2000" dirty="0"/>
              <a:t>图是二值化阈值处理后的图像，可以看出有大量白色区域，缺失了大量的细节信息；</a:t>
            </a:r>
            <a:r>
              <a:rPr lang="en-US" altLang="zh-CN" sz="2000" dirty="0"/>
              <a:t>(c)</a:t>
            </a:r>
            <a:r>
              <a:rPr lang="zh-CN" altLang="en-US" sz="2000" dirty="0"/>
              <a:t>图是采用</a:t>
            </a:r>
            <a:r>
              <a:rPr lang="en-US" altLang="zh-CN" sz="2000" dirty="0"/>
              <a:t>Otsu’s</a:t>
            </a:r>
            <a:r>
              <a:rPr lang="zh-CN" altLang="en-US" sz="2000" dirty="0"/>
              <a:t>阈值处理得到的图像，其处理效果比</a:t>
            </a:r>
            <a:r>
              <a:rPr lang="en-US" altLang="zh-CN" sz="2000" dirty="0"/>
              <a:t>(b)</a:t>
            </a:r>
            <a:r>
              <a:rPr lang="zh-CN" altLang="en-US" sz="2000" dirty="0"/>
              <a:t>图较好。</a:t>
            </a:r>
          </a:p>
        </p:txBody>
      </p:sp>
      <p:sp>
        <p:nvSpPr>
          <p:cNvPr id="5" name="文本框 4">
            <a:extLst>
              <a:ext uri="{FF2B5EF4-FFF2-40B4-BE49-F238E27FC236}">
                <a16:creationId xmlns:a16="http://schemas.microsoft.com/office/drawing/2014/main" xmlns="" id="{FEBD1EFE-9B0F-4B46-A5B3-6029802E6AFA}"/>
              </a:ext>
            </a:extLst>
          </p:cNvPr>
          <p:cNvSpPr txBox="1"/>
          <p:nvPr/>
        </p:nvSpPr>
        <p:spPr>
          <a:xfrm>
            <a:off x="1262849" y="1401722"/>
            <a:ext cx="6094520" cy="646331"/>
          </a:xfrm>
          <a:prstGeom prst="rect">
            <a:avLst/>
          </a:prstGeom>
          <a:noFill/>
        </p:spPr>
        <p:txBody>
          <a:bodyPr wrap="square">
            <a:spAutoFit/>
          </a:bodyPr>
          <a:lstStyle/>
          <a:p>
            <a:r>
              <a:rPr lang="zh-CN" altLang="en-US" dirty="0"/>
              <a:t>全局阈值 </a:t>
            </a:r>
            <a:r>
              <a:rPr lang="en-US" altLang="zh-CN" dirty="0"/>
              <a:t>= 50.0</a:t>
            </a:r>
          </a:p>
          <a:p>
            <a:r>
              <a:rPr lang="en-US" altLang="zh-CN" dirty="0"/>
              <a:t>BGR</a:t>
            </a:r>
            <a:r>
              <a:rPr lang="zh-CN" altLang="en-US" dirty="0"/>
              <a:t>三个通道</a:t>
            </a:r>
            <a:r>
              <a:rPr lang="en-US" altLang="zh-CN" dirty="0" err="1"/>
              <a:t>Ostu's</a:t>
            </a:r>
            <a:r>
              <a:rPr lang="zh-CN" altLang="en-US" dirty="0"/>
              <a:t>阈值 </a:t>
            </a:r>
            <a:r>
              <a:rPr lang="en-US" altLang="zh-CN" dirty="0"/>
              <a:t>= 99.0 113.0 131.0</a:t>
            </a:r>
          </a:p>
        </p:txBody>
      </p:sp>
      <p:pic>
        <p:nvPicPr>
          <p:cNvPr id="6" name="图片 5">
            <a:extLst>
              <a:ext uri="{FF2B5EF4-FFF2-40B4-BE49-F238E27FC236}">
                <a16:creationId xmlns:a16="http://schemas.microsoft.com/office/drawing/2014/main" xmlns="" id="{D9AEFBA1-EE16-4124-8B64-B301920E792E}"/>
              </a:ext>
            </a:extLst>
          </p:cNvPr>
          <p:cNvPicPr>
            <a:picLocks noChangeAspect="1"/>
          </p:cNvPicPr>
          <p:nvPr/>
        </p:nvPicPr>
        <p:blipFill>
          <a:blip r:embed="rId2"/>
          <a:stretch>
            <a:fillRect/>
          </a:stretch>
        </p:blipFill>
        <p:spPr>
          <a:xfrm>
            <a:off x="2048164" y="2234205"/>
            <a:ext cx="2477587" cy="2855692"/>
          </a:xfrm>
          <a:prstGeom prst="rect">
            <a:avLst/>
          </a:prstGeom>
        </p:spPr>
      </p:pic>
      <p:pic>
        <p:nvPicPr>
          <p:cNvPr id="7" name="图片 6">
            <a:extLst>
              <a:ext uri="{FF2B5EF4-FFF2-40B4-BE49-F238E27FC236}">
                <a16:creationId xmlns:a16="http://schemas.microsoft.com/office/drawing/2014/main" xmlns="" id="{74BCA483-3A9E-4C88-B542-C657BEBFDFF2}"/>
              </a:ext>
            </a:extLst>
          </p:cNvPr>
          <p:cNvPicPr>
            <a:picLocks noChangeAspect="1"/>
          </p:cNvPicPr>
          <p:nvPr/>
        </p:nvPicPr>
        <p:blipFill>
          <a:blip r:embed="rId3"/>
          <a:stretch>
            <a:fillRect/>
          </a:stretch>
        </p:blipFill>
        <p:spPr>
          <a:xfrm>
            <a:off x="5096086" y="2234205"/>
            <a:ext cx="2476264" cy="2855692"/>
          </a:xfrm>
          <a:prstGeom prst="rect">
            <a:avLst/>
          </a:prstGeom>
        </p:spPr>
      </p:pic>
      <p:pic>
        <p:nvPicPr>
          <p:cNvPr id="8" name="图片 7">
            <a:extLst>
              <a:ext uri="{FF2B5EF4-FFF2-40B4-BE49-F238E27FC236}">
                <a16:creationId xmlns:a16="http://schemas.microsoft.com/office/drawing/2014/main" xmlns="" id="{9461AD00-3406-4589-AA84-2CA40FCAB84F}"/>
              </a:ext>
            </a:extLst>
          </p:cNvPr>
          <p:cNvPicPr>
            <a:picLocks noChangeAspect="1"/>
          </p:cNvPicPr>
          <p:nvPr/>
        </p:nvPicPr>
        <p:blipFill>
          <a:blip r:embed="rId4"/>
          <a:stretch>
            <a:fillRect/>
          </a:stretch>
        </p:blipFill>
        <p:spPr>
          <a:xfrm>
            <a:off x="8073307" y="2181437"/>
            <a:ext cx="2476264" cy="2854168"/>
          </a:xfrm>
          <a:prstGeom prst="rect">
            <a:avLst/>
          </a:prstGeom>
        </p:spPr>
      </p:pic>
      <p:sp>
        <p:nvSpPr>
          <p:cNvPr id="10" name="文本框 9">
            <a:extLst>
              <a:ext uri="{FF2B5EF4-FFF2-40B4-BE49-F238E27FC236}">
                <a16:creationId xmlns:a16="http://schemas.microsoft.com/office/drawing/2014/main" xmlns="" id="{FBE983D2-014B-4389-A17E-E05C5093CBAA}"/>
              </a:ext>
            </a:extLst>
          </p:cNvPr>
          <p:cNvSpPr txBox="1"/>
          <p:nvPr/>
        </p:nvSpPr>
        <p:spPr>
          <a:xfrm>
            <a:off x="2492406" y="5317560"/>
            <a:ext cx="1817703" cy="369332"/>
          </a:xfrm>
          <a:prstGeom prst="rect">
            <a:avLst/>
          </a:prstGeom>
          <a:noFill/>
        </p:spPr>
        <p:txBody>
          <a:bodyPr wrap="square">
            <a:spAutoFit/>
          </a:bodyPr>
          <a:lstStyle/>
          <a:p>
            <a:r>
              <a:rPr lang="en-US" altLang="zh-CN" dirty="0"/>
              <a:t>(a)</a:t>
            </a:r>
            <a:r>
              <a:rPr lang="zh-CN" altLang="en-US" dirty="0"/>
              <a:t>原始图像 </a:t>
            </a:r>
          </a:p>
        </p:txBody>
      </p:sp>
      <p:sp>
        <p:nvSpPr>
          <p:cNvPr id="12" name="文本框 11">
            <a:extLst>
              <a:ext uri="{FF2B5EF4-FFF2-40B4-BE49-F238E27FC236}">
                <a16:creationId xmlns:a16="http://schemas.microsoft.com/office/drawing/2014/main" xmlns="" id="{B3075280-63BD-4363-AAE4-3B28B5D9A4BA}"/>
              </a:ext>
            </a:extLst>
          </p:cNvPr>
          <p:cNvSpPr txBox="1"/>
          <p:nvPr/>
        </p:nvSpPr>
        <p:spPr>
          <a:xfrm>
            <a:off x="5250951" y="5357595"/>
            <a:ext cx="2321399" cy="369332"/>
          </a:xfrm>
          <a:prstGeom prst="rect">
            <a:avLst/>
          </a:prstGeom>
          <a:noFill/>
        </p:spPr>
        <p:txBody>
          <a:bodyPr wrap="square">
            <a:spAutoFit/>
          </a:bodyPr>
          <a:lstStyle/>
          <a:p>
            <a:r>
              <a:rPr lang="en-US" altLang="zh-CN" sz="1800" dirty="0">
                <a:effectLst/>
                <a:latin typeface="Times New Roman" panose="02020603050405020304" pitchFamily="18" charset="0"/>
                <a:ea typeface="宋体" panose="02010600030101010101" pitchFamily="2" charset="-122"/>
              </a:rPr>
              <a:t> (b)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二值化阈值图像</a:t>
            </a:r>
            <a:endParaRPr lang="zh-CN" altLang="en-US" dirty="0"/>
          </a:p>
        </p:txBody>
      </p:sp>
      <p:sp>
        <p:nvSpPr>
          <p:cNvPr id="14" name="文本框 13">
            <a:extLst>
              <a:ext uri="{FF2B5EF4-FFF2-40B4-BE49-F238E27FC236}">
                <a16:creationId xmlns:a16="http://schemas.microsoft.com/office/drawing/2014/main" xmlns="" id="{A4577FB3-DC8E-486D-99CB-D16C9B98475E}"/>
              </a:ext>
            </a:extLst>
          </p:cNvPr>
          <p:cNvSpPr txBox="1"/>
          <p:nvPr/>
        </p:nvSpPr>
        <p:spPr>
          <a:xfrm>
            <a:off x="8073307" y="5340571"/>
            <a:ext cx="2682040" cy="369332"/>
          </a:xfrm>
          <a:prstGeom prst="rect">
            <a:avLst/>
          </a:prstGeom>
          <a:noFill/>
        </p:spPr>
        <p:txBody>
          <a:bodyPr wrap="square">
            <a:spAutoFit/>
          </a:bodyPr>
          <a:lstStyle/>
          <a:p>
            <a:r>
              <a:rPr lang="en-US" altLang="zh-CN" dirty="0"/>
              <a:t>(c) Otsu</a:t>
            </a:r>
            <a:r>
              <a:rPr lang="zh-CN" altLang="en-US" dirty="0"/>
              <a:t>阈值处理图像</a:t>
            </a:r>
          </a:p>
        </p:txBody>
      </p:sp>
      <p:sp>
        <p:nvSpPr>
          <p:cNvPr id="16" name="文本框 15">
            <a:extLst>
              <a:ext uri="{FF2B5EF4-FFF2-40B4-BE49-F238E27FC236}">
                <a16:creationId xmlns:a16="http://schemas.microsoft.com/office/drawing/2014/main" xmlns="" id="{67A8E692-EB49-4C3C-B43B-A000E5133F1C}"/>
              </a:ext>
            </a:extLst>
          </p:cNvPr>
          <p:cNvSpPr txBox="1"/>
          <p:nvPr/>
        </p:nvSpPr>
        <p:spPr>
          <a:xfrm>
            <a:off x="3852576" y="5769924"/>
            <a:ext cx="6094520" cy="369332"/>
          </a:xfrm>
          <a:prstGeom prst="rect">
            <a:avLst/>
          </a:prstGeom>
          <a:noFill/>
        </p:spPr>
        <p:txBody>
          <a:bodyPr wrap="square">
            <a:spAutoFit/>
          </a:bodyPr>
          <a:lstStyle/>
          <a:p>
            <a:r>
              <a:rPr lang="zh-CN" altLang="en-US" dirty="0"/>
              <a:t>图</a:t>
            </a:r>
            <a:r>
              <a:rPr lang="en-US" altLang="zh-CN" dirty="0"/>
              <a:t>11-14 Otsu’s</a:t>
            </a:r>
            <a:r>
              <a:rPr lang="zh-CN" altLang="en-US" dirty="0"/>
              <a:t>方法实现彩色图像的阈值分割</a:t>
            </a:r>
          </a:p>
        </p:txBody>
      </p:sp>
    </p:spTree>
    <p:extLst>
      <p:ext uri="{BB962C8B-B14F-4D97-AF65-F5344CB8AC3E}">
        <p14:creationId xmlns:p14="http://schemas.microsoft.com/office/powerpoint/2010/main" val="21060419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3775" y="945089"/>
            <a:ext cx="2799809" cy="603793"/>
          </a:xfrm>
        </p:spPr>
        <p:txBody>
          <a:bodyPr/>
          <a:lstStyle/>
          <a:p>
            <a:r>
              <a:rPr lang="en-US" altLang="zh-CN" dirty="0" smtClean="0">
                <a:solidFill>
                  <a:srgbClr val="C00000"/>
                </a:solidFill>
              </a:rPr>
              <a:t>11.5 </a:t>
            </a:r>
            <a:r>
              <a:rPr lang="zh-CN" altLang="en-US" dirty="0" smtClean="0">
                <a:solidFill>
                  <a:srgbClr val="C00000"/>
                </a:solidFill>
              </a:rPr>
              <a:t>习题：</a:t>
            </a:r>
            <a:endParaRPr lang="zh-CN" altLang="en-US" dirty="0">
              <a:solidFill>
                <a:srgbClr val="C00000"/>
              </a:solidFill>
            </a:endParaRPr>
          </a:p>
        </p:txBody>
      </p:sp>
      <p:sp>
        <p:nvSpPr>
          <p:cNvPr id="3" name="内容占位符 2"/>
          <p:cNvSpPr>
            <a:spLocks noGrp="1"/>
          </p:cNvSpPr>
          <p:nvPr>
            <p:ph sz="quarter" idx="13"/>
          </p:nvPr>
        </p:nvSpPr>
        <p:spPr>
          <a:xfrm>
            <a:off x="914399" y="1769933"/>
            <a:ext cx="10683551" cy="4481577"/>
          </a:xfrm>
        </p:spPr>
        <p:txBody>
          <a:bodyPr>
            <a:normAutofit/>
          </a:bodyPr>
          <a:lstStyle/>
          <a:p>
            <a:pPr marL="0" indent="0">
              <a:buNone/>
            </a:pPr>
            <a:r>
              <a:rPr lang="en-US" altLang="zh-CN" sz="2400" dirty="0">
                <a:solidFill>
                  <a:srgbClr val="0033CC"/>
                </a:solidFill>
                <a:latin typeface="Times New Roman" panose="02020603050405020304" pitchFamily="18" charset="0"/>
                <a:cs typeface="Times New Roman" panose="02020603050405020304" pitchFamily="18" charset="0"/>
              </a:rPr>
              <a:t>1.</a:t>
            </a:r>
            <a:r>
              <a:rPr lang="zh-CN" altLang="zh-CN" sz="2400" dirty="0">
                <a:solidFill>
                  <a:srgbClr val="0033CC"/>
                </a:solidFill>
                <a:latin typeface="Times New Roman" panose="02020603050405020304" pitchFamily="18" charset="0"/>
                <a:cs typeface="Times New Roman" panose="02020603050405020304" pitchFamily="18" charset="0"/>
              </a:rPr>
              <a:t>编写程序，实现一幅图像的</a:t>
            </a:r>
            <a:r>
              <a:rPr lang="en-US" altLang="zh-CN" sz="2400" dirty="0">
                <a:solidFill>
                  <a:srgbClr val="0033CC"/>
                </a:solidFill>
                <a:latin typeface="Times New Roman" panose="02020603050405020304" pitchFamily="18" charset="0"/>
                <a:cs typeface="Times New Roman" panose="02020603050405020304" pitchFamily="18" charset="0"/>
              </a:rPr>
              <a:t>RGB</a:t>
            </a:r>
            <a:r>
              <a:rPr lang="zh-CN" altLang="zh-CN" sz="2400" dirty="0">
                <a:solidFill>
                  <a:srgbClr val="0033CC"/>
                </a:solidFill>
                <a:latin typeface="Times New Roman" panose="02020603050405020304" pitchFamily="18" charset="0"/>
                <a:cs typeface="Times New Roman" panose="02020603050405020304" pitchFamily="18" charset="0"/>
              </a:rPr>
              <a:t>色彩空间向</a:t>
            </a:r>
            <a:r>
              <a:rPr lang="en-US" altLang="zh-CN" sz="2400" dirty="0">
                <a:solidFill>
                  <a:srgbClr val="0033CC"/>
                </a:solidFill>
                <a:latin typeface="Times New Roman" panose="02020603050405020304" pitchFamily="18" charset="0"/>
                <a:cs typeface="Times New Roman" panose="02020603050405020304" pitchFamily="18" charset="0"/>
              </a:rPr>
              <a:t>GRAY</a:t>
            </a:r>
            <a:r>
              <a:rPr lang="zh-CN" altLang="zh-CN" sz="2400" dirty="0">
                <a:solidFill>
                  <a:srgbClr val="0033CC"/>
                </a:solidFill>
                <a:latin typeface="Times New Roman" panose="02020603050405020304" pitchFamily="18" charset="0"/>
                <a:cs typeface="Times New Roman" panose="02020603050405020304" pitchFamily="18" charset="0"/>
              </a:rPr>
              <a:t>色彩空间、</a:t>
            </a:r>
            <a:r>
              <a:rPr lang="en-US" altLang="zh-CN" sz="2400" dirty="0">
                <a:solidFill>
                  <a:srgbClr val="0033CC"/>
                </a:solidFill>
                <a:latin typeface="Times New Roman" panose="02020603050405020304" pitchFamily="18" charset="0"/>
                <a:cs typeface="Times New Roman" panose="02020603050405020304" pitchFamily="18" charset="0"/>
              </a:rPr>
              <a:t>HSV</a:t>
            </a:r>
            <a:r>
              <a:rPr lang="zh-CN" altLang="zh-CN" sz="2400" dirty="0">
                <a:solidFill>
                  <a:srgbClr val="0033CC"/>
                </a:solidFill>
                <a:latin typeface="Times New Roman" panose="02020603050405020304" pitchFamily="18" charset="0"/>
                <a:cs typeface="Times New Roman" panose="02020603050405020304" pitchFamily="18" charset="0"/>
              </a:rPr>
              <a:t>色彩空间、</a:t>
            </a:r>
            <a:r>
              <a:rPr lang="en-US" altLang="zh-CN" sz="2400" dirty="0" err="1" smtClean="0">
                <a:solidFill>
                  <a:srgbClr val="0033CC"/>
                </a:solidFill>
                <a:latin typeface="Times New Roman" panose="02020603050405020304" pitchFamily="18" charset="0"/>
                <a:cs typeface="Times New Roman" panose="02020603050405020304" pitchFamily="18" charset="0"/>
              </a:rPr>
              <a:t>YCrCb</a:t>
            </a:r>
            <a:r>
              <a:rPr lang="zh-CN" altLang="zh-CN" sz="2400" dirty="0" smtClean="0">
                <a:solidFill>
                  <a:srgbClr val="0033CC"/>
                </a:solidFill>
                <a:latin typeface="Times New Roman" panose="02020603050405020304" pitchFamily="18" charset="0"/>
                <a:cs typeface="Times New Roman" panose="02020603050405020304" pitchFamily="18" charset="0"/>
              </a:rPr>
              <a:t>色彩</a:t>
            </a:r>
            <a:r>
              <a:rPr lang="zh-CN" altLang="zh-CN" sz="2400" dirty="0">
                <a:solidFill>
                  <a:srgbClr val="0033CC"/>
                </a:solidFill>
                <a:latin typeface="Times New Roman" panose="02020603050405020304" pitchFamily="18" charset="0"/>
                <a:cs typeface="Times New Roman" panose="02020603050405020304" pitchFamily="18" charset="0"/>
              </a:rPr>
              <a:t>空间的转换</a:t>
            </a:r>
            <a:r>
              <a:rPr lang="zh-CN" altLang="zh-CN" sz="2400" dirty="0" smtClean="0">
                <a:solidFill>
                  <a:srgbClr val="0033CC"/>
                </a:solidFill>
                <a:latin typeface="Times New Roman" panose="02020603050405020304" pitchFamily="18" charset="0"/>
                <a:cs typeface="Times New Roman" panose="02020603050405020304" pitchFamily="18" charset="0"/>
              </a:rPr>
              <a:t>。</a:t>
            </a:r>
            <a:endParaRPr lang="zh-CN" altLang="zh-CN" sz="2400" dirty="0">
              <a:solidFill>
                <a:srgbClr val="0033CC"/>
              </a:solidFill>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2.</a:t>
            </a:r>
            <a:r>
              <a:rPr lang="zh-CN" altLang="zh-CN" sz="2400" dirty="0">
                <a:latin typeface="Times New Roman" panose="02020603050405020304" pitchFamily="18" charset="0"/>
                <a:cs typeface="Times New Roman" panose="02020603050405020304" pitchFamily="18" charset="0"/>
              </a:rPr>
              <a:t>编写程序，实现彩色直方图均衡化，并观察效果。</a:t>
            </a:r>
          </a:p>
          <a:p>
            <a:pPr marL="0" indent="0">
              <a:buNone/>
            </a:pPr>
            <a:r>
              <a:rPr lang="en-US" altLang="zh-CN" sz="2400" dirty="0">
                <a:solidFill>
                  <a:srgbClr val="0033CC"/>
                </a:solidFill>
                <a:latin typeface="Times New Roman" panose="02020603050405020304" pitchFamily="18" charset="0"/>
                <a:cs typeface="Times New Roman" panose="02020603050405020304" pitchFamily="18" charset="0"/>
              </a:rPr>
              <a:t>3.</a:t>
            </a:r>
            <a:r>
              <a:rPr lang="zh-CN" altLang="zh-CN" sz="2400" dirty="0">
                <a:solidFill>
                  <a:srgbClr val="0033CC"/>
                </a:solidFill>
                <a:latin typeface="Times New Roman" panose="02020603050405020304" pitchFamily="18" charset="0"/>
                <a:cs typeface="Times New Roman" panose="02020603050405020304" pitchFamily="18" charset="0"/>
              </a:rPr>
              <a:t>编写程序，实现对一幅彩色图像的平滑和锐化处理，观察处理结果。</a:t>
            </a:r>
          </a:p>
          <a:p>
            <a:pPr marL="0" indent="0">
              <a:buNone/>
            </a:pPr>
            <a:r>
              <a:rPr lang="en-US" altLang="zh-CN" sz="2400" dirty="0">
                <a:latin typeface="Times New Roman" panose="02020603050405020304" pitchFamily="18" charset="0"/>
                <a:cs typeface="Times New Roman" panose="02020603050405020304" pitchFamily="18" charset="0"/>
              </a:rPr>
              <a:t>4.</a:t>
            </a:r>
            <a:r>
              <a:rPr lang="zh-CN" altLang="zh-CN" sz="2400" dirty="0">
                <a:latin typeface="Times New Roman" panose="02020603050405020304" pitchFamily="18" charset="0"/>
                <a:cs typeface="Times New Roman" panose="02020603050405020304" pitchFamily="18" charset="0"/>
              </a:rPr>
              <a:t>编写程序，分别使用全局阈值、自适应阈值和</a:t>
            </a:r>
            <a:r>
              <a:rPr lang="en-US" altLang="zh-CN" sz="2400" dirty="0">
                <a:latin typeface="Times New Roman" panose="02020603050405020304" pitchFamily="18" charset="0"/>
                <a:cs typeface="Times New Roman" panose="02020603050405020304" pitchFamily="18" charset="0"/>
              </a:rPr>
              <a:t>Otsu’s</a:t>
            </a:r>
            <a:r>
              <a:rPr lang="zh-CN" altLang="zh-CN" sz="2400" dirty="0">
                <a:latin typeface="Times New Roman" panose="02020603050405020304" pitchFamily="18" charset="0"/>
                <a:cs typeface="Times New Roman" panose="02020603050405020304" pitchFamily="18" charset="0"/>
              </a:rPr>
              <a:t>阈值处理一幅彩色图像，分析三种阈值处理图像的区别和应用。</a:t>
            </a:r>
          </a:p>
          <a:p>
            <a:pPr marL="0" indent="0">
              <a:buNone/>
            </a:pPr>
            <a:r>
              <a:rPr lang="en-US" altLang="zh-CN" sz="2400" dirty="0">
                <a:solidFill>
                  <a:srgbClr val="0033CC"/>
                </a:solidFill>
                <a:latin typeface="Times New Roman" panose="02020603050405020304" pitchFamily="18" charset="0"/>
                <a:cs typeface="Times New Roman" panose="02020603050405020304" pitchFamily="18" charset="0"/>
              </a:rPr>
              <a:t>5.</a:t>
            </a:r>
            <a:r>
              <a:rPr lang="zh-CN" altLang="zh-CN" sz="2400" dirty="0">
                <a:solidFill>
                  <a:srgbClr val="0033CC"/>
                </a:solidFill>
                <a:latin typeface="Times New Roman" panose="02020603050405020304" pitchFamily="18" charset="0"/>
                <a:cs typeface="Times New Roman" panose="02020603050405020304" pitchFamily="18" charset="0"/>
              </a:rPr>
              <a:t>编写程序，实现一副彩色图像的分离与合并，细致观察处理前后有无区别。</a:t>
            </a:r>
          </a:p>
          <a:p>
            <a:endParaRPr lang="zh-CN" altLang="en-US" dirty="0"/>
          </a:p>
        </p:txBody>
      </p:sp>
    </p:spTree>
    <p:extLst>
      <p:ext uri="{BB962C8B-B14F-4D97-AF65-F5344CB8AC3E}">
        <p14:creationId xmlns:p14="http://schemas.microsoft.com/office/powerpoint/2010/main" val="3422944173"/>
      </p:ext>
    </p:extLst>
  </p:cSld>
  <p:clrMapOvr>
    <a:masterClrMapping/>
  </p:clrMapOvr>
</p:sld>
</file>

<file path=ppt/theme/theme1.xml><?xml version="1.0" encoding="utf-8"?>
<a:theme xmlns:a="http://schemas.openxmlformats.org/drawingml/2006/main" name="水滴">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TM04033925[[fn=水滴]]</Template>
  <TotalTime>532</TotalTime>
  <Words>6251</Words>
  <Application>Microsoft Office PowerPoint</Application>
  <PresentationFormat>宽屏</PresentationFormat>
  <Paragraphs>530</Paragraphs>
  <Slides>54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54</vt:i4>
      </vt:variant>
    </vt:vector>
  </HeadingPairs>
  <TitlesOfParts>
    <vt:vector size="61" baseType="lpstr">
      <vt:lpstr>等线</vt:lpstr>
      <vt:lpstr>宋体</vt:lpstr>
      <vt:lpstr>Arial</vt:lpstr>
      <vt:lpstr>Cambria Math</vt:lpstr>
      <vt:lpstr>Times New Roman</vt:lpstr>
      <vt:lpstr>Tw Cen MT</vt:lpstr>
      <vt:lpstr>水滴</vt:lpstr>
      <vt:lpstr>第11章</vt:lpstr>
      <vt:lpstr>PowerPoint 演示文稿</vt:lpstr>
      <vt:lpstr>11.1 彩色模型</vt:lpstr>
      <vt:lpstr>11.1.1 RGB彩色模型</vt:lpstr>
      <vt:lpstr>PowerPoint 演示文稿</vt:lpstr>
      <vt:lpstr>11.1.2 CMY和CMYK彩色模型</vt:lpstr>
      <vt:lpstr>PowerPoint 演示文稿</vt:lpstr>
      <vt:lpstr>11.1.3 HSI彩色模型</vt:lpstr>
      <vt:lpstr>PowerPoint 演示文稿</vt:lpstr>
      <vt:lpstr>PowerPoint 演示文稿</vt:lpstr>
      <vt:lpstr>11.1.4  YIQ（NTSC）彩色模型</vt:lpstr>
      <vt:lpstr>PowerPoint 演示文稿</vt:lpstr>
      <vt:lpstr>11.2  色彩空间的转换</vt:lpstr>
      <vt:lpstr>11.2.1 色彩空间类型转换函数</vt:lpstr>
      <vt:lpstr>11.2.2 RGB色彩空间</vt:lpstr>
      <vt:lpstr>【例11.1】BGR色彩空间转换为RGB色彩空间,程序代码如下：</vt:lpstr>
      <vt:lpstr>11.2.3  GRAY色彩空间</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在OpenCV中: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11.5 习题：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第11章</dc:title>
  <dc:creator>董 苗</dc:creator>
  <cp:lastModifiedBy>葛广英</cp:lastModifiedBy>
  <cp:revision>67</cp:revision>
  <dcterms:created xsi:type="dcterms:W3CDTF">2021-11-23T01:32:45Z</dcterms:created>
  <dcterms:modified xsi:type="dcterms:W3CDTF">2021-12-15T00:45:31Z</dcterms:modified>
</cp:coreProperties>
</file>