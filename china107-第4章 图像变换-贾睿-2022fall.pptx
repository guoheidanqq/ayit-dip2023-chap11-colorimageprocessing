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0.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1.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2.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3.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14.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5.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6.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7.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theme/theme18.xml" ContentType="application/vnd.openxmlformats-officedocument.theme+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theme/theme19.xml" ContentType="application/vnd.openxmlformats-officedocument.theme+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20.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21.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22.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3.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2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25.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26.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theme/theme27.xml" ContentType="application/vnd.openxmlformats-officedocument.theme+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28.xml" ContentType="application/vnd.openxmlformats-officedocument.theme+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theme/theme29.xml" ContentType="application/vnd.openxmlformats-officedocument.theme+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theme/theme30.xml" ContentType="application/vnd.openxmlformats-officedocument.theme+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theme/theme31.xml" ContentType="application/vnd.openxmlformats-officedocument.theme+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theme/theme32.xml" ContentType="application/vnd.openxmlformats-officedocument.theme+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theme/theme33.xml" ContentType="application/vnd.openxmlformats-officedocument.theme+xml"/>
  <Override PartName="/ppt/theme/theme3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Lst>
  <p:notesMasterIdLst>
    <p:notesMasterId r:id="rId86"/>
  </p:notesMasterIdLst>
  <p:sldIdLst>
    <p:sldId id="1938" r:id="rId34"/>
    <p:sldId id="1939" r:id="rId35"/>
    <p:sldId id="1940" r:id="rId36"/>
    <p:sldId id="1941" r:id="rId37"/>
    <p:sldId id="1942" r:id="rId38"/>
    <p:sldId id="1943" r:id="rId39"/>
    <p:sldId id="1944" r:id="rId40"/>
    <p:sldId id="1945" r:id="rId41"/>
    <p:sldId id="1946" r:id="rId42"/>
    <p:sldId id="1947" r:id="rId43"/>
    <p:sldId id="1948" r:id="rId44"/>
    <p:sldId id="1949" r:id="rId45"/>
    <p:sldId id="1950" r:id="rId46"/>
    <p:sldId id="1951" r:id="rId47"/>
    <p:sldId id="1952" r:id="rId48"/>
    <p:sldId id="1953" r:id="rId49"/>
    <p:sldId id="1954" r:id="rId50"/>
    <p:sldId id="1955" r:id="rId51"/>
    <p:sldId id="1956" r:id="rId52"/>
    <p:sldId id="1957" r:id="rId53"/>
    <p:sldId id="1958" r:id="rId54"/>
    <p:sldId id="1959" r:id="rId55"/>
    <p:sldId id="1960" r:id="rId56"/>
    <p:sldId id="1961" r:id="rId57"/>
    <p:sldId id="1962" r:id="rId58"/>
    <p:sldId id="1963" r:id="rId59"/>
    <p:sldId id="1965" r:id="rId60"/>
    <p:sldId id="1964" r:id="rId61"/>
    <p:sldId id="1967" r:id="rId62"/>
    <p:sldId id="1968" r:id="rId63"/>
    <p:sldId id="1969" r:id="rId64"/>
    <p:sldId id="1970" r:id="rId65"/>
    <p:sldId id="1971" r:id="rId66"/>
    <p:sldId id="1972" r:id="rId67"/>
    <p:sldId id="1975" r:id="rId68"/>
    <p:sldId id="1974" r:id="rId69"/>
    <p:sldId id="1976" r:id="rId70"/>
    <p:sldId id="1978" r:id="rId71"/>
    <p:sldId id="1979" r:id="rId72"/>
    <p:sldId id="1980" r:id="rId73"/>
    <p:sldId id="1988" r:id="rId74"/>
    <p:sldId id="1982" r:id="rId75"/>
    <p:sldId id="1983" r:id="rId76"/>
    <p:sldId id="1984" r:id="rId77"/>
    <p:sldId id="1985" r:id="rId78"/>
    <p:sldId id="1986" r:id="rId79"/>
    <p:sldId id="1987" r:id="rId80"/>
    <p:sldId id="1989" r:id="rId81"/>
    <p:sldId id="1990" r:id="rId82"/>
    <p:sldId id="1991" r:id="rId83"/>
    <p:sldId id="1992" r:id="rId84"/>
    <p:sldId id="1993" r:id="rId8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6" autoAdjust="0"/>
    <p:restoredTop sz="94660"/>
  </p:normalViewPr>
  <p:slideViewPr>
    <p:cSldViewPr snapToGrid="0">
      <p:cViewPr varScale="1">
        <p:scale>
          <a:sx n="98" d="100"/>
          <a:sy n="98" d="100"/>
        </p:scale>
        <p:origin x="102"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9.xml"/><Relationship Id="rId47" Type="http://schemas.openxmlformats.org/officeDocument/2006/relationships/slide" Target="slides/slide14.xml"/><Relationship Id="rId63" Type="http://schemas.openxmlformats.org/officeDocument/2006/relationships/slide" Target="slides/slide30.xml"/><Relationship Id="rId68" Type="http://schemas.openxmlformats.org/officeDocument/2006/relationships/slide" Target="slides/slide35.xml"/><Relationship Id="rId84" Type="http://schemas.openxmlformats.org/officeDocument/2006/relationships/slide" Target="slides/slide51.xml"/><Relationship Id="rId89" Type="http://schemas.openxmlformats.org/officeDocument/2006/relationships/theme" Target="theme/theme1.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 Target="slides/slide4.xml"/><Relationship Id="rId53" Type="http://schemas.openxmlformats.org/officeDocument/2006/relationships/slide" Target="slides/slide20.xml"/><Relationship Id="rId58" Type="http://schemas.openxmlformats.org/officeDocument/2006/relationships/slide" Target="slides/slide25.xml"/><Relationship Id="rId74" Type="http://schemas.openxmlformats.org/officeDocument/2006/relationships/slide" Target="slides/slide41.xml"/><Relationship Id="rId79" Type="http://schemas.openxmlformats.org/officeDocument/2006/relationships/slide" Target="slides/slide46.xml"/><Relationship Id="rId5" Type="http://schemas.openxmlformats.org/officeDocument/2006/relationships/slideMaster" Target="slideMasters/slideMaster5.xml"/><Relationship Id="rId90" Type="http://schemas.openxmlformats.org/officeDocument/2006/relationships/tableStyles" Target="tableStyles.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2.xml"/><Relationship Id="rId43" Type="http://schemas.openxmlformats.org/officeDocument/2006/relationships/slide" Target="slides/slide10.xml"/><Relationship Id="rId48" Type="http://schemas.openxmlformats.org/officeDocument/2006/relationships/slide" Target="slides/slide15.xml"/><Relationship Id="rId56" Type="http://schemas.openxmlformats.org/officeDocument/2006/relationships/slide" Target="slides/slide23.xml"/><Relationship Id="rId64" Type="http://schemas.openxmlformats.org/officeDocument/2006/relationships/slide" Target="slides/slide31.xml"/><Relationship Id="rId69" Type="http://schemas.openxmlformats.org/officeDocument/2006/relationships/slide" Target="slides/slide36.xml"/><Relationship Id="rId77" Type="http://schemas.openxmlformats.org/officeDocument/2006/relationships/slide" Target="slides/slide44.xml"/><Relationship Id="rId8" Type="http://schemas.openxmlformats.org/officeDocument/2006/relationships/slideMaster" Target="slideMasters/slideMaster8.xml"/><Relationship Id="rId51" Type="http://schemas.openxmlformats.org/officeDocument/2006/relationships/slide" Target="slides/slide18.xml"/><Relationship Id="rId72" Type="http://schemas.openxmlformats.org/officeDocument/2006/relationships/slide" Target="slides/slide39.xml"/><Relationship Id="rId80" Type="http://schemas.openxmlformats.org/officeDocument/2006/relationships/slide" Target="slides/slide47.xml"/><Relationship Id="rId85" Type="http://schemas.openxmlformats.org/officeDocument/2006/relationships/slide" Target="slides/slide52.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 Target="slides/slide5.xml"/><Relationship Id="rId46" Type="http://schemas.openxmlformats.org/officeDocument/2006/relationships/slide" Target="slides/slide13.xml"/><Relationship Id="rId59" Type="http://schemas.openxmlformats.org/officeDocument/2006/relationships/slide" Target="slides/slide26.xml"/><Relationship Id="rId67" Type="http://schemas.openxmlformats.org/officeDocument/2006/relationships/slide" Target="slides/slide34.xml"/><Relationship Id="rId20" Type="http://schemas.openxmlformats.org/officeDocument/2006/relationships/slideMaster" Target="slideMasters/slideMaster20.xml"/><Relationship Id="rId41" Type="http://schemas.openxmlformats.org/officeDocument/2006/relationships/slide" Target="slides/slide8.xml"/><Relationship Id="rId54" Type="http://schemas.openxmlformats.org/officeDocument/2006/relationships/slide" Target="slides/slide21.xml"/><Relationship Id="rId62" Type="http://schemas.openxmlformats.org/officeDocument/2006/relationships/slide" Target="slides/slide29.xml"/><Relationship Id="rId70" Type="http://schemas.openxmlformats.org/officeDocument/2006/relationships/slide" Target="slides/slide37.xml"/><Relationship Id="rId75" Type="http://schemas.openxmlformats.org/officeDocument/2006/relationships/slide" Target="slides/slide42.xml"/><Relationship Id="rId83" Type="http://schemas.openxmlformats.org/officeDocument/2006/relationships/slide" Target="slides/slide50.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3.xml"/><Relationship Id="rId49" Type="http://schemas.openxmlformats.org/officeDocument/2006/relationships/slide" Target="slides/slide16.xml"/><Relationship Id="rId57" Type="http://schemas.openxmlformats.org/officeDocument/2006/relationships/slide" Target="slides/slide24.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11.xml"/><Relationship Id="rId52" Type="http://schemas.openxmlformats.org/officeDocument/2006/relationships/slide" Target="slides/slide19.xml"/><Relationship Id="rId60" Type="http://schemas.openxmlformats.org/officeDocument/2006/relationships/slide" Target="slides/slide27.xml"/><Relationship Id="rId65" Type="http://schemas.openxmlformats.org/officeDocument/2006/relationships/slide" Target="slides/slide32.xml"/><Relationship Id="rId73" Type="http://schemas.openxmlformats.org/officeDocument/2006/relationships/slide" Target="slides/slide40.xml"/><Relationship Id="rId78" Type="http://schemas.openxmlformats.org/officeDocument/2006/relationships/slide" Target="slides/slide45.xml"/><Relationship Id="rId81" Type="http://schemas.openxmlformats.org/officeDocument/2006/relationships/slide" Target="slides/slide48.xml"/><Relationship Id="rId86"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6.xml"/><Relationship Id="rId34" Type="http://schemas.openxmlformats.org/officeDocument/2006/relationships/slide" Target="slides/slide1.xml"/><Relationship Id="rId50" Type="http://schemas.openxmlformats.org/officeDocument/2006/relationships/slide" Target="slides/slide17.xml"/><Relationship Id="rId55" Type="http://schemas.openxmlformats.org/officeDocument/2006/relationships/slide" Target="slides/slide22.xml"/><Relationship Id="rId76" Type="http://schemas.openxmlformats.org/officeDocument/2006/relationships/slide" Target="slides/slide43.xml"/><Relationship Id="rId7" Type="http://schemas.openxmlformats.org/officeDocument/2006/relationships/slideMaster" Target="slideMasters/slideMaster7.xml"/><Relationship Id="rId71" Type="http://schemas.openxmlformats.org/officeDocument/2006/relationships/slide" Target="slides/slide38.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 Target="slides/slide7.xml"/><Relationship Id="rId45" Type="http://schemas.openxmlformats.org/officeDocument/2006/relationships/slide" Target="slides/slide12.xml"/><Relationship Id="rId66" Type="http://schemas.openxmlformats.org/officeDocument/2006/relationships/slide" Target="slides/slide33.xml"/><Relationship Id="rId87" Type="http://schemas.openxmlformats.org/officeDocument/2006/relationships/presProps" Target="presProps.xml"/><Relationship Id="rId61" Type="http://schemas.openxmlformats.org/officeDocument/2006/relationships/slide" Target="slides/slide28.xml"/><Relationship Id="rId82" Type="http://schemas.openxmlformats.org/officeDocument/2006/relationships/slide" Target="slides/slide49.xml"/><Relationship Id="rId19" Type="http://schemas.openxmlformats.org/officeDocument/2006/relationships/slideMaster" Target="slideMasters/slideMaster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355CCE-3792-453B-8072-D122BC62C429}" type="datetimeFigureOut">
              <a:rPr lang="zh-CN" altLang="en-US" smtClean="0"/>
              <a:t>2023/10/7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0A73F0-EE3A-416C-A5C7-7CC29E1173B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8F99F9-2769-4C52-8EE2-7278119F0A16}" type="slidenum">
              <a:rPr kumimoji="0" lang="en-US" altLang="zh-CN" sz="1200" b="0" i="0" u="none" strike="noStrike" kern="1200" cap="none" spc="0" normalizeH="0" baseline="0" noProof="0" smtClean="0">
                <a:ln>
                  <a:noFill/>
                </a:ln>
                <a:solidFill>
                  <a:prstClr val="black"/>
                </a:solidFill>
                <a:effectLst/>
                <a:uLnTx/>
                <a:uFillTx/>
                <a:latin typeface="Microsoft YaHei UI" panose="020B0503020204020204" pitchFamily="34" charset="-122"/>
                <a:ea typeface="Microsoft YaHei UI" panose="020B0503020204020204" pitchFamily="34" charset="-122"/>
                <a:cs typeface="+mn-cs"/>
              </a:rPr>
              <a:t>1</a:t>
            </a:fld>
            <a:endParaRPr kumimoji="0" lang="zh-CN" altLang="en-US" sz="1200" b="0" i="0" u="none" strike="noStrike" kern="1200" cap="none" spc="0" normalizeH="0" baseline="0" noProof="0" dirty="0">
              <a:ln>
                <a:noFill/>
              </a:ln>
              <a:solidFill>
                <a:prstClr val="black"/>
              </a:solidFill>
              <a:effectLst/>
              <a:uLnTx/>
              <a:uFillTx/>
              <a:latin typeface="Microsoft YaHei UI" panose="020B0503020204020204" pitchFamily="34" charset="-122"/>
              <a:ea typeface="Microsoft YaHei UI" panose="020B0503020204020204"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8F99F9-2769-4C52-8EE2-7278119F0A16}" type="slidenum">
              <a:rPr kumimoji="0" lang="en-US" altLang="zh-CN" sz="1200" b="0" i="0" u="none" strike="noStrike" kern="1200" cap="none" spc="0" normalizeH="0" baseline="0" noProof="0" smtClean="0">
                <a:ln>
                  <a:noFill/>
                </a:ln>
                <a:solidFill>
                  <a:prstClr val="black"/>
                </a:solidFill>
                <a:effectLst/>
                <a:uLnTx/>
                <a:uFillTx/>
                <a:latin typeface="Microsoft YaHei UI" panose="020B0503020204020204" pitchFamily="34" charset="-122"/>
                <a:ea typeface="Microsoft YaHei UI" panose="020B0503020204020204" pitchFamily="34" charset="-122"/>
                <a:cs typeface="+mn-cs"/>
              </a:rPr>
              <a:t>2</a:t>
            </a:fld>
            <a:endParaRPr kumimoji="0" lang="zh-CN" altLang="en-US" sz="1200" b="0" i="0" u="none" strike="noStrike" kern="1200" cap="none" spc="0" normalizeH="0" baseline="0" noProof="0" dirty="0">
              <a:ln>
                <a:noFill/>
              </a:ln>
              <a:solidFill>
                <a:prstClr val="black"/>
              </a:solidFill>
              <a:effectLst/>
              <a:uLnTx/>
              <a:uFillTx/>
              <a:latin typeface="Microsoft YaHei UI" panose="020B0503020204020204" pitchFamily="34" charset="-122"/>
              <a:ea typeface="Microsoft YaHei UI" panose="020B0503020204020204" pitchFamily="34"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8F99F9-2769-4C52-8EE2-7278119F0A16}" type="slidenum">
              <a:rPr kumimoji="0" lang="en-US" altLang="zh-CN" sz="1200" b="0" i="0" u="none" strike="noStrike" kern="1200" cap="none" spc="0" normalizeH="0" baseline="0" noProof="0" smtClean="0">
                <a:ln>
                  <a:noFill/>
                </a:ln>
                <a:solidFill>
                  <a:prstClr val="black"/>
                </a:solidFill>
                <a:effectLst/>
                <a:uLnTx/>
                <a:uFillTx/>
                <a:latin typeface="Microsoft YaHei UI" panose="020B0503020204020204" pitchFamily="34" charset="-122"/>
                <a:ea typeface="Microsoft YaHei UI" panose="020B0503020204020204" pitchFamily="34" charset="-122"/>
                <a:cs typeface="+mn-cs"/>
              </a:rPr>
              <a:t>3</a:t>
            </a:fld>
            <a:endParaRPr kumimoji="0" lang="zh-CN" altLang="en-US" sz="1200" b="0" i="0" u="none" strike="noStrike" kern="1200" cap="none" spc="0" normalizeH="0" baseline="0" noProof="0" dirty="0">
              <a:ln>
                <a:noFill/>
              </a:ln>
              <a:solidFill>
                <a:prstClr val="black"/>
              </a:solidFill>
              <a:effectLst/>
              <a:uLnTx/>
              <a:uFillTx/>
              <a:latin typeface="Microsoft YaHei UI" panose="020B0503020204020204" pitchFamily="34" charset="-122"/>
              <a:ea typeface="Microsoft YaHei UI" panose="020B0503020204020204" pitchFamily="34"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8F99F9-2769-4C52-8EE2-7278119F0A16}" type="slidenum">
              <a:rPr kumimoji="0" lang="en-US" altLang="zh-CN" sz="1200" b="0" i="0" u="none" strike="noStrike" kern="1200" cap="none" spc="0" normalizeH="0" baseline="0" noProof="0" smtClean="0">
                <a:ln>
                  <a:noFill/>
                </a:ln>
                <a:solidFill>
                  <a:prstClr val="black"/>
                </a:solidFill>
                <a:effectLst/>
                <a:uLnTx/>
                <a:uFillTx/>
                <a:latin typeface="Microsoft YaHei UI" panose="020B0503020204020204" pitchFamily="34" charset="-122"/>
                <a:ea typeface="Microsoft YaHei UI" panose="020B0503020204020204" pitchFamily="34" charset="-122"/>
                <a:cs typeface="+mn-cs"/>
              </a:rPr>
              <a:t>4</a:t>
            </a:fld>
            <a:endParaRPr kumimoji="0" lang="zh-CN" altLang="en-US" sz="1200" b="0" i="0" u="none" strike="noStrike" kern="1200" cap="none" spc="0" normalizeH="0" baseline="0" noProof="0" dirty="0">
              <a:ln>
                <a:noFill/>
              </a:ln>
              <a:solidFill>
                <a:prstClr val="black"/>
              </a:solidFill>
              <a:effectLst/>
              <a:uLnTx/>
              <a:uFillTx/>
              <a:latin typeface="Microsoft YaHei UI" panose="020B0503020204020204" pitchFamily="34" charset="-122"/>
              <a:ea typeface="Microsoft YaHei UI" panose="020B0503020204020204" pitchFamily="34"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8F99F9-2769-4C52-8EE2-7278119F0A16}" type="slidenum">
              <a:rPr kumimoji="0" lang="en-US" altLang="zh-CN" sz="1200" b="0" i="0" u="none" strike="noStrike" kern="1200" cap="none" spc="0" normalizeH="0" baseline="0" noProof="0" smtClean="0">
                <a:ln>
                  <a:noFill/>
                </a:ln>
                <a:solidFill>
                  <a:prstClr val="black"/>
                </a:solidFill>
                <a:effectLst/>
                <a:uLnTx/>
                <a:uFillTx/>
                <a:latin typeface="Microsoft YaHei UI" panose="020B0503020204020204" pitchFamily="34" charset="-122"/>
                <a:ea typeface="Microsoft YaHei UI" panose="020B0503020204020204" pitchFamily="34" charset="-122"/>
                <a:cs typeface="+mn-cs"/>
              </a:rPr>
              <a:t>5</a:t>
            </a:fld>
            <a:endParaRPr kumimoji="0" lang="zh-CN" altLang="en-US" sz="1200" b="0" i="0" u="none" strike="noStrike" kern="1200" cap="none" spc="0" normalizeH="0" baseline="0" noProof="0" dirty="0">
              <a:ln>
                <a:noFill/>
              </a:ln>
              <a:solidFill>
                <a:prstClr val="black"/>
              </a:solidFill>
              <a:effectLst/>
              <a:uLnTx/>
              <a:uFillTx/>
              <a:latin typeface="Microsoft YaHei UI" panose="020B0503020204020204" pitchFamily="34" charset="-122"/>
              <a:ea typeface="Microsoft YaHei UI" panose="020B0503020204020204" pitchFamily="34"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 Id="rId4"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8.xml"/><Relationship Id="rId4" Type="http://schemas.openxmlformats.org/officeDocument/2006/relationships/image" Target="../media/image1.png"/></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 Id="rId4" Type="http://schemas.openxmlformats.org/officeDocument/2006/relationships/image" Target="../media/image1.png"/></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1.png"/></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1.xml"/><Relationship Id="rId4" Type="http://schemas.openxmlformats.org/officeDocument/2006/relationships/image" Target="../media/image1.png"/></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2.xml"/><Relationship Id="rId4" Type="http://schemas.openxmlformats.org/officeDocument/2006/relationships/image" Target="../media/image1.png"/></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3.xml"/><Relationship Id="rId4" Type="http://schemas.openxmlformats.org/officeDocument/2006/relationships/image" Target="../media/image1.png"/></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4.xml"/><Relationship Id="rId4" Type="http://schemas.openxmlformats.org/officeDocument/2006/relationships/image" Target="../media/image1.png"/></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5.xml"/><Relationship Id="rId4" Type="http://schemas.openxmlformats.org/officeDocument/2006/relationships/image" Target="../media/image1.png"/></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6.xml"/><Relationship Id="rId4" Type="http://schemas.openxmlformats.org/officeDocument/2006/relationships/image" Target="../media/image1.png"/></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7.xml"/><Relationship Id="rId4" Type="http://schemas.openxmlformats.org/officeDocument/2006/relationships/image" Target="../media/image1.png"/></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8.xml"/><Relationship Id="rId4" Type="http://schemas.openxmlformats.org/officeDocument/2006/relationships/image" Target="../media/image1.png"/></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9.xml"/><Relationship Id="rId4" Type="http://schemas.openxmlformats.org/officeDocument/2006/relationships/image" Target="../media/image1.png"/></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0.xml"/><Relationship Id="rId4" Type="http://schemas.openxmlformats.org/officeDocument/2006/relationships/image" Target="../media/image1.png"/></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1.xml"/><Relationship Id="rId4" Type="http://schemas.openxmlformats.org/officeDocument/2006/relationships/image" Target="../media/image1.png"/></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2.xml"/><Relationship Id="rId4" Type="http://schemas.openxmlformats.org/officeDocument/2006/relationships/image" Target="../media/image1.png"/></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3.xml"/><Relationship Id="rId4" Type="http://schemas.openxmlformats.org/officeDocument/2006/relationships/image" Target="../media/image1.png"/></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4.xml"/><Relationship Id="rId4" Type="http://schemas.openxmlformats.org/officeDocument/2006/relationships/image" Target="../media/image1.png"/></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5.xml"/><Relationship Id="rId4" Type="http://schemas.openxmlformats.org/officeDocument/2006/relationships/image" Target="../media/image1.png"/></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6.xml"/><Relationship Id="rId4" Type="http://schemas.openxmlformats.org/officeDocument/2006/relationships/image" Target="../media/image1.png"/></Relationships>
</file>

<file path=ppt/slideLayouts/_rels/slideLayout3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7.xml"/><Relationship Id="rId4" Type="http://schemas.openxmlformats.org/officeDocument/2006/relationships/image" Target="../media/image1.png"/></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8.xml"/><Relationship Id="rId4" Type="http://schemas.openxmlformats.org/officeDocument/2006/relationships/image" Target="../media/image1.png"/></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9.xml"/><Relationship Id="rId4" Type="http://schemas.openxmlformats.org/officeDocument/2006/relationships/image" Target="../media/image1.png"/></Relationships>
</file>

<file path=ppt/slideLayouts/_rels/slideLayout3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0.xml"/><Relationship Id="rId4" Type="http://schemas.openxmlformats.org/officeDocument/2006/relationships/image" Target="../media/image1.png"/></Relationships>
</file>

<file path=ppt/slideLayouts/_rels/slideLayout3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1.xml"/><Relationship Id="rId4" Type="http://schemas.openxmlformats.org/officeDocument/2006/relationships/image" Target="../media/image1.png"/></Relationships>
</file>

<file path=ppt/slideLayouts/_rels/slideLayout3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2.xml"/><Relationship Id="rId4" Type="http://schemas.openxmlformats.org/officeDocument/2006/relationships/image" Target="../media/image1.png"/></Relationships>
</file>

<file path=ppt/slideLayouts/_rels/slideLayout3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3.xml"/><Relationship Id="rId4" Type="http://schemas.openxmlformats.org/officeDocument/2006/relationships/image" Target="../media/image1.png"/></Relationships>
</file>

<file path=ppt/slideLayouts/_rels/slideLayout3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492348" y="822701"/>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6" name="椭圆形 5"/>
          <p:cNvSpPr/>
          <p:nvPr userDrawn="1"/>
        </p:nvSpPr>
        <p:spPr>
          <a:xfrm>
            <a:off x="11352413" y="131855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椭圆形 8"/>
          <p:cNvSpPr/>
          <p:nvPr userDrawn="1"/>
        </p:nvSpPr>
        <p:spPr>
          <a:xfrm>
            <a:off x="638841" y="5012346"/>
            <a:ext cx="837678"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1" name="任意多边形(F) 12"/>
          <p:cNvSpPr/>
          <p:nvPr userDrawn="1"/>
        </p:nvSpPr>
        <p:spPr>
          <a:xfrm>
            <a:off x="9853347" y="0"/>
            <a:ext cx="1499066"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4" name="标题 1"/>
          <p:cNvSpPr>
            <a:spLocks noGrp="1"/>
          </p:cNvSpPr>
          <p:nvPr>
            <p:ph type="title"/>
          </p:nvPr>
        </p:nvSpPr>
        <p:spPr>
          <a:xfrm>
            <a:off x="6300216" y="2130552"/>
            <a:ext cx="4590288" cy="1764792"/>
          </a:xfrm>
        </p:spPr>
        <p:txBody>
          <a:bodyPr rtlCol="0" anchor="t">
            <a:noAutofit/>
          </a:bodyPr>
          <a:lstStyle>
            <a:lvl1pPr>
              <a:defRPr lang="zh-CN" sz="5400" b="1">
                <a:solidFill>
                  <a:schemeClr val="tx2"/>
                </a:solidFill>
                <a:latin typeface="+mn-ea"/>
                <a:ea typeface="+mn-ea"/>
              </a:defRPr>
            </a:lvl1pPr>
          </a:lstStyle>
          <a:p>
            <a:pPr rtl="0"/>
            <a:r>
              <a:rPr lang="zh-CN" altLang="en-US"/>
              <a:t>单击此处编辑母版标题样式</a:t>
            </a:r>
            <a:endParaRPr lang="zh-CN"/>
          </a:p>
        </p:txBody>
      </p:sp>
      <p:sp>
        <p:nvSpPr>
          <p:cNvPr id="7" name="图片占位符 6"/>
          <p:cNvSpPr>
            <a:spLocks noGrp="1"/>
          </p:cNvSpPr>
          <p:nvPr>
            <p:ph type="pic" sz="quarter" idx="10"/>
          </p:nvPr>
        </p:nvSpPr>
        <p:spPr>
          <a:xfrm>
            <a:off x="1005840" y="1316736"/>
            <a:ext cx="4325112" cy="4325112"/>
          </a:xfrm>
          <a:noFill/>
        </p:spPr>
        <p:txBody>
          <a:bodyPr rtlCol="0" anchor="ctr">
            <a:noAutofit/>
          </a:bodyPr>
          <a:lstStyle>
            <a:lvl1pPr algn="ctr">
              <a:defRPr lang="zh-CN"/>
            </a:lvl1pPr>
          </a:lstStyle>
          <a:p>
            <a:pPr rtl="0"/>
            <a:r>
              <a:rPr lang="zh-CN" altLang="en-US"/>
              <a:t>单击图标添加图片</a:t>
            </a:r>
            <a:endParaRPr lang="zh-CN"/>
          </a:p>
        </p:txBody>
      </p:sp>
      <p:sp>
        <p:nvSpPr>
          <p:cNvPr id="12" name="副标题 2"/>
          <p:cNvSpPr>
            <a:spLocks noGrp="1"/>
          </p:cNvSpPr>
          <p:nvPr>
            <p:ph type="subTitle" idx="1"/>
          </p:nvPr>
        </p:nvSpPr>
        <p:spPr>
          <a:xfrm>
            <a:off x="6298598" y="3895344"/>
            <a:ext cx="4591906" cy="1024128"/>
          </a:xfrm>
        </p:spPr>
        <p:txBody>
          <a:bodyPr rtlCol="0">
            <a:noAutofit/>
          </a:bodyPr>
          <a:lstStyle>
            <a:lvl1pPr marL="0" indent="0" algn="l">
              <a:lnSpc>
                <a:spcPct val="100000"/>
              </a:lnSpc>
              <a:buNone/>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457200" indent="0" algn="ctr">
              <a:buNone/>
              <a:defRPr lang="zh-CN" sz="2000"/>
            </a:lvl2pPr>
            <a:lvl3pPr marL="914400" indent="0" algn="ctr">
              <a:buNone/>
              <a:defRPr lang="zh-CN" sz="1800"/>
            </a:lvl3pPr>
            <a:lvl4pPr marL="1371600" indent="0" algn="ctr">
              <a:buNone/>
              <a:defRPr lang="zh-CN" sz="1600"/>
            </a:lvl4pPr>
            <a:lvl5pPr marL="1828800" indent="0" algn="ctr">
              <a:buNone/>
              <a:defRPr lang="zh-CN" sz="1600"/>
            </a:lvl5pPr>
            <a:lvl6pPr marL="2286000" indent="0" algn="ctr">
              <a:buNone/>
              <a:defRPr lang="zh-CN" sz="1600"/>
            </a:lvl6pPr>
            <a:lvl7pPr marL="2743200" indent="0" algn="ctr">
              <a:buNone/>
              <a:defRPr lang="zh-CN" sz="1600"/>
            </a:lvl7pPr>
            <a:lvl8pPr marL="3200400" indent="0" algn="ctr">
              <a:buNone/>
              <a:defRPr lang="zh-CN" sz="1600"/>
            </a:lvl8pPr>
            <a:lvl9pPr marL="3657600" indent="0" algn="ctr">
              <a:buNone/>
              <a:defRPr lang="zh-CN" sz="1600"/>
            </a:lvl9pPr>
          </a:lstStyle>
          <a:p>
            <a:pPr rtl="0"/>
            <a:r>
              <a:rPr lang="zh-CN" altLang="en-US"/>
              <a:t>单击此处编辑母版副标题样式</a:t>
            </a:r>
            <a:endParaRPr lang="zh-CN"/>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带字幕的视频">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6" name="媒体占位符 15"/>
          <p:cNvSpPr>
            <a:spLocks noGrp="1"/>
          </p:cNvSpPr>
          <p:nvPr>
            <p:ph type="media" sz="quarter" idx="10" hasCustomPrompt="1"/>
          </p:nvPr>
        </p:nvSpPr>
        <p:spPr>
          <a:xfrm>
            <a:off x="640080" y="1847088"/>
            <a:ext cx="7424928" cy="3776472"/>
          </a:xfrm>
        </p:spPr>
        <p:txBody>
          <a:bodyPr rtlCol="0">
            <a:noAutofit/>
          </a:bodyPr>
          <a:lstStyle>
            <a:lvl1pPr>
              <a:defRPr lang="zh-CN">
                <a:solidFill>
                  <a:schemeClr val="tx2"/>
                </a:solidFill>
              </a:defRPr>
            </a:lvl1pPr>
          </a:lstStyle>
          <a:p>
            <a:pPr rtl="0"/>
            <a:r>
              <a:rPr lang="zh-CN" altLang="en-US"/>
              <a:t>单击图标添加媒体</a:t>
            </a:r>
            <a:endParaRPr lang="zh-CN" dirty="0"/>
          </a:p>
        </p:txBody>
      </p:sp>
      <p:sp>
        <p:nvSpPr>
          <p:cNvPr id="5" name="任意多边形(F) 2"/>
          <p:cNvSpPr/>
          <p:nvPr userDrawn="1"/>
        </p:nvSpPr>
        <p:spPr>
          <a:xfrm flipV="1">
            <a:off x="6483077" y="1921304"/>
            <a:ext cx="5708922" cy="4941678"/>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4" name="任意多边形(F) 7"/>
          <p:cNvSpPr/>
          <p:nvPr userDrawn="1"/>
        </p:nvSpPr>
        <p:spPr>
          <a:xfrm>
            <a:off x="11201466" y="1425943"/>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8" name="文本占位符 17"/>
          <p:cNvSpPr>
            <a:spLocks noGrp="1"/>
          </p:cNvSpPr>
          <p:nvPr>
            <p:ph type="body" sz="quarter" idx="11"/>
          </p:nvPr>
        </p:nvSpPr>
        <p:spPr>
          <a:xfrm>
            <a:off x="8412480" y="2715768"/>
            <a:ext cx="3364992" cy="3017520"/>
          </a:xfrm>
        </p:spPr>
        <p:txBody>
          <a:bodyPr rtlCol="0" anchor="b">
            <a:noAutofit/>
          </a:bodyPr>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a:p>
            <a:pPr lvl="1" rtl="0"/>
            <a:r>
              <a:rPr lang="zh-CN" altLang="en-US"/>
              <a:t>二级</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userDrawn="1">
  <p:cSld name="带列表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标题 3"/>
          <p:cNvSpPr>
            <a:spLocks noGrp="1"/>
          </p:cNvSpPr>
          <p:nvPr>
            <p:ph type="title"/>
          </p:nvPr>
        </p:nvSpPr>
        <p:spPr>
          <a:xfrm>
            <a:off x="521208" y="566928"/>
            <a:ext cx="11119104" cy="640080"/>
          </a:xfrm>
        </p:spPr>
        <p:txBody>
          <a:bodyPr rtlCol="0" anchor="t" anchorCtr="0">
            <a:norm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6" name="任意多边形(F) 3"/>
          <p:cNvSpPr/>
          <p:nvPr userDrawn="1"/>
        </p:nvSpPr>
        <p:spPr>
          <a:xfrm>
            <a:off x="8612029" y="3432619"/>
            <a:ext cx="3586781"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8" name="长方形 7"/>
          <p:cNvSpPr/>
          <p:nvPr userDrawn="1"/>
        </p:nvSpPr>
        <p:spPr>
          <a:xfrm>
            <a:off x="637622" y="1953365"/>
            <a:ext cx="5149695"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2" name="椭圆形 11"/>
          <p:cNvSpPr/>
          <p:nvPr userDrawn="1"/>
        </p:nvSpPr>
        <p:spPr>
          <a:xfrm>
            <a:off x="8558269" y="6194361"/>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15" name="任意多边形(F) 1"/>
          <p:cNvSpPr/>
          <p:nvPr userDrawn="1"/>
        </p:nvSpPr>
        <p:spPr>
          <a:xfrm rot="16200000">
            <a:off x="446860" y="-169312"/>
            <a:ext cx="990534" cy="1329158"/>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22" name="内容占位符 2"/>
          <p:cNvSpPr txBox="1"/>
          <p:nvPr userDrawn="1"/>
        </p:nvSpPr>
        <p:spPr>
          <a:xfrm>
            <a:off x="824131" y="2343177"/>
            <a:ext cx="4557428" cy="283048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a:t>
            </a:r>
          </a:p>
        </p:txBody>
      </p:sp>
      <p:grpSp>
        <p:nvGrpSpPr>
          <p:cNvPr id="23" name="组 22"/>
          <p:cNvGrpSpPr/>
          <p:nvPr userDrawn="1"/>
        </p:nvGrpSpPr>
        <p:grpSpPr>
          <a:xfrm>
            <a:off x="1203700" y="2891437"/>
            <a:ext cx="4183547" cy="2282229"/>
            <a:chOff x="6448201" y="2832180"/>
            <a:chExt cx="4483608" cy="2139696"/>
          </a:xfrm>
        </p:grpSpPr>
        <p:cxnSp>
          <p:nvCxnSpPr>
            <p:cNvPr id="24" name="直接连接符​​(S) 23"/>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S) 26"/>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文本占位符 17"/>
          <p:cNvSpPr>
            <a:spLocks noGrp="1"/>
          </p:cNvSpPr>
          <p:nvPr>
            <p:ph type="body" sz="quarter" idx="11"/>
          </p:nvPr>
        </p:nvSpPr>
        <p:spPr>
          <a:xfrm>
            <a:off x="1144528" y="2454311"/>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1144528" y="3222369"/>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1144528" y="3992637"/>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1144528" y="4775296"/>
            <a:ext cx="4557428"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21" name="图片占位符 20"/>
          <p:cNvSpPr>
            <a:spLocks noGrp="1"/>
          </p:cNvSpPr>
          <p:nvPr>
            <p:ph type="pic" sz="quarter" idx="14"/>
          </p:nvPr>
        </p:nvSpPr>
        <p:spPr>
          <a:xfrm>
            <a:off x="6437376" y="2002536"/>
            <a:ext cx="5120640" cy="3685032"/>
          </a:xfrm>
        </p:spPr>
        <p:txBody>
          <a:bodyPr rtlCol="0"/>
          <a:lstStyle>
            <a:defPPr>
              <a:defRPr lang="zh-CN"/>
            </a:defPPr>
          </a:lstStyle>
          <a:p>
            <a:pPr rtl="0"/>
            <a:r>
              <a:rPr lang="zh-CN" altLang="en-US"/>
              <a:t>单击图标添加图片</a:t>
            </a:r>
            <a:endParaRPr lang="zh-CN"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带标题的图片">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椭圆形 2"/>
          <p:cNvSpPr/>
          <p:nvPr userDrawn="1"/>
        </p:nvSpPr>
        <p:spPr>
          <a:xfrm>
            <a:off x="5622727" y="3014462"/>
            <a:ext cx="642974"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5" name="任意多边形(F) 17"/>
          <p:cNvSpPr/>
          <p:nvPr userDrawn="1"/>
        </p:nvSpPr>
        <p:spPr>
          <a:xfrm>
            <a:off x="8484620" y="5988532"/>
            <a:ext cx="2953834"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1" name="椭圆形 10"/>
          <p:cNvSpPr/>
          <p:nvPr userDrawn="1"/>
        </p:nvSpPr>
        <p:spPr>
          <a:xfrm>
            <a:off x="8484620" y="6069965"/>
            <a:ext cx="510053"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4" name="任意多边形(F) 10"/>
          <p:cNvSpPr/>
          <p:nvPr userDrawn="1"/>
        </p:nvSpPr>
        <p:spPr>
          <a:xfrm>
            <a:off x="0" y="0"/>
            <a:ext cx="6306096"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1" name="图片占位符 20"/>
          <p:cNvSpPr>
            <a:spLocks noGrp="1"/>
          </p:cNvSpPr>
          <p:nvPr>
            <p:ph type="pic" sz="quarter" idx="14"/>
          </p:nvPr>
        </p:nvSpPr>
        <p:spPr>
          <a:xfrm>
            <a:off x="6437376" y="2002536"/>
            <a:ext cx="5120640" cy="3685032"/>
          </a:xfrm>
        </p:spPr>
        <p:txBody>
          <a:bodyPr rtlCol="0">
            <a:noAutofit/>
          </a:bodyPr>
          <a:lstStyle>
            <a:defPPr>
              <a:defRPr lang="zh-CN"/>
            </a:defPPr>
          </a:lstStyle>
          <a:p>
            <a:pPr rtl="0"/>
            <a:r>
              <a:rPr lang="zh-CN" altLang="en-US"/>
              <a:t>单击图标添加图片</a:t>
            </a:r>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两栏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4"/>
          <p:cNvSpPr/>
          <p:nvPr userDrawn="1"/>
        </p:nvSpPr>
        <p:spPr>
          <a:xfrm>
            <a:off x="8544421" y="1377730"/>
            <a:ext cx="3658597"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12"/>
          <p:cNvSpPr/>
          <p:nvPr userDrawn="1"/>
        </p:nvSpPr>
        <p:spPr>
          <a:xfrm>
            <a:off x="-11551" y="0"/>
            <a:ext cx="11756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椭圆形 11"/>
          <p:cNvSpPr/>
          <p:nvPr userDrawn="1"/>
        </p:nvSpPr>
        <p:spPr>
          <a:xfrm>
            <a:off x="7897386" y="4880996"/>
            <a:ext cx="1499065"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15" name="椭圆形 14"/>
          <p:cNvSpPr/>
          <p:nvPr userDrawn="1"/>
        </p:nvSpPr>
        <p:spPr>
          <a:xfrm>
            <a:off x="651124" y="1169282"/>
            <a:ext cx="389835"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noAutofit/>
          </a:bodyPr>
          <a:lstStyle>
            <a:defPPr>
              <a:defRPr lang="zh-CN"/>
            </a:defPPr>
          </a:lstStyle>
          <a:p>
            <a:pPr rtl="0"/>
            <a:endParaRPr lang="zh-CN" dirty="0"/>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138928" cy="3685032"/>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列表">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椭圆形 32"/>
          <p:cNvSpPr/>
          <p:nvPr userDrawn="1"/>
        </p:nvSpPr>
        <p:spPr>
          <a:xfrm>
            <a:off x="9965453" y="5422957"/>
            <a:ext cx="600979"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35" name="任意多边形(F) 7"/>
          <p:cNvSpPr/>
          <p:nvPr userDrawn="1"/>
        </p:nvSpPr>
        <p:spPr>
          <a:xfrm>
            <a:off x="0" y="684941"/>
            <a:ext cx="5739305"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39" name="椭圆形 38"/>
          <p:cNvSpPr/>
          <p:nvPr userDrawn="1"/>
        </p:nvSpPr>
        <p:spPr>
          <a:xfrm>
            <a:off x="3500869" y="447695"/>
            <a:ext cx="1499065"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8" name="长方形 7"/>
          <p:cNvSpPr/>
          <p:nvPr userDrawn="1"/>
        </p:nvSpPr>
        <p:spPr>
          <a:xfrm>
            <a:off x="6412386" y="1273861"/>
            <a:ext cx="5149695"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18" name="文本占位符 17"/>
          <p:cNvSpPr>
            <a:spLocks noGrp="1"/>
          </p:cNvSpPr>
          <p:nvPr>
            <p:ph type="body" sz="quarter" idx="11"/>
          </p:nvPr>
        </p:nvSpPr>
        <p:spPr>
          <a:xfrm>
            <a:off x="7155536" y="1605845"/>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0" name="文本占位符 17"/>
          <p:cNvSpPr>
            <a:spLocks noGrp="1"/>
          </p:cNvSpPr>
          <p:nvPr>
            <p:ph type="body" sz="quarter" idx="15"/>
          </p:nvPr>
        </p:nvSpPr>
        <p:spPr>
          <a:xfrm>
            <a:off x="7155536" y="2373903"/>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1" name="文本占位符 17"/>
          <p:cNvSpPr>
            <a:spLocks noGrp="1"/>
          </p:cNvSpPr>
          <p:nvPr>
            <p:ph type="body" sz="quarter" idx="16"/>
          </p:nvPr>
        </p:nvSpPr>
        <p:spPr>
          <a:xfrm>
            <a:off x="7155536" y="3144171"/>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sp>
        <p:nvSpPr>
          <p:cNvPr id="32" name="文本占位符 17"/>
          <p:cNvSpPr>
            <a:spLocks noGrp="1"/>
          </p:cNvSpPr>
          <p:nvPr>
            <p:ph type="body" sz="quarter" idx="17"/>
          </p:nvPr>
        </p:nvSpPr>
        <p:spPr>
          <a:xfrm>
            <a:off x="7155536" y="3926830"/>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grpSp>
        <p:nvGrpSpPr>
          <p:cNvPr id="4" name="组 3"/>
          <p:cNvGrpSpPr/>
          <p:nvPr userDrawn="1"/>
        </p:nvGrpSpPr>
        <p:grpSpPr>
          <a:xfrm>
            <a:off x="7155536" y="2000952"/>
            <a:ext cx="3844355" cy="3094988"/>
            <a:chOff x="6448201" y="2832180"/>
            <a:chExt cx="4489704" cy="2901696"/>
          </a:xfrm>
        </p:grpSpPr>
        <p:cxnSp>
          <p:nvCxnSpPr>
            <p:cNvPr id="5" name="直接连接符​​(S) 4"/>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S) 13"/>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内容占位符 2"/>
          <p:cNvSpPr txBox="1"/>
          <p:nvPr userDrawn="1"/>
        </p:nvSpPr>
        <p:spPr>
          <a:xfrm>
            <a:off x="6812124" y="1474457"/>
            <a:ext cx="4187767" cy="406564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1200"/>
              </a:spcAft>
              <a:buFontTx/>
              <a:buNone/>
              <a:defRPr lang="zh-CN" sz="1400" kern="1200" smtClean="0">
                <a:solidFill>
                  <a:schemeClr val="tx1">
                    <a:lumMod val="75000"/>
                    <a:lumOff val="25000"/>
                  </a:schemeClr>
                </a:solidFill>
                <a:latin typeface="+mn-ea"/>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smtClean="0">
                <a:solidFill>
                  <a:schemeClr val="tx1">
                    <a:lumMod val="75000"/>
                    <a:lumOff val="25000"/>
                  </a:schemeClr>
                </a:solidFill>
                <a:latin typeface="+mn-ea"/>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zh-CN" sz="1400" kern="1200">
                <a:solidFill>
                  <a:schemeClr val="tx1">
                    <a:lumMod val="75000"/>
                    <a:lumOff val="25000"/>
                  </a:schemeClr>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a:lstStyle>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1.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2.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3.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4. </a:t>
            </a:r>
          </a:p>
          <a:p>
            <a:pPr rtl="0">
              <a:lnSpc>
                <a:spcPct val="150000"/>
              </a:lnSpc>
            </a:pPr>
            <a:r>
              <a: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rPr>
              <a:t>5.</a:t>
            </a:r>
          </a:p>
        </p:txBody>
      </p:sp>
      <p:sp>
        <p:nvSpPr>
          <p:cNvPr id="28" name="文本占位符 17"/>
          <p:cNvSpPr>
            <a:spLocks noGrp="1"/>
          </p:cNvSpPr>
          <p:nvPr>
            <p:ph type="body" sz="quarter" idx="18"/>
          </p:nvPr>
        </p:nvSpPr>
        <p:spPr>
          <a:xfrm>
            <a:off x="7155536" y="4693042"/>
            <a:ext cx="4090669" cy="477764"/>
          </a:xfrm>
        </p:spPr>
        <p:txBody>
          <a:bodyPr rtlCol="0"/>
          <a:lstStyle>
            <a:lvl1pPr>
              <a:lnSpc>
                <a:spcPct val="100000"/>
              </a:lnSpc>
              <a:spcBef>
                <a:spcPts val="0"/>
              </a:spcBef>
              <a:spcAft>
                <a:spcPts val="0"/>
              </a:spcAft>
              <a:defRPr lang="zh-CN" sz="2200" b="1">
                <a:solidFill>
                  <a:schemeClr val="tx2"/>
                </a:solidFill>
                <a:latin typeface="Microsoft YaHei UI" panose="020B0503020204020204" pitchFamily="34" charset="-122"/>
                <a:ea typeface="Microsoft YaHei UI" panose="020B0503020204020204" pitchFamily="34" charset="-122"/>
                <a:cs typeface="Segoe UI Semibold" panose="020B0702040204020203" pitchFamily="34" charset="0"/>
              </a:defRPr>
            </a:lvl1pPr>
            <a:lvl2pPr marL="0" indent="0">
              <a:lnSpc>
                <a:spcPct val="100000"/>
              </a:lnSpc>
              <a:spcBef>
                <a:spcPts val="1200"/>
              </a:spcBef>
              <a:spcAft>
                <a:spcPts val="0"/>
              </a:spcAft>
              <a:buNone/>
              <a:defRPr lang="zh-CN" sz="1800">
                <a:solidFill>
                  <a:schemeClr val="tx2"/>
                </a:solidFill>
              </a:defRPr>
            </a:lvl2pPr>
          </a:lstStyle>
          <a:p>
            <a:pPr lvl="0" rtl="0"/>
            <a:r>
              <a:rPr lang="zh-CN" altLang="en-US"/>
              <a:t>单击此处编辑母版文本样式</a:t>
            </a:r>
          </a:p>
        </p:txBody>
      </p:sp>
      <p:pic>
        <p:nvPicPr>
          <p:cNvPr id="37" name="图片占位符 10"/>
          <p:cNvPicPr>
            <a:picLocks noChangeAspect="1"/>
          </p:cNvPicPr>
          <p:nvPr userDrawn="1"/>
        </p:nvPicPr>
        <p:blipFill rotWithShape="1">
          <a:blip r:embed="rId2" cstate="print"/>
          <a:srcRect/>
          <a:stretch>
            <a:fillRect/>
          </a:stretch>
        </p:blipFill>
        <p:spPr>
          <a:xfrm rot="16200000">
            <a:off x="10406331" y="598826"/>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22"/>
          <p:cNvSpPr/>
          <p:nvPr userDrawn="1"/>
        </p:nvSpPr>
        <p:spPr>
          <a:xfrm>
            <a:off x="-14287" y="4334114"/>
            <a:ext cx="114944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19"/>
          <p:cNvSpPr/>
          <p:nvPr userDrawn="1"/>
        </p:nvSpPr>
        <p:spPr>
          <a:xfrm>
            <a:off x="6018661" y="-1535"/>
            <a:ext cx="6184356"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solidFill>
                <a:schemeClr val="tx2"/>
              </a:solidFill>
            </a:endParaRPr>
          </a:p>
        </p:txBody>
      </p:sp>
      <p:pic>
        <p:nvPicPr>
          <p:cNvPr id="16" name="图片占位符 10"/>
          <p:cNvPicPr>
            <a:picLocks noChangeAspect="1"/>
          </p:cNvPicPr>
          <p:nvPr userDrawn="1"/>
        </p:nvPicPr>
        <p:blipFill rotWithShape="1">
          <a:blip r:embed="rId2" cstate="print"/>
          <a:srcRect/>
          <a:stretch>
            <a:fillRect/>
          </a:stretch>
        </p:blipFill>
        <p:spPr>
          <a:xfrm rot="10800000">
            <a:off x="2964226" y="-5834"/>
            <a:ext cx="2384497" cy="1186841"/>
          </a:xfrm>
          <a:prstGeom prst="rect">
            <a:avLst/>
          </a:prstGeom>
          <a:noFill/>
          <a:effectLst>
            <a:outerShdw blurRad="66753" dist="39609" dir="12780000" sx="101109" sy="101109" algn="t" rotWithShape="0">
              <a:prstClr val="black">
                <a:alpha val="17409"/>
              </a:prstClr>
            </a:outerShdw>
          </a:effectLst>
        </p:spPr>
      </p:pic>
      <p:sp>
        <p:nvSpPr>
          <p:cNvPr id="22" name="椭圆形 21"/>
          <p:cNvSpPr/>
          <p:nvPr userDrawn="1"/>
        </p:nvSpPr>
        <p:spPr>
          <a:xfrm>
            <a:off x="5689666" y="1067784"/>
            <a:ext cx="635955"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标题和内容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任意多边形(F) 13"/>
          <p:cNvSpPr/>
          <p:nvPr userDrawn="1"/>
        </p:nvSpPr>
        <p:spPr>
          <a:xfrm>
            <a:off x="0" y="-11017"/>
            <a:ext cx="579796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椭圆形 5"/>
          <p:cNvSpPr/>
          <p:nvPr userDrawn="1"/>
        </p:nvSpPr>
        <p:spPr>
          <a:xfrm>
            <a:off x="5282616" y="378865"/>
            <a:ext cx="813384"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8" name="图片占位符 10"/>
          <p:cNvPicPr>
            <a:picLocks noChangeAspect="1"/>
          </p:cNvPicPr>
          <p:nvPr userDrawn="1"/>
        </p:nvPicPr>
        <p:blipFill rotWithShape="1">
          <a:blip r:embed="rId2" cstate="print"/>
          <a:srcRect/>
          <a:stretch>
            <a:fillRect/>
          </a:stretch>
        </p:blipFill>
        <p:spPr>
          <a:xfrm>
            <a:off x="8263206" y="5671159"/>
            <a:ext cx="2384497" cy="1186841"/>
          </a:xfrm>
          <a:prstGeom prst="rect">
            <a:avLst/>
          </a:prstGeom>
          <a:noFill/>
          <a:effectLst>
            <a:outerShdw blurRad="66753" dist="39609" dir="12780000" sx="101109" sy="101109" algn="t" rotWithShape="0">
              <a:prstClr val="black">
                <a:alpha val="17409"/>
              </a:prstClr>
            </a:outerShdw>
          </a:effectLst>
        </p:spPr>
      </p:pic>
      <p:sp>
        <p:nvSpPr>
          <p:cNvPr id="13" name="椭圆形 12"/>
          <p:cNvSpPr/>
          <p:nvPr userDrawn="1"/>
        </p:nvSpPr>
        <p:spPr>
          <a:xfrm>
            <a:off x="6875619" y="5909834"/>
            <a:ext cx="397747"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标题和内容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48640" y="2386584"/>
            <a:ext cx="4837176" cy="2103120"/>
          </a:xfrm>
        </p:spPr>
        <p:txBody>
          <a:bodyPr rtlCol="0" anchor="t" anchorCtr="0">
            <a:normAutofit/>
          </a:bodyPr>
          <a:lstStyle>
            <a:lvl1pPr algn="l">
              <a:defRPr lang="zh-CN" sz="3200" b="1">
                <a:solidFill>
                  <a:schemeClr val="tx2"/>
                </a:solidFill>
                <a:latin typeface="+mn-ea"/>
                <a:ea typeface="+mn-ea"/>
              </a:defRPr>
            </a:lvl1pPr>
          </a:lstStyle>
          <a:p>
            <a:pPr rtl="0"/>
            <a:r>
              <a:rPr lang="zh-CN" altLang="en-US"/>
              <a:t>单击此处编辑母版标题样式</a:t>
            </a:r>
            <a:endParaRPr lang="zh-CN"/>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3" name="内容占位符 16"/>
          <p:cNvSpPr>
            <a:spLocks noGrp="1"/>
          </p:cNvSpPr>
          <p:nvPr>
            <p:ph sz="quarter" idx="16"/>
          </p:nvPr>
        </p:nvSpPr>
        <p:spPr>
          <a:xfrm>
            <a:off x="6419088" y="1280160"/>
            <a:ext cx="5129784" cy="4261104"/>
          </a:xfrm>
          <a:solidFill>
            <a:schemeClr val="bg1"/>
          </a:solidFill>
          <a:ln w="12700">
            <a:solidFill>
              <a:schemeClr val="bg2">
                <a:lumMod val="90000"/>
              </a:schemeClr>
            </a:solidFill>
            <a:prstDash val="dash"/>
          </a:ln>
        </p:spPr>
        <p:txBody>
          <a:bodyPr lIns="91440" rIns="91440" rtlCol="0">
            <a:noAutofit/>
          </a:bodyPr>
          <a:lstStyle>
            <a:lvl1pPr>
              <a:lnSpc>
                <a:spcPct val="100000"/>
              </a:lnSpc>
              <a:defRPr lang="zh-CN" sz="2000">
                <a:solidFill>
                  <a:schemeClr val="tx2"/>
                </a:solidFill>
              </a:defRPr>
            </a:lvl1pPr>
          </a:lstStyle>
          <a:p>
            <a:pPr lvl="0" rtl="0"/>
            <a:r>
              <a:rPr lang="zh-CN" altLang="en-US"/>
              <a:t>单击此处编辑母版文本样式</a:t>
            </a:r>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9_标题和内容">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9"/>
          <p:cNvSpPr/>
          <p:nvPr userDrawn="1"/>
        </p:nvSpPr>
        <p:spPr>
          <a:xfrm>
            <a:off x="6912398" y="4482109"/>
            <a:ext cx="5279603"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6" name="任意多边形(F) 7"/>
          <p:cNvSpPr/>
          <p:nvPr userDrawn="1"/>
        </p:nvSpPr>
        <p:spPr>
          <a:xfrm>
            <a:off x="6188287" y="5875583"/>
            <a:ext cx="1499066"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0"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sp>
        <p:nvSpPr>
          <p:cNvPr id="20" name="灯片编号占位符 19"/>
          <p:cNvSpPr>
            <a:spLocks noGrp="1"/>
          </p:cNvSpPr>
          <p:nvPr>
            <p:ph type="sldNum" sz="quarter" idx="13"/>
          </p:nvPr>
        </p:nvSpPr>
        <p:spPr/>
        <p:txBody>
          <a:bodyPr rtlCol="0">
            <a:noAutofit/>
          </a:bodyPr>
          <a:lstStyle>
            <a:defPPr>
              <a:defRPr lang="zh-CN"/>
            </a:defPPr>
          </a:lstStyle>
          <a:p>
            <a:pPr rtl="0"/>
            <a:fld id="{D1BC2EDA-D519-4F34-BF3F-BFFF500F4B03}" type="slidenum">
              <a:rPr lang="en-US" altLang="zh-CN" smtClean="0"/>
              <a:t>‹#›</a:t>
            </a:fld>
            <a:endParaRPr lang="zh-CN" dirty="0"/>
          </a:p>
        </p:txBody>
      </p:sp>
      <p:sp>
        <p:nvSpPr>
          <p:cNvPr id="17" name="内容占位符 16"/>
          <p:cNvSpPr>
            <a:spLocks noGrp="1"/>
          </p:cNvSpPr>
          <p:nvPr>
            <p:ph sz="quarter" idx="15"/>
          </p:nvPr>
        </p:nvSpPr>
        <p:spPr>
          <a:xfrm>
            <a:off x="640080"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sp>
        <p:nvSpPr>
          <p:cNvPr id="16" name="内容占位符 16"/>
          <p:cNvSpPr>
            <a:spLocks noGrp="1"/>
          </p:cNvSpPr>
          <p:nvPr>
            <p:ph sz="quarter" idx="16"/>
          </p:nvPr>
        </p:nvSpPr>
        <p:spPr>
          <a:xfrm>
            <a:off x="6419088" y="2002536"/>
            <a:ext cx="5029200" cy="4096512"/>
          </a:xfrm>
          <a:noFill/>
          <a:ln w="12700">
            <a:noFill/>
            <a:prstDash val="dash"/>
          </a:ln>
        </p:spPr>
        <p:txBody>
          <a:bodyPr lIns="91440" rIns="91440" rtlCol="0">
            <a:noAutofit/>
          </a:bodyPr>
          <a:lstStyle>
            <a:lvl1pPr>
              <a:lnSpc>
                <a:spcPct val="100000"/>
              </a:lnSpc>
              <a:defRPr lang="zh-CN" sz="1800">
                <a:solidFill>
                  <a:schemeClr val="tx2"/>
                </a:solidFill>
              </a:defRPr>
            </a:lvl1pPr>
          </a:lstStyle>
          <a:p>
            <a:pPr lvl="0" rtl="0"/>
            <a:r>
              <a:rPr lang="zh-CN" altLang="en-US"/>
              <a:t>单击此处编辑母版文本样式</a:t>
            </a:r>
          </a:p>
        </p:txBody>
      </p:sp>
      <p:pic>
        <p:nvPicPr>
          <p:cNvPr id="11" name="图形 10"/>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0080" y="5824445"/>
            <a:ext cx="735041" cy="735041"/>
          </a:xfrm>
          <a:prstGeom prst="rect">
            <a:avLst/>
          </a:prstGeom>
        </p:spPr>
      </p:pic>
      <p:pic>
        <p:nvPicPr>
          <p:cNvPr id="2" name="图片占位符 10"/>
          <p:cNvPicPr>
            <a:picLocks noChangeAspect="1"/>
          </p:cNvPicPr>
          <p:nvPr userDrawn="1"/>
        </p:nvPicPr>
        <p:blipFill rotWithShape="1">
          <a:blip r:embed="rId4" cstate="print"/>
          <a:srcRect/>
          <a:stretch>
            <a:fillRect/>
          </a:stretch>
        </p:blipFill>
        <p:spPr>
          <a:xfrm rot="10800000">
            <a:off x="10024984"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仅标题">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
        <p:nvSpPr>
          <p:cNvPr id="19" name="页脚占位符 18"/>
          <p:cNvSpPr>
            <a:spLocks noGrp="1"/>
          </p:cNvSpPr>
          <p:nvPr>
            <p:ph type="ftr" sz="quarter" idx="12"/>
          </p:nvPr>
        </p:nvSpPr>
        <p:spPr/>
        <p:txBody>
          <a:bodyPr rtlCol="0"/>
          <a:lstStyle>
            <a:defPPr>
              <a:defRPr lang="zh-CN"/>
            </a:defPPr>
          </a:lstStyle>
          <a:p>
            <a:pPr rtl="0"/>
            <a:endParaRPr lang="zh-CN" dirty="0"/>
          </a:p>
        </p:txBody>
      </p:sp>
      <p:sp>
        <p:nvSpPr>
          <p:cNvPr id="20" name="灯片编号占位符 19"/>
          <p:cNvSpPr>
            <a:spLocks noGrp="1"/>
          </p:cNvSpPr>
          <p:nvPr>
            <p:ph type="sldNum" sz="quarter" idx="13"/>
          </p:nvPr>
        </p:nvSpPr>
        <p:spPr/>
        <p:txBody>
          <a:bodyPr rtlCol="0"/>
          <a:lstStyle>
            <a:defPPr>
              <a:defRPr lang="zh-CN"/>
            </a:defPPr>
          </a:lstStyle>
          <a:p>
            <a:pPr rtl="0"/>
            <a:fld id="{D1BC2EDA-D519-4F34-BF3F-BFFF500F4B03}" type="slidenum">
              <a:rPr lang="en-US" altLang="zh-CN" smtClean="0"/>
              <a:t>‹#›</a:t>
            </a:fld>
            <a:endParaRPr lang="zh-CN" dirty="0"/>
          </a:p>
        </p:txBody>
      </p:sp>
      <p:sp>
        <p:nvSpPr>
          <p:cNvPr id="2" name="标题 3"/>
          <p:cNvSpPr>
            <a:spLocks noGrp="1"/>
          </p:cNvSpPr>
          <p:nvPr>
            <p:ph type="title"/>
          </p:nvPr>
        </p:nvSpPr>
        <p:spPr>
          <a:xfrm>
            <a:off x="521208" y="566928"/>
            <a:ext cx="11119104" cy="640080"/>
          </a:xfrm>
        </p:spPr>
        <p:txBody>
          <a:bodyPr rtlCol="0" anchor="t" anchorCtr="0">
            <a:noAutofit/>
          </a:bodyPr>
          <a:lstStyle>
            <a:lvl1pPr algn="ctr">
              <a:defRPr lang="zh-CN" sz="3200" b="1">
                <a:solidFill>
                  <a:schemeClr val="tx2"/>
                </a:solidFill>
                <a:latin typeface="+mn-ea"/>
                <a:ea typeface="+mn-ea"/>
              </a:defRPr>
            </a:lvl1pPr>
          </a:lstStyle>
          <a:p>
            <a:pPr rtl="0"/>
            <a:r>
              <a:rPr lang="zh-CN" altLang="en-US"/>
              <a:t>单击此处编辑母版标题样式</a:t>
            </a:r>
            <a:endParaRPr lang="zh-CN"/>
          </a:p>
        </p:txBody>
      </p:sp>
      <p:pic>
        <p:nvPicPr>
          <p:cNvPr id="4" name="图片占位符 10"/>
          <p:cNvPicPr>
            <a:picLocks noChangeAspect="1"/>
          </p:cNvPicPr>
          <p:nvPr userDrawn="1"/>
        </p:nvPicPr>
        <p:blipFill rotWithShape="1">
          <a:blip r:embed="rId2" cstate="print"/>
          <a:srcRect/>
          <a:stretch>
            <a:fillRect/>
          </a:stretch>
        </p:blipFill>
        <p:spPr>
          <a:xfrm rot="10800000">
            <a:off x="10017033" y="0"/>
            <a:ext cx="2384497" cy="1186841"/>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空白">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任意多边形(F) 17"/>
          <p:cNvSpPr/>
          <p:nvPr userDrawn="1"/>
        </p:nvSpPr>
        <p:spPr>
          <a:xfrm>
            <a:off x="8934171" y="2087276"/>
            <a:ext cx="3262907"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7" name="任意多边形(F) 21"/>
          <p:cNvSpPr/>
          <p:nvPr userDrawn="1"/>
        </p:nvSpPr>
        <p:spPr>
          <a:xfrm>
            <a:off x="537021" y="0"/>
            <a:ext cx="1824598"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2" name="任意多边形(F) 23"/>
          <p:cNvSpPr/>
          <p:nvPr userDrawn="1"/>
        </p:nvSpPr>
        <p:spPr>
          <a:xfrm>
            <a:off x="3165666" y="5908181"/>
            <a:ext cx="3046380"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stStyle>
          <a:p>
            <a:pPr algn="ctr" rtl="0"/>
            <a:endParaRPr lang="zh-CN" dirty="0"/>
          </a:p>
        </p:txBody>
      </p:sp>
      <p:sp>
        <p:nvSpPr>
          <p:cNvPr id="15" name="椭圆形 14"/>
          <p:cNvSpPr/>
          <p:nvPr userDrawn="1"/>
        </p:nvSpPr>
        <p:spPr>
          <a:xfrm>
            <a:off x="537021" y="948393"/>
            <a:ext cx="420622"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sp>
        <p:nvSpPr>
          <p:cNvPr id="9" name="Rectangle 8" hidden="1"/>
          <p:cNvSpPr/>
          <p:nvPr/>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defPPr>
              <a:defRPr lang="zh-CN"/>
            </a:defPPr>
          </a:lstStyle>
          <a:p>
            <a:pPr algn="ctr" rtl="0"/>
            <a:endParaRPr lang="zh-CN"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13" Type="http://schemas.openxmlformats.org/officeDocument/2006/relationships/theme" Target="../theme/theme26.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slideLayout" Target="../slideLayouts/slideLayout312.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theme" Target="../theme/theme27.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theme" Target="../theme/theme28.xml"/><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slideLayout" Target="../slideLayouts/slideLayout336.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4.xml"/><Relationship Id="rId13" Type="http://schemas.openxmlformats.org/officeDocument/2006/relationships/theme" Target="../theme/theme29.xml"/><Relationship Id="rId3" Type="http://schemas.openxmlformats.org/officeDocument/2006/relationships/slideLayout" Target="../slideLayouts/slideLayout339.xml"/><Relationship Id="rId7" Type="http://schemas.openxmlformats.org/officeDocument/2006/relationships/slideLayout" Target="../slideLayouts/slideLayout343.xml"/><Relationship Id="rId12" Type="http://schemas.openxmlformats.org/officeDocument/2006/relationships/slideLayout" Target="../slideLayouts/slideLayout348.xml"/><Relationship Id="rId2" Type="http://schemas.openxmlformats.org/officeDocument/2006/relationships/slideLayout" Target="../slideLayouts/slideLayout338.xml"/><Relationship Id="rId1" Type="http://schemas.openxmlformats.org/officeDocument/2006/relationships/slideLayout" Target="../slideLayouts/slideLayout337.xml"/><Relationship Id="rId6" Type="http://schemas.openxmlformats.org/officeDocument/2006/relationships/slideLayout" Target="../slideLayouts/slideLayout342.xml"/><Relationship Id="rId11" Type="http://schemas.openxmlformats.org/officeDocument/2006/relationships/slideLayout" Target="../slideLayouts/slideLayout347.xml"/><Relationship Id="rId5" Type="http://schemas.openxmlformats.org/officeDocument/2006/relationships/slideLayout" Target="../slideLayouts/slideLayout341.xml"/><Relationship Id="rId10" Type="http://schemas.openxmlformats.org/officeDocument/2006/relationships/slideLayout" Target="../slideLayouts/slideLayout346.xml"/><Relationship Id="rId4" Type="http://schemas.openxmlformats.org/officeDocument/2006/relationships/slideLayout" Target="../slideLayouts/slideLayout340.xml"/><Relationship Id="rId9" Type="http://schemas.openxmlformats.org/officeDocument/2006/relationships/slideLayout" Target="../slideLayouts/slideLayout345.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6.xml"/><Relationship Id="rId13" Type="http://schemas.openxmlformats.org/officeDocument/2006/relationships/theme" Target="../theme/theme30.xml"/><Relationship Id="rId3" Type="http://schemas.openxmlformats.org/officeDocument/2006/relationships/slideLayout" Target="../slideLayouts/slideLayout351.xml"/><Relationship Id="rId7" Type="http://schemas.openxmlformats.org/officeDocument/2006/relationships/slideLayout" Target="../slideLayouts/slideLayout355.xml"/><Relationship Id="rId12" Type="http://schemas.openxmlformats.org/officeDocument/2006/relationships/slideLayout" Target="../slideLayouts/slideLayout360.xml"/><Relationship Id="rId2" Type="http://schemas.openxmlformats.org/officeDocument/2006/relationships/slideLayout" Target="../slideLayouts/slideLayout350.xml"/><Relationship Id="rId1" Type="http://schemas.openxmlformats.org/officeDocument/2006/relationships/slideLayout" Target="../slideLayouts/slideLayout349.xml"/><Relationship Id="rId6" Type="http://schemas.openxmlformats.org/officeDocument/2006/relationships/slideLayout" Target="../slideLayouts/slideLayout354.xml"/><Relationship Id="rId11" Type="http://schemas.openxmlformats.org/officeDocument/2006/relationships/slideLayout" Target="../slideLayouts/slideLayout359.xml"/><Relationship Id="rId5" Type="http://schemas.openxmlformats.org/officeDocument/2006/relationships/slideLayout" Target="../slideLayouts/slideLayout353.xml"/><Relationship Id="rId10" Type="http://schemas.openxmlformats.org/officeDocument/2006/relationships/slideLayout" Target="../slideLayouts/slideLayout358.xml"/><Relationship Id="rId4" Type="http://schemas.openxmlformats.org/officeDocument/2006/relationships/slideLayout" Target="../slideLayouts/slideLayout352.xml"/><Relationship Id="rId9" Type="http://schemas.openxmlformats.org/officeDocument/2006/relationships/slideLayout" Target="../slideLayouts/slideLayout357.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8.xml"/><Relationship Id="rId13" Type="http://schemas.openxmlformats.org/officeDocument/2006/relationships/theme" Target="../theme/theme31.xml"/><Relationship Id="rId3" Type="http://schemas.openxmlformats.org/officeDocument/2006/relationships/slideLayout" Target="../slideLayouts/slideLayout363.xml"/><Relationship Id="rId7" Type="http://schemas.openxmlformats.org/officeDocument/2006/relationships/slideLayout" Target="../slideLayouts/slideLayout367.xml"/><Relationship Id="rId12" Type="http://schemas.openxmlformats.org/officeDocument/2006/relationships/slideLayout" Target="../slideLayouts/slideLayout372.xml"/><Relationship Id="rId2" Type="http://schemas.openxmlformats.org/officeDocument/2006/relationships/slideLayout" Target="../slideLayouts/slideLayout362.xml"/><Relationship Id="rId1" Type="http://schemas.openxmlformats.org/officeDocument/2006/relationships/slideLayout" Target="../slideLayouts/slideLayout361.xml"/><Relationship Id="rId6" Type="http://schemas.openxmlformats.org/officeDocument/2006/relationships/slideLayout" Target="../slideLayouts/slideLayout366.xml"/><Relationship Id="rId11" Type="http://schemas.openxmlformats.org/officeDocument/2006/relationships/slideLayout" Target="../slideLayouts/slideLayout371.xml"/><Relationship Id="rId5" Type="http://schemas.openxmlformats.org/officeDocument/2006/relationships/slideLayout" Target="../slideLayouts/slideLayout365.xml"/><Relationship Id="rId10" Type="http://schemas.openxmlformats.org/officeDocument/2006/relationships/slideLayout" Target="../slideLayouts/slideLayout370.xml"/><Relationship Id="rId4" Type="http://schemas.openxmlformats.org/officeDocument/2006/relationships/slideLayout" Target="../slideLayouts/slideLayout364.xml"/><Relationship Id="rId9" Type="http://schemas.openxmlformats.org/officeDocument/2006/relationships/slideLayout" Target="../slideLayouts/slideLayout36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80.xml"/><Relationship Id="rId13" Type="http://schemas.openxmlformats.org/officeDocument/2006/relationships/theme" Target="../theme/theme32.xml"/><Relationship Id="rId3" Type="http://schemas.openxmlformats.org/officeDocument/2006/relationships/slideLayout" Target="../slideLayouts/slideLayout375.xml"/><Relationship Id="rId7" Type="http://schemas.openxmlformats.org/officeDocument/2006/relationships/slideLayout" Target="../slideLayouts/slideLayout379.xml"/><Relationship Id="rId12" Type="http://schemas.openxmlformats.org/officeDocument/2006/relationships/slideLayout" Target="../slideLayouts/slideLayout384.xml"/><Relationship Id="rId2" Type="http://schemas.openxmlformats.org/officeDocument/2006/relationships/slideLayout" Target="../slideLayouts/slideLayout374.xml"/><Relationship Id="rId1" Type="http://schemas.openxmlformats.org/officeDocument/2006/relationships/slideLayout" Target="../slideLayouts/slideLayout373.xml"/><Relationship Id="rId6" Type="http://schemas.openxmlformats.org/officeDocument/2006/relationships/slideLayout" Target="../slideLayouts/slideLayout378.xml"/><Relationship Id="rId11" Type="http://schemas.openxmlformats.org/officeDocument/2006/relationships/slideLayout" Target="../slideLayouts/slideLayout383.xml"/><Relationship Id="rId5" Type="http://schemas.openxmlformats.org/officeDocument/2006/relationships/slideLayout" Target="../slideLayouts/slideLayout377.xml"/><Relationship Id="rId10" Type="http://schemas.openxmlformats.org/officeDocument/2006/relationships/slideLayout" Target="../slideLayouts/slideLayout382.xml"/><Relationship Id="rId4" Type="http://schemas.openxmlformats.org/officeDocument/2006/relationships/slideLayout" Target="../slideLayouts/slideLayout376.xml"/><Relationship Id="rId9" Type="http://schemas.openxmlformats.org/officeDocument/2006/relationships/slideLayout" Target="../slideLayouts/slideLayout381.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2.xml"/><Relationship Id="rId13" Type="http://schemas.openxmlformats.org/officeDocument/2006/relationships/theme" Target="../theme/theme33.xml"/><Relationship Id="rId3" Type="http://schemas.openxmlformats.org/officeDocument/2006/relationships/slideLayout" Target="../slideLayouts/slideLayout387.xml"/><Relationship Id="rId7" Type="http://schemas.openxmlformats.org/officeDocument/2006/relationships/slideLayout" Target="../slideLayouts/slideLayout391.xml"/><Relationship Id="rId12" Type="http://schemas.openxmlformats.org/officeDocument/2006/relationships/slideLayout" Target="../slideLayouts/slideLayout396.xml"/><Relationship Id="rId2" Type="http://schemas.openxmlformats.org/officeDocument/2006/relationships/slideLayout" Target="../slideLayouts/slideLayout386.xml"/><Relationship Id="rId1" Type="http://schemas.openxmlformats.org/officeDocument/2006/relationships/slideLayout" Target="../slideLayouts/slideLayout385.xml"/><Relationship Id="rId6" Type="http://schemas.openxmlformats.org/officeDocument/2006/relationships/slideLayout" Target="../slideLayouts/slideLayout390.xml"/><Relationship Id="rId11" Type="http://schemas.openxmlformats.org/officeDocument/2006/relationships/slideLayout" Target="../slideLayouts/slideLayout395.xml"/><Relationship Id="rId5" Type="http://schemas.openxmlformats.org/officeDocument/2006/relationships/slideLayout" Target="../slideLayouts/slideLayout389.xml"/><Relationship Id="rId10" Type="http://schemas.openxmlformats.org/officeDocument/2006/relationships/slideLayout" Target="../slideLayouts/slideLayout394.xml"/><Relationship Id="rId4" Type="http://schemas.openxmlformats.org/officeDocument/2006/relationships/slideLayout" Target="../slideLayouts/slideLayout388.xml"/><Relationship Id="rId9" Type="http://schemas.openxmlformats.org/officeDocument/2006/relationships/slideLayout" Target="../slideLayouts/slideLayout3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Autofit/>
          </a:bodyPr>
          <a:lstStyle>
            <a:defPPr>
              <a:defRPr lang="zh-CN"/>
            </a:defPPr>
          </a:lstStyle>
          <a:p>
            <a:pPr rtl="0"/>
            <a:r>
              <a:rPr lang="zh-CN"/>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Autofit/>
          </a:bodyPr>
          <a:lstStyle>
            <a:defPPr>
              <a:defRPr lang="zh-CN"/>
            </a:defPPr>
          </a:lstStyle>
          <a:p>
            <a:pPr lvl="0" rtl="0"/>
            <a:r>
              <a:rPr lang="zh-CN"/>
              <a:t>单击此处编辑母版文本样式</a:t>
            </a:r>
          </a:p>
          <a:p>
            <a:pPr lvl="1" rtl="0"/>
            <a:r>
              <a:rPr lang="zh-CN"/>
              <a:t>第二级</a:t>
            </a:r>
          </a:p>
          <a:p>
            <a:pPr lvl="2" rtl="0"/>
            <a:r>
              <a:rPr lang="zh-CN"/>
              <a:t>第三级</a:t>
            </a:r>
          </a:p>
          <a:p>
            <a:pPr lvl="3" rtl="0"/>
            <a:r>
              <a:rPr lang="zh-CN"/>
              <a:t>第四级</a:t>
            </a:r>
          </a:p>
          <a:p>
            <a:pPr lvl="4" rtl="0"/>
            <a:r>
              <a:rPr lang="zh-CN"/>
              <a:t>第五级</a:t>
            </a:r>
          </a:p>
        </p:txBody>
      </p:sp>
      <p:sp>
        <p:nvSpPr>
          <p:cNvPr id="5" name="页脚占位符 4"/>
          <p:cNvSpPr>
            <a:spLocks noGrp="1"/>
          </p:cNvSpPr>
          <p:nvPr>
            <p:ph type="ftr" sz="quarter" idx="3"/>
          </p:nvPr>
        </p:nvSpPr>
        <p:spPr>
          <a:xfrm>
            <a:off x="539496" y="6126480"/>
            <a:ext cx="4114800" cy="365125"/>
          </a:xfrm>
          <a:prstGeom prst="rect">
            <a:avLst/>
          </a:prstGeom>
        </p:spPr>
        <p:txBody>
          <a:bodyPr vert="horz" lIns="91440" tIns="45720" rIns="91440" bIns="45720" rtlCol="0" anchor="ctr">
            <a:noAutofit/>
          </a:bodyPr>
          <a:lstStyle>
            <a:lvl1pPr algn="l">
              <a:defRPr lang="zh-CN" sz="1400" baseline="0">
                <a:solidFill>
                  <a:schemeClr val="bg2">
                    <a:lumMod val="50000"/>
                  </a:schemeClr>
                </a:solidFill>
              </a:defRPr>
            </a:lvl1pPr>
          </a:lstStyle>
          <a:p>
            <a:pPr rtl="0"/>
            <a:endParaRPr lang="zh-CN" dirty="0"/>
          </a:p>
        </p:txBody>
      </p:sp>
      <p:sp>
        <p:nvSpPr>
          <p:cNvPr id="6" name="灯片编号占位符 5"/>
          <p:cNvSpPr>
            <a:spLocks noGrp="1"/>
          </p:cNvSpPr>
          <p:nvPr>
            <p:ph type="sldNum" sz="quarter" idx="4"/>
          </p:nvPr>
        </p:nvSpPr>
        <p:spPr>
          <a:xfrm>
            <a:off x="8897112" y="6190487"/>
            <a:ext cx="2743200" cy="365760"/>
          </a:xfrm>
          <a:prstGeom prst="rect">
            <a:avLst/>
          </a:prstGeom>
        </p:spPr>
        <p:txBody>
          <a:bodyPr vert="horz" lIns="91440" tIns="45720" rIns="91440" bIns="45720" rtlCol="0" anchor="ctr">
            <a:noAutofit/>
          </a:bodyPr>
          <a:lstStyle>
            <a:lvl1pPr algn="r">
              <a:defRPr lang="zh-CN" sz="1200" baseline="0">
                <a:solidFill>
                  <a:schemeClr val="tx1">
                    <a:lumMod val="65000"/>
                    <a:lumOff val="35000"/>
                  </a:schemeClr>
                </a:solidFill>
              </a:defRPr>
            </a:lvl1pPr>
          </a:lstStyle>
          <a:p>
            <a:pPr rtl="0"/>
            <a:fld id="{D1BC2EDA-D519-4F34-BF3F-BFFF500F4B03}" type="slidenum">
              <a:rPr lang="en-US" altLang="zh-CN" smtClean="0"/>
              <a:t>‹#›</a:t>
            </a:fld>
            <a:endParaRPr lang="zh-CN" dirty="0"/>
          </a:p>
        </p:txBody>
      </p:sp>
    </p:spTree>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xStyles>
    <p:titleStyle>
      <a:lvl1pPr algn="l" defTabSz="914400" rtl="0" eaLnBrk="1" latinLnBrk="0" hangingPunct="1">
        <a:spcBef>
          <a:spcPct val="0"/>
        </a:spcBef>
        <a:buNone/>
        <a:defRPr lang="zh-CN" sz="2800" kern="1200">
          <a:solidFill>
            <a:schemeClr val="tx1"/>
          </a:solidFill>
          <a:latin typeface="+mj-ea"/>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zh-CN" sz="1200" kern="1200" dirty="0">
          <a:solidFill>
            <a:schemeClr val="tx1"/>
          </a:solidFill>
          <a:latin typeface="+mn-ea"/>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a:solidFill>
            <a:schemeClr val="tx1"/>
          </a:solidFill>
          <a:latin typeface="+mn-ea"/>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zh-CN" sz="1200" kern="1200" dirty="0" smtClean="0">
          <a:solidFill>
            <a:schemeClr val="tx1"/>
          </a:solidFill>
          <a:latin typeface="+mn-ea"/>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zh-CN" sz="1200" kern="1200">
          <a:solidFill>
            <a:schemeClr val="tx1"/>
          </a:solidFill>
          <a:latin typeface="+mn-ea"/>
          <a:ea typeface="+mn-ea"/>
          <a:cs typeface="+mn-cs"/>
        </a:defRPr>
      </a:lvl9pPr>
    </p:bodyStyle>
    <p:otherStyle>
      <a:defPPr>
        <a:defRPr lang="zh-CN"/>
      </a:defPPr>
      <a:lvl1pPr marL="0" algn="l" defTabSz="914400" rtl="0" eaLnBrk="1" latinLnBrk="0" hangingPunct="1">
        <a:defRPr lang="zh-CN" sz="1800" kern="1200">
          <a:solidFill>
            <a:schemeClr val="tx1"/>
          </a:solidFill>
          <a:latin typeface="+mn-ea"/>
          <a:ea typeface="+mn-ea"/>
          <a:cs typeface="+mn-cs"/>
        </a:defRPr>
      </a:lvl1pPr>
      <a:lvl2pPr marL="457200" algn="l" defTabSz="914400" rtl="0" eaLnBrk="1" latinLnBrk="0" hangingPunct="1">
        <a:defRPr lang="zh-CN" sz="1800" kern="1200">
          <a:solidFill>
            <a:schemeClr val="tx1"/>
          </a:solidFill>
          <a:latin typeface="+mn-ea"/>
          <a:ea typeface="+mn-ea"/>
          <a:cs typeface="+mn-cs"/>
        </a:defRPr>
      </a:lvl2pPr>
      <a:lvl3pPr marL="914400" algn="l" defTabSz="914400" rtl="0" eaLnBrk="1" latinLnBrk="0" hangingPunct="1">
        <a:defRPr lang="zh-CN" sz="1800" kern="1200">
          <a:solidFill>
            <a:schemeClr val="tx1"/>
          </a:solidFill>
          <a:latin typeface="+mn-ea"/>
          <a:ea typeface="+mn-ea"/>
          <a:cs typeface="+mn-cs"/>
        </a:defRPr>
      </a:lvl3pPr>
      <a:lvl4pPr marL="1371600" algn="l" defTabSz="914400" rtl="0" eaLnBrk="1" latinLnBrk="0" hangingPunct="1">
        <a:defRPr lang="zh-CN" sz="1800" kern="1200">
          <a:solidFill>
            <a:schemeClr val="tx1"/>
          </a:solidFill>
          <a:latin typeface="+mn-ea"/>
          <a:ea typeface="+mn-ea"/>
          <a:cs typeface="+mn-cs"/>
        </a:defRPr>
      </a:lvl4pPr>
      <a:lvl5pPr marL="1828800" algn="l" defTabSz="914400" rtl="0" eaLnBrk="1" latinLnBrk="0" hangingPunct="1">
        <a:defRPr lang="zh-CN" sz="1800" kern="1200">
          <a:solidFill>
            <a:schemeClr val="tx1"/>
          </a:solidFill>
          <a:latin typeface="+mn-ea"/>
          <a:ea typeface="+mn-ea"/>
          <a:cs typeface="+mn-cs"/>
        </a:defRPr>
      </a:lvl5pPr>
      <a:lvl6pPr marL="2286000" algn="l" defTabSz="914400" rtl="0" eaLnBrk="1" latinLnBrk="0" hangingPunct="1">
        <a:defRPr lang="zh-CN" sz="1800" kern="1200">
          <a:solidFill>
            <a:schemeClr val="tx1"/>
          </a:solidFill>
          <a:latin typeface="+mn-ea"/>
          <a:ea typeface="+mn-ea"/>
          <a:cs typeface="+mn-cs"/>
        </a:defRPr>
      </a:lvl6pPr>
      <a:lvl7pPr marL="2743200" algn="l" defTabSz="914400" rtl="0" eaLnBrk="1" latinLnBrk="0" hangingPunct="1">
        <a:defRPr lang="zh-CN" sz="1800" kern="1200">
          <a:solidFill>
            <a:schemeClr val="tx1"/>
          </a:solidFill>
          <a:latin typeface="+mn-ea"/>
          <a:ea typeface="+mn-ea"/>
          <a:cs typeface="+mn-cs"/>
        </a:defRPr>
      </a:lvl7pPr>
      <a:lvl8pPr marL="3200400" algn="l" defTabSz="914400" rtl="0" eaLnBrk="1" latinLnBrk="0" hangingPunct="1">
        <a:defRPr lang="zh-CN" sz="1800" kern="1200">
          <a:solidFill>
            <a:schemeClr val="tx1"/>
          </a:solidFill>
          <a:latin typeface="+mn-ea"/>
          <a:ea typeface="+mn-ea"/>
          <a:cs typeface="+mn-cs"/>
        </a:defRPr>
      </a:lvl8pPr>
      <a:lvl9pPr marL="3657600" algn="l" defTabSz="914400" rtl="0" eaLnBrk="1" latinLnBrk="0" hangingPunct="1">
        <a:defRPr lang="zh-CN" sz="1800" kern="1200">
          <a:solidFill>
            <a:schemeClr val="tx1"/>
          </a:solidFill>
          <a:latin typeface="+mn-ea"/>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8.xml"/><Relationship Id="rId1" Type="http://schemas.openxmlformats.org/officeDocument/2006/relationships/tags" Target="../tags/tag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06.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4.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18.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30.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54.xml"/><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66.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78.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2.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90.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4.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26.xml"/><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38.xml"/><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50.xml"/><Relationship Id="rId4" Type="http://schemas.openxmlformats.org/officeDocument/2006/relationships/image" Target="../media/image64.jpe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2.xml"/></Relationships>
</file>

<file path=ppt/slides/_rels/slide4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74.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86.xml"/><Relationship Id="rId4" Type="http://schemas.openxmlformats.org/officeDocument/2006/relationships/image" Target="../media/image7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8.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1.png"/><Relationship Id="rId1" Type="http://schemas.openxmlformats.org/officeDocument/2006/relationships/slideLayout" Target="../slideLayouts/slideLayout310.xml"/><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322.xml"/></Relationships>
</file>

<file path=ppt/slides/_rels/slide4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346.xml"/><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70.xml"/></Relationships>
</file>

<file path=ppt/slides/_rels/slide5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82.xml"/><Relationship Id="rId4" Type="http://schemas.openxmlformats.org/officeDocument/2006/relationships/image" Target="../media/image79.png"/></Relationships>
</file>

<file path=ppt/slides/_rels/slide5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394.xml"/><Relationship Id="rId4"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4" name="标题 3"/>
          <p:cNvSpPr>
            <a:spLocks noGrp="1"/>
          </p:cNvSpPr>
          <p:nvPr>
            <p:ph type="title"/>
          </p:nvPr>
        </p:nvSpPr>
        <p:spPr>
          <a:xfrm>
            <a:off x="6188763" y="3090472"/>
            <a:ext cx="5777950" cy="898895"/>
          </a:xfrm>
        </p:spPr>
        <p:txBody>
          <a:bodyPr rtlCol="0"/>
          <a:lstStyle>
            <a:defPPr>
              <a:defRPr lang="zh-CN"/>
            </a:defPPr>
          </a:lstStyle>
          <a:p>
            <a:pPr rtl="0"/>
            <a:r>
              <a:rPr lang="zh-CN" altLang="en-US" sz="4600" dirty="0"/>
              <a:t>第四章 图像变换</a:t>
            </a:r>
            <a:endParaRPr lang="zh-CN" sz="4600" dirty="0"/>
          </a:p>
        </p:txBody>
      </p:sp>
      <p:pic>
        <p:nvPicPr>
          <p:cNvPr id="21" name="图片占位符 10" descr="不知所措的怪物图片"/>
          <p:cNvPicPr>
            <a:picLocks noGrp="1" noChangeAspect="1"/>
          </p:cNvPicPr>
          <p:nvPr>
            <p:ph type="pic" sz="quarter" idx="10"/>
          </p:nvPr>
        </p:nvPicPr>
        <p:blipFill rotWithShape="1">
          <a:blip r:embed="rId3" cstate="print">
            <a:extLst>
              <a:ext uri="{28A0092B-C50C-407E-A947-70E740481C1C}">
                <a14:useLocalDpi xmlns:a14="http://schemas.microsoft.com/office/drawing/2010/main" val="0"/>
              </a:ext>
            </a:extLst>
          </a:blip>
          <a:srcRect/>
          <a:stretch>
            <a:fillRect/>
          </a:stretch>
        </p:blipFill>
        <p:spPr>
          <a:xfrm>
            <a:off x="1783437" y="2035136"/>
            <a:ext cx="3009568" cy="3009568"/>
          </a:xfrm>
          <a:prstGeom prst="rect">
            <a:avLst/>
          </a:prstGeom>
          <a:noFill/>
          <a:effectLst>
            <a:outerShdw blurRad="66753" dist="39609" dir="12780000" sx="101109" sy="101109" algn="t" rotWithShape="0">
              <a:prstClr val="black">
                <a:alpha val="17409"/>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rtlCol="0"/>
          <a:lstStyle>
            <a:defPPr>
              <a:defRPr lang="zh-CN"/>
            </a:defPPr>
          </a:lstStyle>
          <a:p>
            <a:pPr rtl="0"/>
            <a:r>
              <a:rPr lang="zh-CN" altLang="en-US" dirty="0"/>
              <a:t>第四章 图像变换</a:t>
            </a:r>
            <a:endParaRPr lang="zh-CN" dirty="0"/>
          </a:p>
        </p:txBody>
      </p:sp>
      <p:sp>
        <p:nvSpPr>
          <p:cNvPr id="6" name="内容占位符 5"/>
          <p:cNvSpPr>
            <a:spLocks noGrp="1"/>
          </p:cNvSpPr>
          <p:nvPr>
            <p:ph sz="quarter" idx="15"/>
          </p:nvPr>
        </p:nvSpPr>
        <p:spPr>
          <a:xfrm>
            <a:off x="551688" y="1207008"/>
            <a:ext cx="10650772" cy="5062696"/>
          </a:xfrm>
        </p:spPr>
        <p:txBody>
          <a:bodyPr rtlCol="0"/>
          <a:lstStyle>
            <a:defPPr>
              <a:defRPr lang="zh-CN"/>
            </a:defPPr>
          </a:lstStyle>
          <a:p>
            <a:pPr rtl="0">
              <a:lnSpc>
                <a:spcPct val="150000"/>
              </a:lnSpc>
            </a:pPr>
            <a:r>
              <a:rPr lang="zh-CN" altLang="en-US" sz="2000" dirty="0">
                <a:cs typeface="+mn-lt"/>
              </a:rPr>
              <a:t>图像变换：将原定义在图像空间的图像以某种形式转换到另外的空间，利用空间的特有性质方便地进行一定的加工，最后再转换回图像空间以得到所需的效果。</a:t>
            </a:r>
            <a:endParaRPr lang="en-US" altLang="zh-CN" sz="2000" dirty="0">
              <a:cs typeface="+mn-lt"/>
            </a:endParaRPr>
          </a:p>
          <a:p>
            <a:pPr rtl="0">
              <a:lnSpc>
                <a:spcPct val="150000"/>
              </a:lnSpc>
              <a:spcBef>
                <a:spcPts val="400"/>
              </a:spcBef>
              <a:spcAft>
                <a:spcPts val="0"/>
              </a:spcAft>
            </a:pPr>
            <a:r>
              <a:rPr lang="zh-CN" altLang="en-US" sz="2000" dirty="0">
                <a:cs typeface="+mn-lt"/>
              </a:rPr>
              <a:t>图像变换算法可以分为四种：</a:t>
            </a:r>
            <a:endParaRPr lang="en-US" altLang="zh-CN" sz="2000" dirty="0">
              <a:cs typeface="+mn-lt"/>
            </a:endParaRPr>
          </a:p>
          <a:p>
            <a:pPr marL="342900" indent="-342900" rtl="0">
              <a:lnSpc>
                <a:spcPct val="150000"/>
              </a:lnSpc>
              <a:spcBef>
                <a:spcPts val="400"/>
              </a:spcBef>
              <a:spcAft>
                <a:spcPts val="0"/>
              </a:spcAft>
              <a:buFont typeface="Wingdings" panose="05000000000000000000" pitchFamily="2" charset="2"/>
              <a:buChar char="Ø"/>
            </a:pPr>
            <a:r>
              <a:rPr lang="zh-CN" altLang="en-US" sz="2000" dirty="0">
                <a:solidFill>
                  <a:srgbClr val="FF0000"/>
                </a:solidFill>
                <a:cs typeface="+mn-lt"/>
              </a:rPr>
              <a:t>空域变换等维度</a:t>
            </a:r>
            <a:r>
              <a:rPr lang="zh-CN" altLang="en-US" sz="2000" dirty="0">
                <a:cs typeface="+mn-lt"/>
              </a:rPr>
              <a:t>算法：</a:t>
            </a:r>
            <a:endParaRPr lang="en-US" altLang="zh-CN" sz="2000" dirty="0">
              <a:cs typeface="+mn-lt"/>
            </a:endParaRPr>
          </a:p>
          <a:p>
            <a:pPr marL="342900" indent="-342900" rtl="0">
              <a:lnSpc>
                <a:spcPct val="150000"/>
              </a:lnSpc>
              <a:spcBef>
                <a:spcPts val="400"/>
              </a:spcBef>
              <a:spcAft>
                <a:spcPts val="0"/>
              </a:spcAft>
              <a:buFont typeface="Wingdings" panose="05000000000000000000" pitchFamily="2" charset="2"/>
              <a:buChar char="Ø"/>
            </a:pPr>
            <a:r>
              <a:rPr lang="zh-CN" altLang="en-US" sz="2000" dirty="0">
                <a:solidFill>
                  <a:srgbClr val="FF0000"/>
                </a:solidFill>
                <a:cs typeface="+mn-lt"/>
              </a:rPr>
              <a:t>空域变换变维度</a:t>
            </a:r>
            <a:r>
              <a:rPr lang="zh-CN" altLang="en-US" sz="2000" dirty="0">
                <a:cs typeface="+mn-lt"/>
              </a:rPr>
              <a:t>算法</a:t>
            </a:r>
            <a:endParaRPr lang="en-US" altLang="zh-CN" sz="2000" dirty="0">
              <a:cs typeface="+mn-lt"/>
            </a:endParaRPr>
          </a:p>
          <a:p>
            <a:pPr marL="342900" indent="-342900" rtl="0">
              <a:lnSpc>
                <a:spcPct val="150000"/>
              </a:lnSpc>
              <a:spcBef>
                <a:spcPts val="400"/>
              </a:spcBef>
              <a:spcAft>
                <a:spcPts val="0"/>
              </a:spcAft>
              <a:buFont typeface="Wingdings" panose="05000000000000000000" pitchFamily="2" charset="2"/>
              <a:buChar char="Ø"/>
            </a:pPr>
            <a:r>
              <a:rPr lang="zh-CN" altLang="en-US" sz="2000" dirty="0">
                <a:solidFill>
                  <a:srgbClr val="FF0000"/>
                </a:solidFill>
                <a:cs typeface="+mn-lt"/>
              </a:rPr>
              <a:t>值域变换等维度</a:t>
            </a:r>
            <a:r>
              <a:rPr lang="zh-CN" altLang="en-US" sz="2000" dirty="0">
                <a:cs typeface="+mn-lt"/>
              </a:rPr>
              <a:t>算法</a:t>
            </a:r>
            <a:endParaRPr lang="en-US" altLang="zh-CN" sz="2000" dirty="0">
              <a:cs typeface="+mn-lt"/>
            </a:endParaRPr>
          </a:p>
          <a:p>
            <a:pPr marL="342900" indent="-342900" rtl="0">
              <a:lnSpc>
                <a:spcPct val="150000"/>
              </a:lnSpc>
              <a:spcBef>
                <a:spcPts val="400"/>
              </a:spcBef>
              <a:spcAft>
                <a:spcPts val="0"/>
              </a:spcAft>
              <a:buFont typeface="Wingdings" panose="05000000000000000000" pitchFamily="2" charset="2"/>
              <a:buChar char="Ø"/>
            </a:pPr>
            <a:r>
              <a:rPr lang="zh-CN" altLang="en-US" sz="2000" dirty="0">
                <a:solidFill>
                  <a:srgbClr val="FF0000"/>
                </a:solidFill>
                <a:cs typeface="+mn-lt"/>
              </a:rPr>
              <a:t>值域变换变维度</a:t>
            </a:r>
            <a:r>
              <a:rPr lang="zh-CN" altLang="en-US" sz="2000" dirty="0">
                <a:cs typeface="+mn-lt"/>
              </a:rPr>
              <a:t>算法</a:t>
            </a:r>
            <a:endParaRPr lang="en-US" altLang="zh-CN" sz="2000" dirty="0">
              <a:cs typeface="+mn-lt"/>
            </a:endParaRPr>
          </a:p>
          <a:p>
            <a:pPr rtl="0">
              <a:lnSpc>
                <a:spcPct val="150000"/>
              </a:lnSpc>
              <a:spcBef>
                <a:spcPts val="400"/>
              </a:spcBef>
              <a:spcAft>
                <a:spcPts val="0"/>
              </a:spcAft>
            </a:pPr>
            <a:r>
              <a:rPr lang="zh-CN" altLang="en-US" sz="2000" dirty="0">
                <a:solidFill>
                  <a:srgbClr val="FF0000"/>
                </a:solidFill>
                <a:cs typeface="+mn-lt"/>
              </a:rPr>
              <a:t>空域变换</a:t>
            </a:r>
            <a:r>
              <a:rPr lang="zh-CN" altLang="en-US" sz="2000" dirty="0">
                <a:cs typeface="+mn-lt"/>
              </a:rPr>
              <a:t>主要指图像在</a:t>
            </a:r>
            <a:r>
              <a:rPr lang="zh-CN" altLang="en-US" sz="2000" dirty="0">
                <a:solidFill>
                  <a:srgbClr val="FF0000"/>
                </a:solidFill>
                <a:cs typeface="+mn-lt"/>
              </a:rPr>
              <a:t>几何上</a:t>
            </a:r>
            <a:r>
              <a:rPr lang="zh-CN" altLang="en-US" sz="2000" dirty="0">
                <a:cs typeface="+mn-lt"/>
              </a:rPr>
              <a:t>的变换，而</a:t>
            </a:r>
            <a:r>
              <a:rPr lang="zh-CN" altLang="en-US" sz="2000" dirty="0">
                <a:solidFill>
                  <a:srgbClr val="FF0000"/>
                </a:solidFill>
                <a:cs typeface="+mn-lt"/>
              </a:rPr>
              <a:t>值域变换</a:t>
            </a:r>
            <a:r>
              <a:rPr lang="zh-CN" altLang="en-US" sz="2000" dirty="0">
                <a:cs typeface="+mn-lt"/>
              </a:rPr>
              <a:t>主要指图像在</a:t>
            </a:r>
            <a:r>
              <a:rPr lang="zh-CN" altLang="en-US" sz="2000" dirty="0">
                <a:solidFill>
                  <a:srgbClr val="FF0000"/>
                </a:solidFill>
                <a:cs typeface="+mn-lt"/>
              </a:rPr>
              <a:t>像素值上</a:t>
            </a:r>
            <a:r>
              <a:rPr lang="zh-CN" altLang="en-US" sz="2000" dirty="0">
                <a:cs typeface="+mn-lt"/>
              </a:rPr>
              <a:t>的变换</a:t>
            </a:r>
            <a:endParaRPr lang="en-US" altLang="zh-CN" sz="2000" dirty="0">
              <a:cs typeface="+mn-lt"/>
            </a:endParaRPr>
          </a:p>
          <a:p>
            <a:pPr rtl="0">
              <a:lnSpc>
                <a:spcPct val="150000"/>
              </a:lnSpc>
              <a:spcBef>
                <a:spcPts val="400"/>
              </a:spcBef>
              <a:spcAft>
                <a:spcPts val="0"/>
              </a:spcAft>
            </a:pPr>
            <a:r>
              <a:rPr lang="zh-CN" altLang="en-US" sz="2000" dirty="0">
                <a:solidFill>
                  <a:srgbClr val="FF0000"/>
                </a:solidFill>
                <a:cs typeface="+mn-lt"/>
              </a:rPr>
              <a:t>等维度</a:t>
            </a:r>
            <a:r>
              <a:rPr lang="zh-CN" altLang="en-US" sz="2000" dirty="0">
                <a:cs typeface="+mn-lt"/>
              </a:rPr>
              <a:t>变换是在</a:t>
            </a:r>
            <a:r>
              <a:rPr lang="zh-CN" altLang="en-US" sz="2000" dirty="0">
                <a:solidFill>
                  <a:srgbClr val="FF0000"/>
                </a:solidFill>
                <a:cs typeface="+mn-lt"/>
              </a:rPr>
              <a:t>相同的维度空间</a:t>
            </a:r>
            <a:r>
              <a:rPr lang="zh-CN" altLang="en-US" sz="2000" dirty="0">
                <a:cs typeface="+mn-lt"/>
              </a:rPr>
              <a:t>中，而</a:t>
            </a:r>
            <a:r>
              <a:rPr lang="zh-CN" altLang="en-US" sz="2000" dirty="0">
                <a:solidFill>
                  <a:srgbClr val="FF0000"/>
                </a:solidFill>
                <a:cs typeface="+mn-lt"/>
              </a:rPr>
              <a:t>变维度</a:t>
            </a:r>
            <a:r>
              <a:rPr lang="zh-CN" altLang="en-US" sz="2000" dirty="0">
                <a:cs typeface="+mn-lt"/>
              </a:rPr>
              <a:t>变换是在</a:t>
            </a:r>
            <a:r>
              <a:rPr lang="zh-CN" altLang="en-US" sz="2000" dirty="0">
                <a:solidFill>
                  <a:srgbClr val="FF0000"/>
                </a:solidFill>
                <a:cs typeface="+mn-lt"/>
              </a:rPr>
              <a:t>不同的维度空间</a:t>
            </a:r>
            <a:r>
              <a:rPr lang="zh-CN" altLang="en-US" sz="2000" dirty="0">
                <a:cs typeface="+mn-lt"/>
              </a:rPr>
              <a:t>中，例如二维到三维，灰度空间到彩色空间</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rtlCol="0"/>
          <a:lstStyle>
            <a:defPPr>
              <a:defRPr lang="zh-CN"/>
            </a:defPPr>
          </a:lstStyle>
          <a:p>
            <a:pPr rtl="0"/>
            <a:r>
              <a:rPr lang="en-US" altLang="zh-CN" dirty="0"/>
              <a:t>4.1 </a:t>
            </a:r>
            <a:r>
              <a:rPr lang="zh-CN" altLang="en-US" dirty="0"/>
              <a:t>色彩空间变换</a:t>
            </a:r>
            <a:endParaRPr lang="zh-CN" dirty="0"/>
          </a:p>
        </p:txBody>
      </p:sp>
      <p:sp>
        <p:nvSpPr>
          <p:cNvPr id="6" name="内容占位符 5"/>
          <p:cNvSpPr>
            <a:spLocks noGrp="1"/>
          </p:cNvSpPr>
          <p:nvPr>
            <p:ph sz="quarter" idx="15"/>
          </p:nvPr>
        </p:nvSpPr>
        <p:spPr>
          <a:xfrm>
            <a:off x="551688" y="1207008"/>
            <a:ext cx="10650772" cy="5062696"/>
          </a:xfrm>
        </p:spPr>
        <p:txBody>
          <a:bodyPr rtlCol="0"/>
          <a:lstStyle>
            <a:defPPr>
              <a:defRPr lang="zh-CN"/>
            </a:defPPr>
          </a:lstStyle>
          <a:p>
            <a:pPr rtl="0">
              <a:lnSpc>
                <a:spcPct val="150000"/>
              </a:lnSpc>
              <a:spcBef>
                <a:spcPts val="400"/>
              </a:spcBef>
              <a:spcAft>
                <a:spcPts val="0"/>
              </a:spcAft>
            </a:pPr>
            <a:r>
              <a:rPr lang="zh-CN" altLang="en-US" sz="2000" dirty="0">
                <a:cs typeface="+mn-lt"/>
              </a:rPr>
              <a:t>色彩空间：</a:t>
            </a:r>
            <a:endParaRPr lang="en-US" altLang="zh-CN" sz="2000" dirty="0">
              <a:cs typeface="+mn-lt"/>
            </a:endParaRPr>
          </a:p>
          <a:p>
            <a:pPr marL="342900" indent="-342900" rtl="0">
              <a:lnSpc>
                <a:spcPct val="150000"/>
              </a:lnSpc>
              <a:spcBef>
                <a:spcPts val="400"/>
              </a:spcBef>
              <a:spcAft>
                <a:spcPts val="0"/>
              </a:spcAft>
              <a:buFont typeface="Wingdings" panose="05000000000000000000" pitchFamily="2" charset="2"/>
              <a:buChar char="Ø"/>
            </a:pPr>
            <a:r>
              <a:rPr lang="zh-CN" altLang="en-US" sz="2000" dirty="0">
                <a:cs typeface="+mn-lt"/>
              </a:rPr>
              <a:t>自然界中常见的各种色光都可以通过将</a:t>
            </a:r>
            <a:r>
              <a:rPr lang="zh-CN" altLang="en-US" sz="2000" dirty="0">
                <a:solidFill>
                  <a:srgbClr val="FF0000"/>
                </a:solidFill>
                <a:cs typeface="+mn-lt"/>
              </a:rPr>
              <a:t>三基色</a:t>
            </a:r>
            <a:r>
              <a:rPr lang="en-US" altLang="zh-CN" sz="2000" dirty="0">
                <a:solidFill>
                  <a:srgbClr val="FF0000"/>
                </a:solidFill>
                <a:cs typeface="+mn-lt"/>
              </a:rPr>
              <a:t>(</a:t>
            </a:r>
            <a:r>
              <a:rPr lang="zh-CN" altLang="en-US" sz="2000" dirty="0">
                <a:solidFill>
                  <a:srgbClr val="FF0000"/>
                </a:solidFill>
                <a:cs typeface="+mn-lt"/>
              </a:rPr>
              <a:t>红、绿、蓝</a:t>
            </a:r>
            <a:r>
              <a:rPr lang="en-US" altLang="zh-CN" sz="2000" dirty="0">
                <a:solidFill>
                  <a:srgbClr val="FF0000"/>
                </a:solidFill>
                <a:cs typeface="+mn-lt"/>
              </a:rPr>
              <a:t>)</a:t>
            </a:r>
            <a:r>
              <a:rPr lang="zh-CN" altLang="en-US" sz="2000" dirty="0">
                <a:cs typeface="+mn-lt"/>
              </a:rPr>
              <a:t>按照一定的比例混合构成</a:t>
            </a:r>
            <a:endParaRPr lang="en-US" altLang="zh-CN" sz="2000" dirty="0">
              <a:cs typeface="+mn-lt"/>
            </a:endParaRPr>
          </a:p>
          <a:p>
            <a:pPr marL="342900" indent="-342900" rtl="0">
              <a:lnSpc>
                <a:spcPct val="150000"/>
              </a:lnSpc>
              <a:spcBef>
                <a:spcPts val="400"/>
              </a:spcBef>
              <a:spcAft>
                <a:spcPts val="0"/>
              </a:spcAft>
              <a:buFont typeface="Wingdings" panose="05000000000000000000" pitchFamily="2" charset="2"/>
              <a:buChar char="Ø"/>
            </a:pPr>
            <a:r>
              <a:rPr lang="zh-CN" altLang="en-US" sz="2000" dirty="0">
                <a:cs typeface="+mn-lt"/>
              </a:rPr>
              <a:t>从光学角度出发</a:t>
            </a:r>
            <a:r>
              <a:rPr lang="en-US" altLang="zh-CN" sz="2000" dirty="0">
                <a:cs typeface="+mn-lt"/>
              </a:rPr>
              <a:t>,</a:t>
            </a:r>
            <a:r>
              <a:rPr lang="zh-CN" altLang="en-US" sz="2000" dirty="0">
                <a:cs typeface="+mn-lt"/>
              </a:rPr>
              <a:t>可以将颜色解析为</a:t>
            </a:r>
            <a:r>
              <a:rPr lang="zh-CN" altLang="en-US" sz="2000" dirty="0">
                <a:solidFill>
                  <a:srgbClr val="FF0000"/>
                </a:solidFill>
                <a:cs typeface="+mn-lt"/>
              </a:rPr>
              <a:t>主波长</a:t>
            </a:r>
            <a:r>
              <a:rPr lang="en-US" altLang="zh-CN" sz="2000" dirty="0">
                <a:solidFill>
                  <a:srgbClr val="FF0000"/>
                </a:solidFill>
                <a:cs typeface="+mn-lt"/>
              </a:rPr>
              <a:t>,</a:t>
            </a:r>
            <a:r>
              <a:rPr lang="zh-CN" altLang="en-US" sz="2000" dirty="0">
                <a:solidFill>
                  <a:srgbClr val="FF0000"/>
                </a:solidFill>
                <a:cs typeface="+mn-lt"/>
              </a:rPr>
              <a:t>纯度</a:t>
            </a:r>
            <a:r>
              <a:rPr lang="en-US" altLang="zh-CN" sz="2000" dirty="0">
                <a:solidFill>
                  <a:srgbClr val="FF0000"/>
                </a:solidFill>
                <a:cs typeface="+mn-lt"/>
              </a:rPr>
              <a:t>,</a:t>
            </a:r>
            <a:r>
              <a:rPr lang="zh-CN" altLang="en-US" sz="2000" dirty="0">
                <a:solidFill>
                  <a:srgbClr val="FF0000"/>
                </a:solidFill>
                <a:cs typeface="+mn-lt"/>
              </a:rPr>
              <a:t>明度</a:t>
            </a:r>
            <a:r>
              <a:rPr lang="zh-CN" altLang="en-US" sz="2000" dirty="0">
                <a:cs typeface="+mn-lt"/>
              </a:rPr>
              <a:t>等</a:t>
            </a:r>
            <a:endParaRPr lang="en-US" altLang="zh-CN" sz="2000" dirty="0">
              <a:cs typeface="+mn-lt"/>
            </a:endParaRPr>
          </a:p>
          <a:p>
            <a:pPr marL="342900" indent="-342900" rtl="0">
              <a:lnSpc>
                <a:spcPct val="150000"/>
              </a:lnSpc>
              <a:spcBef>
                <a:spcPts val="400"/>
              </a:spcBef>
              <a:spcAft>
                <a:spcPts val="0"/>
              </a:spcAft>
              <a:buFont typeface="Wingdings" panose="05000000000000000000" pitchFamily="2" charset="2"/>
              <a:buChar char="Ø"/>
            </a:pPr>
            <a:r>
              <a:rPr lang="zh-CN" altLang="en-US" sz="2000" dirty="0">
                <a:cs typeface="+mn-lt"/>
              </a:rPr>
              <a:t>从心理学和视觉角度出发</a:t>
            </a:r>
            <a:r>
              <a:rPr lang="en-US" altLang="zh-CN" sz="2000" dirty="0">
                <a:cs typeface="+mn-lt"/>
              </a:rPr>
              <a:t>,</a:t>
            </a:r>
            <a:r>
              <a:rPr lang="zh-CN" altLang="en-US" sz="2000" dirty="0">
                <a:cs typeface="+mn-lt"/>
              </a:rPr>
              <a:t>可以将颜色解析为</a:t>
            </a:r>
            <a:r>
              <a:rPr lang="zh-CN" altLang="en-US" sz="2000" dirty="0">
                <a:solidFill>
                  <a:srgbClr val="FF0000"/>
                </a:solidFill>
                <a:cs typeface="+mn-lt"/>
              </a:rPr>
              <a:t>色调、饱和度、亮度</a:t>
            </a:r>
            <a:r>
              <a:rPr lang="zh-CN" altLang="en-US" sz="2000" dirty="0">
                <a:cs typeface="+mn-lt"/>
              </a:rPr>
              <a:t>等</a:t>
            </a:r>
            <a:endParaRPr lang="en-US" altLang="zh-CN" sz="2000" dirty="0">
              <a:cs typeface="+mn-lt"/>
            </a:endParaRPr>
          </a:p>
          <a:p>
            <a:pPr marL="342900" indent="-342900" rtl="0">
              <a:lnSpc>
                <a:spcPct val="150000"/>
              </a:lnSpc>
              <a:spcBef>
                <a:spcPts val="400"/>
              </a:spcBef>
              <a:spcAft>
                <a:spcPts val="0"/>
              </a:spcAft>
              <a:buFont typeface="Wingdings" panose="05000000000000000000" pitchFamily="2" charset="2"/>
              <a:buChar char="Ø"/>
            </a:pPr>
            <a:r>
              <a:rPr lang="zh-CN" altLang="en-US" sz="2000" dirty="0">
                <a:cs typeface="+mn-lt"/>
              </a:rPr>
              <a:t>将上述采用不同的方式表述颜色的模式称为</a:t>
            </a:r>
            <a:r>
              <a:rPr lang="zh-CN" altLang="en-US" sz="2000" dirty="0">
                <a:solidFill>
                  <a:srgbClr val="FF0000"/>
                </a:solidFill>
                <a:cs typeface="+mn-lt"/>
              </a:rPr>
              <a:t>色彩空间</a:t>
            </a:r>
            <a:r>
              <a:rPr lang="en-US" altLang="zh-CN" sz="2000" dirty="0">
                <a:solidFill>
                  <a:srgbClr val="FF0000"/>
                </a:solidFill>
                <a:cs typeface="+mn-lt"/>
              </a:rPr>
              <a:t>,</a:t>
            </a:r>
            <a:r>
              <a:rPr lang="zh-CN" altLang="en-US" sz="2000" dirty="0">
                <a:solidFill>
                  <a:srgbClr val="FF0000"/>
                </a:solidFill>
                <a:cs typeface="+mn-lt"/>
              </a:rPr>
              <a:t>或者颜色空间、颜色模式</a:t>
            </a:r>
            <a:endParaRPr lang="en-US" altLang="zh-CN" sz="2000" dirty="0">
              <a:solidFill>
                <a:srgbClr val="FF0000"/>
              </a:solidFill>
              <a:cs typeface="+mn-lt"/>
            </a:endParaRPr>
          </a:p>
          <a:p>
            <a:pPr marL="342900" indent="-342900">
              <a:lnSpc>
                <a:spcPct val="150000"/>
              </a:lnSpc>
              <a:spcBef>
                <a:spcPts val="400"/>
              </a:spcBef>
              <a:spcAft>
                <a:spcPts val="0"/>
              </a:spcAft>
              <a:buFont typeface="Wingdings" panose="05000000000000000000" pitchFamily="2" charset="2"/>
              <a:buChar char="Ø"/>
            </a:pPr>
            <a:r>
              <a:rPr lang="zh-CN" altLang="en-US" sz="2000" dirty="0">
                <a:cs typeface="+mn-lt"/>
              </a:rPr>
              <a:t>常见的色彩空间：</a:t>
            </a:r>
            <a:r>
              <a:rPr lang="en-US" altLang="zh-CN" sz="2000" dirty="0">
                <a:cs typeface="+mn-lt"/>
              </a:rPr>
              <a:t>RGB</a:t>
            </a:r>
            <a:r>
              <a:rPr lang="zh-CN" altLang="en-US" sz="2000" dirty="0">
                <a:cs typeface="+mn-lt"/>
              </a:rPr>
              <a:t>、</a:t>
            </a:r>
            <a:r>
              <a:rPr lang="en-US" altLang="zh-CN" sz="2000" dirty="0">
                <a:cs typeface="+mn-lt"/>
              </a:rPr>
              <a:t>GRAY(</a:t>
            </a:r>
            <a:r>
              <a:rPr lang="zh-CN" altLang="en-US" sz="2000" dirty="0">
                <a:cs typeface="+mn-lt"/>
              </a:rPr>
              <a:t>灰度图像</a:t>
            </a:r>
            <a:r>
              <a:rPr lang="en-US" altLang="zh-CN" sz="2000" dirty="0">
                <a:cs typeface="+mn-lt"/>
              </a:rPr>
              <a:t>)</a:t>
            </a:r>
            <a:r>
              <a:rPr lang="zh-CN" altLang="en-US" sz="2000" dirty="0">
                <a:cs typeface="+mn-lt"/>
              </a:rPr>
              <a:t>、</a:t>
            </a:r>
            <a:r>
              <a:rPr lang="en-US" altLang="zh-CN" sz="2000" dirty="0" err="1">
                <a:cs typeface="+mn-lt"/>
              </a:rPr>
              <a:t>YCrCb</a:t>
            </a:r>
            <a:r>
              <a:rPr lang="zh-CN" altLang="en-US" sz="2000" dirty="0">
                <a:cs typeface="+mn-lt"/>
              </a:rPr>
              <a:t>、</a:t>
            </a:r>
            <a:r>
              <a:rPr lang="en-US" altLang="zh-CN" sz="2000" dirty="0">
                <a:cs typeface="+mn-lt"/>
              </a:rPr>
              <a:t>HSV</a:t>
            </a:r>
            <a:r>
              <a:rPr lang="zh-CN" altLang="en-US" sz="2000" dirty="0">
                <a:cs typeface="+mn-lt"/>
              </a:rPr>
              <a:t>、</a:t>
            </a:r>
            <a:r>
              <a:rPr lang="en-US" altLang="zh-CN" sz="2000" dirty="0">
                <a:cs typeface="+mn-lt"/>
              </a:rPr>
              <a:t>HLS</a:t>
            </a:r>
            <a:r>
              <a:rPr lang="zh-CN" altLang="en-US" sz="2000" dirty="0">
                <a:cs typeface="+mn-lt"/>
              </a:rPr>
              <a:t>、</a:t>
            </a:r>
            <a:r>
              <a:rPr lang="en-US" altLang="zh-CN" sz="2000" dirty="0">
                <a:cs typeface="+mn-lt"/>
              </a:rPr>
              <a:t>HIS</a:t>
            </a:r>
            <a:r>
              <a:rPr lang="zh-CN" altLang="en-US" sz="2000" dirty="0">
                <a:cs typeface="+mn-lt"/>
              </a:rPr>
              <a:t>、</a:t>
            </a:r>
            <a:r>
              <a:rPr lang="en-US" altLang="zh-CN" sz="2000" dirty="0">
                <a:cs typeface="+mn-lt"/>
              </a:rPr>
              <a:t>CMY</a:t>
            </a:r>
            <a:r>
              <a:rPr lang="zh-CN" altLang="en-US" sz="2000" dirty="0">
                <a:cs typeface="+mn-lt"/>
              </a:rPr>
              <a:t>、</a:t>
            </a:r>
            <a:r>
              <a:rPr lang="en-US" altLang="zh-CN" sz="2000" dirty="0">
                <a:cs typeface="+mn-lt"/>
              </a:rPr>
              <a:t>YUV</a:t>
            </a:r>
            <a:r>
              <a:rPr lang="zh-CN" altLang="en-US" sz="2000" dirty="0">
                <a:cs typeface="+mn-lt"/>
              </a:rPr>
              <a:t>等</a:t>
            </a:r>
            <a:endParaRPr lang="en-US" altLang="zh-CN" sz="2000" dirty="0">
              <a:cs typeface="+mn-lt"/>
            </a:endParaRPr>
          </a:p>
          <a:p>
            <a:pPr rtl="0">
              <a:lnSpc>
                <a:spcPct val="150000"/>
              </a:lnSpc>
              <a:spcBef>
                <a:spcPts val="400"/>
              </a:spcBef>
            </a:pPr>
            <a:r>
              <a:rPr lang="zh-CN" altLang="en-US" sz="2000" dirty="0">
                <a:cs typeface="+mn-lt"/>
              </a:rPr>
              <a:t>色彩空间转换：将图像从一个色彩空间转换到另一个色彩空间，每种色彩空间都其擅长的解决问题的领域，因此在解决色彩问题时，需要进行色彩空间的转换。</a:t>
            </a:r>
          </a:p>
          <a:p>
            <a:pPr rtl="0">
              <a:lnSpc>
                <a:spcPct val="150000"/>
              </a:lnSpc>
            </a:pPr>
            <a:endParaRPr lang="zh-CN" altLang="en-US" sz="2000" dirty="0">
              <a:cs typeface="+mn-lt"/>
            </a:endParaRPr>
          </a:p>
          <a:p>
            <a:pPr rtl="0">
              <a:lnSpc>
                <a:spcPct val="150000"/>
              </a:lnSpc>
            </a:pPr>
            <a:endParaRPr lang="zh-CN" altLang="en-US" sz="2000" dirty="0">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21208" y="163514"/>
            <a:ext cx="11119104" cy="640080"/>
          </a:xfrm>
        </p:spPr>
        <p:txBody>
          <a:bodyPr rtlCol="0"/>
          <a:lstStyle>
            <a:defPPr>
              <a:defRPr lang="zh-CN"/>
            </a:defPPr>
          </a:lstStyle>
          <a:p>
            <a:pPr rtl="0"/>
            <a:r>
              <a:rPr lang="en-US" altLang="zh-CN" dirty="0"/>
              <a:t>4.1 </a:t>
            </a:r>
            <a:r>
              <a:rPr lang="zh-CN" altLang="en-US" dirty="0"/>
              <a:t>色彩空间变换</a:t>
            </a:r>
            <a:endParaRPr lang="zh-CN" dirty="0"/>
          </a:p>
        </p:txBody>
      </p:sp>
      <p:sp>
        <p:nvSpPr>
          <p:cNvPr id="6" name="内容占位符 5"/>
          <p:cNvSpPr>
            <a:spLocks noGrp="1"/>
          </p:cNvSpPr>
          <p:nvPr>
            <p:ph sz="quarter" idx="15"/>
          </p:nvPr>
        </p:nvSpPr>
        <p:spPr>
          <a:xfrm>
            <a:off x="551688" y="606368"/>
            <a:ext cx="11335512" cy="5971575"/>
          </a:xfrm>
        </p:spPr>
        <p:txBody>
          <a:bodyPr rtlCol="0"/>
          <a:lstStyle>
            <a:defPPr>
              <a:defRPr lang="zh-CN"/>
            </a:defPPr>
          </a:lstStyle>
          <a:p>
            <a:pPr rtl="0">
              <a:lnSpc>
                <a:spcPct val="150000"/>
              </a:lnSpc>
              <a:spcBef>
                <a:spcPts val="400"/>
              </a:spcBef>
              <a:spcAft>
                <a:spcPts val="0"/>
              </a:spcAft>
            </a:pPr>
            <a:r>
              <a:rPr lang="zh-CN" altLang="en-US" sz="2000" dirty="0">
                <a:cs typeface="+mn-lt"/>
              </a:rPr>
              <a:t>常用的色彩空间：</a:t>
            </a:r>
            <a:endParaRPr lang="en-US" altLang="zh-CN" sz="2000" dirty="0">
              <a:cs typeface="+mn-lt"/>
            </a:endParaRPr>
          </a:p>
          <a:p>
            <a:pPr rtl="0">
              <a:lnSpc>
                <a:spcPct val="150000"/>
              </a:lnSpc>
              <a:spcBef>
                <a:spcPts val="400"/>
              </a:spcBef>
              <a:spcAft>
                <a:spcPts val="0"/>
              </a:spcAft>
            </a:pPr>
            <a:r>
              <a:rPr lang="en-US" altLang="zh-CN" sz="2000" dirty="0">
                <a:cs typeface="+mn-lt"/>
              </a:rPr>
              <a:t>RGB</a:t>
            </a:r>
            <a:r>
              <a:rPr lang="zh-CN" altLang="en-US" sz="2000" dirty="0">
                <a:cs typeface="+mn-lt"/>
              </a:rPr>
              <a:t>：最常用的是面向硬件的颜色空间，该空间经常用于屏幕显示和视频输出</a:t>
            </a:r>
            <a:endParaRPr lang="en-US" altLang="zh-CN" sz="2000" dirty="0">
              <a:cs typeface="+mn-lt"/>
            </a:endParaRPr>
          </a:p>
          <a:p>
            <a:pPr rtl="0">
              <a:lnSpc>
                <a:spcPct val="150000"/>
              </a:lnSpc>
              <a:spcBef>
                <a:spcPts val="400"/>
              </a:spcBef>
              <a:spcAft>
                <a:spcPts val="0"/>
              </a:spcAft>
            </a:pPr>
            <a:r>
              <a:rPr lang="en-US" altLang="zh-CN" sz="2000" dirty="0">
                <a:cs typeface="+mn-lt"/>
              </a:rPr>
              <a:t>HSI</a:t>
            </a:r>
            <a:r>
              <a:rPr lang="zh-CN" altLang="en-US" sz="2000" dirty="0">
                <a:cs typeface="+mn-lt"/>
              </a:rPr>
              <a:t>（色调、饱和度、强度）：是一种更符合人描述和解释颜色的一种模型</a:t>
            </a:r>
            <a:endParaRPr lang="en-US" altLang="zh-CN" sz="2000" dirty="0">
              <a:cs typeface="+mn-lt"/>
            </a:endParaRPr>
          </a:p>
          <a:p>
            <a:pPr rtl="0">
              <a:lnSpc>
                <a:spcPct val="150000"/>
              </a:lnSpc>
              <a:spcBef>
                <a:spcPts val="400"/>
              </a:spcBef>
              <a:spcAft>
                <a:spcPts val="0"/>
              </a:spcAft>
            </a:pPr>
            <a:r>
              <a:rPr lang="en-US" altLang="zh-CN" sz="2000" dirty="0">
                <a:cs typeface="+mn-lt"/>
              </a:rPr>
              <a:t>HSV</a:t>
            </a:r>
            <a:r>
              <a:rPr lang="zh-CN" altLang="en-US" sz="2000" dirty="0">
                <a:cs typeface="+mn-lt"/>
              </a:rPr>
              <a:t>（色调、饱和度、亮度）：不适合显示器系统，但是更符合人眼的视觉特性</a:t>
            </a:r>
          </a:p>
          <a:p>
            <a:pPr rtl="0">
              <a:lnSpc>
                <a:spcPct val="150000"/>
              </a:lnSpc>
              <a:spcBef>
                <a:spcPts val="400"/>
              </a:spcBef>
              <a:spcAft>
                <a:spcPts val="0"/>
              </a:spcAft>
            </a:pPr>
            <a:r>
              <a:rPr lang="en-US" altLang="zh-CN" sz="2000" dirty="0">
                <a:cs typeface="+mn-lt"/>
              </a:rPr>
              <a:t>Lab</a:t>
            </a:r>
            <a:r>
              <a:rPr lang="zh-CN" altLang="en-US" sz="2000" dirty="0">
                <a:cs typeface="+mn-lt"/>
              </a:rPr>
              <a:t>（亮度、颜色通道</a:t>
            </a:r>
            <a:r>
              <a:rPr lang="en-US" altLang="zh-CN" sz="2000" dirty="0">
                <a:cs typeface="+mn-lt"/>
              </a:rPr>
              <a:t>a</a:t>
            </a:r>
            <a:r>
              <a:rPr lang="zh-CN" altLang="en-US" sz="2000" dirty="0">
                <a:cs typeface="+mn-lt"/>
              </a:rPr>
              <a:t>、</a:t>
            </a:r>
            <a:r>
              <a:rPr lang="en-US" altLang="zh-CN" sz="2000" dirty="0">
                <a:cs typeface="+mn-lt"/>
              </a:rPr>
              <a:t>b</a:t>
            </a:r>
            <a:r>
              <a:rPr lang="zh-CN" altLang="en-US" sz="2000" dirty="0">
                <a:cs typeface="+mn-lt"/>
              </a:rPr>
              <a:t>）：弥补了</a:t>
            </a:r>
            <a:r>
              <a:rPr lang="en-US" altLang="zh-CN" sz="2000" dirty="0">
                <a:cs typeface="+mn-lt"/>
              </a:rPr>
              <a:t>RGB</a:t>
            </a:r>
            <a:r>
              <a:rPr lang="zh-CN" altLang="en-US" sz="2000" dirty="0">
                <a:cs typeface="+mn-lt"/>
              </a:rPr>
              <a:t>和</a:t>
            </a:r>
            <a:r>
              <a:rPr lang="en-US" altLang="zh-CN" sz="2000" dirty="0">
                <a:cs typeface="+mn-lt"/>
              </a:rPr>
              <a:t>CMYK</a:t>
            </a:r>
            <a:r>
              <a:rPr lang="zh-CN" altLang="en-US" sz="2000" dirty="0">
                <a:cs typeface="+mn-lt"/>
              </a:rPr>
              <a:t>两种色彩模式的不足</a:t>
            </a:r>
            <a:r>
              <a:rPr lang="en-US" altLang="zh-CN" sz="2000" dirty="0">
                <a:cs typeface="+mn-lt"/>
              </a:rPr>
              <a:t>,</a:t>
            </a:r>
            <a:r>
              <a:rPr lang="zh-CN" altLang="en-US" sz="2000" dirty="0">
                <a:cs typeface="+mn-lt"/>
              </a:rPr>
              <a:t>是一种设备无关的颜色模型，也是一种基于生理特征的颜色模型</a:t>
            </a:r>
            <a:endParaRPr lang="en-US" altLang="zh-CN" sz="2000" dirty="0">
              <a:cs typeface="+mn-lt"/>
            </a:endParaRPr>
          </a:p>
          <a:p>
            <a:pPr rtl="0">
              <a:lnSpc>
                <a:spcPct val="150000"/>
              </a:lnSpc>
              <a:spcBef>
                <a:spcPts val="400"/>
              </a:spcBef>
              <a:spcAft>
                <a:spcPts val="0"/>
              </a:spcAft>
            </a:pPr>
            <a:r>
              <a:rPr lang="en-US" altLang="zh-CN" sz="2000" dirty="0">
                <a:cs typeface="+mn-lt"/>
              </a:rPr>
              <a:t>CMY</a:t>
            </a:r>
            <a:r>
              <a:rPr lang="zh-CN" altLang="en-US" sz="2000" dirty="0">
                <a:cs typeface="+mn-lt"/>
              </a:rPr>
              <a:t>（青、洋红、黄）和</a:t>
            </a:r>
            <a:r>
              <a:rPr lang="en-US" altLang="zh-CN" sz="2000" dirty="0">
                <a:cs typeface="+mn-lt"/>
              </a:rPr>
              <a:t>CMYK</a:t>
            </a:r>
            <a:r>
              <a:rPr lang="zh-CN" altLang="en-US" sz="2000" dirty="0">
                <a:cs typeface="+mn-lt"/>
              </a:rPr>
              <a:t>（青、洋红、黄、黑）：是针对彩色打印机的</a:t>
            </a:r>
            <a:endParaRPr lang="en-US" altLang="zh-CN" sz="2000" dirty="0">
              <a:cs typeface="+mn-lt"/>
            </a:endParaRPr>
          </a:p>
          <a:p>
            <a:pPr rtl="0">
              <a:lnSpc>
                <a:spcPct val="150000"/>
              </a:lnSpc>
              <a:spcBef>
                <a:spcPts val="400"/>
              </a:spcBef>
              <a:spcAft>
                <a:spcPts val="0"/>
              </a:spcAft>
            </a:pPr>
            <a:r>
              <a:rPr lang="en-US" altLang="zh-CN" sz="2000" dirty="0">
                <a:cs typeface="+mn-lt"/>
              </a:rPr>
              <a:t>GRAY</a:t>
            </a:r>
            <a:r>
              <a:rPr lang="zh-CN" altLang="en-US" sz="2000" dirty="0">
                <a:cs typeface="+mn-lt"/>
              </a:rPr>
              <a:t>：通常指的是灰度图像，具有</a:t>
            </a:r>
            <a:r>
              <a:rPr lang="en-US" altLang="zh-CN" sz="2000" dirty="0">
                <a:cs typeface="+mn-lt"/>
              </a:rPr>
              <a:t>256</a:t>
            </a:r>
            <a:r>
              <a:rPr lang="zh-CN" altLang="en-US" sz="2000" dirty="0">
                <a:cs typeface="+mn-lt"/>
              </a:rPr>
              <a:t>个灰度级，像素值的范围是</a:t>
            </a:r>
            <a:r>
              <a:rPr lang="en-US" altLang="zh-CN" sz="2000" dirty="0">
                <a:cs typeface="+mn-lt"/>
              </a:rPr>
              <a:t>0~255</a:t>
            </a:r>
          </a:p>
          <a:p>
            <a:pPr rtl="0">
              <a:lnSpc>
                <a:spcPct val="150000"/>
              </a:lnSpc>
              <a:spcBef>
                <a:spcPts val="400"/>
              </a:spcBef>
              <a:spcAft>
                <a:spcPts val="0"/>
              </a:spcAft>
            </a:pPr>
            <a:r>
              <a:rPr lang="en-US" altLang="zh-CN" sz="2000" dirty="0">
                <a:cs typeface="+mn-lt"/>
              </a:rPr>
              <a:t>YUV</a:t>
            </a:r>
            <a:r>
              <a:rPr lang="zh-CN" altLang="en-US" sz="2000" dirty="0">
                <a:cs typeface="+mn-lt"/>
              </a:rPr>
              <a:t>：</a:t>
            </a:r>
            <a:r>
              <a:rPr lang="en-US" altLang="zh-CN" sz="2000" dirty="0">
                <a:cs typeface="+mn-lt"/>
              </a:rPr>
              <a:t>Y”</a:t>
            </a:r>
            <a:r>
              <a:rPr lang="zh-CN" altLang="en-US" sz="2000" dirty="0">
                <a:cs typeface="+mn-lt"/>
              </a:rPr>
              <a:t>表示明亮度，也就是灰阶值，“</a:t>
            </a:r>
            <a:r>
              <a:rPr lang="en-US" altLang="zh-CN" sz="2000" dirty="0">
                <a:cs typeface="+mn-lt"/>
              </a:rPr>
              <a:t>U”</a:t>
            </a:r>
            <a:r>
              <a:rPr lang="zh-CN" altLang="en-US" sz="2000" dirty="0">
                <a:cs typeface="+mn-lt"/>
              </a:rPr>
              <a:t>和“</a:t>
            </a:r>
            <a:r>
              <a:rPr lang="en-US" altLang="zh-CN" sz="2000" dirty="0">
                <a:cs typeface="+mn-lt"/>
              </a:rPr>
              <a:t>V”</a:t>
            </a:r>
            <a:r>
              <a:rPr lang="zh-CN" altLang="en-US" sz="2000" dirty="0">
                <a:cs typeface="+mn-lt"/>
              </a:rPr>
              <a:t>表示的则是色度，作用是描述影像色彩及饱和度，用于指定像素的颜色，用于优化彩色视频信号的传输</a:t>
            </a:r>
            <a:endParaRPr lang="en-US" altLang="zh-CN" sz="2000" dirty="0">
              <a:cs typeface="+mn-lt"/>
            </a:endParaRPr>
          </a:p>
          <a:p>
            <a:pPr rtl="0">
              <a:lnSpc>
                <a:spcPct val="150000"/>
              </a:lnSpc>
              <a:spcBef>
                <a:spcPts val="400"/>
              </a:spcBef>
              <a:spcAft>
                <a:spcPts val="0"/>
              </a:spcAft>
            </a:pPr>
            <a:r>
              <a:rPr lang="en-US" altLang="zh-CN" sz="2000" dirty="0" err="1">
                <a:cs typeface="+mn-lt"/>
              </a:rPr>
              <a:t>YCrCb</a:t>
            </a:r>
            <a:r>
              <a:rPr lang="zh-CN" altLang="en-US" sz="2000" dirty="0">
                <a:cs typeface="+mn-lt"/>
              </a:rPr>
              <a:t>：由</a:t>
            </a:r>
            <a:r>
              <a:rPr lang="en-US" altLang="zh-CN" sz="2000" dirty="0">
                <a:cs typeface="+mn-lt"/>
              </a:rPr>
              <a:t>YUV</a:t>
            </a:r>
            <a:r>
              <a:rPr lang="zh-CN" altLang="en-US" sz="2000" dirty="0">
                <a:cs typeface="+mn-lt"/>
              </a:rPr>
              <a:t>彩色空间派生的一种颜色空间，主要用于数字电视系统，</a:t>
            </a:r>
            <a:r>
              <a:rPr lang="en-US" altLang="zh-CN" sz="2000" dirty="0">
                <a:cs typeface="+mn-lt"/>
              </a:rPr>
              <a:t>Y</a:t>
            </a:r>
            <a:r>
              <a:rPr lang="zh-CN" altLang="en-US" sz="2000" dirty="0">
                <a:cs typeface="+mn-lt"/>
              </a:rPr>
              <a:t>代表光源的亮度，色度信息保存在</a:t>
            </a:r>
            <a:r>
              <a:rPr lang="en-US" altLang="zh-CN" sz="2000" dirty="0">
                <a:cs typeface="+mn-lt"/>
              </a:rPr>
              <a:t>Cr</a:t>
            </a:r>
            <a:r>
              <a:rPr lang="zh-CN" altLang="en-US" sz="2000" dirty="0">
                <a:cs typeface="+mn-lt"/>
              </a:rPr>
              <a:t>和</a:t>
            </a:r>
            <a:r>
              <a:rPr lang="en-US" altLang="zh-CN" sz="2000" dirty="0" err="1">
                <a:cs typeface="+mn-lt"/>
              </a:rPr>
              <a:t>Cb</a:t>
            </a:r>
            <a:r>
              <a:rPr lang="zh-CN" altLang="en-US" sz="2000" dirty="0">
                <a:cs typeface="+mn-lt"/>
              </a:rPr>
              <a:t>中，</a:t>
            </a:r>
            <a:r>
              <a:rPr lang="en-US" altLang="zh-CN" sz="2000" dirty="0">
                <a:cs typeface="+mn-lt"/>
              </a:rPr>
              <a:t>Cr</a:t>
            </a:r>
            <a:r>
              <a:rPr lang="zh-CN" altLang="en-US" sz="2000" dirty="0">
                <a:cs typeface="+mn-lt"/>
              </a:rPr>
              <a:t>表示红色分量信息，</a:t>
            </a:r>
            <a:r>
              <a:rPr lang="en-US" altLang="zh-CN" sz="2000" dirty="0" err="1">
                <a:cs typeface="+mn-lt"/>
              </a:rPr>
              <a:t>Cb</a:t>
            </a:r>
            <a:r>
              <a:rPr lang="zh-CN" altLang="en-US" sz="2000" dirty="0">
                <a:cs typeface="+mn-lt"/>
              </a:rPr>
              <a:t>表示蓝色分量信息</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21208" y="163514"/>
            <a:ext cx="11119104" cy="640080"/>
          </a:xfrm>
        </p:spPr>
        <p:txBody>
          <a:bodyPr rtlCol="0"/>
          <a:lstStyle>
            <a:defPPr>
              <a:defRPr lang="zh-CN"/>
            </a:defPPr>
          </a:lstStyle>
          <a:p>
            <a:pPr rtl="0"/>
            <a:r>
              <a:rPr lang="en-US" altLang="zh-CN" dirty="0"/>
              <a:t>4.1 </a:t>
            </a:r>
            <a:r>
              <a:rPr lang="zh-CN" altLang="en-US" dirty="0"/>
              <a:t>色彩空间变换</a:t>
            </a:r>
            <a:endParaRPr lang="zh-CN" dirty="0"/>
          </a:p>
        </p:txBody>
      </p:sp>
      <p:sp>
        <p:nvSpPr>
          <p:cNvPr id="6" name="内容占位符 5"/>
          <p:cNvSpPr>
            <a:spLocks noGrp="1"/>
          </p:cNvSpPr>
          <p:nvPr>
            <p:ph sz="quarter" idx="15"/>
          </p:nvPr>
        </p:nvSpPr>
        <p:spPr>
          <a:xfrm>
            <a:off x="551688" y="606368"/>
            <a:ext cx="11335512" cy="5971575"/>
          </a:xfrm>
        </p:spPr>
        <p:txBody>
          <a:bodyPr rtlCol="0"/>
          <a:lstStyle>
            <a:defPPr>
              <a:defRPr lang="zh-CN"/>
            </a:defPPr>
          </a:lstStyle>
          <a:p>
            <a:pPr rtl="0">
              <a:lnSpc>
                <a:spcPct val="150000"/>
              </a:lnSpc>
              <a:spcBef>
                <a:spcPts val="400"/>
              </a:spcBef>
              <a:spcAft>
                <a:spcPts val="0"/>
              </a:spcAft>
            </a:pPr>
            <a:r>
              <a:rPr lang="en-US" altLang="zh-CN" sz="2000" dirty="0">
                <a:cs typeface="+mn-lt"/>
              </a:rPr>
              <a:t>1. RGB</a:t>
            </a:r>
            <a:r>
              <a:rPr lang="zh-CN" altLang="en-US" sz="2000" dirty="0">
                <a:cs typeface="+mn-lt"/>
              </a:rPr>
              <a:t>色彩空间</a:t>
            </a:r>
            <a:endParaRPr lang="en-US" altLang="zh-CN" sz="2000" dirty="0">
              <a:cs typeface="+mn-lt"/>
            </a:endParaRPr>
          </a:p>
          <a:p>
            <a:pPr rtl="0">
              <a:lnSpc>
                <a:spcPct val="150000"/>
              </a:lnSpc>
              <a:spcBef>
                <a:spcPts val="400"/>
              </a:spcBef>
              <a:spcAft>
                <a:spcPts val="0"/>
              </a:spcAft>
            </a:pPr>
            <a:r>
              <a:rPr lang="en-US" altLang="zh-CN" sz="2000" dirty="0">
                <a:cs typeface="+mn-lt"/>
              </a:rPr>
              <a:t>RGB</a:t>
            </a:r>
            <a:r>
              <a:rPr lang="zh-CN" altLang="en-US" sz="2000" dirty="0">
                <a:cs typeface="+mn-lt"/>
              </a:rPr>
              <a:t>色彩空间使用</a:t>
            </a:r>
            <a:r>
              <a:rPr lang="en-US" altLang="zh-CN" sz="2000" dirty="0">
                <a:cs typeface="+mn-lt"/>
              </a:rPr>
              <a:t>R</a:t>
            </a:r>
            <a:r>
              <a:rPr lang="zh-CN" altLang="en-US" sz="2000" dirty="0">
                <a:cs typeface="+mn-lt"/>
              </a:rPr>
              <a:t>（</a:t>
            </a:r>
            <a:r>
              <a:rPr lang="en-US" altLang="zh-CN" sz="2000" dirty="0">
                <a:cs typeface="+mn-lt"/>
              </a:rPr>
              <a:t>Red</a:t>
            </a:r>
            <a:r>
              <a:rPr lang="zh-CN" altLang="en-US" sz="2000" dirty="0">
                <a:cs typeface="+mn-lt"/>
              </a:rPr>
              <a:t>，红）、</a:t>
            </a:r>
            <a:r>
              <a:rPr lang="en-US" altLang="zh-CN" sz="2000" dirty="0">
                <a:cs typeface="+mn-lt"/>
              </a:rPr>
              <a:t>G</a:t>
            </a:r>
            <a:r>
              <a:rPr lang="zh-CN" altLang="en-US" sz="2000" dirty="0">
                <a:cs typeface="+mn-lt"/>
              </a:rPr>
              <a:t>（</a:t>
            </a:r>
            <a:r>
              <a:rPr lang="en-US" altLang="zh-CN" sz="2000" dirty="0">
                <a:cs typeface="+mn-lt"/>
              </a:rPr>
              <a:t>Green</a:t>
            </a:r>
            <a:r>
              <a:rPr lang="zh-CN" altLang="en-US" sz="2000" dirty="0">
                <a:cs typeface="+mn-lt"/>
              </a:rPr>
              <a:t>，绿）和</a:t>
            </a:r>
            <a:r>
              <a:rPr lang="en-US" altLang="zh-CN" sz="2000" dirty="0">
                <a:cs typeface="+mn-lt"/>
              </a:rPr>
              <a:t>B</a:t>
            </a:r>
            <a:r>
              <a:rPr lang="zh-CN" altLang="en-US" sz="2000" dirty="0">
                <a:cs typeface="+mn-lt"/>
              </a:rPr>
              <a:t>（</a:t>
            </a:r>
            <a:r>
              <a:rPr lang="en-US" altLang="zh-CN" sz="2000" dirty="0">
                <a:cs typeface="+mn-lt"/>
              </a:rPr>
              <a:t>Blue</a:t>
            </a:r>
            <a:r>
              <a:rPr lang="zh-CN" altLang="en-US" sz="2000" dirty="0">
                <a:cs typeface="+mn-lt"/>
              </a:rPr>
              <a:t>，蓝）</a:t>
            </a:r>
            <a:r>
              <a:rPr lang="en-US" altLang="zh-CN" sz="2000" dirty="0">
                <a:cs typeface="+mn-lt"/>
              </a:rPr>
              <a:t>3</a:t>
            </a:r>
            <a:r>
              <a:rPr lang="zh-CN" altLang="en-US" sz="2000" dirty="0">
                <a:cs typeface="+mn-lt"/>
              </a:rPr>
              <a:t>种基本颜色表示图像像素。</a:t>
            </a:r>
            <a:r>
              <a:rPr lang="en-US" altLang="zh-CN" sz="2000" dirty="0">
                <a:cs typeface="+mn-lt"/>
              </a:rPr>
              <a:t>RGB</a:t>
            </a:r>
            <a:r>
              <a:rPr lang="zh-CN" altLang="en-US" sz="2000" dirty="0">
                <a:cs typeface="+mn-lt"/>
              </a:rPr>
              <a:t>色彩空间中，图像的每个像素用一个三元组表示，三元组中的</a:t>
            </a:r>
            <a:r>
              <a:rPr lang="en-US" altLang="zh-CN" sz="2000" dirty="0">
                <a:cs typeface="+mn-lt"/>
              </a:rPr>
              <a:t>3</a:t>
            </a:r>
            <a:r>
              <a:rPr lang="zh-CN" altLang="en-US" sz="2000" dirty="0">
                <a:cs typeface="+mn-lt"/>
              </a:rPr>
              <a:t>个值依次表示红色、绿色和蓝色，依次对应</a:t>
            </a:r>
            <a:r>
              <a:rPr lang="en-US" altLang="zh-CN" sz="2000" dirty="0">
                <a:cs typeface="+mn-lt"/>
              </a:rPr>
              <a:t>R</a:t>
            </a:r>
            <a:r>
              <a:rPr lang="zh-CN" altLang="en-US" sz="2000" dirty="0">
                <a:cs typeface="+mn-lt"/>
              </a:rPr>
              <a:t>、</a:t>
            </a:r>
            <a:r>
              <a:rPr lang="en-US" altLang="zh-CN" sz="2000" dirty="0">
                <a:cs typeface="+mn-lt"/>
              </a:rPr>
              <a:t>G</a:t>
            </a:r>
            <a:r>
              <a:rPr lang="zh-CN" altLang="en-US" sz="2000" dirty="0">
                <a:cs typeface="+mn-lt"/>
              </a:rPr>
              <a:t>和</a:t>
            </a:r>
            <a:r>
              <a:rPr lang="en-US" altLang="zh-CN" sz="2000" dirty="0">
                <a:cs typeface="+mn-lt"/>
              </a:rPr>
              <a:t>B</a:t>
            </a:r>
            <a:r>
              <a:rPr lang="zh-CN" altLang="en-US" sz="2000" dirty="0">
                <a:cs typeface="+mn-lt"/>
              </a:rPr>
              <a:t>通道。</a:t>
            </a:r>
          </a:p>
          <a:p>
            <a:pPr rtl="0">
              <a:lnSpc>
                <a:spcPct val="150000"/>
              </a:lnSpc>
              <a:spcBef>
                <a:spcPts val="400"/>
              </a:spcBef>
              <a:spcAft>
                <a:spcPts val="0"/>
              </a:spcAft>
            </a:pPr>
            <a:endParaRPr lang="zh-CN" altLang="en-US" sz="2000" dirty="0">
              <a:cs typeface="+mn-lt"/>
            </a:endParaRPr>
          </a:p>
        </p:txBody>
      </p:sp>
      <p:pic>
        <p:nvPicPr>
          <p:cNvPr id="2" name="图片 1"/>
          <p:cNvPicPr/>
          <p:nvPr/>
        </p:nvPicPr>
        <p:blipFill>
          <a:blip r:embed="rId4">
            <a:extLst>
              <a:ext uri="{28A0092B-C50C-407E-A947-70E740481C1C}">
                <a14:useLocalDpi xmlns:a14="http://schemas.microsoft.com/office/drawing/2010/main" val="0"/>
              </a:ext>
            </a:extLst>
          </a:blip>
          <a:srcRect/>
          <a:stretch>
            <a:fillRect/>
          </a:stretch>
        </p:blipFill>
        <p:spPr>
          <a:xfrm>
            <a:off x="1313479" y="3156472"/>
            <a:ext cx="2016760" cy="1853565"/>
          </a:xfrm>
          <a:prstGeom prst="rect">
            <a:avLst/>
          </a:prstGeom>
          <a:noFill/>
          <a:ln w="12700" cmpd="sng">
            <a:solidFill>
              <a:srgbClr val="000000"/>
            </a:solidFill>
            <a:miter lim="800000"/>
            <a:headEnd/>
            <a:tailEnd/>
          </a:ln>
          <a:effectLst/>
        </p:spPr>
      </p:pic>
      <p:graphicFrame>
        <p:nvGraphicFramePr>
          <p:cNvPr id="3" name="表格 2"/>
          <p:cNvGraphicFramePr>
            <a:graphicFrameLocks noGrp="1"/>
          </p:cNvGraphicFramePr>
          <p:nvPr>
            <p:custDataLst>
              <p:tags r:id="rId1"/>
            </p:custDataLst>
          </p:nvPr>
        </p:nvGraphicFramePr>
        <p:xfrm>
          <a:off x="4224244" y="2513164"/>
          <a:ext cx="6318250" cy="3251140"/>
        </p:xfrm>
        <a:graphic>
          <a:graphicData uri="http://schemas.openxmlformats.org/drawingml/2006/table">
            <a:tbl>
              <a:tblPr firstRow="1" firstCol="1" bandRow="1">
                <a:tableStyleId>{5C22544A-7EE6-4342-B048-85BDC9FD1C3A}</a:tableStyleId>
              </a:tblPr>
              <a:tblGrid>
                <a:gridCol w="2053590">
                  <a:extLst>
                    <a:ext uri="{9D8B030D-6E8A-4147-A177-3AD203B41FA5}">
                      <a16:colId xmlns:a16="http://schemas.microsoft.com/office/drawing/2014/main" val="20000"/>
                    </a:ext>
                  </a:extLst>
                </a:gridCol>
                <a:gridCol w="1994213">
                  <a:extLst>
                    <a:ext uri="{9D8B030D-6E8A-4147-A177-3AD203B41FA5}">
                      <a16:colId xmlns:a16="http://schemas.microsoft.com/office/drawing/2014/main" val="20001"/>
                    </a:ext>
                  </a:extLst>
                </a:gridCol>
                <a:gridCol w="2270447">
                  <a:extLst>
                    <a:ext uri="{9D8B030D-6E8A-4147-A177-3AD203B41FA5}">
                      <a16:colId xmlns:a16="http://schemas.microsoft.com/office/drawing/2014/main" val="20002"/>
                    </a:ext>
                  </a:extLst>
                </a:gridCol>
              </a:tblGrid>
              <a:tr h="325114">
                <a:tc>
                  <a:txBody>
                    <a:bodyPr/>
                    <a:lstStyle/>
                    <a:p>
                      <a:pPr algn="ctr">
                        <a:lnSpc>
                          <a:spcPct val="150000"/>
                        </a:lnSpc>
                      </a:pPr>
                      <a:r>
                        <a:rPr lang="zh-CN" sz="1600" kern="100" dirty="0">
                          <a:effectLst/>
                        </a:rPr>
                        <a:t>颜色样式</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RGB</a:t>
                      </a:r>
                      <a:r>
                        <a:rPr lang="zh-CN" sz="1600" kern="100">
                          <a:effectLst/>
                        </a:rPr>
                        <a:t>数值</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zh-CN" sz="1600" kern="100">
                          <a:effectLst/>
                        </a:rPr>
                        <a:t>颜色代码</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0"/>
                  </a:ext>
                </a:extLst>
              </a:tr>
              <a:tr h="325114">
                <a:tc>
                  <a:txBody>
                    <a:bodyPr/>
                    <a:lstStyle/>
                    <a:p>
                      <a:pPr algn="ctr">
                        <a:lnSpc>
                          <a:spcPct val="150000"/>
                        </a:lnSpc>
                      </a:pPr>
                      <a:r>
                        <a:rPr lang="zh-CN" sz="1600" kern="100" dirty="0">
                          <a:effectLst/>
                        </a:rPr>
                        <a:t>白色</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255,255,255</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#FFFFFF</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1"/>
                  </a:ext>
                </a:extLst>
              </a:tr>
              <a:tr h="325114">
                <a:tc>
                  <a:txBody>
                    <a:bodyPr/>
                    <a:lstStyle/>
                    <a:p>
                      <a:pPr algn="ctr">
                        <a:lnSpc>
                          <a:spcPct val="150000"/>
                        </a:lnSpc>
                      </a:pPr>
                      <a:r>
                        <a:rPr lang="zh-CN" sz="1600" kern="100">
                          <a:effectLst/>
                        </a:rPr>
                        <a:t>黑色</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0,0,0</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#000000</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2"/>
                  </a:ext>
                </a:extLst>
              </a:tr>
              <a:tr h="325114">
                <a:tc>
                  <a:txBody>
                    <a:bodyPr/>
                    <a:lstStyle/>
                    <a:p>
                      <a:pPr algn="ctr">
                        <a:lnSpc>
                          <a:spcPct val="150000"/>
                        </a:lnSpc>
                      </a:pPr>
                      <a:r>
                        <a:rPr lang="zh-CN" sz="1600" kern="100">
                          <a:effectLst/>
                        </a:rPr>
                        <a:t>红色</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255,0,0</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#FF0000</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3"/>
                  </a:ext>
                </a:extLst>
              </a:tr>
              <a:tr h="325114">
                <a:tc>
                  <a:txBody>
                    <a:bodyPr/>
                    <a:lstStyle/>
                    <a:p>
                      <a:pPr algn="ctr">
                        <a:lnSpc>
                          <a:spcPct val="150000"/>
                        </a:lnSpc>
                      </a:pPr>
                      <a:r>
                        <a:rPr lang="zh-CN" sz="1600" kern="100">
                          <a:effectLst/>
                        </a:rPr>
                        <a:t>黄色</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255,255,0</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#FFFF00</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4"/>
                  </a:ext>
                </a:extLst>
              </a:tr>
              <a:tr h="325114">
                <a:tc>
                  <a:txBody>
                    <a:bodyPr/>
                    <a:lstStyle/>
                    <a:p>
                      <a:pPr algn="ctr">
                        <a:lnSpc>
                          <a:spcPct val="150000"/>
                        </a:lnSpc>
                      </a:pPr>
                      <a:r>
                        <a:rPr lang="zh-CN" sz="1600" kern="100">
                          <a:effectLst/>
                        </a:rPr>
                        <a:t>绿色</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0,255,0</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#00FF00</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5"/>
                  </a:ext>
                </a:extLst>
              </a:tr>
              <a:tr h="325114">
                <a:tc>
                  <a:txBody>
                    <a:bodyPr/>
                    <a:lstStyle/>
                    <a:p>
                      <a:pPr algn="ctr">
                        <a:lnSpc>
                          <a:spcPct val="150000"/>
                        </a:lnSpc>
                      </a:pPr>
                      <a:r>
                        <a:rPr lang="zh-CN" sz="1600" kern="100">
                          <a:effectLst/>
                        </a:rPr>
                        <a:t>蓝色</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0,0,255</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#0000FF</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6"/>
                  </a:ext>
                </a:extLst>
              </a:tr>
              <a:tr h="325114">
                <a:tc>
                  <a:txBody>
                    <a:bodyPr/>
                    <a:lstStyle/>
                    <a:p>
                      <a:pPr algn="ctr">
                        <a:lnSpc>
                          <a:spcPct val="150000"/>
                        </a:lnSpc>
                      </a:pPr>
                      <a:r>
                        <a:rPr lang="zh-CN" sz="1600" kern="100">
                          <a:effectLst/>
                        </a:rPr>
                        <a:t>紫色（深红）</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255.0.255</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#FF00FF</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7"/>
                  </a:ext>
                </a:extLst>
              </a:tr>
              <a:tr h="325114">
                <a:tc>
                  <a:txBody>
                    <a:bodyPr/>
                    <a:lstStyle/>
                    <a:p>
                      <a:pPr algn="ctr">
                        <a:lnSpc>
                          <a:spcPct val="150000"/>
                        </a:lnSpc>
                      </a:pPr>
                      <a:r>
                        <a:rPr lang="zh-CN" sz="1600" kern="100">
                          <a:effectLst/>
                        </a:rPr>
                        <a:t>青色</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0,255,255</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#00FFFF</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8"/>
                  </a:ext>
                </a:extLst>
              </a:tr>
              <a:tr h="325114">
                <a:tc>
                  <a:txBody>
                    <a:bodyPr/>
                    <a:lstStyle/>
                    <a:p>
                      <a:pPr algn="ctr">
                        <a:lnSpc>
                          <a:spcPct val="150000"/>
                        </a:lnSpc>
                      </a:pPr>
                      <a:r>
                        <a:rPr lang="zh-CN" sz="1600" kern="100">
                          <a:effectLst/>
                        </a:rPr>
                        <a:t>橘黄</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a:effectLst/>
                        </a:rPr>
                        <a:t>255,128,0</a:t>
                      </a:r>
                      <a:endParaRPr lang="zh-CN" sz="16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tc>
                  <a:txBody>
                    <a:bodyPr/>
                    <a:lstStyle/>
                    <a:p>
                      <a:pPr algn="ctr">
                        <a:lnSpc>
                          <a:spcPct val="150000"/>
                        </a:lnSpc>
                      </a:pPr>
                      <a:r>
                        <a:rPr lang="en-US" sz="1600" kern="100" dirty="0">
                          <a:effectLst/>
                        </a:rPr>
                        <a:t>#FF8000</a:t>
                      </a:r>
                      <a:endParaRPr 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2576" marR="52576"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299882"/>
            <a:ext cx="11119104" cy="4799166"/>
          </a:xfrm>
        </p:spPr>
        <p:txBody>
          <a:bodyPr/>
          <a:lstStyle/>
          <a:p>
            <a:pPr>
              <a:lnSpc>
                <a:spcPct val="150000"/>
              </a:lnSpc>
              <a:spcBef>
                <a:spcPts val="400"/>
              </a:spcBef>
              <a:spcAft>
                <a:spcPts val="0"/>
              </a:spcAft>
            </a:pPr>
            <a:r>
              <a:rPr lang="en-US" altLang="zh-CN" dirty="0"/>
              <a:t>1. RGB</a:t>
            </a:r>
            <a:r>
              <a:rPr lang="zh-CN" altLang="en-US" dirty="0"/>
              <a:t>色彩空间</a:t>
            </a:r>
          </a:p>
          <a:p>
            <a:pPr>
              <a:lnSpc>
                <a:spcPct val="150000"/>
              </a:lnSpc>
              <a:spcBef>
                <a:spcPts val="400"/>
              </a:spcBef>
              <a:spcAft>
                <a:spcPts val="0"/>
              </a:spcAft>
            </a:pPr>
            <a:r>
              <a:rPr lang="en-US" altLang="zh-CN" dirty="0"/>
              <a:t>OpenCV</a:t>
            </a:r>
            <a:r>
              <a:rPr lang="zh-CN" altLang="en-US" dirty="0"/>
              <a:t>默认采用</a:t>
            </a:r>
            <a:r>
              <a:rPr lang="en-US" altLang="zh-CN" dirty="0"/>
              <a:t>BGR</a:t>
            </a:r>
            <a:r>
              <a:rPr lang="zh-CN" altLang="en-US" dirty="0"/>
              <a:t>色彩空间，它按</a:t>
            </a:r>
            <a:r>
              <a:rPr lang="en-US" altLang="zh-CN" dirty="0"/>
              <a:t>B</a:t>
            </a:r>
            <a:r>
              <a:rPr lang="zh-CN" altLang="en-US" dirty="0"/>
              <a:t>、</a:t>
            </a:r>
            <a:r>
              <a:rPr lang="en-US" altLang="zh-CN" dirty="0"/>
              <a:t>G</a:t>
            </a:r>
            <a:r>
              <a:rPr lang="zh-CN" altLang="en-US" dirty="0"/>
              <a:t>和</a:t>
            </a:r>
            <a:r>
              <a:rPr lang="en-US" altLang="zh-CN" dirty="0"/>
              <a:t>R</a:t>
            </a:r>
            <a:r>
              <a:rPr lang="zh-CN" altLang="en-US" dirty="0"/>
              <a:t>通道顺序表示图像。</a:t>
            </a:r>
          </a:p>
          <a:p>
            <a:pPr>
              <a:lnSpc>
                <a:spcPct val="150000"/>
              </a:lnSpc>
              <a:spcBef>
                <a:spcPts val="400"/>
              </a:spcBef>
              <a:spcAft>
                <a:spcPts val="0"/>
              </a:spcAft>
            </a:pPr>
            <a:r>
              <a:rPr lang="zh-CN" altLang="en-US" dirty="0"/>
              <a:t>在</a:t>
            </a:r>
            <a:r>
              <a:rPr lang="en-US" altLang="zh-CN" dirty="0"/>
              <a:t>cv2.cvtColor()</a:t>
            </a:r>
            <a:r>
              <a:rPr lang="zh-CN" altLang="en-US" dirty="0"/>
              <a:t>函数中使用参数</a:t>
            </a:r>
            <a:r>
              <a:rPr lang="en-US" altLang="zh-CN" dirty="0"/>
              <a:t>cv2.COLOR_BGR2RGB</a:t>
            </a:r>
            <a:r>
              <a:rPr lang="zh-CN" altLang="en-US" dirty="0"/>
              <a:t>转换码可将图像从</a:t>
            </a:r>
            <a:r>
              <a:rPr lang="en-US" altLang="zh-CN" dirty="0"/>
              <a:t>BGR</a:t>
            </a:r>
            <a:r>
              <a:rPr lang="zh-CN" altLang="en-US" dirty="0"/>
              <a:t>色彩空间转换为</a:t>
            </a:r>
            <a:r>
              <a:rPr lang="en-US" altLang="zh-CN" dirty="0"/>
              <a:t>RGB</a:t>
            </a:r>
            <a:r>
              <a:rPr lang="zh-CN" altLang="en-US" dirty="0"/>
              <a:t>色彩空间</a:t>
            </a:r>
          </a:p>
          <a:p>
            <a:pPr>
              <a:lnSpc>
                <a:spcPct val="150000"/>
              </a:lnSpc>
              <a:spcBef>
                <a:spcPts val="400"/>
              </a:spcBef>
              <a:spcAft>
                <a:spcPts val="0"/>
              </a:spcAft>
            </a:pPr>
            <a:endParaRPr lang="zh-CN" altLang="en-US" dirty="0"/>
          </a:p>
        </p:txBody>
      </p:sp>
      <p:pic>
        <p:nvPicPr>
          <p:cNvPr id="5" name="图片 4"/>
          <p:cNvPicPr>
            <a:picLocks noChangeAspect="1"/>
          </p:cNvPicPr>
          <p:nvPr/>
        </p:nvPicPr>
        <p:blipFill>
          <a:blip r:embed="rId2"/>
          <a:stretch>
            <a:fillRect/>
          </a:stretch>
        </p:blipFill>
        <p:spPr>
          <a:xfrm>
            <a:off x="948817" y="3147554"/>
            <a:ext cx="4610743" cy="2553056"/>
          </a:xfrm>
          <a:prstGeom prst="rect">
            <a:avLst/>
          </a:prstGeom>
        </p:spPr>
      </p:pic>
      <p:pic>
        <p:nvPicPr>
          <p:cNvPr id="9" name="图片 8"/>
          <p:cNvPicPr>
            <a:picLocks noChangeAspect="1"/>
          </p:cNvPicPr>
          <p:nvPr/>
        </p:nvPicPr>
        <p:blipFill>
          <a:blip r:embed="rId3"/>
          <a:stretch>
            <a:fillRect/>
          </a:stretch>
        </p:blipFill>
        <p:spPr>
          <a:xfrm>
            <a:off x="5778650" y="3317884"/>
            <a:ext cx="2621279" cy="2024565"/>
          </a:xfrm>
          <a:prstGeom prst="rect">
            <a:avLst/>
          </a:prstGeom>
        </p:spPr>
      </p:pic>
      <p:pic>
        <p:nvPicPr>
          <p:cNvPr id="11" name="图片 10"/>
          <p:cNvPicPr>
            <a:picLocks noChangeAspect="1"/>
          </p:cNvPicPr>
          <p:nvPr/>
        </p:nvPicPr>
        <p:blipFill>
          <a:blip r:embed="rId4"/>
          <a:stretch>
            <a:fillRect/>
          </a:stretch>
        </p:blipFill>
        <p:spPr>
          <a:xfrm>
            <a:off x="8923725" y="3317884"/>
            <a:ext cx="2628195" cy="20245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299882"/>
            <a:ext cx="11119104" cy="4799166"/>
          </a:xfrm>
        </p:spPr>
        <p:txBody>
          <a:bodyPr/>
          <a:lstStyle/>
          <a:p>
            <a:pPr>
              <a:lnSpc>
                <a:spcPct val="150000"/>
              </a:lnSpc>
              <a:spcBef>
                <a:spcPts val="400"/>
              </a:spcBef>
              <a:spcAft>
                <a:spcPts val="0"/>
              </a:spcAft>
            </a:pPr>
            <a:r>
              <a:rPr lang="en-US" altLang="zh-CN" dirty="0"/>
              <a:t>2. GRAY</a:t>
            </a:r>
            <a:r>
              <a:rPr lang="zh-CN" altLang="en-US" dirty="0"/>
              <a:t>色彩空间</a:t>
            </a:r>
          </a:p>
          <a:p>
            <a:pPr>
              <a:lnSpc>
                <a:spcPct val="150000"/>
              </a:lnSpc>
              <a:spcBef>
                <a:spcPts val="400"/>
              </a:spcBef>
              <a:spcAft>
                <a:spcPts val="0"/>
              </a:spcAft>
            </a:pPr>
            <a:r>
              <a:rPr dirty="0"/>
              <a:t>GRAY色彩空间通常指8位灰度图像，其颜色取值范围为[0,255]，共256个灰度级，"255"表示纯白色,数值“0”表示纯黑色。</a:t>
            </a:r>
          </a:p>
          <a:p>
            <a:pPr>
              <a:lnSpc>
                <a:spcPct val="150000"/>
              </a:lnSpc>
              <a:spcBef>
                <a:spcPts val="400"/>
              </a:spcBef>
              <a:spcAft>
                <a:spcPts val="0"/>
              </a:spcAft>
            </a:pPr>
            <a:r>
              <a:rPr lang="en-US" altLang="zh-CN" dirty="0"/>
              <a:t>8</a:t>
            </a:r>
            <a:r>
              <a:rPr altLang="en-US" dirty="0"/>
              <a:t>位灰度表示每个像素采用</a:t>
            </a:r>
            <a:r>
              <a:rPr lang="en-US" altLang="zh-CN" dirty="0"/>
              <a:t>8</a:t>
            </a:r>
            <a:r>
              <a:rPr altLang="en-US" dirty="0"/>
              <a:t>位来保存，如果使用</a:t>
            </a:r>
            <a:r>
              <a:rPr lang="en-US" altLang="zh-CN" dirty="0"/>
              <a:t>16</a:t>
            </a:r>
            <a:r>
              <a:rPr altLang="en-US" dirty="0"/>
              <a:t>位来保存，则共有</a:t>
            </a:r>
            <a:r>
              <a:rPr lang="en-US" altLang="zh-CN" dirty="0"/>
              <a:t>65536</a:t>
            </a:r>
            <a:r>
              <a:rPr altLang="en-US" dirty="0"/>
              <a:t>个灰度级</a:t>
            </a:r>
          </a:p>
          <a:p>
            <a:pPr>
              <a:lnSpc>
                <a:spcPct val="150000"/>
              </a:lnSpc>
              <a:spcBef>
                <a:spcPts val="400"/>
              </a:spcBef>
              <a:spcAft>
                <a:spcPts val="0"/>
              </a:spcAft>
            </a:pPr>
            <a:r>
              <a:rPr altLang="en-US" dirty="0"/>
              <a:t>彩色图像转为灰度图像的几种方法：</a:t>
            </a:r>
          </a:p>
          <a:p>
            <a:pPr>
              <a:lnSpc>
                <a:spcPct val="150000"/>
              </a:lnSpc>
              <a:spcBef>
                <a:spcPts val="400"/>
              </a:spcBef>
              <a:spcAft>
                <a:spcPts val="0"/>
              </a:spcAft>
            </a:pPr>
            <a:r>
              <a:rPr altLang="en-US" dirty="0"/>
              <a:t>	浮点算法：Gray=R×0.3+G×0.59+B×0.11</a:t>
            </a:r>
          </a:p>
          <a:p>
            <a:pPr>
              <a:lnSpc>
                <a:spcPct val="150000"/>
              </a:lnSpc>
              <a:spcBef>
                <a:spcPts val="400"/>
              </a:spcBef>
              <a:spcAft>
                <a:spcPts val="0"/>
              </a:spcAft>
            </a:pPr>
            <a:r>
              <a:rPr altLang="en-US" dirty="0"/>
              <a:t>	整数方法：Gray=(R×30+G×59+B×11)/100</a:t>
            </a:r>
          </a:p>
          <a:p>
            <a:pPr>
              <a:lnSpc>
                <a:spcPct val="150000"/>
              </a:lnSpc>
              <a:spcBef>
                <a:spcPts val="400"/>
              </a:spcBef>
              <a:spcAft>
                <a:spcPts val="0"/>
              </a:spcAft>
            </a:pPr>
            <a:r>
              <a:rPr altLang="en-US" dirty="0"/>
              <a:t>	移位方法：Gray=(R×28+G×151+B×77)≫8</a:t>
            </a:r>
          </a:p>
          <a:p>
            <a:pPr>
              <a:lnSpc>
                <a:spcPct val="150000"/>
              </a:lnSpc>
              <a:spcBef>
                <a:spcPts val="400"/>
              </a:spcBef>
              <a:spcAft>
                <a:spcPts val="0"/>
              </a:spcAft>
            </a:pPr>
            <a:r>
              <a:rPr altLang="en-US" dirty="0"/>
              <a:t>	平均值法：Gray=(R+G+B)/3</a:t>
            </a:r>
          </a:p>
          <a:p>
            <a:pPr>
              <a:lnSpc>
                <a:spcPct val="150000"/>
              </a:lnSpc>
              <a:spcBef>
                <a:spcPts val="400"/>
              </a:spcBef>
              <a:spcAft>
                <a:spcPts val="0"/>
              </a:spcAft>
            </a:pPr>
            <a:r>
              <a:rPr altLang="en-US" dirty="0"/>
              <a:t>	仅取绿色：Gray = 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299882"/>
            <a:ext cx="11119104" cy="4799166"/>
          </a:xfrm>
        </p:spPr>
        <p:txBody>
          <a:bodyPr/>
          <a:lstStyle/>
          <a:p>
            <a:pPr>
              <a:lnSpc>
                <a:spcPct val="150000"/>
              </a:lnSpc>
              <a:spcBef>
                <a:spcPts val="400"/>
              </a:spcBef>
              <a:spcAft>
                <a:spcPts val="0"/>
              </a:spcAft>
            </a:pPr>
            <a:r>
              <a:rPr lang="en-US" altLang="zh-CN" dirty="0"/>
              <a:t>2. GRAY</a:t>
            </a:r>
            <a:r>
              <a:rPr lang="zh-CN" altLang="en-US" dirty="0"/>
              <a:t>色彩空间</a:t>
            </a:r>
          </a:p>
          <a:p>
            <a:pPr>
              <a:lnSpc>
                <a:spcPct val="150000"/>
              </a:lnSpc>
              <a:spcBef>
                <a:spcPts val="400"/>
              </a:spcBef>
              <a:spcAft>
                <a:spcPts val="0"/>
              </a:spcAft>
            </a:pPr>
            <a:r>
              <a:rPr lang="en-US" altLang="zh-CN" dirty="0"/>
              <a:t>OpenCV</a:t>
            </a:r>
            <a:r>
              <a:rPr altLang="en-US" dirty="0"/>
              <a:t>中使用</a:t>
            </a:r>
            <a:r>
              <a:rPr lang="en-US" altLang="zh-CN" dirty="0"/>
              <a:t>cv2.cvtColor()函数</a:t>
            </a:r>
            <a:r>
              <a:rPr altLang="en-US" dirty="0"/>
              <a:t>可将</a:t>
            </a:r>
            <a:r>
              <a:rPr lang="en-US" altLang="zh-CN" dirty="0"/>
              <a:t>BGR</a:t>
            </a:r>
            <a:r>
              <a:rPr altLang="en-US" dirty="0"/>
              <a:t>色彩空间转换位</a:t>
            </a:r>
            <a:r>
              <a:rPr lang="en-US" altLang="zh-CN" dirty="0"/>
              <a:t>GRAY</a:t>
            </a:r>
          </a:p>
        </p:txBody>
      </p:sp>
      <p:pic>
        <p:nvPicPr>
          <p:cNvPr id="4" name="图片 3"/>
          <p:cNvPicPr>
            <a:picLocks noChangeAspect="1"/>
          </p:cNvPicPr>
          <p:nvPr/>
        </p:nvPicPr>
        <p:blipFill>
          <a:blip r:embed="rId2"/>
          <a:stretch>
            <a:fillRect/>
          </a:stretch>
        </p:blipFill>
        <p:spPr>
          <a:xfrm>
            <a:off x="640080" y="3004820"/>
            <a:ext cx="4648200" cy="1714500"/>
          </a:xfrm>
          <a:prstGeom prst="rect">
            <a:avLst/>
          </a:prstGeom>
        </p:spPr>
      </p:pic>
      <p:pic>
        <p:nvPicPr>
          <p:cNvPr id="5" name="图片 4"/>
          <p:cNvPicPr>
            <a:picLocks noChangeAspect="1"/>
          </p:cNvPicPr>
          <p:nvPr/>
        </p:nvPicPr>
        <p:blipFill>
          <a:blip r:embed="rId3"/>
          <a:stretch>
            <a:fillRect/>
          </a:stretch>
        </p:blipFill>
        <p:spPr>
          <a:xfrm>
            <a:off x="6239237" y="2890393"/>
            <a:ext cx="5055635" cy="1943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299882"/>
            <a:ext cx="11119104" cy="4799166"/>
          </a:xfrm>
        </p:spPr>
        <p:txBody>
          <a:bodyPr/>
          <a:lstStyle/>
          <a:p>
            <a:pPr>
              <a:lnSpc>
                <a:spcPct val="150000"/>
              </a:lnSpc>
              <a:spcBef>
                <a:spcPts val="400"/>
              </a:spcBef>
              <a:spcAft>
                <a:spcPts val="0"/>
              </a:spcAft>
            </a:pPr>
            <a:r>
              <a:rPr lang="en-US" altLang="zh-CN" dirty="0"/>
              <a:t>3. YCrCb</a:t>
            </a:r>
            <a:r>
              <a:rPr lang="zh-CN" altLang="en-US" dirty="0"/>
              <a:t>色彩空间</a:t>
            </a:r>
          </a:p>
          <a:p>
            <a:pPr>
              <a:lnSpc>
                <a:spcPct val="150000"/>
              </a:lnSpc>
              <a:spcBef>
                <a:spcPts val="400"/>
              </a:spcBef>
              <a:spcAft>
                <a:spcPts val="0"/>
              </a:spcAft>
            </a:pPr>
            <a:r>
              <a:rPr dirty="0"/>
              <a:t>YCrCb 色彩系统是从YUV 色彩系统衍生出来的,是一种基于人眼感知的颜色空间，被广泛的应用在电视的色彩显示等领域中。</a:t>
            </a:r>
          </a:p>
          <a:p>
            <a:pPr>
              <a:lnSpc>
                <a:spcPct val="150000"/>
              </a:lnSpc>
              <a:spcBef>
                <a:spcPts val="400"/>
              </a:spcBef>
              <a:spcAft>
                <a:spcPts val="0"/>
              </a:spcAft>
            </a:pPr>
            <a:r>
              <a:rPr dirty="0"/>
              <a:t>Y表示明亮度（Luminance或Luma），</a:t>
            </a:r>
            <a:r>
              <a:rPr lang="en-US" altLang="zh-CN" dirty="0"/>
              <a:t>Cr</a:t>
            </a:r>
            <a:r>
              <a:rPr altLang="en-US" dirty="0"/>
              <a:t>表示颜色的色调，</a:t>
            </a:r>
            <a:r>
              <a:rPr lang="en-US" altLang="zh-CN" dirty="0"/>
              <a:t>Cb</a:t>
            </a:r>
            <a:r>
              <a:rPr altLang="en-US" dirty="0"/>
              <a:t>表示饱和度。</a:t>
            </a:r>
          </a:p>
          <a:p>
            <a:pPr>
              <a:lnSpc>
                <a:spcPct val="150000"/>
              </a:lnSpc>
              <a:spcBef>
                <a:spcPts val="400"/>
              </a:spcBef>
              <a:spcAft>
                <a:spcPts val="0"/>
              </a:spcAft>
            </a:pPr>
            <a:r>
              <a:rPr altLang="en-US" dirty="0"/>
              <a:t>YCrCb与RGB可以相互转换（RGB取值范围均为0255），转换公式为：</a:t>
            </a:r>
          </a:p>
          <a:p>
            <a:pPr>
              <a:lnSpc>
                <a:spcPct val="150000"/>
              </a:lnSpc>
              <a:spcBef>
                <a:spcPts val="400"/>
              </a:spcBef>
              <a:spcAft>
                <a:spcPts val="0"/>
              </a:spcAft>
            </a:pPr>
            <a:endParaRPr altLang="en-US" dirty="0"/>
          </a:p>
        </p:txBody>
      </p:sp>
      <p:pic>
        <p:nvPicPr>
          <p:cNvPr id="7" name="图片 6"/>
          <p:cNvPicPr>
            <a:picLocks noChangeAspect="1"/>
          </p:cNvPicPr>
          <p:nvPr/>
        </p:nvPicPr>
        <p:blipFill>
          <a:blip r:embed="rId2"/>
          <a:stretch>
            <a:fillRect/>
          </a:stretch>
        </p:blipFill>
        <p:spPr>
          <a:xfrm>
            <a:off x="826135" y="3816985"/>
            <a:ext cx="4524375" cy="1619250"/>
          </a:xfrm>
          <a:prstGeom prst="rect">
            <a:avLst/>
          </a:prstGeom>
        </p:spPr>
      </p:pic>
      <p:pic>
        <p:nvPicPr>
          <p:cNvPr id="8" name="图片 7"/>
          <p:cNvPicPr>
            <a:picLocks noChangeAspect="1"/>
          </p:cNvPicPr>
          <p:nvPr/>
        </p:nvPicPr>
        <p:blipFill>
          <a:blip r:embed="rId3"/>
          <a:stretch>
            <a:fillRect/>
          </a:stretch>
        </p:blipFill>
        <p:spPr>
          <a:xfrm>
            <a:off x="5921375" y="3816985"/>
            <a:ext cx="5667375" cy="1466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299882"/>
            <a:ext cx="11119104" cy="4799166"/>
          </a:xfrm>
        </p:spPr>
        <p:txBody>
          <a:bodyPr/>
          <a:lstStyle/>
          <a:p>
            <a:pPr>
              <a:lnSpc>
                <a:spcPct val="150000"/>
              </a:lnSpc>
              <a:spcBef>
                <a:spcPts val="400"/>
              </a:spcBef>
              <a:spcAft>
                <a:spcPts val="0"/>
              </a:spcAft>
            </a:pPr>
            <a:r>
              <a:rPr lang="en-US" altLang="zh-CN" dirty="0"/>
              <a:t>3. YCrCb</a:t>
            </a:r>
            <a:r>
              <a:rPr lang="zh-CN" altLang="en-US" dirty="0"/>
              <a:t>色彩空间</a:t>
            </a:r>
          </a:p>
          <a:p>
            <a:pPr>
              <a:lnSpc>
                <a:spcPct val="150000"/>
              </a:lnSpc>
              <a:spcBef>
                <a:spcPts val="400"/>
              </a:spcBef>
              <a:spcAft>
                <a:spcPts val="0"/>
              </a:spcAft>
            </a:pPr>
            <a:r>
              <a:rPr dirty="0"/>
              <a:t>在cv2.cvtColor()函数中使用参数cv2.COLOR_BGR2YCrCb转换码可将图像从BGR色彩空间转换为YCrCb色彩空间，示例代码如下：</a:t>
            </a:r>
          </a:p>
          <a:p>
            <a:pPr>
              <a:lnSpc>
                <a:spcPct val="150000"/>
              </a:lnSpc>
              <a:spcBef>
                <a:spcPts val="400"/>
              </a:spcBef>
              <a:spcAft>
                <a:spcPts val="0"/>
              </a:spcAft>
            </a:pPr>
            <a:endParaRPr altLang="en-US" dirty="0"/>
          </a:p>
        </p:txBody>
      </p:sp>
      <p:pic>
        <p:nvPicPr>
          <p:cNvPr id="4" name="图片 3"/>
          <p:cNvPicPr>
            <a:picLocks noChangeAspect="1"/>
          </p:cNvPicPr>
          <p:nvPr/>
        </p:nvPicPr>
        <p:blipFill>
          <a:blip r:embed="rId2"/>
          <a:stretch>
            <a:fillRect/>
          </a:stretch>
        </p:blipFill>
        <p:spPr>
          <a:xfrm>
            <a:off x="862330" y="3242945"/>
            <a:ext cx="4724400" cy="1714500"/>
          </a:xfrm>
          <a:prstGeom prst="rect">
            <a:avLst/>
          </a:prstGeom>
        </p:spPr>
      </p:pic>
      <p:pic>
        <p:nvPicPr>
          <p:cNvPr id="6" name="图片 5"/>
          <p:cNvPicPr>
            <a:picLocks noChangeAspect="1"/>
          </p:cNvPicPr>
          <p:nvPr/>
        </p:nvPicPr>
        <p:blipFill>
          <a:blip r:embed="rId3"/>
          <a:stretch>
            <a:fillRect/>
          </a:stretch>
        </p:blipFill>
        <p:spPr>
          <a:xfrm>
            <a:off x="6454942" y="3243198"/>
            <a:ext cx="4992965" cy="19335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036955"/>
            <a:ext cx="11118850" cy="5544820"/>
          </a:xfrm>
        </p:spPr>
        <p:txBody>
          <a:bodyPr/>
          <a:lstStyle/>
          <a:p>
            <a:pPr>
              <a:lnSpc>
                <a:spcPct val="150000"/>
              </a:lnSpc>
              <a:spcBef>
                <a:spcPts val="400"/>
              </a:spcBef>
              <a:spcAft>
                <a:spcPts val="0"/>
              </a:spcAft>
            </a:pPr>
            <a:r>
              <a:rPr lang="en-US" altLang="zh-CN" dirty="0"/>
              <a:t>4. HSV</a:t>
            </a:r>
            <a:r>
              <a:rPr lang="zh-CN" altLang="en-US" dirty="0"/>
              <a:t>色彩空间</a:t>
            </a:r>
          </a:p>
          <a:p>
            <a:pPr marL="285750" indent="-285750">
              <a:lnSpc>
                <a:spcPct val="150000"/>
              </a:lnSpc>
              <a:spcBef>
                <a:spcPts val="400"/>
              </a:spcBef>
              <a:spcAft>
                <a:spcPts val="0"/>
              </a:spcAft>
              <a:buFont typeface="Wingdings" panose="05000000000000000000" charset="0"/>
              <a:buChar char="Ø"/>
            </a:pPr>
            <a:r>
              <a:rPr altLang="en-US" dirty="0"/>
              <a:t>RGB是从硬件的角度提出的颜色模型，在与人眼匹配的过程中可能存在一定的差异，HSV色彩空间是一种面向视觉感知的颜色模型。</a:t>
            </a:r>
          </a:p>
          <a:p>
            <a:pPr marL="285750" indent="-285750">
              <a:lnSpc>
                <a:spcPct val="150000"/>
              </a:lnSpc>
              <a:spcBef>
                <a:spcPts val="400"/>
              </a:spcBef>
              <a:spcAft>
                <a:spcPts val="0"/>
              </a:spcAft>
              <a:buFont typeface="Wingdings" panose="05000000000000000000" charset="0"/>
              <a:buChar char="Ø"/>
            </a:pPr>
            <a:r>
              <a:rPr altLang="en-US" dirty="0"/>
              <a:t>HSV指出人眼的色彩知觉主要包括三要素：色调(Hue,也称为色相)、饱和度(Saturation)、亮度(Value)。</a:t>
            </a:r>
          </a:p>
          <a:p>
            <a:pPr marL="285750" indent="-285750">
              <a:lnSpc>
                <a:spcPct val="150000"/>
              </a:lnSpc>
              <a:spcBef>
                <a:spcPts val="400"/>
              </a:spcBef>
              <a:spcAft>
                <a:spcPts val="0"/>
              </a:spcAft>
              <a:buFont typeface="Wingdings" panose="05000000000000000000" charset="0"/>
              <a:buChar char="Ø"/>
            </a:pPr>
            <a:r>
              <a:rPr altLang="en-US" dirty="0"/>
              <a:t>色调：光的颜色，与光的波长有关，不同波长的光表现为不同的颜色</a:t>
            </a:r>
          </a:p>
          <a:p>
            <a:pPr marL="285750" indent="-285750">
              <a:lnSpc>
                <a:spcPct val="150000"/>
              </a:lnSpc>
              <a:spcBef>
                <a:spcPts val="400"/>
              </a:spcBef>
              <a:spcAft>
                <a:spcPts val="0"/>
              </a:spcAft>
              <a:buFont typeface="Wingdings" panose="05000000000000000000" charset="0"/>
              <a:buChar char="Ø"/>
            </a:pPr>
            <a:r>
              <a:rPr altLang="en-US" dirty="0"/>
              <a:t>饱和度：是指色彩的深浅程度，指相对纯净度，或一种颜色混合白光的数量，饱和度与所加白光的数量成反比。</a:t>
            </a:r>
          </a:p>
          <a:p>
            <a:pPr marL="285750" indent="-285750">
              <a:lnSpc>
                <a:spcPct val="150000"/>
              </a:lnSpc>
              <a:spcBef>
                <a:spcPts val="400"/>
              </a:spcBef>
              <a:spcAft>
                <a:spcPts val="0"/>
              </a:spcAft>
              <a:buFont typeface="Wingdings" panose="05000000000000000000" charset="0"/>
              <a:buChar char="Ø"/>
            </a:pPr>
            <a:r>
              <a:rPr altLang="en-US" dirty="0"/>
              <a:t>亮度：指人眼感受的光的明暗程度，与物体的反射度有关。如果在其中掺入的白色越多，其亮度越高，如果在其中掺入的黑色越多，则其亮度越低。</a:t>
            </a:r>
          </a:p>
          <a:p>
            <a:pPr indent="457200">
              <a:lnSpc>
                <a:spcPct val="150000"/>
              </a:lnSpc>
              <a:spcBef>
                <a:spcPts val="400"/>
              </a:spcBef>
              <a:spcAft>
                <a:spcPts val="0"/>
              </a:spcAft>
            </a:pPr>
            <a:r>
              <a:rPr altLang="en-US" dirty="0"/>
              <a:t>色调的取值范围[0,360]。</a:t>
            </a:r>
          </a:p>
          <a:p>
            <a:pPr indent="457200">
              <a:lnSpc>
                <a:spcPct val="150000"/>
              </a:lnSpc>
              <a:spcBef>
                <a:spcPts val="400"/>
              </a:spcBef>
              <a:spcAft>
                <a:spcPts val="0"/>
              </a:spcAft>
            </a:pPr>
            <a:r>
              <a:rPr altLang="en-US" dirty="0"/>
              <a:t>饱和度的取值范围[0,1]</a:t>
            </a:r>
          </a:p>
          <a:p>
            <a:pPr indent="457200">
              <a:lnSpc>
                <a:spcPct val="150000"/>
              </a:lnSpc>
              <a:spcBef>
                <a:spcPts val="400"/>
              </a:spcBef>
              <a:spcAft>
                <a:spcPts val="0"/>
              </a:spcAft>
            </a:pPr>
            <a:r>
              <a:rPr altLang="en-US" dirty="0"/>
              <a:t>亮度的取值范围[0,1]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036955"/>
            <a:ext cx="11118850" cy="5544820"/>
          </a:xfrm>
        </p:spPr>
        <p:txBody>
          <a:bodyPr/>
          <a:lstStyle/>
          <a:p>
            <a:pPr>
              <a:lnSpc>
                <a:spcPct val="150000"/>
              </a:lnSpc>
              <a:spcBef>
                <a:spcPts val="400"/>
              </a:spcBef>
              <a:spcAft>
                <a:spcPts val="0"/>
              </a:spcAft>
            </a:pPr>
            <a:r>
              <a:rPr lang="en-US" altLang="zh-CN" dirty="0"/>
              <a:t>4. HSV</a:t>
            </a:r>
            <a:r>
              <a:rPr lang="zh-CN" altLang="en-US" dirty="0"/>
              <a:t>色彩空间</a:t>
            </a:r>
          </a:p>
          <a:p>
            <a:pPr marL="285750" indent="-285750">
              <a:lnSpc>
                <a:spcPct val="150000"/>
              </a:lnSpc>
              <a:spcBef>
                <a:spcPts val="400"/>
              </a:spcBef>
              <a:spcAft>
                <a:spcPts val="0"/>
              </a:spcAft>
              <a:buFont typeface="Wingdings" panose="05000000000000000000" charset="0"/>
              <a:buChar char="Ø"/>
            </a:pPr>
            <a:r>
              <a:rPr altLang="en-US" dirty="0"/>
              <a:t>从RGB色彩空间转换到HSV色彩空间公式如下：</a:t>
            </a:r>
          </a:p>
        </p:txBody>
      </p:sp>
      <p:pic>
        <p:nvPicPr>
          <p:cNvPr id="7" name="图片 6"/>
          <p:cNvPicPr>
            <a:picLocks noChangeAspect="1"/>
          </p:cNvPicPr>
          <p:nvPr>
            <p:custDataLst>
              <p:tags r:id="rId1"/>
            </p:custDataLst>
          </p:nvPr>
        </p:nvPicPr>
        <p:blipFill>
          <a:blip r:embed="rId3"/>
          <a:stretch>
            <a:fillRect/>
          </a:stretch>
        </p:blipFill>
        <p:spPr>
          <a:xfrm>
            <a:off x="2652395" y="2286000"/>
            <a:ext cx="4395470" cy="3441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036955"/>
            <a:ext cx="11118850" cy="5544820"/>
          </a:xfrm>
        </p:spPr>
        <p:txBody>
          <a:bodyPr/>
          <a:lstStyle/>
          <a:p>
            <a:pPr>
              <a:lnSpc>
                <a:spcPct val="150000"/>
              </a:lnSpc>
              <a:spcBef>
                <a:spcPts val="400"/>
              </a:spcBef>
              <a:spcAft>
                <a:spcPts val="0"/>
              </a:spcAft>
            </a:pPr>
            <a:r>
              <a:rPr lang="en-US" altLang="zh-CN" dirty="0"/>
              <a:t>4. HSV</a:t>
            </a:r>
            <a:r>
              <a:rPr lang="zh-CN" altLang="en-US" dirty="0"/>
              <a:t>色彩空间</a:t>
            </a:r>
          </a:p>
          <a:p>
            <a:pPr marL="285750" indent="-285750">
              <a:lnSpc>
                <a:spcPct val="150000"/>
              </a:lnSpc>
              <a:spcBef>
                <a:spcPts val="400"/>
              </a:spcBef>
              <a:spcAft>
                <a:spcPts val="0"/>
              </a:spcAft>
              <a:buFont typeface="Wingdings" panose="05000000000000000000" charset="0"/>
              <a:buChar char="Ø"/>
            </a:pPr>
            <a:r>
              <a:rPr altLang="en-US" dirty="0"/>
              <a:t>在cv2.cvtColor()函数中使用cv2.COLOR_BGR2HSV转换码可将图像从BGR色彩空间转换为HSV色彩空间，实力代码如下：</a:t>
            </a:r>
          </a:p>
        </p:txBody>
      </p:sp>
      <p:pic>
        <p:nvPicPr>
          <p:cNvPr id="4" name="图片 3"/>
          <p:cNvPicPr>
            <a:picLocks noChangeAspect="1"/>
          </p:cNvPicPr>
          <p:nvPr>
            <p:custDataLst>
              <p:tags r:id="rId1"/>
            </p:custDataLst>
          </p:nvPr>
        </p:nvPicPr>
        <p:blipFill>
          <a:blip r:embed="rId4"/>
          <a:stretch>
            <a:fillRect/>
          </a:stretch>
        </p:blipFill>
        <p:spPr>
          <a:xfrm>
            <a:off x="455295" y="2971165"/>
            <a:ext cx="5080635" cy="1936750"/>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5847673" y="2788452"/>
            <a:ext cx="6227064" cy="24139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036955"/>
            <a:ext cx="11118850" cy="5544820"/>
          </a:xfrm>
        </p:spPr>
        <p:txBody>
          <a:bodyPr/>
          <a:lstStyle/>
          <a:p>
            <a:pPr>
              <a:lnSpc>
                <a:spcPct val="150000"/>
              </a:lnSpc>
              <a:spcBef>
                <a:spcPts val="400"/>
              </a:spcBef>
              <a:spcAft>
                <a:spcPts val="0"/>
              </a:spcAft>
            </a:pPr>
            <a:r>
              <a:rPr lang="en-US" altLang="zh-CN" dirty="0"/>
              <a:t>5. cv2.cvtColor</a:t>
            </a:r>
            <a:r>
              <a:rPr altLang="en-US" dirty="0"/>
              <a:t>函数</a:t>
            </a:r>
            <a:endParaRPr lang="en-US" altLang="zh-CN" dirty="0"/>
          </a:p>
          <a:p>
            <a:pPr>
              <a:lnSpc>
                <a:spcPct val="150000"/>
              </a:lnSpc>
              <a:spcBef>
                <a:spcPts val="400"/>
              </a:spcBef>
              <a:spcAft>
                <a:spcPts val="0"/>
              </a:spcAft>
            </a:pPr>
            <a:r>
              <a:rPr altLang="en-US" dirty="0"/>
              <a:t>cvtColor函数是OpenCV里用于图像颜色空间转换，可以实现RGB颜色、HSV颜色、HSI颜色、lab颜色、YUV颜色等转换，也可以彩色和灰度图互转。</a:t>
            </a:r>
          </a:p>
          <a:p>
            <a:pPr>
              <a:lnSpc>
                <a:spcPct val="150000"/>
              </a:lnSpc>
              <a:spcBef>
                <a:spcPts val="400"/>
              </a:spcBef>
              <a:spcAft>
                <a:spcPts val="0"/>
              </a:spcAft>
            </a:pPr>
            <a:r>
              <a:rPr altLang="en-US" dirty="0"/>
              <a:t>几种色彩空间之间的相互转换的转换代码如表所示：</a:t>
            </a:r>
          </a:p>
          <a:p>
            <a:pPr>
              <a:lnSpc>
                <a:spcPct val="150000"/>
              </a:lnSpc>
              <a:spcBef>
                <a:spcPts val="400"/>
              </a:spcBef>
              <a:spcAft>
                <a:spcPts val="0"/>
              </a:spcAft>
            </a:pPr>
            <a:endParaRPr altLang="en-US" dirty="0"/>
          </a:p>
        </p:txBody>
      </p:sp>
      <p:graphicFrame>
        <p:nvGraphicFramePr>
          <p:cNvPr id="4" name="表格 3"/>
          <p:cNvGraphicFramePr>
            <a:graphicFrameLocks noGrp="1"/>
          </p:cNvGraphicFramePr>
          <p:nvPr>
            <p:custDataLst>
              <p:tags r:id="rId1"/>
            </p:custDataLst>
          </p:nvPr>
        </p:nvGraphicFramePr>
        <p:xfrm>
          <a:off x="6199505" y="2278502"/>
          <a:ext cx="5009402" cy="4159833"/>
        </p:xfrm>
        <a:graphic>
          <a:graphicData uri="http://schemas.openxmlformats.org/drawingml/2006/table">
            <a:tbl>
              <a:tblPr>
                <a:tableStyleId>{5C22544A-7EE6-4342-B048-85BDC9FD1C3A}</a:tableStyleId>
              </a:tblPr>
              <a:tblGrid>
                <a:gridCol w="3061036">
                  <a:extLst>
                    <a:ext uri="{9D8B030D-6E8A-4147-A177-3AD203B41FA5}">
                      <a16:colId xmlns:a16="http://schemas.microsoft.com/office/drawing/2014/main" val="20000"/>
                    </a:ext>
                  </a:extLst>
                </a:gridCol>
                <a:gridCol w="1948366">
                  <a:extLst>
                    <a:ext uri="{9D8B030D-6E8A-4147-A177-3AD203B41FA5}">
                      <a16:colId xmlns:a16="http://schemas.microsoft.com/office/drawing/2014/main" val="20001"/>
                    </a:ext>
                  </a:extLst>
                </a:gridCol>
              </a:tblGrid>
              <a:tr h="333021">
                <a:tc>
                  <a:txBody>
                    <a:bodyPr/>
                    <a:lstStyle/>
                    <a:p>
                      <a:pPr marL="0" marR="0" algn="ctr">
                        <a:lnSpc>
                          <a:spcPct val="150000"/>
                        </a:lnSpc>
                        <a:spcBef>
                          <a:spcPts val="780"/>
                        </a:spcBef>
                        <a:spcAft>
                          <a:spcPts val="0"/>
                        </a:spcAft>
                      </a:pPr>
                      <a:r>
                        <a:rPr lang="zh-CN" altLang="en-US" sz="1200" kern="100" dirty="0">
                          <a:effectLst/>
                        </a:rPr>
                        <a:t>转换关系</a:t>
                      </a:r>
                      <a:endParaRPr lang="zh-CN" alt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tc>
                  <a:txBody>
                    <a:bodyPr/>
                    <a:lstStyle/>
                    <a:p>
                      <a:pPr marL="0" marR="0" algn="ctr">
                        <a:lnSpc>
                          <a:spcPct val="150000"/>
                        </a:lnSpc>
                        <a:spcBef>
                          <a:spcPts val="780"/>
                        </a:spcBef>
                        <a:spcAft>
                          <a:spcPts val="0"/>
                        </a:spcAft>
                      </a:pPr>
                      <a:r>
                        <a:rPr lang="zh-CN" altLang="en-US" sz="1200" kern="100" dirty="0">
                          <a:effectLst/>
                        </a:rPr>
                        <a:t>值</a:t>
                      </a:r>
                      <a:endParaRPr lang="zh-CN" alt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0"/>
                  </a:ext>
                </a:extLst>
              </a:tr>
              <a:tr h="318901">
                <a:tc rowSpan="4">
                  <a:txBody>
                    <a:bodyPr/>
                    <a:lstStyle/>
                    <a:p>
                      <a:pPr marL="0" marR="0" algn="just">
                        <a:lnSpc>
                          <a:spcPct val="150000"/>
                        </a:lnSpc>
                        <a:spcBef>
                          <a:spcPts val="0"/>
                        </a:spcBef>
                        <a:spcAft>
                          <a:spcPts val="0"/>
                        </a:spcAft>
                      </a:pPr>
                      <a:r>
                        <a:rPr lang="en-US" altLang="zh-CN" sz="1200" kern="100" dirty="0">
                          <a:effectLst/>
                        </a:rPr>
                        <a:t>BGR</a:t>
                      </a:r>
                      <a:r>
                        <a:rPr lang="zh-CN" altLang="en-US" sz="1200" kern="100" dirty="0">
                          <a:effectLst/>
                        </a:rPr>
                        <a:t>色彩空间与</a:t>
                      </a:r>
                      <a:r>
                        <a:rPr lang="en-US" altLang="zh-CN" sz="1200" kern="100" dirty="0" err="1">
                          <a:effectLst/>
                        </a:rPr>
                        <a:t>YCrCb</a:t>
                      </a:r>
                      <a:r>
                        <a:rPr lang="zh-CN" altLang="en-US" sz="1200" kern="100" dirty="0">
                          <a:effectLst/>
                        </a:rPr>
                        <a:t>色彩空间之间的转换</a:t>
                      </a:r>
                      <a:endParaRPr lang="zh-CN" alt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tc>
                  <a:txBody>
                    <a:bodyPr/>
                    <a:lstStyle/>
                    <a:p>
                      <a:pPr marL="0" marR="0" algn="ctr">
                        <a:spcBef>
                          <a:spcPts val="0"/>
                        </a:spcBef>
                        <a:spcAft>
                          <a:spcPts val="0"/>
                        </a:spcAft>
                      </a:pPr>
                      <a:r>
                        <a:rPr lang="en-US" sz="1200" kern="100" dirty="0">
                          <a:effectLst/>
                        </a:rPr>
                        <a:t>COLOR_BGR2YCrCb</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1"/>
                  </a:ext>
                </a:extLst>
              </a:tr>
              <a:tr h="318901">
                <a:tc vMerge="1">
                  <a:txBody>
                    <a:bodyPr/>
                    <a:lstStyle/>
                    <a:p>
                      <a:endParaRPr lang="zh-CN"/>
                    </a:p>
                  </a:txBody>
                  <a:tcPr/>
                </a:tc>
                <a:tc>
                  <a:txBody>
                    <a:bodyPr/>
                    <a:lstStyle/>
                    <a:p>
                      <a:pPr marL="0" marR="0" algn="ctr">
                        <a:spcBef>
                          <a:spcPts val="0"/>
                        </a:spcBef>
                        <a:spcAft>
                          <a:spcPts val="0"/>
                        </a:spcAft>
                      </a:pPr>
                      <a:r>
                        <a:rPr lang="en-US" sz="1200" kern="100" dirty="0">
                          <a:effectLst/>
                        </a:rPr>
                        <a:t>COLOR_RGB2YCrCb</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2"/>
                  </a:ext>
                </a:extLst>
              </a:tr>
              <a:tr h="318901">
                <a:tc vMerge="1">
                  <a:txBody>
                    <a:bodyPr/>
                    <a:lstStyle/>
                    <a:p>
                      <a:endParaRPr lang="zh-CN"/>
                    </a:p>
                  </a:txBody>
                  <a:tcPr/>
                </a:tc>
                <a:tc>
                  <a:txBody>
                    <a:bodyPr/>
                    <a:lstStyle/>
                    <a:p>
                      <a:pPr marL="0" marR="0" algn="ctr">
                        <a:spcBef>
                          <a:spcPts val="0"/>
                        </a:spcBef>
                        <a:spcAft>
                          <a:spcPts val="0"/>
                        </a:spcAft>
                      </a:pPr>
                      <a:r>
                        <a:rPr lang="en-US" sz="1200" kern="100" dirty="0">
                          <a:effectLst/>
                        </a:rPr>
                        <a:t>COLOR_YCrCb2BGR</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3"/>
                  </a:ext>
                </a:extLst>
              </a:tr>
              <a:tr h="318901">
                <a:tc vMerge="1">
                  <a:txBody>
                    <a:bodyPr/>
                    <a:lstStyle/>
                    <a:p>
                      <a:endParaRPr lang="zh-CN"/>
                    </a:p>
                  </a:txBody>
                  <a:tcPr/>
                </a:tc>
                <a:tc>
                  <a:txBody>
                    <a:bodyPr/>
                    <a:lstStyle/>
                    <a:p>
                      <a:pPr marL="0" marR="0" algn="ctr">
                        <a:spcBef>
                          <a:spcPts val="0"/>
                        </a:spcBef>
                        <a:spcAft>
                          <a:spcPts val="0"/>
                        </a:spcAft>
                      </a:pPr>
                      <a:r>
                        <a:rPr lang="en-US" sz="1200" kern="100">
                          <a:effectLst/>
                        </a:rPr>
                        <a:t>COLOR_YCrCb2RGB</a:t>
                      </a:r>
                      <a:endParaRPr lang="en-US" sz="1200" b="1" kern="10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4"/>
                  </a:ext>
                </a:extLst>
              </a:tr>
              <a:tr h="318901">
                <a:tc rowSpan="4">
                  <a:txBody>
                    <a:bodyPr/>
                    <a:lstStyle/>
                    <a:p>
                      <a:pPr marL="0" marR="0" algn="just">
                        <a:lnSpc>
                          <a:spcPct val="150000"/>
                        </a:lnSpc>
                        <a:spcBef>
                          <a:spcPts val="0"/>
                        </a:spcBef>
                        <a:spcAft>
                          <a:spcPts val="0"/>
                        </a:spcAft>
                      </a:pPr>
                      <a:r>
                        <a:rPr lang="en-US" altLang="zh-CN" sz="1200" kern="100" dirty="0">
                          <a:effectLst/>
                        </a:rPr>
                        <a:t>BGR</a:t>
                      </a:r>
                      <a:r>
                        <a:rPr lang="zh-CN" altLang="en-US" sz="1200" kern="100" dirty="0">
                          <a:effectLst/>
                        </a:rPr>
                        <a:t>色彩空间与</a:t>
                      </a:r>
                      <a:r>
                        <a:rPr lang="en-US" altLang="zh-CN" sz="1200" kern="100" dirty="0">
                          <a:effectLst/>
                        </a:rPr>
                        <a:t>GRAY</a:t>
                      </a:r>
                      <a:r>
                        <a:rPr lang="zh-CN" altLang="en-US" sz="1200" kern="100" dirty="0">
                          <a:effectLst/>
                        </a:rPr>
                        <a:t>色彩空间之间的转换</a:t>
                      </a:r>
                      <a:endParaRPr lang="zh-CN" alt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tc>
                  <a:txBody>
                    <a:bodyPr/>
                    <a:lstStyle/>
                    <a:p>
                      <a:pPr marL="0" marR="0" algn="ctr">
                        <a:spcBef>
                          <a:spcPts val="0"/>
                        </a:spcBef>
                        <a:spcAft>
                          <a:spcPts val="0"/>
                        </a:spcAft>
                      </a:pPr>
                      <a:r>
                        <a:rPr lang="en-US" sz="1200" kern="100" dirty="0">
                          <a:effectLst/>
                        </a:rPr>
                        <a:t>COLOR_BGR2GRAY</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5"/>
                  </a:ext>
                </a:extLst>
              </a:tr>
              <a:tr h="318901">
                <a:tc vMerge="1">
                  <a:txBody>
                    <a:bodyPr/>
                    <a:lstStyle/>
                    <a:p>
                      <a:endParaRPr lang="zh-CN"/>
                    </a:p>
                  </a:txBody>
                  <a:tcPr/>
                </a:tc>
                <a:tc>
                  <a:txBody>
                    <a:bodyPr/>
                    <a:lstStyle/>
                    <a:p>
                      <a:pPr marL="0" marR="0" algn="ctr">
                        <a:spcBef>
                          <a:spcPts val="0"/>
                        </a:spcBef>
                        <a:spcAft>
                          <a:spcPts val="0"/>
                        </a:spcAft>
                      </a:pPr>
                      <a:r>
                        <a:rPr lang="en-US" sz="1200" kern="100" dirty="0">
                          <a:effectLst/>
                        </a:rPr>
                        <a:t>COLOR_RGB2GRAY</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6"/>
                  </a:ext>
                </a:extLst>
              </a:tr>
              <a:tr h="318901">
                <a:tc vMerge="1">
                  <a:txBody>
                    <a:bodyPr/>
                    <a:lstStyle/>
                    <a:p>
                      <a:endParaRPr lang="zh-CN"/>
                    </a:p>
                  </a:txBody>
                  <a:tcPr/>
                </a:tc>
                <a:tc>
                  <a:txBody>
                    <a:bodyPr/>
                    <a:lstStyle/>
                    <a:p>
                      <a:pPr marL="0" marR="0" algn="ctr">
                        <a:spcBef>
                          <a:spcPts val="0"/>
                        </a:spcBef>
                        <a:spcAft>
                          <a:spcPts val="0"/>
                        </a:spcAft>
                      </a:pPr>
                      <a:r>
                        <a:rPr lang="en-US" sz="1200" kern="100" dirty="0">
                          <a:effectLst/>
                        </a:rPr>
                        <a:t>COLOR_GRAY2RGB</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7"/>
                  </a:ext>
                </a:extLst>
              </a:tr>
              <a:tr h="318901">
                <a:tc vMerge="1">
                  <a:txBody>
                    <a:bodyPr/>
                    <a:lstStyle/>
                    <a:p>
                      <a:endParaRPr lang="zh-CN"/>
                    </a:p>
                  </a:txBody>
                  <a:tcPr/>
                </a:tc>
                <a:tc>
                  <a:txBody>
                    <a:bodyPr/>
                    <a:lstStyle/>
                    <a:p>
                      <a:pPr marL="0" marR="0" algn="ctr">
                        <a:spcBef>
                          <a:spcPts val="0"/>
                        </a:spcBef>
                        <a:spcAft>
                          <a:spcPts val="0"/>
                        </a:spcAft>
                      </a:pPr>
                      <a:r>
                        <a:rPr lang="en-US" sz="1200" kern="100" dirty="0">
                          <a:effectLst/>
                        </a:rPr>
                        <a:t>COLOR_GRAY2BGR</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8"/>
                  </a:ext>
                </a:extLst>
              </a:tr>
              <a:tr h="318901">
                <a:tc rowSpan="4">
                  <a:txBody>
                    <a:bodyPr/>
                    <a:lstStyle/>
                    <a:p>
                      <a:pPr marL="0" marR="0" algn="just">
                        <a:lnSpc>
                          <a:spcPct val="150000"/>
                        </a:lnSpc>
                        <a:spcBef>
                          <a:spcPts val="0"/>
                        </a:spcBef>
                        <a:spcAft>
                          <a:spcPts val="0"/>
                        </a:spcAft>
                      </a:pPr>
                      <a:r>
                        <a:rPr lang="en-US" altLang="zh-CN" sz="1200" kern="100" dirty="0">
                          <a:effectLst/>
                        </a:rPr>
                        <a:t>BGR</a:t>
                      </a:r>
                      <a:r>
                        <a:rPr lang="zh-CN" altLang="en-US" sz="1200" kern="100" dirty="0">
                          <a:effectLst/>
                        </a:rPr>
                        <a:t>色彩空间与</a:t>
                      </a:r>
                      <a:r>
                        <a:rPr lang="en-US" altLang="zh-CN" sz="1200" kern="100" dirty="0">
                          <a:effectLst/>
                        </a:rPr>
                        <a:t>YUV</a:t>
                      </a:r>
                      <a:r>
                        <a:rPr lang="zh-CN" altLang="en-US" sz="1200" kern="100" dirty="0">
                          <a:effectLst/>
                        </a:rPr>
                        <a:t>色彩空间之间的转换</a:t>
                      </a:r>
                      <a:endParaRPr lang="zh-CN" alt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tc>
                  <a:txBody>
                    <a:bodyPr/>
                    <a:lstStyle/>
                    <a:p>
                      <a:pPr marL="0" marR="0" algn="ctr">
                        <a:spcBef>
                          <a:spcPts val="0"/>
                        </a:spcBef>
                        <a:spcAft>
                          <a:spcPts val="0"/>
                        </a:spcAft>
                      </a:pPr>
                      <a:r>
                        <a:rPr lang="en-US" sz="1200" kern="100" dirty="0">
                          <a:effectLst/>
                        </a:rPr>
                        <a:t>COLOR_BGR2YUV</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09"/>
                  </a:ext>
                </a:extLst>
              </a:tr>
              <a:tr h="318901">
                <a:tc vMerge="1">
                  <a:txBody>
                    <a:bodyPr/>
                    <a:lstStyle/>
                    <a:p>
                      <a:endParaRPr lang="zh-CN"/>
                    </a:p>
                  </a:txBody>
                  <a:tcPr/>
                </a:tc>
                <a:tc>
                  <a:txBody>
                    <a:bodyPr/>
                    <a:lstStyle/>
                    <a:p>
                      <a:pPr marL="0" marR="0" algn="ctr">
                        <a:spcBef>
                          <a:spcPts val="0"/>
                        </a:spcBef>
                        <a:spcAft>
                          <a:spcPts val="0"/>
                        </a:spcAft>
                      </a:pPr>
                      <a:r>
                        <a:rPr lang="en-US" sz="1200" kern="100" dirty="0">
                          <a:effectLst/>
                        </a:rPr>
                        <a:t>COLOR_RGB2YUV</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10"/>
                  </a:ext>
                </a:extLst>
              </a:tr>
              <a:tr h="318901">
                <a:tc vMerge="1">
                  <a:txBody>
                    <a:bodyPr/>
                    <a:lstStyle/>
                    <a:p>
                      <a:endParaRPr lang="zh-CN"/>
                    </a:p>
                  </a:txBody>
                  <a:tcPr/>
                </a:tc>
                <a:tc>
                  <a:txBody>
                    <a:bodyPr/>
                    <a:lstStyle/>
                    <a:p>
                      <a:pPr marL="0" marR="0" algn="ctr">
                        <a:spcBef>
                          <a:spcPts val="0"/>
                        </a:spcBef>
                        <a:spcAft>
                          <a:spcPts val="0"/>
                        </a:spcAft>
                      </a:pPr>
                      <a:r>
                        <a:rPr lang="en-US" sz="1200" kern="100" dirty="0">
                          <a:effectLst/>
                        </a:rPr>
                        <a:t>COLOR_YUV2RGB</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11"/>
                  </a:ext>
                </a:extLst>
              </a:tr>
              <a:tr h="318901">
                <a:tc vMerge="1">
                  <a:txBody>
                    <a:bodyPr/>
                    <a:lstStyle/>
                    <a:p>
                      <a:endParaRPr lang="zh-CN"/>
                    </a:p>
                  </a:txBody>
                  <a:tcPr/>
                </a:tc>
                <a:tc>
                  <a:txBody>
                    <a:bodyPr/>
                    <a:lstStyle/>
                    <a:p>
                      <a:pPr marL="0" marR="0" algn="ctr">
                        <a:spcBef>
                          <a:spcPts val="0"/>
                        </a:spcBef>
                        <a:spcAft>
                          <a:spcPts val="0"/>
                        </a:spcAft>
                      </a:pPr>
                      <a:r>
                        <a:rPr lang="en-US" sz="1200" kern="100" dirty="0">
                          <a:effectLst/>
                        </a:rPr>
                        <a:t>COLOR_YUV2BGR</a:t>
                      </a:r>
                      <a:endParaRPr lang="en-US" sz="1200" b="1" kern="100" dirty="0">
                        <a:solidFill>
                          <a:srgbClr val="000000"/>
                        </a:solidFill>
                        <a:effectLst/>
                        <a:latin typeface="Times New Roman" panose="02020603050405020304" pitchFamily="18" charset="0"/>
                        <a:ea typeface="宋体" panose="02010600030101010101" pitchFamily="2" charset="-122"/>
                      </a:endParaRPr>
                    </a:p>
                  </a:txBody>
                  <a:tcPr marL="67293" marR="67293" marT="44862" marB="44862"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036955"/>
            <a:ext cx="11118850" cy="5544820"/>
          </a:xfrm>
        </p:spPr>
        <p:txBody>
          <a:bodyPr/>
          <a:lstStyle/>
          <a:p>
            <a:pPr>
              <a:lnSpc>
                <a:spcPct val="150000"/>
              </a:lnSpc>
              <a:spcBef>
                <a:spcPts val="400"/>
              </a:spcBef>
              <a:spcAft>
                <a:spcPts val="0"/>
              </a:spcAft>
            </a:pPr>
            <a:r>
              <a:rPr lang="zh-CN" altLang="en-US" dirty="0"/>
              <a:t>应用实例</a:t>
            </a:r>
            <a:r>
              <a:rPr lang="en-US" altLang="zh-CN" dirty="0"/>
              <a:t>1</a:t>
            </a:r>
            <a:r>
              <a:rPr lang="zh-CN" altLang="en-US" dirty="0"/>
              <a:t>：</a:t>
            </a:r>
            <a:r>
              <a:rPr lang="en-US" altLang="zh-CN" dirty="0"/>
              <a:t>cvtColor()</a:t>
            </a:r>
            <a:r>
              <a:rPr lang="zh-CN" altLang="en-US" dirty="0"/>
              <a:t>函数实现图像色彩空间的转换</a:t>
            </a:r>
          </a:p>
        </p:txBody>
      </p:sp>
      <p:pic>
        <p:nvPicPr>
          <p:cNvPr id="6" name="图片 5"/>
          <p:cNvPicPr>
            <a:picLocks noChangeAspect="1"/>
          </p:cNvPicPr>
          <p:nvPr/>
        </p:nvPicPr>
        <p:blipFill>
          <a:blip r:embed="rId2"/>
          <a:stretch>
            <a:fillRect/>
          </a:stretch>
        </p:blipFill>
        <p:spPr>
          <a:xfrm>
            <a:off x="334681" y="1677035"/>
            <a:ext cx="3968115" cy="4481718"/>
          </a:xfrm>
          <a:prstGeom prst="rect">
            <a:avLst/>
          </a:prstGeom>
        </p:spPr>
      </p:pic>
      <p:pic>
        <p:nvPicPr>
          <p:cNvPr id="8" name="图片 7"/>
          <p:cNvPicPr>
            <a:picLocks noChangeAspect="1"/>
          </p:cNvPicPr>
          <p:nvPr/>
        </p:nvPicPr>
        <p:blipFill>
          <a:blip r:embed="rId3"/>
          <a:stretch>
            <a:fillRect/>
          </a:stretch>
        </p:blipFill>
        <p:spPr>
          <a:xfrm>
            <a:off x="4356992" y="1677035"/>
            <a:ext cx="3478016" cy="4620051"/>
          </a:xfrm>
          <a:prstGeom prst="rect">
            <a:avLst/>
          </a:prstGeom>
        </p:spPr>
      </p:pic>
      <p:pic>
        <p:nvPicPr>
          <p:cNvPr id="10" name="图片 9"/>
          <p:cNvPicPr>
            <a:picLocks noChangeAspect="1"/>
          </p:cNvPicPr>
          <p:nvPr/>
        </p:nvPicPr>
        <p:blipFill>
          <a:blip r:embed="rId4"/>
          <a:stretch>
            <a:fillRect/>
          </a:stretch>
        </p:blipFill>
        <p:spPr>
          <a:xfrm>
            <a:off x="7457414" y="2117417"/>
            <a:ext cx="4734586" cy="3600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色彩空间变换</a:t>
            </a:r>
          </a:p>
        </p:txBody>
      </p:sp>
      <p:sp>
        <p:nvSpPr>
          <p:cNvPr id="3" name="内容占位符 2"/>
          <p:cNvSpPr>
            <a:spLocks noGrp="1"/>
          </p:cNvSpPr>
          <p:nvPr>
            <p:ph sz="quarter" idx="15"/>
          </p:nvPr>
        </p:nvSpPr>
        <p:spPr>
          <a:xfrm>
            <a:off x="640080" y="1036955"/>
            <a:ext cx="11118850" cy="5544820"/>
          </a:xfrm>
        </p:spPr>
        <p:txBody>
          <a:bodyPr/>
          <a:lstStyle/>
          <a:p>
            <a:pPr>
              <a:lnSpc>
                <a:spcPct val="150000"/>
              </a:lnSpc>
              <a:spcBef>
                <a:spcPts val="400"/>
              </a:spcBef>
              <a:spcAft>
                <a:spcPts val="0"/>
              </a:spcAft>
            </a:pPr>
            <a:r>
              <a:rPr lang="zh-CN" altLang="en-US" dirty="0"/>
              <a:t>应用实例</a:t>
            </a:r>
            <a:r>
              <a:rPr lang="en-US" altLang="zh-CN" dirty="0"/>
              <a:t>2</a:t>
            </a:r>
            <a:r>
              <a:rPr lang="zh-CN" altLang="en-US" dirty="0"/>
              <a:t>：识别摄像头中提取某种颜色的物体（例如：识别蓝色的物体）</a:t>
            </a:r>
          </a:p>
        </p:txBody>
      </p:sp>
      <p:pic>
        <p:nvPicPr>
          <p:cNvPr id="4" name="图片 3"/>
          <p:cNvPicPr>
            <a:picLocks noChangeAspect="1"/>
          </p:cNvPicPr>
          <p:nvPr/>
        </p:nvPicPr>
        <p:blipFill>
          <a:blip r:embed="rId2"/>
          <a:stretch>
            <a:fillRect/>
          </a:stretch>
        </p:blipFill>
        <p:spPr>
          <a:xfrm>
            <a:off x="1737360" y="1670050"/>
            <a:ext cx="8309610" cy="47593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marL="285750" indent="-285750">
              <a:lnSpc>
                <a:spcPct val="150000"/>
              </a:lnSpc>
              <a:spcBef>
                <a:spcPts val="400"/>
              </a:spcBef>
              <a:spcAft>
                <a:spcPts val="0"/>
              </a:spcAft>
              <a:buFont typeface="Wingdings" panose="05000000000000000000" pitchFamily="2" charset="2"/>
              <a:buChar char="Ø"/>
            </a:pPr>
            <a:r>
              <a:rPr lang="zh-CN" altLang="en-US" dirty="0"/>
              <a:t>几何变换：在不改变图像内容的前提下对图像像素的进行空间几何变换，也被称为坐标变换；</a:t>
            </a:r>
            <a:endParaRPr lang="en-US" altLang="zh-CN" dirty="0"/>
          </a:p>
          <a:p>
            <a:pPr marL="285750" indent="-285750">
              <a:lnSpc>
                <a:spcPct val="150000"/>
              </a:lnSpc>
              <a:spcBef>
                <a:spcPts val="400"/>
              </a:spcBef>
              <a:spcAft>
                <a:spcPts val="0"/>
              </a:spcAft>
              <a:buFont typeface="Wingdings" panose="05000000000000000000" pitchFamily="2" charset="2"/>
              <a:buChar char="Ø"/>
            </a:pPr>
            <a:r>
              <a:rPr lang="zh-CN" altLang="en-US" dirty="0"/>
              <a:t>几何变换改变了图像中像素间的空间关系，即像素的空间位置关系，比如可以放大和缩小图像；</a:t>
            </a:r>
            <a:endParaRPr lang="en-US" altLang="zh-CN" dirty="0"/>
          </a:p>
          <a:p>
            <a:pPr marL="285750" indent="-285750">
              <a:lnSpc>
                <a:spcPct val="150000"/>
              </a:lnSpc>
              <a:spcBef>
                <a:spcPts val="400"/>
              </a:spcBef>
              <a:spcAft>
                <a:spcPts val="0"/>
              </a:spcAft>
              <a:buFont typeface="Wingdings" panose="05000000000000000000" pitchFamily="2" charset="2"/>
              <a:buChar char="Ø"/>
            </a:pPr>
            <a:r>
              <a:rPr lang="zh-CN" altLang="en-US" dirty="0"/>
              <a:t>几何变换建立了一种原图像像素与变换后图像像素之间的映射关系，通过这种映射关系能够实现原图像任意像素计算该像素在变换后图像的坐标位置；</a:t>
            </a:r>
            <a:endParaRPr lang="en-US" altLang="zh-CN" dirty="0"/>
          </a:p>
          <a:p>
            <a:pPr>
              <a:lnSpc>
                <a:spcPct val="150000"/>
              </a:lnSpc>
              <a:spcBef>
                <a:spcPts val="400"/>
              </a:spcBef>
              <a:spcAft>
                <a:spcPts val="0"/>
              </a:spcAft>
            </a:pPr>
            <a:r>
              <a:rPr lang="zh-CN" altLang="en-US" dirty="0"/>
              <a:t>应用场景：</a:t>
            </a:r>
            <a:endParaRPr lang="en-US" altLang="zh-CN" dirty="0"/>
          </a:p>
          <a:p>
            <a:pPr marL="285750" indent="-285750">
              <a:lnSpc>
                <a:spcPct val="150000"/>
              </a:lnSpc>
              <a:spcBef>
                <a:spcPts val="400"/>
              </a:spcBef>
              <a:spcAft>
                <a:spcPts val="0"/>
              </a:spcAft>
              <a:buFont typeface="Wingdings" panose="05000000000000000000" pitchFamily="2" charset="2"/>
              <a:buChar char="Ø"/>
            </a:pPr>
            <a:r>
              <a:rPr lang="zh-CN" altLang="en-US" dirty="0"/>
              <a:t>在深度学习领域常用平移、旋转、镜像等操作进行数据增广</a:t>
            </a:r>
            <a:endParaRPr lang="en-US" altLang="zh-CN" dirty="0"/>
          </a:p>
          <a:p>
            <a:pPr marL="285750" indent="-285750">
              <a:lnSpc>
                <a:spcPct val="150000"/>
              </a:lnSpc>
              <a:spcBef>
                <a:spcPts val="400"/>
              </a:spcBef>
              <a:spcAft>
                <a:spcPts val="0"/>
              </a:spcAft>
              <a:buFont typeface="Wingdings" panose="05000000000000000000" pitchFamily="2" charset="2"/>
              <a:buChar char="Ø"/>
            </a:pPr>
            <a:r>
              <a:rPr lang="zh-CN" altLang="en-US" dirty="0"/>
              <a:t>在传统</a:t>
            </a:r>
            <a:r>
              <a:rPr lang="en-US" altLang="zh-CN" dirty="0"/>
              <a:t>CV</a:t>
            </a:r>
            <a:r>
              <a:rPr lang="zh-CN" altLang="en-US" dirty="0"/>
              <a:t>领域，由于某些拍摄角度的问题，需要对图像进行矫正处理</a:t>
            </a:r>
            <a:endParaRPr lang="en-US" altLang="zh-CN" dirty="0"/>
          </a:p>
          <a:p>
            <a:pPr>
              <a:lnSpc>
                <a:spcPct val="150000"/>
              </a:lnSpc>
              <a:spcBef>
                <a:spcPts val="400"/>
              </a:spcBef>
              <a:spcAft>
                <a:spcPts val="0"/>
              </a:spcAft>
            </a:pPr>
            <a:r>
              <a:rPr lang="zh-CN" altLang="en-US" dirty="0"/>
              <a:t>几何变换主要包括：平移变换（</a:t>
            </a:r>
            <a:r>
              <a:rPr lang="en-US" altLang="zh-CN" dirty="0"/>
              <a:t>Translation</a:t>
            </a:r>
            <a:r>
              <a:rPr lang="zh-CN" altLang="en-US" dirty="0"/>
              <a:t>），缩放变换（</a:t>
            </a:r>
            <a:r>
              <a:rPr lang="en-US" altLang="zh-CN" dirty="0"/>
              <a:t>Scaling</a:t>
            </a:r>
            <a:r>
              <a:rPr lang="zh-CN" altLang="en-US" dirty="0"/>
              <a:t>），旋转变换（</a:t>
            </a:r>
            <a:r>
              <a:rPr lang="en-US" altLang="zh-CN" dirty="0"/>
              <a:t>Rotation</a:t>
            </a:r>
            <a:r>
              <a:rPr lang="zh-CN" altLang="en-US" dirty="0"/>
              <a:t>），仿射变换（</a:t>
            </a:r>
            <a:r>
              <a:rPr lang="en-US" altLang="zh-CN" dirty="0"/>
              <a:t>Affine</a:t>
            </a:r>
            <a:r>
              <a:rPr lang="zh-CN" altLang="en-US" dirty="0"/>
              <a:t>），投影变换（</a:t>
            </a:r>
            <a:r>
              <a:rPr lang="en-US" altLang="zh-CN" dirty="0"/>
              <a:t>Projective</a:t>
            </a:r>
            <a:r>
              <a:rPr lang="zh-CN" altLang="en-US" dirty="0"/>
              <a:t>）</a:t>
            </a: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a:lnSpc>
                <a:spcPct val="150000"/>
              </a:lnSpc>
              <a:spcBef>
                <a:spcPts val="400"/>
              </a:spcBef>
              <a:spcAft>
                <a:spcPts val="0"/>
              </a:spcAft>
            </a:pPr>
            <a:r>
              <a:rPr lang="zh-CN" altLang="en-US" dirty="0"/>
              <a:t>缩放是将图像的尺寸变小或变大的过程，即减少或增加原图像数据的像素个数，或者说通过增加或删除像素点来改变图像的尺寸；</a:t>
            </a:r>
          </a:p>
        </p:txBody>
      </p:sp>
      <p:grpSp>
        <p:nvGrpSpPr>
          <p:cNvPr id="16" name="组合 15"/>
          <p:cNvGrpSpPr/>
          <p:nvPr/>
        </p:nvGrpSpPr>
        <p:grpSpPr>
          <a:xfrm>
            <a:off x="3220059" y="2987214"/>
            <a:ext cx="5751881" cy="2735219"/>
            <a:chOff x="3184200" y="2861708"/>
            <a:chExt cx="5751881" cy="2735219"/>
          </a:xfrm>
        </p:grpSpPr>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461" y="3364703"/>
              <a:ext cx="1256928" cy="1256928"/>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5821" y="2861708"/>
              <a:ext cx="2340260" cy="2340260"/>
            </a:xfrm>
            <a:prstGeom prst="rect">
              <a:avLst/>
            </a:prstGeom>
          </p:spPr>
        </p:pic>
        <p:sp>
          <p:nvSpPr>
            <p:cNvPr id="12" name="文本框 6"/>
            <p:cNvSpPr txBox="1"/>
            <p:nvPr/>
          </p:nvSpPr>
          <p:spPr bwMode="auto">
            <a:xfrm>
              <a:off x="3184200" y="4879736"/>
              <a:ext cx="1691103" cy="316392"/>
            </a:xfrm>
            <a:prstGeom prst="rect">
              <a:avLst/>
            </a:prstGeom>
            <a:noFill/>
            <a:ln w="9525">
              <a:noFill/>
              <a:miter lim="800000"/>
            </a:ln>
          </p:spPr>
          <p:txBody>
            <a:bodyPr wrap="none" lIns="99980" tIns="49986" rIns="99980" bIns="4998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001395" rtl="0" eaLnBrk="0" fontAlgn="auto" latinLnBrk="0" hangingPunct="0">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latin typeface="Microsoft YaHei UI" panose="020B0503020204020204" pitchFamily="34" charset="-122"/>
                  <a:ea typeface="Microsoft YaHei UI" panose="020B0503020204020204" pitchFamily="34" charset="-122"/>
                  <a:cs typeface="Arial" panose="020B0604020202020204" pitchFamily="34" charset="0"/>
                </a:rPr>
                <a:t>256x256</a:t>
              </a:r>
              <a:r>
                <a:rPr kumimoji="0" lang="zh-CN" altLang="en-US" sz="1400" b="0" i="0" u="none" strike="noStrike" kern="1200" cap="none" spc="0" normalizeH="0" baseline="0" noProof="0" dirty="0">
                  <a:ln>
                    <a:noFill/>
                  </a:ln>
                  <a:solidFill>
                    <a:srgbClr val="000000"/>
                  </a:solidFill>
                  <a:effectLst/>
                  <a:uLnTx/>
                  <a:uFillTx/>
                  <a:latin typeface="Microsoft YaHei UI" panose="020B0503020204020204" pitchFamily="34" charset="-122"/>
                  <a:ea typeface="Microsoft YaHei UI" panose="020B0503020204020204" pitchFamily="34" charset="-122"/>
                  <a:cs typeface="Arial" panose="020B0604020202020204" pitchFamily="34" charset="0"/>
                </a:rPr>
                <a:t>的</a:t>
              </a:r>
              <a:r>
                <a:rPr kumimoji="0" lang="en-US" altLang="zh-CN" sz="1400" b="0" i="0" u="none" strike="noStrike" kern="1200" cap="none" spc="0" normalizeH="0" baseline="0" noProof="0" dirty="0">
                  <a:ln>
                    <a:noFill/>
                  </a:ln>
                  <a:solidFill>
                    <a:srgbClr val="000000"/>
                  </a:solidFill>
                  <a:effectLst/>
                  <a:uLnTx/>
                  <a:uFillTx/>
                  <a:latin typeface="Microsoft YaHei UI" panose="020B0503020204020204" pitchFamily="34" charset="-122"/>
                  <a:ea typeface="Microsoft YaHei UI" panose="020B0503020204020204" pitchFamily="34" charset="-122"/>
                  <a:cs typeface="Arial" panose="020B0604020202020204" pitchFamily="34" charset="0"/>
                </a:rPr>
                <a:t>Lena</a:t>
              </a:r>
              <a:r>
                <a:rPr kumimoji="0" lang="zh-CN" altLang="en-US" sz="1400" b="0" i="0" u="none" strike="noStrike" kern="1200" cap="none" spc="0" normalizeH="0" baseline="0" noProof="0" dirty="0">
                  <a:ln>
                    <a:noFill/>
                  </a:ln>
                  <a:solidFill>
                    <a:srgbClr val="000000"/>
                  </a:solidFill>
                  <a:effectLst/>
                  <a:uLnTx/>
                  <a:uFillTx/>
                  <a:latin typeface="Microsoft YaHei UI" panose="020B0503020204020204" pitchFamily="34" charset="-122"/>
                  <a:ea typeface="Microsoft YaHei UI" panose="020B0503020204020204" pitchFamily="34" charset="-122"/>
                  <a:cs typeface="Arial" panose="020B0604020202020204" pitchFamily="34" charset="0"/>
                </a:rPr>
                <a:t>图</a:t>
              </a:r>
            </a:p>
          </p:txBody>
        </p:sp>
        <p:cxnSp>
          <p:nvCxnSpPr>
            <p:cNvPr id="13" name="直接连接符 12"/>
            <p:cNvCxnSpPr/>
            <p:nvPr/>
          </p:nvCxnSpPr>
          <p:spPr bwMode="auto">
            <a:xfrm flipV="1">
              <a:off x="4615601" y="2861709"/>
              <a:ext cx="1980220" cy="50299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直接连接符 13"/>
            <p:cNvCxnSpPr/>
            <p:nvPr/>
          </p:nvCxnSpPr>
          <p:spPr bwMode="auto">
            <a:xfrm>
              <a:off x="4612389" y="4621632"/>
              <a:ext cx="1983432" cy="57449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5" name="文本框 11"/>
            <p:cNvSpPr txBox="1"/>
            <p:nvPr/>
          </p:nvSpPr>
          <p:spPr bwMode="auto">
            <a:xfrm>
              <a:off x="7032611" y="5280535"/>
              <a:ext cx="1466683" cy="316392"/>
            </a:xfrm>
            <a:prstGeom prst="rect">
              <a:avLst/>
            </a:prstGeom>
            <a:noFill/>
            <a:ln w="9525">
              <a:noFill/>
              <a:miter lim="800000"/>
            </a:ln>
          </p:spPr>
          <p:txBody>
            <a:bodyPr wrap="none" lIns="99980" tIns="49986" rIns="99980" bIns="4998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001395" rtl="0" eaLnBrk="0" fontAlgn="auto" latinLnBrk="0" hangingPunct="0">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latin typeface="Microsoft YaHei UI" panose="020B0503020204020204" pitchFamily="34" charset="-122"/>
                  <a:ea typeface="Microsoft YaHei UI" panose="020B0503020204020204" pitchFamily="34" charset="-122"/>
                  <a:cs typeface="Arial" panose="020B0604020202020204" pitchFamily="34" charset="0"/>
                </a:rPr>
                <a:t>放大到</a:t>
              </a:r>
              <a:r>
                <a:rPr kumimoji="0" lang="en-US" altLang="zh-CN" sz="1400" b="0" i="0" u="none" strike="noStrike" kern="1200" cap="none" spc="0" normalizeH="0" baseline="0" noProof="0" dirty="0">
                  <a:ln>
                    <a:noFill/>
                  </a:ln>
                  <a:solidFill>
                    <a:srgbClr val="000000"/>
                  </a:solidFill>
                  <a:effectLst/>
                  <a:uLnTx/>
                  <a:uFillTx/>
                  <a:latin typeface="Microsoft YaHei UI" panose="020B0503020204020204" pitchFamily="34" charset="-122"/>
                  <a:ea typeface="Microsoft YaHei UI" panose="020B0503020204020204" pitchFamily="34" charset="-122"/>
                  <a:cs typeface="Arial" panose="020B0604020202020204" pitchFamily="34" charset="0"/>
                </a:rPr>
                <a:t>512x512</a:t>
              </a:r>
              <a:endParaRPr kumimoji="0" lang="zh-CN" altLang="en-US" sz="1400" b="0" i="0" u="none" strike="noStrike" kern="1200" cap="none" spc="0" normalizeH="0" baseline="0" noProof="0" dirty="0">
                <a:ln>
                  <a:noFill/>
                </a:ln>
                <a:solidFill>
                  <a:srgbClr val="000000"/>
                </a:solidFill>
                <a:effectLst/>
                <a:uLnTx/>
                <a:uFillTx/>
                <a:latin typeface="Microsoft YaHei UI" panose="020B0503020204020204" pitchFamily="34" charset="-122"/>
                <a:ea typeface="Microsoft YaHei UI" panose="020B0503020204020204" pitchFamily="34" charset="-122"/>
                <a:cs typeface="Arial" panose="020B0604020202020204" pitchFamily="34"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a:lnSpc>
                <a:spcPct val="150000"/>
              </a:lnSpc>
              <a:spcBef>
                <a:spcPts val="400"/>
              </a:spcBef>
              <a:spcAft>
                <a:spcPts val="0"/>
              </a:spcAft>
            </a:pPr>
            <a:r>
              <a:rPr lang="zh-CN" altLang="en-US" dirty="0"/>
              <a:t>基本原理：将分辨率（图片尺寸）为</a:t>
            </a:r>
            <a:r>
              <a:rPr lang="en-US" altLang="zh-CN" dirty="0"/>
              <a:t>(</a:t>
            </a:r>
            <a:r>
              <a:rPr lang="en-US" altLang="zh-CN" dirty="0" err="1"/>
              <a:t>w,h</a:t>
            </a:r>
            <a:r>
              <a:rPr lang="en-US" altLang="zh-CN" dirty="0"/>
              <a:t>)</a:t>
            </a:r>
            <a:r>
              <a:rPr lang="zh-CN" altLang="en-US" dirty="0"/>
              <a:t>的图像，缩放后其图像分辨率（图像尺寸）为</a:t>
            </a:r>
            <a:r>
              <a:rPr lang="en-US" altLang="zh-CN" dirty="0"/>
              <a:t>(</a:t>
            </a:r>
            <a:r>
              <a:rPr lang="en-US" altLang="zh-CN" dirty="0" err="1"/>
              <a:t>w’,h</a:t>
            </a:r>
            <a:r>
              <a:rPr lang="en-US" altLang="zh-CN" dirty="0"/>
              <a:t>’)</a:t>
            </a:r>
            <a:r>
              <a:rPr lang="zh-CN" altLang="en-US" dirty="0"/>
              <a:t>，则水平方向的缩放系数为</a:t>
            </a:r>
            <a:r>
              <a:rPr lang="en-US" altLang="zh-CN" dirty="0" err="1"/>
              <a:t>Sx</a:t>
            </a:r>
            <a:r>
              <a:rPr lang="en-US" altLang="zh-CN" dirty="0"/>
              <a:t>=w’/w</a:t>
            </a:r>
            <a:r>
              <a:rPr lang="zh-CN" altLang="en-US" dirty="0"/>
              <a:t>，垂直方向的缩放系数为</a:t>
            </a:r>
            <a:r>
              <a:rPr lang="en-US" altLang="zh-CN" dirty="0"/>
              <a:t>Sy=h’/h</a:t>
            </a:r>
            <a:r>
              <a:rPr lang="zh-CN" altLang="en-US" dirty="0"/>
              <a:t>，设原始图像的某个像素点坐标为</a:t>
            </a:r>
            <a:r>
              <a:rPr lang="en-US" altLang="zh-CN" dirty="0"/>
              <a:t>(x0,y0)</a:t>
            </a:r>
            <a:r>
              <a:rPr lang="zh-CN" altLang="en-US" dirty="0"/>
              <a:t>，缩放后的图像的像素点坐标为</a:t>
            </a:r>
            <a:r>
              <a:rPr lang="en-US" altLang="zh-CN" dirty="0"/>
              <a:t>(</a:t>
            </a:r>
            <a:r>
              <a:rPr lang="en-US" altLang="zh-CN" dirty="0" err="1"/>
              <a:t>x,y</a:t>
            </a:r>
            <a:r>
              <a:rPr lang="en-US" altLang="zh-CN" dirty="0"/>
              <a:t>)</a:t>
            </a:r>
            <a:r>
              <a:rPr lang="zh-CN" altLang="en-US" dirty="0"/>
              <a:t>，则</a:t>
            </a:r>
            <a:r>
              <a:rPr lang="en-US" altLang="zh-CN" dirty="0"/>
              <a:t>(x0,y0)</a:t>
            </a:r>
            <a:r>
              <a:rPr lang="zh-CN" altLang="en-US" dirty="0"/>
              <a:t>和</a:t>
            </a:r>
            <a:r>
              <a:rPr lang="en-US" altLang="zh-CN" dirty="0"/>
              <a:t>(</a:t>
            </a:r>
            <a:r>
              <a:rPr lang="en-US" altLang="zh-CN" dirty="0" err="1"/>
              <a:t>x,y</a:t>
            </a:r>
            <a:r>
              <a:rPr lang="en-US" altLang="zh-CN" dirty="0"/>
              <a:t>)</a:t>
            </a:r>
            <a:r>
              <a:rPr lang="zh-CN" altLang="en-US" dirty="0"/>
              <a:t>的关系如下：</a:t>
            </a: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r>
              <a:rPr lang="zh-CN" altLang="en-US" dirty="0"/>
              <a:t>图像缩放算法：最近邻插值算法、双线性插值算法、立方插值算法、像素关系重采样算法</a:t>
            </a:r>
            <a:endParaRPr lang="en-US" altLang="zh-CN" dirty="0"/>
          </a:p>
          <a:p>
            <a:pPr>
              <a:lnSpc>
                <a:spcPct val="150000"/>
              </a:lnSpc>
              <a:spcBef>
                <a:spcPts val="400"/>
              </a:spcBef>
              <a:spcAft>
                <a:spcPts val="0"/>
              </a:spcAft>
            </a:pPr>
            <a:endParaRPr lang="en-US" altLang="zh-CN" dirty="0"/>
          </a:p>
        </p:txBody>
      </p:sp>
      <p:pic>
        <p:nvPicPr>
          <p:cNvPr id="5" name="图片 4"/>
          <p:cNvPicPr>
            <a:picLocks noChangeAspect="1"/>
          </p:cNvPicPr>
          <p:nvPr/>
        </p:nvPicPr>
        <p:blipFill>
          <a:blip r:embed="rId2"/>
          <a:stretch>
            <a:fillRect/>
          </a:stretch>
        </p:blipFill>
        <p:spPr>
          <a:xfrm>
            <a:off x="3045875" y="2980680"/>
            <a:ext cx="3987603" cy="20664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a:lnSpc>
                <a:spcPct val="150000"/>
              </a:lnSpc>
              <a:spcBef>
                <a:spcPts val="400"/>
              </a:spcBef>
              <a:spcAft>
                <a:spcPts val="0"/>
              </a:spcAft>
            </a:pPr>
            <a:r>
              <a:rPr lang="zh-CN" altLang="en-US" dirty="0"/>
              <a:t>最近邻算法：计算缩放后图像的像素对应原图像中的哪个坐标点的像素来填充，但计算结果有可能不是整数，需要将其转换为整数，不同的插值法计算方法不同，当采取四舍五入算法时，就是最近邻算法。</a:t>
            </a:r>
            <a:endParaRPr lang="en-US" altLang="zh-CN" dirty="0"/>
          </a:p>
          <a:p>
            <a:pPr>
              <a:lnSpc>
                <a:spcPct val="150000"/>
              </a:lnSpc>
              <a:spcBef>
                <a:spcPts val="400"/>
              </a:spcBef>
              <a:spcAft>
                <a:spcPts val="0"/>
              </a:spcAft>
            </a:pPr>
            <a:r>
              <a:rPr lang="zh-CN" altLang="en-US" dirty="0"/>
              <a:t>设（</a:t>
            </a:r>
            <a:r>
              <a:rPr lang="en-US" altLang="zh-CN" dirty="0"/>
              <a:t>x0,y0</a:t>
            </a:r>
            <a:r>
              <a:rPr lang="zh-CN" altLang="en-US" dirty="0"/>
              <a:t>）为源图像素点的坐标，</a:t>
            </a:r>
            <a:r>
              <a:rPr lang="en-US" altLang="zh-CN" dirty="0"/>
              <a:t>(</a:t>
            </a:r>
            <a:r>
              <a:rPr lang="en-US" altLang="zh-CN" dirty="0" err="1"/>
              <a:t>x,y</a:t>
            </a:r>
            <a:r>
              <a:rPr lang="en-US" altLang="zh-CN" dirty="0"/>
              <a:t>)</a:t>
            </a:r>
            <a:r>
              <a:rPr lang="zh-CN" altLang="en-US" dirty="0"/>
              <a:t>为缩放后图像像素点坐标，有公式：</a:t>
            </a: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endParaRPr lang="zh-CN" altLang="en-US" dirty="0"/>
          </a:p>
          <a:p>
            <a:pPr>
              <a:lnSpc>
                <a:spcPct val="150000"/>
              </a:lnSpc>
              <a:spcBef>
                <a:spcPts val="400"/>
              </a:spcBef>
              <a:spcAft>
                <a:spcPts val="0"/>
              </a:spcAft>
            </a:pPr>
            <a:r>
              <a:rPr lang="zh-CN" altLang="en-US" dirty="0"/>
              <a:t>则</a:t>
            </a:r>
            <a:r>
              <a:rPr lang="en-US" altLang="zh-CN" dirty="0"/>
              <a:t>(</a:t>
            </a:r>
            <a:r>
              <a:rPr lang="en-US" altLang="zh-CN" dirty="0" err="1"/>
              <a:t>x,y</a:t>
            </a:r>
            <a:r>
              <a:rPr lang="en-US" altLang="zh-CN" dirty="0"/>
              <a:t>)</a:t>
            </a:r>
            <a:r>
              <a:rPr lang="zh-CN" altLang="en-US" dirty="0"/>
              <a:t>坐标的像素值为源图</a:t>
            </a:r>
            <a:r>
              <a:rPr lang="en-US" altLang="zh-CN" dirty="0"/>
              <a:t>(x0,y0)</a:t>
            </a:r>
            <a:r>
              <a:rPr lang="zh-CN" altLang="en-US" dirty="0"/>
              <a:t>的坐标的像素值，即将源图中</a:t>
            </a:r>
            <a:r>
              <a:rPr lang="en-US" altLang="zh-CN" dirty="0"/>
              <a:t>(x0,y0)</a:t>
            </a:r>
            <a:r>
              <a:rPr lang="zh-CN" altLang="en-US" dirty="0"/>
              <a:t>的坐标的像素值拷贝到缩放后图像</a:t>
            </a:r>
            <a:r>
              <a:rPr lang="en-US" altLang="zh-CN" dirty="0"/>
              <a:t>(</a:t>
            </a:r>
            <a:r>
              <a:rPr lang="en-US" altLang="zh-CN" dirty="0" err="1"/>
              <a:t>x,y</a:t>
            </a:r>
            <a:r>
              <a:rPr lang="en-US" altLang="zh-CN" dirty="0"/>
              <a:t>)</a:t>
            </a:r>
            <a:r>
              <a:rPr lang="zh-CN" altLang="en-US" dirty="0"/>
              <a:t>坐标位置</a:t>
            </a:r>
            <a:endParaRPr lang="en-US" altLang="zh-CN" dirty="0"/>
          </a:p>
          <a:p>
            <a:pPr>
              <a:lnSpc>
                <a:spcPct val="150000"/>
              </a:lnSpc>
              <a:spcBef>
                <a:spcPts val="400"/>
              </a:spcBef>
              <a:spcAft>
                <a:spcPts val="0"/>
              </a:spcAft>
            </a:pPr>
            <a:r>
              <a:rPr lang="zh-CN" altLang="en-US" dirty="0"/>
              <a:t>举例：</a:t>
            </a:r>
          </a:p>
          <a:p>
            <a:pPr>
              <a:lnSpc>
                <a:spcPct val="150000"/>
              </a:lnSpc>
              <a:spcBef>
                <a:spcPts val="400"/>
              </a:spcBef>
              <a:spcAft>
                <a:spcPts val="0"/>
              </a:spcAft>
            </a:pP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endParaRPr lang="en-US" altLang="zh-CN" dirty="0"/>
          </a:p>
          <a:p>
            <a:pPr>
              <a:lnSpc>
                <a:spcPct val="150000"/>
              </a:lnSpc>
              <a:spcBef>
                <a:spcPts val="400"/>
              </a:spcBef>
              <a:spcAft>
                <a:spcPts val="0"/>
              </a:spcAft>
            </a:pPr>
            <a:endParaRPr altLang="en-US" dirty="0"/>
          </a:p>
        </p:txBody>
      </p:sp>
      <p:pic>
        <p:nvPicPr>
          <p:cNvPr id="8" name="图片 7"/>
          <p:cNvPicPr>
            <a:picLocks noChangeAspect="1"/>
          </p:cNvPicPr>
          <p:nvPr/>
        </p:nvPicPr>
        <p:blipFill>
          <a:blip r:embed="rId2"/>
          <a:stretch>
            <a:fillRect/>
          </a:stretch>
        </p:blipFill>
        <p:spPr>
          <a:xfrm>
            <a:off x="1880691" y="4452509"/>
            <a:ext cx="3105583" cy="2133898"/>
          </a:xfrm>
          <a:prstGeom prst="rect">
            <a:avLst/>
          </a:prstGeom>
        </p:spPr>
      </p:pic>
      <p:pic>
        <p:nvPicPr>
          <p:cNvPr id="10" name="图片 9"/>
          <p:cNvPicPr>
            <a:picLocks noChangeAspect="1"/>
          </p:cNvPicPr>
          <p:nvPr/>
        </p:nvPicPr>
        <p:blipFill>
          <a:blip r:embed="rId3"/>
          <a:stretch>
            <a:fillRect/>
          </a:stretch>
        </p:blipFill>
        <p:spPr>
          <a:xfrm>
            <a:off x="6788301" y="4336430"/>
            <a:ext cx="2634314" cy="2249977"/>
          </a:xfrm>
          <a:prstGeom prst="rect">
            <a:avLst/>
          </a:prstGeom>
        </p:spPr>
      </p:pic>
      <p:sp>
        <p:nvSpPr>
          <p:cNvPr id="11" name="箭头: 右 10"/>
          <p:cNvSpPr/>
          <p:nvPr/>
        </p:nvSpPr>
        <p:spPr>
          <a:xfrm>
            <a:off x="5147117" y="5266861"/>
            <a:ext cx="1488142" cy="5047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icrosoft YaHei UI" panose="020B0503020204020204" pitchFamily="34" charset="-122"/>
              <a:ea typeface="Microsoft YaHei UI" panose="020B0503020204020204" pitchFamily="34" charset="-122"/>
              <a:cs typeface="+mn-cs"/>
            </a:endParaRPr>
          </a:p>
        </p:txBody>
      </p:sp>
      <p:pic>
        <p:nvPicPr>
          <p:cNvPr id="4" name="图片 3"/>
          <p:cNvPicPr>
            <a:picLocks noChangeAspect="1"/>
          </p:cNvPicPr>
          <p:nvPr/>
        </p:nvPicPr>
        <p:blipFill>
          <a:blip r:embed="rId4"/>
          <a:stretch>
            <a:fillRect/>
          </a:stretch>
        </p:blipFill>
        <p:spPr>
          <a:xfrm>
            <a:off x="5532755" y="2939415"/>
            <a:ext cx="1333500" cy="10287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a:lnSpc>
                <a:spcPct val="150000"/>
              </a:lnSpc>
              <a:spcBef>
                <a:spcPts val="400"/>
              </a:spcBef>
              <a:spcAft>
                <a:spcPts val="0"/>
              </a:spcAft>
            </a:pPr>
            <a:r>
              <a:rPr lang="zh-CN" altLang="en-US" dirty="0"/>
              <a:t>最近邻算法：</a:t>
            </a:r>
          </a:p>
          <a:p>
            <a:pPr>
              <a:lnSpc>
                <a:spcPct val="150000"/>
              </a:lnSpc>
              <a:spcBef>
                <a:spcPts val="400"/>
              </a:spcBef>
              <a:spcAft>
                <a:spcPts val="0"/>
              </a:spcAft>
            </a:pPr>
            <a:r>
              <a:rPr altLang="en-US" dirty="0"/>
              <a:t>优点：最常见，最通用的算法之一，计算量小，算法简单，运算速度快</a:t>
            </a:r>
          </a:p>
          <a:p>
            <a:pPr>
              <a:lnSpc>
                <a:spcPct val="150000"/>
              </a:lnSpc>
              <a:spcBef>
                <a:spcPts val="400"/>
              </a:spcBef>
              <a:spcAft>
                <a:spcPts val="0"/>
              </a:spcAft>
            </a:pPr>
            <a:r>
              <a:rPr altLang="en-US" dirty="0"/>
              <a:t>缺点：容易导致像素的变化不连续，放大图像时，会出现严重的马赛克现象，缩小图像时会严重失真</a:t>
            </a:r>
          </a:p>
          <a:p>
            <a:pPr>
              <a:lnSpc>
                <a:spcPct val="150000"/>
              </a:lnSpc>
              <a:spcBef>
                <a:spcPts val="400"/>
              </a:spcBef>
              <a:spcAft>
                <a:spcPts val="0"/>
              </a:spcAft>
            </a:pPr>
            <a:r>
              <a:rPr altLang="en-US" dirty="0"/>
              <a:t>Bilinear算法：也称为双线性插值算法，使用与点</a:t>
            </a:r>
            <a:r>
              <a:rPr lang="en-US" altLang="zh-CN" dirty="0"/>
              <a:t>(x,y)</a:t>
            </a:r>
            <a:r>
              <a:rPr altLang="en-US" dirty="0"/>
              <a:t>最近邻的四个像素进行插值运算，设与</a:t>
            </a:r>
            <a:r>
              <a:rPr lang="en-US" altLang="zh-CN" dirty="0"/>
              <a:t>(x,y)</a:t>
            </a:r>
            <a:r>
              <a:rPr altLang="en-US" dirty="0"/>
              <a:t>临近的四个像素点坐标为</a:t>
            </a:r>
            <a:r>
              <a:rPr lang="en-US" altLang="zh-CN" dirty="0"/>
              <a:t>(i,j),(i+1,j),(i,j+1),(i+1,j+1)</a:t>
            </a:r>
            <a:r>
              <a:rPr altLang="en-US" dirty="0"/>
              <a:t>，又令</a:t>
            </a:r>
            <a:r>
              <a:rPr lang="en-US" altLang="zh-CN" dirty="0"/>
              <a:t>u=x-i, v=y-j</a:t>
            </a:r>
            <a:r>
              <a:rPr altLang="en-US" dirty="0"/>
              <a:t>，则点</a:t>
            </a:r>
            <a:r>
              <a:rPr lang="en-US" altLang="zh-CN" dirty="0"/>
              <a:t>(x,y)</a:t>
            </a:r>
            <a:r>
              <a:rPr altLang="en-US" dirty="0"/>
              <a:t>的灰度值为：</a:t>
            </a:r>
          </a:p>
          <a:p>
            <a:pPr>
              <a:lnSpc>
                <a:spcPct val="150000"/>
              </a:lnSpc>
              <a:spcBef>
                <a:spcPts val="400"/>
              </a:spcBef>
              <a:spcAft>
                <a:spcPts val="0"/>
              </a:spcAft>
            </a:pPr>
            <a:endParaRPr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7766" y="4217670"/>
            <a:ext cx="2638425" cy="2162175"/>
          </a:xfrm>
          <a:prstGeom prst="rect">
            <a:avLst/>
          </a:prstGeom>
        </p:spPr>
      </p:pic>
      <p:pic>
        <p:nvPicPr>
          <p:cNvPr id="6" name="图片 5"/>
          <p:cNvPicPr>
            <a:picLocks noChangeAspect="1"/>
          </p:cNvPicPr>
          <p:nvPr/>
        </p:nvPicPr>
        <p:blipFill>
          <a:blip r:embed="rId3"/>
          <a:stretch>
            <a:fillRect/>
          </a:stretch>
        </p:blipFill>
        <p:spPr>
          <a:xfrm>
            <a:off x="1837690" y="4050665"/>
            <a:ext cx="3629025" cy="24955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a:lnSpc>
                <a:spcPct val="150000"/>
              </a:lnSpc>
              <a:spcBef>
                <a:spcPts val="400"/>
              </a:spcBef>
              <a:spcAft>
                <a:spcPts val="0"/>
              </a:spcAft>
            </a:pPr>
            <a:r>
              <a:rPr altLang="en-US" dirty="0"/>
              <a:t>Bilinear算法：</a:t>
            </a:r>
          </a:p>
          <a:p>
            <a:pPr>
              <a:lnSpc>
                <a:spcPct val="150000"/>
              </a:lnSpc>
              <a:spcBef>
                <a:spcPts val="400"/>
              </a:spcBef>
              <a:spcAft>
                <a:spcPts val="0"/>
              </a:spcAft>
            </a:pPr>
            <a:r>
              <a:rPr altLang="en-US" dirty="0"/>
              <a:t>该算法的实质就是将原来的采样点（浮点数，即计算出的坐标值）的附近点的四个像素值乘以权重得到新图像的像素信息。</a:t>
            </a:r>
          </a:p>
          <a:p>
            <a:pPr>
              <a:lnSpc>
                <a:spcPct val="150000"/>
              </a:lnSpc>
              <a:spcBef>
                <a:spcPts val="400"/>
              </a:spcBef>
              <a:spcAft>
                <a:spcPts val="0"/>
              </a:spcAft>
            </a:pPr>
            <a:r>
              <a:rPr altLang="en-US" dirty="0"/>
              <a:t>优点：</a:t>
            </a:r>
          </a:p>
          <a:p>
            <a:pPr>
              <a:lnSpc>
                <a:spcPct val="150000"/>
              </a:lnSpc>
              <a:spcBef>
                <a:spcPts val="400"/>
              </a:spcBef>
              <a:spcAft>
                <a:spcPts val="0"/>
              </a:spcAft>
            </a:pPr>
            <a:r>
              <a:rPr altLang="en-US" dirty="0"/>
              <a:t>最常见，最通用的算法之一，效果比最近邻插值法好。计算量较小，运算速度较快。图像连续性较好。与最近邻算法相比，效果要好于最近邻插值，只是计算量稍大一些，算法复杂些，程序运行时间也稍长些，但缩放后图像质量高，基本克服了最近邻插值灰度值不连续的特点</a:t>
            </a:r>
          </a:p>
          <a:p>
            <a:pPr>
              <a:lnSpc>
                <a:spcPct val="150000"/>
              </a:lnSpc>
              <a:spcBef>
                <a:spcPts val="400"/>
              </a:spcBef>
              <a:spcAft>
                <a:spcPts val="0"/>
              </a:spcAft>
            </a:pPr>
            <a:r>
              <a:rPr altLang="en-US" dirty="0"/>
              <a:t>缺点：</a:t>
            </a:r>
          </a:p>
          <a:p>
            <a:pPr>
              <a:lnSpc>
                <a:spcPct val="150000"/>
              </a:lnSpc>
              <a:spcBef>
                <a:spcPts val="400"/>
              </a:spcBef>
              <a:spcAft>
                <a:spcPts val="0"/>
              </a:spcAft>
            </a:pPr>
            <a:r>
              <a:rPr altLang="en-US" dirty="0"/>
              <a:t>放大时图像较为模糊，细节损失较严重，图像边缘在一定程度上变得较为模糊</a:t>
            </a:r>
          </a:p>
          <a:p>
            <a:pPr>
              <a:lnSpc>
                <a:spcPct val="150000"/>
              </a:lnSpc>
              <a:spcBef>
                <a:spcPts val="400"/>
              </a:spcBef>
              <a:spcAft>
                <a:spcPts val="0"/>
              </a:spcAft>
            </a:pPr>
            <a:endParaRPr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a:lnSpc>
                <a:spcPct val="150000"/>
              </a:lnSpc>
              <a:spcBef>
                <a:spcPts val="400"/>
              </a:spcBef>
              <a:spcAft>
                <a:spcPts val="0"/>
              </a:spcAft>
            </a:pPr>
            <a:r>
              <a:rPr lang="en-US" altLang="zh-CN" dirty="0"/>
              <a:t>OpenCV</a:t>
            </a:r>
            <a:r>
              <a:rPr altLang="en-US" dirty="0"/>
              <a:t>实现图像缩放：</a:t>
            </a:r>
          </a:p>
          <a:p>
            <a:pPr>
              <a:lnSpc>
                <a:spcPct val="150000"/>
              </a:lnSpc>
              <a:spcBef>
                <a:spcPts val="400"/>
              </a:spcBef>
              <a:spcAft>
                <a:spcPts val="0"/>
              </a:spcAft>
            </a:pPr>
            <a:r>
              <a:rPr altLang="en-US" dirty="0"/>
              <a:t>方法：使用</a:t>
            </a:r>
            <a:r>
              <a:rPr lang="en-US" altLang="zh-CN" dirty="0"/>
              <a:t>cv2.resize()</a:t>
            </a:r>
            <a:r>
              <a:rPr altLang="en-US" dirty="0"/>
              <a:t>函数实现图像的放大和缩小，基本语法格式如下：</a:t>
            </a:r>
          </a:p>
          <a:p>
            <a:pPr>
              <a:lnSpc>
                <a:spcPct val="150000"/>
              </a:lnSpc>
              <a:spcBef>
                <a:spcPts val="400"/>
              </a:spcBef>
              <a:spcAft>
                <a:spcPts val="0"/>
              </a:spcAft>
            </a:pPr>
            <a:r>
              <a:rPr altLang="en-US" dirty="0"/>
              <a:t>dst=cv2.resize(src,dsize[,fx[,fy[,interpolation]]]])</a:t>
            </a:r>
          </a:p>
          <a:p>
            <a:pPr>
              <a:lnSpc>
                <a:spcPct val="150000"/>
              </a:lnSpc>
              <a:spcBef>
                <a:spcPts val="400"/>
              </a:spcBef>
              <a:spcAft>
                <a:spcPts val="0"/>
              </a:spcAft>
            </a:pPr>
            <a:r>
              <a:rPr altLang="en-US" dirty="0"/>
              <a:t>参数说明：</a:t>
            </a:r>
          </a:p>
          <a:p>
            <a:pPr>
              <a:lnSpc>
                <a:spcPct val="150000"/>
              </a:lnSpc>
              <a:spcBef>
                <a:spcPts val="400"/>
              </a:spcBef>
              <a:spcAft>
                <a:spcPts val="0"/>
              </a:spcAft>
            </a:pPr>
            <a:r>
              <a:rPr altLang="en-US" dirty="0"/>
              <a:t>dst表示转换后的图像。</a:t>
            </a:r>
          </a:p>
          <a:p>
            <a:pPr>
              <a:lnSpc>
                <a:spcPct val="150000"/>
              </a:lnSpc>
              <a:spcBef>
                <a:spcPts val="400"/>
              </a:spcBef>
              <a:spcAft>
                <a:spcPts val="0"/>
              </a:spcAft>
            </a:pPr>
            <a:r>
              <a:rPr altLang="en-US" dirty="0"/>
              <a:t>src表示用于缩放的原图像。</a:t>
            </a:r>
          </a:p>
          <a:p>
            <a:pPr>
              <a:lnSpc>
                <a:spcPct val="150000"/>
              </a:lnSpc>
              <a:spcBef>
                <a:spcPts val="400"/>
              </a:spcBef>
              <a:spcAft>
                <a:spcPts val="0"/>
              </a:spcAft>
            </a:pPr>
            <a:r>
              <a:rPr altLang="en-US" dirty="0"/>
              <a:t>dsize表示转换后的图像大小。</a:t>
            </a:r>
          </a:p>
          <a:p>
            <a:pPr>
              <a:lnSpc>
                <a:spcPct val="150000"/>
              </a:lnSpc>
              <a:spcBef>
                <a:spcPts val="400"/>
              </a:spcBef>
              <a:spcAft>
                <a:spcPts val="0"/>
              </a:spcAft>
            </a:pPr>
            <a:r>
              <a:rPr altLang="en-US" dirty="0"/>
              <a:t>fx表示水平方向的缩放比例。</a:t>
            </a:r>
          </a:p>
          <a:p>
            <a:pPr>
              <a:lnSpc>
                <a:spcPct val="150000"/>
              </a:lnSpc>
              <a:spcBef>
                <a:spcPts val="400"/>
              </a:spcBef>
              <a:spcAft>
                <a:spcPts val="0"/>
              </a:spcAft>
            </a:pPr>
            <a:r>
              <a:rPr altLang="en-US" dirty="0"/>
              <a:t>fy表示垂直方向的缩放比例。</a:t>
            </a:r>
          </a:p>
          <a:p>
            <a:pPr>
              <a:lnSpc>
                <a:spcPct val="150000"/>
              </a:lnSpc>
              <a:spcBef>
                <a:spcPts val="400"/>
              </a:spcBef>
              <a:spcAft>
                <a:spcPts val="0"/>
              </a:spcAft>
            </a:pPr>
            <a:r>
              <a:rPr altLang="en-US" dirty="0"/>
              <a:t>interpolation表示插值方式</a:t>
            </a:r>
          </a:p>
          <a:p>
            <a:pPr>
              <a:lnSpc>
                <a:spcPct val="150000"/>
              </a:lnSpc>
              <a:spcBef>
                <a:spcPts val="400"/>
              </a:spcBef>
              <a:spcAft>
                <a:spcPts val="0"/>
              </a:spcAft>
            </a:pPr>
            <a:endParaRPr altLang="en-US" dirty="0"/>
          </a:p>
          <a:p>
            <a:pPr>
              <a:lnSpc>
                <a:spcPct val="150000"/>
              </a:lnSpc>
              <a:spcBef>
                <a:spcPts val="400"/>
              </a:spcBef>
              <a:spcAft>
                <a:spcPts val="0"/>
              </a:spcAft>
            </a:pPr>
            <a:endParaRPr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a:lnSpc>
                <a:spcPct val="150000"/>
              </a:lnSpc>
              <a:spcBef>
                <a:spcPts val="400"/>
              </a:spcBef>
              <a:spcAft>
                <a:spcPts val="0"/>
              </a:spcAft>
            </a:pPr>
            <a:r>
              <a:rPr lang="en-US" altLang="zh-CN" dirty="0"/>
              <a:t>OpenCV</a:t>
            </a:r>
            <a:r>
              <a:rPr altLang="en-US" dirty="0"/>
              <a:t>实现图像缩放：</a:t>
            </a:r>
          </a:p>
          <a:p>
            <a:pPr>
              <a:lnSpc>
                <a:spcPct val="150000"/>
              </a:lnSpc>
              <a:spcBef>
                <a:spcPts val="400"/>
              </a:spcBef>
              <a:spcAft>
                <a:spcPts val="0"/>
              </a:spcAft>
            </a:pPr>
            <a:r>
              <a:rPr altLang="en-US" dirty="0"/>
              <a:t>方法：使用</a:t>
            </a:r>
            <a:r>
              <a:rPr lang="en-US" altLang="zh-CN" dirty="0"/>
              <a:t>cv2.resize()</a:t>
            </a:r>
            <a:r>
              <a:rPr altLang="en-US" dirty="0"/>
              <a:t>函数实现图像的放大和缩小，基本语法格式如下：</a:t>
            </a:r>
          </a:p>
          <a:p>
            <a:pPr>
              <a:lnSpc>
                <a:spcPct val="150000"/>
              </a:lnSpc>
              <a:spcBef>
                <a:spcPts val="400"/>
              </a:spcBef>
              <a:spcAft>
                <a:spcPts val="0"/>
              </a:spcAft>
            </a:pPr>
            <a:r>
              <a:rPr altLang="en-US" dirty="0"/>
              <a:t>dst=cv2.resize(src,dsize[,fx[,fy[,interpolation]]]])</a:t>
            </a:r>
          </a:p>
          <a:p>
            <a:pPr>
              <a:lnSpc>
                <a:spcPct val="150000"/>
              </a:lnSpc>
              <a:spcBef>
                <a:spcPts val="400"/>
              </a:spcBef>
              <a:spcAft>
                <a:spcPts val="0"/>
              </a:spcAft>
            </a:pPr>
            <a:r>
              <a:rPr altLang="en-US" dirty="0"/>
              <a:t>参数说明：</a:t>
            </a:r>
          </a:p>
          <a:p>
            <a:pPr>
              <a:lnSpc>
                <a:spcPct val="150000"/>
              </a:lnSpc>
              <a:spcBef>
                <a:spcPts val="400"/>
              </a:spcBef>
              <a:spcAft>
                <a:spcPts val="0"/>
              </a:spcAft>
            </a:pPr>
            <a:r>
              <a:rPr altLang="en-US" dirty="0"/>
              <a:t>interpolation表示插值方式，该参数值以下</a:t>
            </a:r>
            <a:r>
              <a:rPr lang="en-US" altLang="zh-CN" dirty="0"/>
              <a:t>5</a:t>
            </a:r>
            <a:r>
              <a:rPr altLang="en-US" dirty="0"/>
              <a:t>种，在缩小时推荐使用cv2.INTER_AREA，扩大时推荐使用cv2.INTER_CUBIC和cv2.INTER_LINEAR</a:t>
            </a:r>
          </a:p>
          <a:p>
            <a:pPr>
              <a:lnSpc>
                <a:spcPct val="150000"/>
              </a:lnSpc>
              <a:spcBef>
                <a:spcPts val="400"/>
              </a:spcBef>
              <a:spcAft>
                <a:spcPts val="0"/>
              </a:spcAft>
            </a:pPr>
            <a:endParaRPr altLang="en-US" dirty="0"/>
          </a:p>
          <a:p>
            <a:pPr>
              <a:lnSpc>
                <a:spcPct val="150000"/>
              </a:lnSpc>
              <a:spcBef>
                <a:spcPts val="400"/>
              </a:spcBef>
              <a:spcAft>
                <a:spcPts val="0"/>
              </a:spcAft>
            </a:pPr>
            <a:endParaRPr altLang="en-US" dirty="0"/>
          </a:p>
        </p:txBody>
      </p:sp>
      <p:graphicFrame>
        <p:nvGraphicFramePr>
          <p:cNvPr id="4" name="表格 3"/>
          <p:cNvGraphicFramePr>
            <a:graphicFrameLocks noGrp="1"/>
          </p:cNvGraphicFramePr>
          <p:nvPr>
            <p:custDataLst>
              <p:tags r:id="rId1"/>
            </p:custDataLst>
          </p:nvPr>
        </p:nvGraphicFramePr>
        <p:xfrm>
          <a:off x="5107622" y="4040476"/>
          <a:ext cx="5699126" cy="2590800"/>
        </p:xfrm>
        <a:graphic>
          <a:graphicData uri="http://schemas.openxmlformats.org/drawingml/2006/table">
            <a:tbl>
              <a:tblPr>
                <a:tableStyleId>{5C22544A-7EE6-4342-B048-85BDC9FD1C3A}</a:tableStyleId>
              </a:tblPr>
              <a:tblGrid>
                <a:gridCol w="2236153">
                  <a:extLst>
                    <a:ext uri="{9D8B030D-6E8A-4147-A177-3AD203B41FA5}">
                      <a16:colId xmlns:a16="http://schemas.microsoft.com/office/drawing/2014/main" val="20000"/>
                    </a:ext>
                  </a:extLst>
                </a:gridCol>
                <a:gridCol w="3462973">
                  <a:extLst>
                    <a:ext uri="{9D8B030D-6E8A-4147-A177-3AD203B41FA5}">
                      <a16:colId xmlns:a16="http://schemas.microsoft.com/office/drawing/2014/main" val="20001"/>
                    </a:ext>
                  </a:extLst>
                </a:gridCol>
              </a:tblGrid>
              <a:tr h="431800">
                <a:tc>
                  <a:txBody>
                    <a:bodyPr/>
                    <a:lstStyle/>
                    <a:p>
                      <a:pPr marL="0" marR="0" algn="just">
                        <a:lnSpc>
                          <a:spcPct val="150000"/>
                        </a:lnSpc>
                        <a:spcBef>
                          <a:spcPts val="0"/>
                        </a:spcBef>
                        <a:spcAft>
                          <a:spcPts val="0"/>
                        </a:spcAft>
                      </a:pPr>
                      <a:r>
                        <a:rPr lang="en-US" sz="1600" b="1" kern="100" dirty="0">
                          <a:solidFill>
                            <a:schemeClr val="bg1"/>
                          </a:solidFill>
                          <a:effectLst/>
                        </a:rPr>
                        <a:t>interpolation </a:t>
                      </a:r>
                      <a:r>
                        <a:rPr lang="zh-CN" altLang="en-US" sz="1600" b="1" kern="100" dirty="0">
                          <a:solidFill>
                            <a:schemeClr val="bg1"/>
                          </a:solidFill>
                          <a:effectLst/>
                        </a:rPr>
                        <a:t>选项</a:t>
                      </a:r>
                      <a:endParaRPr lang="zh-CN" altLang="en-US" sz="1600" b="1" kern="100" dirty="0">
                        <a:solidFill>
                          <a:schemeClr val="bg1"/>
                        </a:solidFill>
                        <a:effectLst/>
                        <a:latin typeface="Times New Roman" panose="02020603050405020304" pitchFamily="18" charset="0"/>
                        <a:ea typeface="宋体" panose="02010600030101010101" pitchFamily="2" charset="-122"/>
                      </a:endParaRPr>
                    </a:p>
                  </a:txBody>
                  <a:tcPr marL="49685" marR="49685" marT="33123" marB="33123">
                    <a:solidFill>
                      <a:schemeClr val="accent1"/>
                    </a:solidFill>
                  </a:tcPr>
                </a:tc>
                <a:tc>
                  <a:txBody>
                    <a:bodyPr/>
                    <a:lstStyle/>
                    <a:p>
                      <a:pPr marL="0" marR="0" algn="just">
                        <a:lnSpc>
                          <a:spcPct val="150000"/>
                        </a:lnSpc>
                        <a:spcBef>
                          <a:spcPts val="0"/>
                        </a:spcBef>
                        <a:spcAft>
                          <a:spcPts val="0"/>
                        </a:spcAft>
                      </a:pPr>
                      <a:r>
                        <a:rPr lang="zh-CN" altLang="en-US" sz="1600" b="1" kern="100" dirty="0">
                          <a:solidFill>
                            <a:schemeClr val="bg1"/>
                          </a:solidFill>
                          <a:effectLst/>
                        </a:rPr>
                        <a:t>插值方式</a:t>
                      </a:r>
                      <a:endParaRPr lang="zh-CN" altLang="en-US" sz="1600" b="1" kern="100" dirty="0">
                        <a:solidFill>
                          <a:schemeClr val="bg1"/>
                        </a:solidFill>
                        <a:effectLst/>
                        <a:latin typeface="Times New Roman" panose="02020603050405020304" pitchFamily="18" charset="0"/>
                        <a:ea typeface="宋体" panose="02010600030101010101" pitchFamily="2" charset="-122"/>
                      </a:endParaRPr>
                    </a:p>
                  </a:txBody>
                  <a:tcPr marL="49685" marR="49685" marT="33123" marB="33123">
                    <a:solidFill>
                      <a:schemeClr val="accent1"/>
                    </a:solidFill>
                  </a:tcPr>
                </a:tc>
                <a:extLst>
                  <a:ext uri="{0D108BD9-81ED-4DB2-BD59-A6C34878D82A}">
                    <a16:rowId xmlns:a16="http://schemas.microsoft.com/office/drawing/2014/main" val="10000"/>
                  </a:ext>
                </a:extLst>
              </a:tr>
              <a:tr h="387386">
                <a:tc>
                  <a:txBody>
                    <a:bodyPr/>
                    <a:lstStyle/>
                    <a:p>
                      <a:pPr marL="0" marR="0" algn="just">
                        <a:lnSpc>
                          <a:spcPct val="150000"/>
                        </a:lnSpc>
                        <a:spcBef>
                          <a:spcPts val="0"/>
                        </a:spcBef>
                        <a:spcAft>
                          <a:spcPts val="0"/>
                        </a:spcAft>
                      </a:pPr>
                      <a:r>
                        <a:rPr lang="en-US" sz="1600" kern="100" dirty="0">
                          <a:effectLst/>
                        </a:rPr>
                        <a:t>cv2.INTER_NEAREST</a:t>
                      </a:r>
                      <a:endParaRPr 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tc>
                  <a:txBody>
                    <a:bodyPr/>
                    <a:lstStyle/>
                    <a:p>
                      <a:pPr marL="0" marR="0" algn="just">
                        <a:lnSpc>
                          <a:spcPct val="150000"/>
                        </a:lnSpc>
                        <a:spcBef>
                          <a:spcPts val="0"/>
                        </a:spcBef>
                        <a:spcAft>
                          <a:spcPts val="0"/>
                        </a:spcAft>
                      </a:pPr>
                      <a:r>
                        <a:rPr lang="zh-CN" altLang="en-US" sz="1600" kern="100" dirty="0">
                          <a:effectLst/>
                        </a:rPr>
                        <a:t>最近邻插值</a:t>
                      </a:r>
                      <a:endParaRPr lang="zh-CN" alt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extLst>
                  <a:ext uri="{0D108BD9-81ED-4DB2-BD59-A6C34878D82A}">
                    <a16:rowId xmlns:a16="http://schemas.microsoft.com/office/drawing/2014/main" val="10001"/>
                  </a:ext>
                </a:extLst>
              </a:tr>
              <a:tr h="387386">
                <a:tc>
                  <a:txBody>
                    <a:bodyPr/>
                    <a:lstStyle/>
                    <a:p>
                      <a:pPr marL="0" marR="0" algn="just">
                        <a:lnSpc>
                          <a:spcPct val="150000"/>
                        </a:lnSpc>
                        <a:spcBef>
                          <a:spcPts val="0"/>
                        </a:spcBef>
                        <a:spcAft>
                          <a:spcPts val="0"/>
                        </a:spcAft>
                      </a:pPr>
                      <a:r>
                        <a:rPr lang="en-US" sz="1600" kern="100" dirty="0">
                          <a:effectLst/>
                        </a:rPr>
                        <a:t>cv2.INTER_LINEAR</a:t>
                      </a:r>
                      <a:endParaRPr 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tc>
                  <a:txBody>
                    <a:bodyPr/>
                    <a:lstStyle/>
                    <a:p>
                      <a:pPr marL="0" marR="0" algn="just">
                        <a:lnSpc>
                          <a:spcPct val="150000"/>
                        </a:lnSpc>
                        <a:spcBef>
                          <a:spcPts val="0"/>
                        </a:spcBef>
                        <a:spcAft>
                          <a:spcPts val="0"/>
                        </a:spcAft>
                      </a:pPr>
                      <a:r>
                        <a:rPr lang="zh-CN" altLang="en-US" sz="1600" kern="100" dirty="0">
                          <a:effectLst/>
                        </a:rPr>
                        <a:t>双线性插值（默认）</a:t>
                      </a:r>
                      <a:endParaRPr lang="zh-CN" alt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extLst>
                  <a:ext uri="{0D108BD9-81ED-4DB2-BD59-A6C34878D82A}">
                    <a16:rowId xmlns:a16="http://schemas.microsoft.com/office/drawing/2014/main" val="10002"/>
                  </a:ext>
                </a:extLst>
              </a:tr>
              <a:tr h="387386">
                <a:tc>
                  <a:txBody>
                    <a:bodyPr/>
                    <a:lstStyle/>
                    <a:p>
                      <a:pPr marL="0" marR="0" algn="just">
                        <a:lnSpc>
                          <a:spcPct val="150000"/>
                        </a:lnSpc>
                        <a:spcBef>
                          <a:spcPts val="0"/>
                        </a:spcBef>
                        <a:spcAft>
                          <a:spcPts val="0"/>
                        </a:spcAft>
                      </a:pPr>
                      <a:r>
                        <a:rPr lang="en-US" sz="1600" kern="100" dirty="0">
                          <a:effectLst/>
                        </a:rPr>
                        <a:t>cv2.INTER_AREA</a:t>
                      </a:r>
                      <a:endParaRPr 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tc>
                  <a:txBody>
                    <a:bodyPr/>
                    <a:lstStyle/>
                    <a:p>
                      <a:pPr marL="0" marR="0" algn="just">
                        <a:lnSpc>
                          <a:spcPct val="150000"/>
                        </a:lnSpc>
                        <a:spcBef>
                          <a:spcPts val="0"/>
                        </a:spcBef>
                        <a:spcAft>
                          <a:spcPts val="0"/>
                        </a:spcAft>
                      </a:pPr>
                      <a:r>
                        <a:rPr lang="zh-CN" altLang="en-US" sz="1600" kern="100" dirty="0">
                          <a:effectLst/>
                        </a:rPr>
                        <a:t>使用像素区域关系进行重采样。</a:t>
                      </a:r>
                      <a:endParaRPr lang="zh-CN" alt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extLst>
                  <a:ext uri="{0D108BD9-81ED-4DB2-BD59-A6C34878D82A}">
                    <a16:rowId xmlns:a16="http://schemas.microsoft.com/office/drawing/2014/main" val="10003"/>
                  </a:ext>
                </a:extLst>
              </a:tr>
              <a:tr h="387386">
                <a:tc>
                  <a:txBody>
                    <a:bodyPr/>
                    <a:lstStyle/>
                    <a:p>
                      <a:pPr marL="0" marR="0" algn="just">
                        <a:lnSpc>
                          <a:spcPct val="150000"/>
                        </a:lnSpc>
                        <a:spcBef>
                          <a:spcPts val="0"/>
                        </a:spcBef>
                        <a:spcAft>
                          <a:spcPts val="0"/>
                        </a:spcAft>
                      </a:pPr>
                      <a:r>
                        <a:rPr lang="en-US" sz="1600" kern="100" dirty="0">
                          <a:effectLst/>
                        </a:rPr>
                        <a:t>cv2.INTER_CUBIC</a:t>
                      </a:r>
                      <a:endParaRPr 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tc>
                  <a:txBody>
                    <a:bodyPr/>
                    <a:lstStyle/>
                    <a:p>
                      <a:pPr marL="0" marR="0" algn="just">
                        <a:lnSpc>
                          <a:spcPct val="150000"/>
                        </a:lnSpc>
                        <a:spcBef>
                          <a:spcPts val="0"/>
                        </a:spcBef>
                        <a:spcAft>
                          <a:spcPts val="0"/>
                        </a:spcAft>
                      </a:pPr>
                      <a:r>
                        <a:rPr lang="en-US" altLang="zh-CN" sz="1600" kern="100" dirty="0">
                          <a:effectLst/>
                        </a:rPr>
                        <a:t>4x4</a:t>
                      </a:r>
                      <a:r>
                        <a:rPr lang="zh-CN" altLang="en-US" sz="1600" kern="100" dirty="0">
                          <a:effectLst/>
                        </a:rPr>
                        <a:t>像素邻域的双</a:t>
                      </a:r>
                      <a:r>
                        <a:rPr lang="en-US" altLang="zh-CN" sz="1600" kern="100" dirty="0">
                          <a:effectLst/>
                        </a:rPr>
                        <a:t>3</a:t>
                      </a:r>
                      <a:r>
                        <a:rPr lang="zh-CN" altLang="en-US" sz="1600" kern="100" dirty="0">
                          <a:effectLst/>
                        </a:rPr>
                        <a:t>次插值</a:t>
                      </a:r>
                      <a:endParaRPr lang="zh-CN" alt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extLst>
                  <a:ext uri="{0D108BD9-81ED-4DB2-BD59-A6C34878D82A}">
                    <a16:rowId xmlns:a16="http://schemas.microsoft.com/office/drawing/2014/main" val="10004"/>
                  </a:ext>
                </a:extLst>
              </a:tr>
              <a:tr h="387386">
                <a:tc>
                  <a:txBody>
                    <a:bodyPr/>
                    <a:lstStyle/>
                    <a:p>
                      <a:pPr marL="0" marR="0" algn="just">
                        <a:lnSpc>
                          <a:spcPct val="150000"/>
                        </a:lnSpc>
                        <a:spcBef>
                          <a:spcPts val="0"/>
                        </a:spcBef>
                        <a:spcAft>
                          <a:spcPts val="0"/>
                        </a:spcAft>
                      </a:pPr>
                      <a:r>
                        <a:rPr lang="en-US" sz="1600" kern="100" dirty="0">
                          <a:effectLst/>
                        </a:rPr>
                        <a:t>cv2.INTER_LANCZOS4</a:t>
                      </a:r>
                      <a:endParaRPr 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tc>
                  <a:txBody>
                    <a:bodyPr/>
                    <a:lstStyle/>
                    <a:p>
                      <a:pPr marL="0" marR="0" algn="just">
                        <a:lnSpc>
                          <a:spcPct val="150000"/>
                        </a:lnSpc>
                        <a:spcBef>
                          <a:spcPts val="0"/>
                        </a:spcBef>
                        <a:spcAft>
                          <a:spcPts val="0"/>
                        </a:spcAft>
                      </a:pPr>
                      <a:r>
                        <a:rPr lang="en-US" sz="1600" kern="100" dirty="0">
                          <a:effectLst/>
                        </a:rPr>
                        <a:t>8x8</a:t>
                      </a:r>
                      <a:r>
                        <a:rPr lang="zh-CN" altLang="en-US" sz="1600" kern="100" dirty="0">
                          <a:effectLst/>
                        </a:rPr>
                        <a:t>像素邻域的</a:t>
                      </a:r>
                      <a:r>
                        <a:rPr lang="en-US" sz="1600" kern="100" dirty="0" err="1">
                          <a:effectLst/>
                        </a:rPr>
                        <a:t>Lanczos</a:t>
                      </a:r>
                      <a:r>
                        <a:rPr lang="zh-CN" altLang="en-US" sz="1600" kern="100" dirty="0">
                          <a:effectLst/>
                        </a:rPr>
                        <a:t>插值</a:t>
                      </a:r>
                      <a:endParaRPr lang="zh-CN" altLang="en-US" sz="1600" b="1" kern="100" dirty="0">
                        <a:solidFill>
                          <a:srgbClr val="000000"/>
                        </a:solidFill>
                        <a:effectLst/>
                        <a:latin typeface="Times New Roman" panose="02020603050405020304" pitchFamily="18" charset="0"/>
                        <a:ea typeface="宋体" panose="02010600030101010101" pitchFamily="2" charset="-122"/>
                      </a:endParaRPr>
                    </a:p>
                  </a:txBody>
                  <a:tcPr marL="49685" marR="49685" marT="33123" marB="33123"/>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a:lnSpc>
                <a:spcPct val="150000"/>
              </a:lnSpc>
              <a:spcBef>
                <a:spcPts val="400"/>
              </a:spcBef>
              <a:spcAft>
                <a:spcPts val="0"/>
              </a:spcAft>
            </a:pPr>
            <a:r>
              <a:rPr lang="en-US" altLang="zh-CN" dirty="0"/>
              <a:t>OpenCV</a:t>
            </a:r>
            <a:r>
              <a:rPr altLang="en-US" dirty="0"/>
              <a:t>实现图像缩放：</a:t>
            </a:r>
          </a:p>
          <a:p>
            <a:pPr>
              <a:lnSpc>
                <a:spcPct val="150000"/>
              </a:lnSpc>
              <a:spcBef>
                <a:spcPts val="400"/>
              </a:spcBef>
              <a:spcAft>
                <a:spcPts val="0"/>
              </a:spcAft>
            </a:pPr>
            <a:r>
              <a:rPr altLang="en-US" dirty="0"/>
              <a:t>方法：使用</a:t>
            </a:r>
            <a:r>
              <a:rPr lang="en-US" altLang="zh-CN" dirty="0"/>
              <a:t>cv2.resize()</a:t>
            </a:r>
            <a:r>
              <a:rPr altLang="en-US" dirty="0"/>
              <a:t>函数实现图像的放大和缩小，基本语法格式如下：</a:t>
            </a:r>
          </a:p>
          <a:p>
            <a:pPr>
              <a:lnSpc>
                <a:spcPct val="150000"/>
              </a:lnSpc>
              <a:spcBef>
                <a:spcPts val="400"/>
              </a:spcBef>
              <a:spcAft>
                <a:spcPts val="0"/>
              </a:spcAft>
            </a:pPr>
            <a:r>
              <a:rPr altLang="en-US" dirty="0"/>
              <a:t>dst=cv2.resize(src,dsize[,fx[,fy[,interpolation]]]])</a:t>
            </a:r>
          </a:p>
          <a:p>
            <a:pPr>
              <a:lnSpc>
                <a:spcPct val="150000"/>
              </a:lnSpc>
              <a:spcBef>
                <a:spcPts val="400"/>
              </a:spcBef>
              <a:spcAft>
                <a:spcPts val="0"/>
              </a:spcAft>
            </a:pPr>
            <a:r>
              <a:rPr altLang="en-US" dirty="0"/>
              <a:t>注意：</a:t>
            </a:r>
          </a:p>
          <a:p>
            <a:pPr marL="285750" indent="-285750">
              <a:lnSpc>
                <a:spcPct val="150000"/>
              </a:lnSpc>
              <a:spcBef>
                <a:spcPts val="400"/>
              </a:spcBef>
              <a:spcAft>
                <a:spcPts val="0"/>
              </a:spcAft>
              <a:buFont typeface="Wingdings" panose="05000000000000000000" charset="0"/>
              <a:buChar char="Ø"/>
            </a:pPr>
            <a:r>
              <a:rPr altLang="en-US" dirty="0"/>
              <a:t>当dsize参数不为None时，不管是否设置参数fx和fy，都由dsize来确定目标图像的大小。dsize是一个二元组，其格式为“(width,height)”，width表示目标图像的宽度，height表示目标图像的高度。</a:t>
            </a:r>
          </a:p>
          <a:p>
            <a:pPr marL="285750" indent="-285750">
              <a:lnSpc>
                <a:spcPct val="150000"/>
              </a:lnSpc>
              <a:spcBef>
                <a:spcPts val="400"/>
              </a:spcBef>
              <a:spcAft>
                <a:spcPts val="0"/>
              </a:spcAft>
              <a:buFont typeface="Wingdings" panose="05000000000000000000" charset="0"/>
              <a:buChar char="Ø"/>
            </a:pPr>
            <a:r>
              <a:rPr altLang="en-US" dirty="0"/>
              <a:t>当dsize参数为None时，参数fx和fy不能设置为0。此时，目标图像的宽度为“round(原图像的宽度×fx)”，目标图像的高度为“round(原图像的高度×fy)”。</a:t>
            </a:r>
          </a:p>
          <a:p>
            <a:pPr marL="285750" indent="-285750">
              <a:lnSpc>
                <a:spcPct val="150000"/>
              </a:lnSpc>
              <a:spcBef>
                <a:spcPts val="400"/>
              </a:spcBef>
              <a:spcAft>
                <a:spcPts val="0"/>
              </a:spcAft>
              <a:buFont typeface="Wingdings" panose="05000000000000000000" charset="0"/>
              <a:buChar char="Ø"/>
            </a:pPr>
            <a:r>
              <a:rPr altLang="en-US" dirty="0"/>
              <a:t>round() 方法返回浮点数x的四舍五入值。</a:t>
            </a:r>
          </a:p>
          <a:p>
            <a:pPr marL="285750" indent="-285750">
              <a:lnSpc>
                <a:spcPct val="150000"/>
              </a:lnSpc>
              <a:spcBef>
                <a:spcPts val="400"/>
              </a:spcBef>
              <a:spcAft>
                <a:spcPts val="0"/>
              </a:spcAft>
            </a:pPr>
            <a:endParaRPr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marL="285750" indent="-285750">
              <a:lnSpc>
                <a:spcPct val="150000"/>
              </a:lnSpc>
              <a:spcBef>
                <a:spcPts val="400"/>
              </a:spcBef>
              <a:spcAft>
                <a:spcPts val="0"/>
              </a:spcAft>
            </a:pPr>
            <a:r>
              <a:rPr altLang="en-US" dirty="0"/>
              <a:t>应用案例</a:t>
            </a:r>
            <a:r>
              <a:rPr lang="en-US" altLang="zh-CN" dirty="0"/>
              <a:t>1</a:t>
            </a:r>
            <a:r>
              <a:rPr altLang="en-US" dirty="0"/>
              <a:t>：</a:t>
            </a:r>
            <a:r>
              <a:rPr dirty="0"/>
              <a:t>完成一个简单的图像缩放，查看缩放效果</a:t>
            </a:r>
          </a:p>
        </p:txBody>
      </p:sp>
      <p:pic>
        <p:nvPicPr>
          <p:cNvPr id="5" name="图片 4"/>
          <p:cNvPicPr>
            <a:picLocks noChangeAspect="1"/>
          </p:cNvPicPr>
          <p:nvPr/>
        </p:nvPicPr>
        <p:blipFill>
          <a:blip r:embed="rId2"/>
          <a:stretch>
            <a:fillRect/>
          </a:stretch>
        </p:blipFill>
        <p:spPr>
          <a:xfrm>
            <a:off x="737235" y="2231390"/>
            <a:ext cx="3676650" cy="2914650"/>
          </a:xfrm>
          <a:prstGeom prst="rect">
            <a:avLst/>
          </a:prstGeom>
        </p:spPr>
      </p:pic>
      <p:pic>
        <p:nvPicPr>
          <p:cNvPr id="6" name="图片 5"/>
          <p:cNvPicPr>
            <a:picLocks noChangeAspect="1"/>
          </p:cNvPicPr>
          <p:nvPr/>
        </p:nvPicPr>
        <p:blipFill>
          <a:blip r:embed="rId3"/>
          <a:stretch>
            <a:fillRect/>
          </a:stretch>
        </p:blipFill>
        <p:spPr>
          <a:xfrm>
            <a:off x="4848225" y="2231390"/>
            <a:ext cx="3888105" cy="4112260"/>
          </a:xfrm>
          <a:prstGeom prst="rect">
            <a:avLst/>
          </a:prstGeom>
        </p:spPr>
      </p:pic>
      <p:pic>
        <p:nvPicPr>
          <p:cNvPr id="7" name="图片 6"/>
          <p:cNvPicPr>
            <a:picLocks noChangeAspect="1"/>
          </p:cNvPicPr>
          <p:nvPr/>
        </p:nvPicPr>
        <p:blipFill>
          <a:blip r:embed="rId4"/>
          <a:stretch>
            <a:fillRect/>
          </a:stretch>
        </p:blipFill>
        <p:spPr>
          <a:xfrm>
            <a:off x="9045575" y="2936240"/>
            <a:ext cx="2886075" cy="2209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marL="285750" indent="-285750">
              <a:lnSpc>
                <a:spcPct val="150000"/>
              </a:lnSpc>
              <a:spcBef>
                <a:spcPts val="400"/>
              </a:spcBef>
              <a:spcAft>
                <a:spcPts val="0"/>
              </a:spcAft>
            </a:pPr>
            <a:r>
              <a:rPr altLang="en-US" dirty="0"/>
              <a:t>应用案例</a:t>
            </a:r>
            <a:r>
              <a:rPr lang="en-US" altLang="zh-CN" dirty="0"/>
              <a:t>2</a:t>
            </a:r>
            <a:r>
              <a:rPr altLang="en-US" dirty="0"/>
              <a:t>：</a:t>
            </a:r>
            <a:r>
              <a:rPr dirty="0"/>
              <a:t>控制cv2.resize的参数fx、fy参数，完成图像缩放</a:t>
            </a:r>
          </a:p>
        </p:txBody>
      </p:sp>
      <p:pic>
        <p:nvPicPr>
          <p:cNvPr id="4" name="图片 3"/>
          <p:cNvPicPr>
            <a:picLocks noChangeAspect="1"/>
          </p:cNvPicPr>
          <p:nvPr/>
        </p:nvPicPr>
        <p:blipFill>
          <a:blip r:embed="rId2"/>
          <a:stretch>
            <a:fillRect/>
          </a:stretch>
        </p:blipFill>
        <p:spPr>
          <a:xfrm>
            <a:off x="247650" y="2500630"/>
            <a:ext cx="4114800" cy="2438400"/>
          </a:xfrm>
          <a:prstGeom prst="rect">
            <a:avLst/>
          </a:prstGeom>
        </p:spPr>
      </p:pic>
      <p:pic>
        <p:nvPicPr>
          <p:cNvPr id="8" name="图片 7"/>
          <p:cNvPicPr>
            <a:picLocks noChangeAspect="1"/>
          </p:cNvPicPr>
          <p:nvPr/>
        </p:nvPicPr>
        <p:blipFill>
          <a:blip r:embed="rId3"/>
          <a:stretch>
            <a:fillRect/>
          </a:stretch>
        </p:blipFill>
        <p:spPr>
          <a:xfrm>
            <a:off x="7640955" y="2145665"/>
            <a:ext cx="4393565" cy="4534535"/>
          </a:xfrm>
          <a:prstGeom prst="rect">
            <a:avLst/>
          </a:prstGeom>
        </p:spPr>
      </p:pic>
      <p:pic>
        <p:nvPicPr>
          <p:cNvPr id="9" name="图片 8"/>
          <p:cNvPicPr>
            <a:picLocks noChangeAspect="1"/>
          </p:cNvPicPr>
          <p:nvPr/>
        </p:nvPicPr>
        <p:blipFill>
          <a:blip r:embed="rId4"/>
          <a:stretch>
            <a:fillRect/>
          </a:stretch>
        </p:blipFill>
        <p:spPr>
          <a:xfrm>
            <a:off x="4863465" y="2614295"/>
            <a:ext cx="2434590" cy="25863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380"/>
            <a:ext cx="11241405" cy="5544820"/>
          </a:xfrm>
        </p:spPr>
        <p:txBody>
          <a:bodyPr/>
          <a:lstStyle/>
          <a:p>
            <a:pPr>
              <a:lnSpc>
                <a:spcPct val="150000"/>
              </a:lnSpc>
              <a:spcBef>
                <a:spcPts val="400"/>
              </a:spcBef>
              <a:spcAft>
                <a:spcPts val="0"/>
              </a:spcAft>
            </a:pPr>
            <a:r>
              <a:rPr lang="en-US" altLang="zh-CN" dirty="0"/>
              <a:t>1</a:t>
            </a:r>
            <a:r>
              <a:rPr lang="zh-CN" altLang="en-US" dirty="0"/>
              <a:t>、缩放</a:t>
            </a:r>
            <a:endParaRPr lang="en-US" altLang="zh-CN" dirty="0"/>
          </a:p>
          <a:p>
            <a:pPr marL="285750" indent="-285750" algn="l">
              <a:lnSpc>
                <a:spcPct val="150000"/>
              </a:lnSpc>
              <a:spcBef>
                <a:spcPts val="400"/>
              </a:spcBef>
              <a:spcAft>
                <a:spcPts val="0"/>
              </a:spcAft>
            </a:pPr>
            <a:r>
              <a:rPr altLang="en-US" dirty="0"/>
              <a:t>应用案例</a:t>
            </a:r>
            <a:r>
              <a:rPr lang="en-US" altLang="zh-CN" dirty="0"/>
              <a:t>3</a:t>
            </a:r>
            <a:r>
              <a:rPr altLang="en-US" dirty="0"/>
              <a:t>：读取图像，按</a:t>
            </a:r>
            <a:r>
              <a:rPr lang="en-US" altLang="zh-CN" dirty="0"/>
              <a:t>“1”</a:t>
            </a:r>
            <a:r>
              <a:rPr altLang="en-US" dirty="0"/>
              <a:t>键图像缩小为原图的</a:t>
            </a:r>
            <a:r>
              <a:rPr lang="en-US" altLang="zh-CN" dirty="0"/>
              <a:t>20%</a:t>
            </a:r>
            <a:r>
              <a:rPr altLang="en-US" dirty="0"/>
              <a:t>，按</a:t>
            </a:r>
            <a:r>
              <a:rPr lang="en-US" altLang="zh-CN" dirty="0"/>
              <a:t>“2”</a:t>
            </a:r>
            <a:r>
              <a:rPr altLang="en-US" dirty="0"/>
              <a:t>键缩小为原图的</a:t>
            </a:r>
            <a:r>
              <a:rPr lang="en-US" altLang="zh-CN" dirty="0"/>
              <a:t>50%</a:t>
            </a:r>
            <a:r>
              <a:rPr altLang="en-US" dirty="0"/>
              <a:t>，按</a:t>
            </a:r>
            <a:r>
              <a:rPr lang="en-US" altLang="zh-CN" dirty="0"/>
              <a:t>“3”</a:t>
            </a:r>
            <a:r>
              <a:rPr altLang="en-US" dirty="0"/>
              <a:t>键放大为原图的</a:t>
            </a:r>
            <a:r>
              <a:rPr lang="en-US" altLang="zh-CN" dirty="0"/>
              <a:t>1.5</a:t>
            </a:r>
            <a:r>
              <a:rPr altLang="en-US" dirty="0"/>
              <a:t>倍，按</a:t>
            </a:r>
            <a:r>
              <a:rPr lang="en-US" altLang="zh-CN" dirty="0"/>
              <a:t>“4”</a:t>
            </a:r>
            <a:r>
              <a:rPr altLang="en-US" dirty="0"/>
              <a:t>键放大为原图的</a:t>
            </a:r>
            <a:r>
              <a:rPr lang="en-US" altLang="zh-CN" dirty="0"/>
              <a:t>2</a:t>
            </a:r>
            <a:r>
              <a:rPr altLang="en-US" dirty="0"/>
              <a:t>倍，按其他键退出程序。</a:t>
            </a:r>
          </a:p>
        </p:txBody>
      </p:sp>
      <p:pic>
        <p:nvPicPr>
          <p:cNvPr id="5" name="图片 4"/>
          <p:cNvPicPr>
            <a:picLocks noChangeAspect="1"/>
          </p:cNvPicPr>
          <p:nvPr/>
        </p:nvPicPr>
        <p:blipFill>
          <a:blip r:embed="rId2"/>
          <a:stretch>
            <a:fillRect/>
          </a:stretch>
        </p:blipFill>
        <p:spPr>
          <a:xfrm>
            <a:off x="3669665" y="2534285"/>
            <a:ext cx="5048250" cy="4191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2</a:t>
            </a:r>
            <a:r>
              <a:rPr altLang="en-US" dirty="0"/>
              <a:t>、</a:t>
            </a:r>
            <a:r>
              <a:rPr lang="zh-CN" altLang="en-US" dirty="0"/>
              <a:t>平移</a:t>
            </a:r>
          </a:p>
          <a:p>
            <a:pPr>
              <a:lnSpc>
                <a:spcPct val="150000"/>
              </a:lnSpc>
              <a:spcBef>
                <a:spcPts val="400"/>
              </a:spcBef>
              <a:spcAft>
                <a:spcPts val="0"/>
              </a:spcAft>
            </a:pPr>
            <a:r>
              <a:rPr lang="en-US" altLang="zh-CN" dirty="0"/>
              <a:t>图像的平移操作是将图像的所有像素坐标进行水平或者垂直方向的移动，也就是所有像素点按照给定的偏移量在水平方向上沿X轴，垂直方向上沿y轴移动。</a:t>
            </a:r>
          </a:p>
          <a:p>
            <a:pPr>
              <a:lnSpc>
                <a:spcPct val="150000"/>
              </a:lnSpc>
              <a:spcBef>
                <a:spcPts val="400"/>
              </a:spcBef>
              <a:spcAft>
                <a:spcPts val="0"/>
              </a:spcAft>
            </a:pPr>
            <a:r>
              <a:rPr altLang="en-US" dirty="0"/>
              <a:t>基本原理：设原始图像像素点为（</a:t>
            </a:r>
            <a:r>
              <a:rPr lang="en-US" altLang="zh-CN" dirty="0"/>
              <a:t>x0,y0</a:t>
            </a:r>
            <a:r>
              <a:rPr altLang="en-US" dirty="0"/>
              <a:t>），平移后的图像的像素点为(x,y),x方向平移的距离为</a:t>
            </a:r>
            <a:r>
              <a:rPr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x, y方向平移的距离为</a:t>
            </a:r>
            <a:r>
              <a:rPr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y</a:t>
            </a:r>
            <a:r>
              <a:rPr altLang="en-US" dirty="0">
                <a:latin typeface="Arial" panose="020B0604020202020204" pitchFamily="34" charset="0"/>
                <a:cs typeface="Arial" panose="020B0604020202020204" pitchFamily="34" charset="0"/>
              </a:rPr>
              <a:t>，则有：</a:t>
            </a:r>
          </a:p>
          <a:p>
            <a:pPr>
              <a:lnSpc>
                <a:spcPct val="150000"/>
              </a:lnSpc>
              <a:spcBef>
                <a:spcPts val="400"/>
              </a:spcBef>
              <a:spcAft>
                <a:spcPts val="0"/>
              </a:spcAft>
            </a:pPr>
            <a:endParaRPr altLang="en-US" dirty="0">
              <a:latin typeface="Arial" panose="020B0604020202020204" pitchFamily="34" charset="0"/>
              <a:cs typeface="Arial" panose="020B0604020202020204" pitchFamily="34" charset="0"/>
            </a:endParaRPr>
          </a:p>
          <a:p>
            <a:pPr>
              <a:lnSpc>
                <a:spcPct val="150000"/>
              </a:lnSpc>
              <a:spcBef>
                <a:spcPts val="400"/>
              </a:spcBef>
              <a:spcAft>
                <a:spcPts val="0"/>
              </a:spcAft>
            </a:pPr>
            <a:endParaRPr altLang="en-US" dirty="0">
              <a:latin typeface="Arial" panose="020B0604020202020204" pitchFamily="34" charset="0"/>
              <a:cs typeface="Arial" panose="020B0604020202020204" pitchFamily="34" charset="0"/>
            </a:endParaRPr>
          </a:p>
          <a:p>
            <a:pPr>
              <a:lnSpc>
                <a:spcPct val="150000"/>
              </a:lnSpc>
              <a:spcBef>
                <a:spcPts val="400"/>
              </a:spcBef>
              <a:spcAft>
                <a:spcPts val="0"/>
              </a:spcAft>
            </a:pPr>
            <a:r>
              <a:rPr altLang="en-US" dirty="0">
                <a:latin typeface="Arial" panose="020B0604020202020204" pitchFamily="34" charset="0"/>
                <a:cs typeface="Arial" panose="020B0604020202020204" pitchFamily="34" charset="0"/>
              </a:rPr>
              <a:t>将表达式写成矩阵形式：                                                      目标图像其逆变换矩阵为：</a:t>
            </a:r>
            <a:endParaRPr altLang="en-US" dirty="0"/>
          </a:p>
          <a:p>
            <a:pPr>
              <a:lnSpc>
                <a:spcPct val="150000"/>
              </a:lnSpc>
              <a:spcBef>
                <a:spcPts val="400"/>
              </a:spcBef>
              <a:spcAft>
                <a:spcPts val="0"/>
              </a:spcAft>
            </a:pPr>
            <a:endParaRPr lang="en-US" altLang="zh-CN" dirty="0"/>
          </a:p>
          <a:p>
            <a:pPr marL="285750" indent="-285750">
              <a:lnSpc>
                <a:spcPct val="150000"/>
              </a:lnSpc>
              <a:spcBef>
                <a:spcPts val="400"/>
              </a:spcBef>
              <a:spcAft>
                <a:spcPts val="0"/>
              </a:spcAft>
            </a:pPr>
            <a:endParaRPr altLang="en-US" dirty="0"/>
          </a:p>
        </p:txBody>
      </p:sp>
      <p:pic>
        <p:nvPicPr>
          <p:cNvPr id="5" name="图片 4"/>
          <p:cNvPicPr>
            <a:picLocks noChangeAspect="1"/>
          </p:cNvPicPr>
          <p:nvPr/>
        </p:nvPicPr>
        <p:blipFill>
          <a:blip r:embed="rId2"/>
          <a:stretch>
            <a:fillRect/>
          </a:stretch>
        </p:blipFill>
        <p:spPr>
          <a:xfrm>
            <a:off x="4980940" y="3305175"/>
            <a:ext cx="1647825" cy="847725"/>
          </a:xfrm>
          <a:prstGeom prst="rect">
            <a:avLst/>
          </a:prstGeom>
        </p:spPr>
      </p:pic>
      <p:pic>
        <p:nvPicPr>
          <p:cNvPr id="6" name="图片 5"/>
          <p:cNvPicPr>
            <a:picLocks noChangeAspect="1"/>
          </p:cNvPicPr>
          <p:nvPr/>
        </p:nvPicPr>
        <p:blipFill>
          <a:blip r:embed="rId3"/>
          <a:stretch>
            <a:fillRect/>
          </a:stretch>
        </p:blipFill>
        <p:spPr>
          <a:xfrm>
            <a:off x="2657475" y="4979035"/>
            <a:ext cx="2828925" cy="1285875"/>
          </a:xfrm>
          <a:prstGeom prst="rect">
            <a:avLst/>
          </a:prstGeom>
        </p:spPr>
      </p:pic>
      <p:pic>
        <p:nvPicPr>
          <p:cNvPr id="7" name="图片 6"/>
          <p:cNvPicPr>
            <a:picLocks noChangeAspect="1"/>
          </p:cNvPicPr>
          <p:nvPr/>
        </p:nvPicPr>
        <p:blipFill>
          <a:blip r:embed="rId4"/>
          <a:stretch>
            <a:fillRect/>
          </a:stretch>
        </p:blipFill>
        <p:spPr>
          <a:xfrm>
            <a:off x="8016875" y="4979035"/>
            <a:ext cx="3381375" cy="13049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640080" y="1135567"/>
            <a:ext cx="11118850" cy="5544820"/>
          </a:xfrm>
        </p:spPr>
        <p:txBody>
          <a:bodyPr/>
          <a:lstStyle/>
          <a:p>
            <a:pPr>
              <a:lnSpc>
                <a:spcPct val="150000"/>
              </a:lnSpc>
              <a:spcBef>
                <a:spcPts val="400"/>
              </a:spcBef>
              <a:spcAft>
                <a:spcPts val="0"/>
              </a:spcAft>
            </a:pPr>
            <a:r>
              <a:rPr lang="en-US" altLang="zh-CN" dirty="0"/>
              <a:t>2</a:t>
            </a:r>
            <a:r>
              <a:rPr altLang="en-US" dirty="0"/>
              <a:t>、</a:t>
            </a:r>
            <a:r>
              <a:rPr lang="zh-CN" altLang="en-US" dirty="0"/>
              <a:t>平移</a:t>
            </a:r>
          </a:p>
          <a:p>
            <a:pPr>
              <a:lnSpc>
                <a:spcPct val="150000"/>
              </a:lnSpc>
              <a:spcBef>
                <a:spcPts val="400"/>
              </a:spcBef>
              <a:spcAft>
                <a:spcPts val="0"/>
              </a:spcAft>
            </a:pPr>
            <a:r>
              <a:rPr altLang="en-US" dirty="0">
                <a:latin typeface="Arial" panose="020B0604020202020204" pitchFamily="34" charset="0"/>
                <a:cs typeface="Arial" panose="020B0604020202020204" pitchFamily="34" charset="0"/>
              </a:rPr>
              <a:t>平移之前构造一个移动矩阵，即指出图像在</a:t>
            </a:r>
            <a:r>
              <a:rPr lang="en-US" altLang="zh-CN" dirty="0">
                <a:latin typeface="Arial" panose="020B0604020202020204" pitchFamily="34" charset="0"/>
                <a:cs typeface="Arial" panose="020B0604020202020204" pitchFamily="34" charset="0"/>
              </a:rPr>
              <a:t>X</a:t>
            </a:r>
            <a:r>
              <a:rPr altLang="en-US" dirty="0">
                <a:latin typeface="Arial" panose="020B0604020202020204" pitchFamily="34" charset="0"/>
                <a:cs typeface="Arial" panose="020B0604020202020204" pitchFamily="34" charset="0"/>
              </a:rPr>
              <a:t>轴方向上移动的距离，在</a:t>
            </a:r>
            <a:r>
              <a:rPr lang="en-US" altLang="zh-CN" dirty="0">
                <a:latin typeface="Arial" panose="020B0604020202020204" pitchFamily="34" charset="0"/>
                <a:cs typeface="Arial" panose="020B0604020202020204" pitchFamily="34" charset="0"/>
              </a:rPr>
              <a:t>y</a:t>
            </a:r>
            <a:r>
              <a:rPr altLang="en-US" dirty="0">
                <a:latin typeface="Arial" panose="020B0604020202020204" pitchFamily="34" charset="0"/>
                <a:cs typeface="Arial" panose="020B0604020202020204" pitchFamily="34" charset="0"/>
              </a:rPr>
              <a:t>轴上移动的距离，平移变换的如图所示：</a:t>
            </a:r>
          </a:p>
          <a:p>
            <a:pPr>
              <a:lnSpc>
                <a:spcPct val="150000"/>
              </a:lnSpc>
              <a:spcBef>
                <a:spcPts val="400"/>
              </a:spcBef>
              <a:spcAft>
                <a:spcPts val="0"/>
              </a:spcAft>
            </a:pPr>
            <a:endParaRPr lang="en-US" altLang="zh-CN" dirty="0"/>
          </a:p>
          <a:p>
            <a:pPr marL="285750" indent="-285750">
              <a:lnSpc>
                <a:spcPct val="150000"/>
              </a:lnSpc>
              <a:spcBef>
                <a:spcPts val="400"/>
              </a:spcBef>
              <a:spcAft>
                <a:spcPts val="0"/>
              </a:spcAft>
            </a:pPr>
            <a:endParaRPr altLang="en-US" dirty="0"/>
          </a:p>
        </p:txBody>
      </p:sp>
      <p:pic>
        <p:nvPicPr>
          <p:cNvPr id="145" name="图片 54" descr="平移.jpg"/>
          <p:cNvPicPr/>
          <p:nvPr/>
        </p:nvPicPr>
        <p:blipFill>
          <a:blip r:embed="rId2">
            <a:extLst>
              <a:ext uri="{28A0092B-C50C-407E-A947-70E740481C1C}">
                <a14:useLocalDpi xmlns:a14="http://schemas.microsoft.com/office/drawing/2010/main" val="0"/>
              </a:ext>
            </a:extLst>
          </a:blip>
          <a:srcRect/>
          <a:stretch>
            <a:fillRect/>
          </a:stretch>
        </p:blipFill>
        <p:spPr>
          <a:xfrm>
            <a:off x="3218180" y="2621915"/>
            <a:ext cx="5724525" cy="2874645"/>
          </a:xfrm>
          <a:prstGeom prst="rect">
            <a:avLst/>
          </a:prstGeom>
          <a:noFill/>
          <a:ln w="9525" cmpd="sng">
            <a:solidFill>
              <a:srgbClr val="000000"/>
            </a:solid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2</a:t>
            </a:r>
            <a:r>
              <a:rPr altLang="en-US" dirty="0"/>
              <a:t>、</a:t>
            </a:r>
            <a:r>
              <a:rPr lang="zh-CN" altLang="en-US" dirty="0"/>
              <a:t>平移</a:t>
            </a:r>
          </a:p>
          <a:p>
            <a:pPr>
              <a:lnSpc>
                <a:spcPct val="150000"/>
              </a:lnSpc>
              <a:spcBef>
                <a:spcPts val="400"/>
              </a:spcBef>
              <a:spcAft>
                <a:spcPts val="0"/>
              </a:spcAft>
            </a:pPr>
            <a:r>
              <a:rPr lang="en-US" altLang="zh-CN" dirty="0"/>
              <a:t>OpenCV</a:t>
            </a:r>
            <a:r>
              <a:rPr altLang="en-US" dirty="0"/>
              <a:t>中实现图像平移的方法：</a:t>
            </a:r>
          </a:p>
          <a:p>
            <a:pPr>
              <a:lnSpc>
                <a:spcPct val="150000"/>
              </a:lnSpc>
              <a:spcBef>
                <a:spcPts val="400"/>
              </a:spcBef>
              <a:spcAft>
                <a:spcPts val="0"/>
              </a:spcAft>
            </a:pPr>
            <a:r>
              <a:rPr altLang="en-US" dirty="0"/>
              <a:t>函数：cv2.warpAffine()</a:t>
            </a:r>
          </a:p>
          <a:p>
            <a:pPr>
              <a:lnSpc>
                <a:spcPct val="150000"/>
              </a:lnSpc>
              <a:spcBef>
                <a:spcPts val="400"/>
              </a:spcBef>
              <a:spcAft>
                <a:spcPts val="0"/>
              </a:spcAft>
            </a:pPr>
            <a:r>
              <a:rPr altLang="en-US" dirty="0"/>
              <a:t>格式：dst=cv2.warpAffine(src,M,dsize[,dst[,flags[,borderMode[,borderValue]]]])</a:t>
            </a:r>
          </a:p>
          <a:p>
            <a:pPr marL="285750" indent="-285750">
              <a:lnSpc>
                <a:spcPct val="150000"/>
              </a:lnSpc>
              <a:spcBef>
                <a:spcPts val="400"/>
              </a:spcBef>
              <a:spcAft>
                <a:spcPts val="0"/>
              </a:spcAft>
            </a:pPr>
            <a:r>
              <a:rPr altLang="en-US" dirty="0"/>
              <a:t>参数说明：</a:t>
            </a:r>
          </a:p>
          <a:p>
            <a:pPr marL="285750" indent="-285750">
              <a:lnSpc>
                <a:spcPct val="150000"/>
              </a:lnSpc>
              <a:spcBef>
                <a:spcPts val="400"/>
              </a:spcBef>
              <a:spcAft>
                <a:spcPts val="0"/>
              </a:spcAft>
            </a:pPr>
            <a:r>
              <a:rPr altLang="en-US">
                <a:sym typeface="+mn-ea"/>
              </a:rPr>
              <a:t>src：输入图像</a:t>
            </a:r>
          </a:p>
          <a:p>
            <a:pPr marL="285750" indent="-285750">
              <a:lnSpc>
                <a:spcPct val="150000"/>
              </a:lnSpc>
              <a:spcBef>
                <a:spcPts val="400"/>
              </a:spcBef>
              <a:spcAft>
                <a:spcPts val="0"/>
              </a:spcAft>
            </a:pPr>
            <a:r>
              <a:rPr lang="en-US" altLang="zh-CN">
                <a:sym typeface="+mn-ea"/>
              </a:rPr>
              <a:t>M</a:t>
            </a:r>
            <a:r>
              <a:rPr altLang="en-US">
                <a:sym typeface="+mn-ea"/>
              </a:rPr>
              <a:t>：移动矩阵（</a:t>
            </a:r>
            <a:r>
              <a:rPr lang="en-US" altLang="zh-CN">
                <a:sym typeface="+mn-ea"/>
              </a:rPr>
              <a:t>2*3</a:t>
            </a:r>
            <a:r>
              <a:rPr altLang="en-US">
                <a:sym typeface="+mn-ea"/>
              </a:rPr>
              <a:t>），对于</a:t>
            </a:r>
            <a:r>
              <a:rPr lang="en-US" altLang="zh-CN">
                <a:sym typeface="+mn-ea"/>
              </a:rPr>
              <a:t>(x,y)</a:t>
            </a:r>
            <a:r>
              <a:rPr altLang="en-US">
                <a:sym typeface="+mn-ea"/>
              </a:rPr>
              <a:t>处的像素点，要移动到</a:t>
            </a:r>
            <a:r>
              <a:rPr lang="en-US" altLang="zh-CN">
                <a:sym typeface="+mn-ea"/>
              </a:rPr>
              <a:t>(x+</a:t>
            </a:r>
            <a:r>
              <a:rPr lang="en-US" altLang="zh-CN">
                <a:latin typeface="Arial" panose="020B0604020202020204" pitchFamily="34" charset="0"/>
                <a:cs typeface="Arial" panose="020B0604020202020204" pitchFamily="34" charset="0"/>
                <a:sym typeface="+mn-ea"/>
              </a:rPr>
              <a:t>∆x, y+∆y</a:t>
            </a:r>
            <a:r>
              <a:rPr lang="en-US" altLang="zh-CN">
                <a:sym typeface="+mn-ea"/>
              </a:rPr>
              <a:t>)</a:t>
            </a:r>
            <a:r>
              <a:rPr altLang="en-US">
                <a:sym typeface="+mn-ea"/>
              </a:rPr>
              <a:t>时，</a:t>
            </a:r>
            <a:r>
              <a:rPr lang="en-US" altLang="zh-CN">
                <a:sym typeface="+mn-ea"/>
              </a:rPr>
              <a:t>M</a:t>
            </a:r>
            <a:r>
              <a:rPr altLang="en-US">
                <a:sym typeface="+mn-ea"/>
              </a:rPr>
              <a:t>矩阵设置为：</a:t>
            </a:r>
          </a:p>
          <a:p>
            <a:pPr marL="285750" indent="-285750">
              <a:lnSpc>
                <a:spcPct val="150000"/>
              </a:lnSpc>
              <a:spcBef>
                <a:spcPts val="400"/>
              </a:spcBef>
              <a:spcAft>
                <a:spcPts val="0"/>
              </a:spcAft>
            </a:pPr>
            <a:r>
              <a:rPr altLang="en-US">
                <a:sym typeface="+mn-ea"/>
              </a:rPr>
              <a:t>dsize：输出图像的大小。</a:t>
            </a:r>
          </a:p>
          <a:p>
            <a:pPr marL="285750" indent="-285750">
              <a:lnSpc>
                <a:spcPct val="150000"/>
              </a:lnSpc>
              <a:spcBef>
                <a:spcPts val="400"/>
              </a:spcBef>
              <a:spcAft>
                <a:spcPts val="0"/>
              </a:spcAft>
            </a:pPr>
            <a:r>
              <a:rPr altLang="en-US">
                <a:sym typeface="+mn-ea"/>
              </a:rPr>
              <a:t>borderMode:边界像素模式（int 类型）</a:t>
            </a:r>
          </a:p>
          <a:p>
            <a:pPr marL="285750" indent="-285750">
              <a:lnSpc>
                <a:spcPct val="150000"/>
              </a:lnSpc>
              <a:spcBef>
                <a:spcPts val="400"/>
              </a:spcBef>
              <a:spcAft>
                <a:spcPts val="0"/>
              </a:spcAft>
            </a:pPr>
            <a:r>
              <a:rPr altLang="en-US">
                <a:sym typeface="+mn-ea"/>
              </a:rPr>
              <a:t>borderValue:边界填充值; 默认情况下，它为0</a:t>
            </a:r>
          </a:p>
          <a:p>
            <a:pPr marL="285750" indent="-285750">
              <a:lnSpc>
                <a:spcPct val="150000"/>
              </a:lnSpc>
              <a:spcBef>
                <a:spcPts val="400"/>
              </a:spcBef>
              <a:spcAft>
                <a:spcPts val="0"/>
              </a:spcAft>
            </a:pPr>
            <a:r>
              <a:rPr altLang="en-US">
                <a:sym typeface="+mn-ea"/>
              </a:rPr>
              <a:t>flages:表示插值方式，默认为 flags=cv2.INTER_LINEAR，表示线性插值，</a:t>
            </a:r>
            <a:r>
              <a:rPr lang="en-US" altLang="zh-CN">
                <a:sym typeface="+mn-ea"/>
              </a:rPr>
              <a:t>cv2.INTER_NEAREST</a:t>
            </a:r>
            <a:r>
              <a:rPr altLang="en-US">
                <a:sym typeface="+mn-ea"/>
              </a:rPr>
              <a:t>为最近邻插值，</a:t>
            </a:r>
            <a:r>
              <a:rPr lang="en-US" altLang="zh-CN">
                <a:sym typeface="+mn-ea"/>
              </a:rPr>
              <a:t>cv2.INTER_AREA</a:t>
            </a:r>
            <a:r>
              <a:rPr altLang="en-US">
                <a:sym typeface="+mn-ea"/>
              </a:rPr>
              <a:t>为区域插值，</a:t>
            </a:r>
            <a:r>
              <a:rPr lang="en-US" altLang="zh-CN">
                <a:sym typeface="+mn-ea"/>
              </a:rPr>
              <a:t>cv2.INTER_CUBIC</a:t>
            </a:r>
            <a:r>
              <a:rPr altLang="en-US">
                <a:sym typeface="+mn-ea"/>
              </a:rPr>
              <a:t>为三次样条插值，</a:t>
            </a:r>
            <a:r>
              <a:rPr lang="en-US" altLang="zh-CN">
                <a:sym typeface="+mn-ea"/>
              </a:rPr>
              <a:t>cv2.INTER_LANCAOS4</a:t>
            </a:r>
            <a:r>
              <a:rPr altLang="en-US">
                <a:sym typeface="+mn-ea"/>
              </a:rPr>
              <a:t>为Lanczos插值</a:t>
            </a:r>
          </a:p>
        </p:txBody>
      </p:sp>
      <p:pic>
        <p:nvPicPr>
          <p:cNvPr id="4" name="图片 3"/>
          <p:cNvPicPr>
            <a:picLocks noChangeAspect="1"/>
          </p:cNvPicPr>
          <p:nvPr/>
        </p:nvPicPr>
        <p:blipFill>
          <a:blip r:embed="rId2"/>
          <a:stretch>
            <a:fillRect/>
          </a:stretch>
        </p:blipFill>
        <p:spPr>
          <a:xfrm>
            <a:off x="9726295" y="3875405"/>
            <a:ext cx="2103120" cy="8509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2</a:t>
            </a:r>
            <a:r>
              <a:rPr altLang="en-US" dirty="0"/>
              <a:t>、</a:t>
            </a:r>
            <a:r>
              <a:rPr lang="zh-CN" altLang="en-US" dirty="0"/>
              <a:t>平移</a:t>
            </a:r>
          </a:p>
          <a:p>
            <a:pPr>
              <a:lnSpc>
                <a:spcPct val="150000"/>
              </a:lnSpc>
              <a:spcBef>
                <a:spcPts val="400"/>
              </a:spcBef>
              <a:spcAft>
                <a:spcPts val="0"/>
              </a:spcAft>
            </a:pPr>
            <a:r>
              <a:rPr altLang="en-US">
                <a:sym typeface="+mn-ea"/>
              </a:rPr>
              <a:t>应用案例</a:t>
            </a:r>
            <a:r>
              <a:rPr lang="en-US" altLang="zh-CN">
                <a:sym typeface="+mn-ea"/>
              </a:rPr>
              <a:t>1</a:t>
            </a:r>
            <a:r>
              <a:rPr altLang="en-US">
                <a:sym typeface="+mn-ea"/>
              </a:rPr>
              <a:t>：利用</a:t>
            </a:r>
            <a:r>
              <a:rPr lang="en-US" altLang="zh-CN">
                <a:sym typeface="+mn-ea"/>
              </a:rPr>
              <a:t>OpenCV</a:t>
            </a:r>
            <a:r>
              <a:rPr altLang="en-US">
                <a:sym typeface="+mn-ea"/>
              </a:rPr>
              <a:t>实现图像平移</a:t>
            </a:r>
          </a:p>
        </p:txBody>
      </p:sp>
      <p:pic>
        <p:nvPicPr>
          <p:cNvPr id="5" name="图片 4"/>
          <p:cNvPicPr>
            <a:picLocks noChangeAspect="1"/>
          </p:cNvPicPr>
          <p:nvPr/>
        </p:nvPicPr>
        <p:blipFill>
          <a:blip r:embed="rId2"/>
          <a:stretch>
            <a:fillRect/>
          </a:stretch>
        </p:blipFill>
        <p:spPr>
          <a:xfrm>
            <a:off x="7682865" y="567055"/>
            <a:ext cx="3312795" cy="2542540"/>
          </a:xfrm>
          <a:prstGeom prst="rect">
            <a:avLst/>
          </a:prstGeom>
        </p:spPr>
      </p:pic>
      <p:pic>
        <p:nvPicPr>
          <p:cNvPr id="6" name="图片 5"/>
          <p:cNvPicPr>
            <a:picLocks noChangeAspect="1"/>
          </p:cNvPicPr>
          <p:nvPr/>
        </p:nvPicPr>
        <p:blipFill>
          <a:blip r:embed="rId3"/>
          <a:stretch>
            <a:fillRect/>
          </a:stretch>
        </p:blipFill>
        <p:spPr>
          <a:xfrm>
            <a:off x="7682865" y="3671570"/>
            <a:ext cx="3313430" cy="2567305"/>
          </a:xfrm>
          <a:prstGeom prst="rect">
            <a:avLst/>
          </a:prstGeom>
        </p:spPr>
      </p:pic>
      <p:pic>
        <p:nvPicPr>
          <p:cNvPr id="7" name="图片 6"/>
          <p:cNvPicPr>
            <a:picLocks noChangeAspect="1"/>
          </p:cNvPicPr>
          <p:nvPr/>
        </p:nvPicPr>
        <p:blipFill>
          <a:blip r:embed="rId4"/>
          <a:stretch>
            <a:fillRect/>
          </a:stretch>
        </p:blipFill>
        <p:spPr>
          <a:xfrm>
            <a:off x="1420495" y="2510155"/>
            <a:ext cx="4505325" cy="30765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2</a:t>
            </a:r>
            <a:r>
              <a:rPr altLang="en-US" dirty="0"/>
              <a:t>、</a:t>
            </a:r>
            <a:r>
              <a:rPr lang="zh-CN" altLang="en-US" dirty="0"/>
              <a:t>平移</a:t>
            </a:r>
          </a:p>
          <a:p>
            <a:pPr>
              <a:lnSpc>
                <a:spcPct val="150000"/>
              </a:lnSpc>
              <a:spcBef>
                <a:spcPts val="400"/>
              </a:spcBef>
              <a:spcAft>
                <a:spcPts val="0"/>
              </a:spcAft>
            </a:pPr>
            <a:r>
              <a:rPr altLang="en-US">
                <a:sym typeface="+mn-ea"/>
              </a:rPr>
              <a:t>应用案例</a:t>
            </a:r>
            <a:r>
              <a:rPr lang="en-US" altLang="zh-CN">
                <a:sym typeface="+mn-ea"/>
              </a:rPr>
              <a:t>2</a:t>
            </a:r>
            <a:r>
              <a:rPr altLang="en-US">
                <a:sym typeface="+mn-ea"/>
              </a:rPr>
              <a:t>：利用</a:t>
            </a:r>
            <a:r>
              <a:rPr lang="en-US" altLang="zh-CN">
                <a:sym typeface="+mn-ea"/>
              </a:rPr>
              <a:t>OpenCV</a:t>
            </a:r>
            <a:r>
              <a:rPr altLang="en-US">
                <a:sym typeface="+mn-ea"/>
              </a:rPr>
              <a:t>实现图像平移</a:t>
            </a:r>
          </a:p>
        </p:txBody>
      </p:sp>
      <p:pic>
        <p:nvPicPr>
          <p:cNvPr id="4" name="图片 3"/>
          <p:cNvPicPr>
            <a:picLocks noChangeAspect="1"/>
          </p:cNvPicPr>
          <p:nvPr/>
        </p:nvPicPr>
        <p:blipFill>
          <a:blip r:embed="rId2"/>
          <a:stretch>
            <a:fillRect/>
          </a:stretch>
        </p:blipFill>
        <p:spPr>
          <a:xfrm>
            <a:off x="4236720" y="2339340"/>
            <a:ext cx="2532380" cy="2607945"/>
          </a:xfrm>
          <a:prstGeom prst="rect">
            <a:avLst/>
          </a:prstGeom>
        </p:spPr>
      </p:pic>
      <p:pic>
        <p:nvPicPr>
          <p:cNvPr id="8" name="图片 7"/>
          <p:cNvPicPr>
            <a:picLocks noChangeAspect="1"/>
          </p:cNvPicPr>
          <p:nvPr/>
        </p:nvPicPr>
        <p:blipFill>
          <a:blip r:embed="rId3"/>
          <a:stretch>
            <a:fillRect/>
          </a:stretch>
        </p:blipFill>
        <p:spPr>
          <a:xfrm>
            <a:off x="7040245" y="934720"/>
            <a:ext cx="5015230" cy="5170805"/>
          </a:xfrm>
          <a:prstGeom prst="rect">
            <a:avLst/>
          </a:prstGeom>
        </p:spPr>
      </p:pic>
      <p:pic>
        <p:nvPicPr>
          <p:cNvPr id="9" name="图片 8"/>
          <p:cNvPicPr>
            <a:picLocks noChangeAspect="1"/>
          </p:cNvPicPr>
          <p:nvPr/>
        </p:nvPicPr>
        <p:blipFill>
          <a:blip r:embed="rId4"/>
          <a:stretch>
            <a:fillRect/>
          </a:stretch>
        </p:blipFill>
        <p:spPr>
          <a:xfrm>
            <a:off x="85725" y="2644775"/>
            <a:ext cx="4043045" cy="175133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3</a:t>
            </a:r>
            <a:r>
              <a:rPr altLang="en-US" dirty="0"/>
              <a:t>、旋转</a:t>
            </a:r>
            <a:endParaRPr lang="zh-CN" altLang="en-US" dirty="0"/>
          </a:p>
          <a:p>
            <a:pPr>
              <a:lnSpc>
                <a:spcPct val="150000"/>
              </a:lnSpc>
              <a:spcBef>
                <a:spcPts val="400"/>
              </a:spcBef>
              <a:spcAft>
                <a:spcPts val="0"/>
              </a:spcAft>
            </a:pPr>
            <a:r>
              <a:rPr altLang="en-US">
                <a:sym typeface="+mn-ea"/>
              </a:rPr>
              <a:t>旋转是原图上所有的点都绕一个固定的点按照同一方向转换同一个角度；</a:t>
            </a:r>
          </a:p>
          <a:p>
            <a:pPr>
              <a:lnSpc>
                <a:spcPct val="150000"/>
              </a:lnSpc>
              <a:spcBef>
                <a:spcPts val="400"/>
              </a:spcBef>
              <a:spcAft>
                <a:spcPts val="0"/>
              </a:spcAft>
            </a:pPr>
            <a:r>
              <a:rPr altLang="en-US">
                <a:sym typeface="+mn-ea"/>
              </a:rPr>
              <a:t>图像旋转过程中，图像按照某个位置转动一定角度的过程中，图像仍然保持着原始尺寸；</a:t>
            </a:r>
          </a:p>
          <a:p>
            <a:pPr>
              <a:lnSpc>
                <a:spcPct val="150000"/>
              </a:lnSpc>
              <a:spcBef>
                <a:spcPts val="400"/>
              </a:spcBef>
              <a:spcAft>
                <a:spcPts val="0"/>
              </a:spcAft>
            </a:pPr>
            <a:r>
              <a:rPr altLang="en-US">
                <a:sym typeface="+mn-ea"/>
              </a:rPr>
              <a:t>设图像的旋转中心为</a:t>
            </a:r>
            <a:r>
              <a:rPr lang="en-US" altLang="zh-CN">
                <a:sym typeface="+mn-ea"/>
              </a:rPr>
              <a:t>(cx,cy)</a:t>
            </a:r>
            <a:r>
              <a:rPr altLang="en-US">
                <a:sym typeface="+mn-ea"/>
              </a:rPr>
              <a:t>，源图像数据坐标</a:t>
            </a:r>
            <a:r>
              <a:rPr lang="en-US" altLang="zh-CN">
                <a:sym typeface="+mn-ea"/>
              </a:rPr>
              <a:t>(x0,y0)</a:t>
            </a:r>
            <a:r>
              <a:rPr altLang="en-US">
                <a:sym typeface="+mn-ea"/>
              </a:rPr>
              <a:t>，旋转后目标图像坐标为（x,y），将坐标原点由图像左上角变换到旋转中心，坐标变换的矩阵形式为：</a:t>
            </a:r>
          </a:p>
          <a:p>
            <a:pPr>
              <a:lnSpc>
                <a:spcPct val="150000"/>
              </a:lnSpc>
              <a:spcBef>
                <a:spcPts val="400"/>
              </a:spcBef>
              <a:spcAft>
                <a:spcPts val="0"/>
              </a:spcAft>
            </a:pPr>
            <a:endParaRPr altLang="en-US">
              <a:sym typeface="+mn-ea"/>
            </a:endParaRPr>
          </a:p>
          <a:p>
            <a:pPr>
              <a:lnSpc>
                <a:spcPct val="150000"/>
              </a:lnSpc>
              <a:spcBef>
                <a:spcPts val="400"/>
              </a:spcBef>
              <a:spcAft>
                <a:spcPts val="0"/>
              </a:spcAft>
            </a:pPr>
            <a:endParaRPr altLang="en-US">
              <a:sym typeface="+mn-ea"/>
            </a:endParaRPr>
          </a:p>
          <a:p>
            <a:pPr>
              <a:lnSpc>
                <a:spcPct val="150000"/>
              </a:lnSpc>
              <a:spcBef>
                <a:spcPts val="400"/>
              </a:spcBef>
              <a:spcAft>
                <a:spcPts val="0"/>
              </a:spcAft>
            </a:pPr>
            <a:r>
              <a:rPr altLang="en-US">
                <a:sym typeface="+mn-ea"/>
              </a:rPr>
              <a:t>图像变换矩阵表达式为：                                                          图像旋转变化示意图</a:t>
            </a:r>
          </a:p>
        </p:txBody>
      </p:sp>
      <p:pic>
        <p:nvPicPr>
          <p:cNvPr id="4" name="图片 3"/>
          <p:cNvPicPr>
            <a:picLocks noChangeAspect="1"/>
          </p:cNvPicPr>
          <p:nvPr/>
        </p:nvPicPr>
        <p:blipFill>
          <a:blip r:embed="rId2"/>
          <a:stretch>
            <a:fillRect/>
          </a:stretch>
        </p:blipFill>
        <p:spPr>
          <a:xfrm>
            <a:off x="5051425" y="3074035"/>
            <a:ext cx="4314825" cy="1209675"/>
          </a:xfrm>
          <a:prstGeom prst="rect">
            <a:avLst/>
          </a:prstGeom>
        </p:spPr>
      </p:pic>
      <p:pic>
        <p:nvPicPr>
          <p:cNvPr id="8" name="图片 7"/>
          <p:cNvPicPr>
            <a:picLocks noChangeAspect="1"/>
          </p:cNvPicPr>
          <p:nvPr/>
        </p:nvPicPr>
        <p:blipFill>
          <a:blip r:embed="rId3"/>
          <a:stretch>
            <a:fillRect/>
          </a:stretch>
        </p:blipFill>
        <p:spPr>
          <a:xfrm>
            <a:off x="1405255" y="4909185"/>
            <a:ext cx="5486400" cy="1352550"/>
          </a:xfrm>
          <a:prstGeom prst="rect">
            <a:avLst/>
          </a:prstGeom>
        </p:spPr>
      </p:pic>
      <p:pic>
        <p:nvPicPr>
          <p:cNvPr id="9" name="图片 8"/>
          <p:cNvPicPr>
            <a:picLocks noChangeAspect="1"/>
          </p:cNvPicPr>
          <p:nvPr/>
        </p:nvPicPr>
        <p:blipFill>
          <a:blip r:embed="rId4"/>
          <a:stretch>
            <a:fillRect/>
          </a:stretch>
        </p:blipFill>
        <p:spPr>
          <a:xfrm>
            <a:off x="7804150" y="4909185"/>
            <a:ext cx="3584575" cy="17049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3</a:t>
            </a:r>
            <a:r>
              <a:rPr altLang="en-US" dirty="0"/>
              <a:t>、旋转</a:t>
            </a:r>
            <a:endParaRPr lang="zh-CN" altLang="en-US" dirty="0"/>
          </a:p>
          <a:p>
            <a:pPr>
              <a:lnSpc>
                <a:spcPct val="150000"/>
              </a:lnSpc>
              <a:spcBef>
                <a:spcPts val="400"/>
              </a:spcBef>
              <a:spcAft>
                <a:spcPts val="0"/>
              </a:spcAft>
            </a:pPr>
            <a:r>
              <a:rPr lang="en-US" altLang="zh-CN" dirty="0"/>
              <a:t>OpenCV</a:t>
            </a:r>
            <a:r>
              <a:rPr altLang="en-US" dirty="0"/>
              <a:t>中实现图像旋转的方法：</a:t>
            </a:r>
          </a:p>
          <a:p>
            <a:pPr>
              <a:lnSpc>
                <a:spcPct val="150000"/>
              </a:lnSpc>
              <a:spcBef>
                <a:spcPts val="400"/>
              </a:spcBef>
              <a:spcAft>
                <a:spcPts val="0"/>
              </a:spcAft>
            </a:pPr>
            <a:r>
              <a:rPr altLang="en-US" dirty="0"/>
              <a:t>函数：cv2.flip()</a:t>
            </a:r>
          </a:p>
          <a:p>
            <a:pPr>
              <a:lnSpc>
                <a:spcPct val="150000"/>
              </a:lnSpc>
              <a:spcBef>
                <a:spcPts val="400"/>
              </a:spcBef>
              <a:spcAft>
                <a:spcPts val="0"/>
              </a:spcAft>
            </a:pPr>
            <a:r>
              <a:rPr altLang="en-US" dirty="0"/>
              <a:t>功能：水平或者垂直翻转</a:t>
            </a:r>
          </a:p>
          <a:p>
            <a:pPr>
              <a:lnSpc>
                <a:spcPct val="150000"/>
              </a:lnSpc>
              <a:spcBef>
                <a:spcPts val="400"/>
              </a:spcBef>
              <a:spcAft>
                <a:spcPts val="0"/>
              </a:spcAft>
            </a:pPr>
            <a:r>
              <a:rPr altLang="en-US" dirty="0"/>
              <a:t>格式：dst= cv2.flip(src,flipCode[,dst])</a:t>
            </a:r>
          </a:p>
          <a:p>
            <a:pPr>
              <a:lnSpc>
                <a:spcPct val="150000"/>
              </a:lnSpc>
              <a:spcBef>
                <a:spcPts val="400"/>
              </a:spcBef>
              <a:spcAft>
                <a:spcPts val="0"/>
              </a:spcAft>
            </a:pPr>
            <a:r>
              <a:rPr altLang="en-US" dirty="0"/>
              <a:t>参数说明：</a:t>
            </a:r>
          </a:p>
          <a:p>
            <a:pPr marL="285750" indent="-285750">
              <a:lnSpc>
                <a:spcPct val="150000"/>
              </a:lnSpc>
              <a:spcBef>
                <a:spcPts val="400"/>
              </a:spcBef>
              <a:spcAft>
                <a:spcPts val="0"/>
              </a:spcAft>
            </a:pPr>
            <a:r>
              <a:rPr altLang="en-US">
                <a:sym typeface="+mn-ea"/>
              </a:rPr>
              <a:t>src：输入图像</a:t>
            </a:r>
          </a:p>
          <a:p>
            <a:pPr marL="285750" indent="-285750">
              <a:lnSpc>
                <a:spcPct val="150000"/>
              </a:lnSpc>
              <a:spcBef>
                <a:spcPts val="400"/>
              </a:spcBef>
              <a:spcAft>
                <a:spcPts val="0"/>
              </a:spcAft>
            </a:pPr>
            <a:r>
              <a:rPr altLang="en-US">
                <a:sym typeface="+mn-ea"/>
              </a:rPr>
              <a:t>dst：和原图像具有相同大小、类型的目标图像。</a:t>
            </a:r>
          </a:p>
          <a:p>
            <a:pPr marL="285750" indent="-285750">
              <a:lnSpc>
                <a:spcPct val="150000"/>
              </a:lnSpc>
              <a:spcBef>
                <a:spcPts val="400"/>
              </a:spcBef>
              <a:spcAft>
                <a:spcPts val="0"/>
              </a:spcAft>
            </a:pPr>
            <a:r>
              <a:rPr altLang="en-US">
                <a:sym typeface="+mn-ea"/>
              </a:rPr>
              <a:t>flipCode：旋转类型 ，取值如下：</a:t>
            </a:r>
          </a:p>
          <a:p>
            <a:pPr marL="285750" indent="-285750">
              <a:lnSpc>
                <a:spcPct val="150000"/>
              </a:lnSpc>
              <a:spcBef>
                <a:spcPts val="400"/>
              </a:spcBef>
              <a:spcAft>
                <a:spcPts val="0"/>
              </a:spcAft>
            </a:pPr>
            <a:r>
              <a:rPr lang="en-US" altLang="zh-CN">
                <a:sym typeface="+mn-ea"/>
              </a:rPr>
              <a:t>0</a:t>
            </a:r>
            <a:r>
              <a:rPr altLang="en-US">
                <a:sym typeface="+mn-ea"/>
              </a:rPr>
              <a:t>：绕x轴翻转（垂直翻转）</a:t>
            </a:r>
          </a:p>
          <a:p>
            <a:pPr marL="285750" indent="-285750">
              <a:lnSpc>
                <a:spcPct val="150000"/>
              </a:lnSpc>
              <a:spcBef>
                <a:spcPts val="400"/>
              </a:spcBef>
              <a:spcAft>
                <a:spcPts val="0"/>
              </a:spcAft>
            </a:pPr>
            <a:r>
              <a:rPr altLang="en-US">
                <a:sym typeface="+mn-ea"/>
              </a:rPr>
              <a:t>大于</a:t>
            </a:r>
            <a:r>
              <a:rPr lang="en-US" altLang="zh-CN">
                <a:sym typeface="+mn-ea"/>
              </a:rPr>
              <a:t>0</a:t>
            </a:r>
            <a:r>
              <a:rPr altLang="en-US">
                <a:sym typeface="+mn-ea"/>
              </a:rPr>
              <a:t>整数：绕y轴翻转（水平翻转）</a:t>
            </a:r>
          </a:p>
          <a:p>
            <a:pPr marL="285750" indent="-285750">
              <a:lnSpc>
                <a:spcPct val="150000"/>
              </a:lnSpc>
              <a:spcBef>
                <a:spcPts val="400"/>
              </a:spcBef>
              <a:spcAft>
                <a:spcPts val="0"/>
              </a:spcAft>
            </a:pPr>
            <a:r>
              <a:rPr altLang="en-US">
                <a:sym typeface="+mn-ea"/>
              </a:rPr>
              <a:t>小于</a:t>
            </a:r>
            <a:r>
              <a:rPr lang="en-US" altLang="zh-CN">
                <a:sym typeface="+mn-ea"/>
              </a:rPr>
              <a:t>0</a:t>
            </a:r>
            <a:r>
              <a:rPr altLang="en-US">
                <a:sym typeface="+mn-ea"/>
              </a:rPr>
              <a:t>整数：同时绕x轴和y轴翻转（水平和垂直翻转）</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3</a:t>
            </a:r>
            <a:r>
              <a:rPr altLang="en-US" dirty="0"/>
              <a:t>、旋转</a:t>
            </a:r>
          </a:p>
          <a:p>
            <a:pPr>
              <a:lnSpc>
                <a:spcPct val="150000"/>
              </a:lnSpc>
              <a:spcBef>
                <a:spcPts val="400"/>
              </a:spcBef>
              <a:spcAft>
                <a:spcPts val="0"/>
              </a:spcAft>
            </a:pPr>
            <a:r>
              <a:rPr altLang="en-US" dirty="0"/>
              <a:t>应用案例</a:t>
            </a:r>
            <a:r>
              <a:rPr lang="en-US" altLang="zh-CN" dirty="0"/>
              <a:t>1</a:t>
            </a:r>
            <a:r>
              <a:rPr altLang="en-US" dirty="0"/>
              <a:t>：利用OpenCV实现旋转变换</a:t>
            </a:r>
          </a:p>
          <a:p>
            <a:pPr>
              <a:lnSpc>
                <a:spcPct val="150000"/>
              </a:lnSpc>
              <a:spcBef>
                <a:spcPts val="400"/>
              </a:spcBef>
              <a:spcAft>
                <a:spcPts val="0"/>
              </a:spcAft>
            </a:pPr>
            <a:endParaRPr altLang="en-US">
              <a:sym typeface="+mn-ea"/>
            </a:endParaRPr>
          </a:p>
          <a:p>
            <a:pPr>
              <a:lnSpc>
                <a:spcPct val="150000"/>
              </a:lnSpc>
              <a:spcBef>
                <a:spcPts val="400"/>
              </a:spcBef>
              <a:spcAft>
                <a:spcPts val="0"/>
              </a:spcAft>
            </a:pPr>
            <a:endParaRPr altLang="en-US">
              <a:sym typeface="+mn-ea"/>
            </a:endParaRPr>
          </a:p>
          <a:p>
            <a:pPr>
              <a:lnSpc>
                <a:spcPct val="150000"/>
              </a:lnSpc>
              <a:spcBef>
                <a:spcPts val="400"/>
              </a:spcBef>
              <a:spcAft>
                <a:spcPts val="0"/>
              </a:spcAft>
            </a:pPr>
            <a:endParaRPr altLang="en-US">
              <a:sym typeface="+mn-ea"/>
            </a:endParaRPr>
          </a:p>
        </p:txBody>
      </p:sp>
      <p:pic>
        <p:nvPicPr>
          <p:cNvPr id="19" name="图片 18"/>
          <p:cNvPicPr>
            <a:picLocks noChangeAspect="1"/>
          </p:cNvPicPr>
          <p:nvPr/>
        </p:nvPicPr>
        <p:blipFill>
          <a:blip r:embed="rId2"/>
          <a:stretch>
            <a:fillRect/>
          </a:stretch>
        </p:blipFill>
        <p:spPr>
          <a:xfrm>
            <a:off x="5226685" y="1339850"/>
            <a:ext cx="2424430" cy="2574290"/>
          </a:xfrm>
          <a:prstGeom prst="rect">
            <a:avLst/>
          </a:prstGeom>
        </p:spPr>
      </p:pic>
      <p:pic>
        <p:nvPicPr>
          <p:cNvPr id="20" name="图片 19"/>
          <p:cNvPicPr>
            <a:picLocks noChangeAspect="1"/>
          </p:cNvPicPr>
          <p:nvPr/>
        </p:nvPicPr>
        <p:blipFill>
          <a:blip r:embed="rId3"/>
          <a:stretch>
            <a:fillRect/>
          </a:stretch>
        </p:blipFill>
        <p:spPr>
          <a:xfrm>
            <a:off x="8154035" y="1382395"/>
            <a:ext cx="2371090" cy="2489200"/>
          </a:xfrm>
          <a:prstGeom prst="rect">
            <a:avLst/>
          </a:prstGeom>
        </p:spPr>
      </p:pic>
      <p:pic>
        <p:nvPicPr>
          <p:cNvPr id="21" name="图片 20"/>
          <p:cNvPicPr>
            <a:picLocks noChangeAspect="1"/>
          </p:cNvPicPr>
          <p:nvPr/>
        </p:nvPicPr>
        <p:blipFill>
          <a:blip r:embed="rId4"/>
          <a:stretch>
            <a:fillRect/>
          </a:stretch>
        </p:blipFill>
        <p:spPr>
          <a:xfrm>
            <a:off x="5226685" y="4036060"/>
            <a:ext cx="2425065" cy="2570480"/>
          </a:xfrm>
          <a:prstGeom prst="rect">
            <a:avLst/>
          </a:prstGeom>
        </p:spPr>
      </p:pic>
      <p:pic>
        <p:nvPicPr>
          <p:cNvPr id="22" name="图片 21"/>
          <p:cNvPicPr>
            <a:picLocks noChangeAspect="1"/>
          </p:cNvPicPr>
          <p:nvPr/>
        </p:nvPicPr>
        <p:blipFill>
          <a:blip r:embed="rId5"/>
          <a:stretch>
            <a:fillRect/>
          </a:stretch>
        </p:blipFill>
        <p:spPr>
          <a:xfrm>
            <a:off x="8154035" y="4097655"/>
            <a:ext cx="2371725" cy="2508885"/>
          </a:xfrm>
          <a:prstGeom prst="rect">
            <a:avLst/>
          </a:prstGeom>
        </p:spPr>
      </p:pic>
      <p:pic>
        <p:nvPicPr>
          <p:cNvPr id="4" name="图片 3"/>
          <p:cNvPicPr>
            <a:picLocks noChangeAspect="1"/>
          </p:cNvPicPr>
          <p:nvPr/>
        </p:nvPicPr>
        <p:blipFill>
          <a:blip r:embed="rId6"/>
          <a:stretch>
            <a:fillRect/>
          </a:stretch>
        </p:blipFill>
        <p:spPr>
          <a:xfrm>
            <a:off x="1655445" y="2176145"/>
            <a:ext cx="3079750" cy="443039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3</a:t>
            </a:r>
            <a:r>
              <a:rPr altLang="en-US" dirty="0"/>
              <a:t>、旋转</a:t>
            </a:r>
            <a:endParaRPr lang="zh-CN" altLang="en-US" dirty="0"/>
          </a:p>
          <a:p>
            <a:pPr>
              <a:lnSpc>
                <a:spcPct val="150000"/>
              </a:lnSpc>
              <a:spcBef>
                <a:spcPts val="400"/>
              </a:spcBef>
              <a:spcAft>
                <a:spcPts val="0"/>
              </a:spcAft>
            </a:pPr>
            <a:r>
              <a:rPr altLang="en-US" dirty="0"/>
              <a:t>利用</a:t>
            </a:r>
            <a:r>
              <a:rPr lang="en-US" altLang="zh-CN" dirty="0"/>
              <a:t>cv2.</a:t>
            </a:r>
            <a:r>
              <a:rPr altLang="en-US" dirty="0"/>
              <a:t>getRotationMatrix2D()实现图像旋转：</a:t>
            </a:r>
          </a:p>
          <a:p>
            <a:pPr>
              <a:lnSpc>
                <a:spcPct val="150000"/>
              </a:lnSpc>
              <a:spcBef>
                <a:spcPts val="400"/>
              </a:spcBef>
              <a:spcAft>
                <a:spcPts val="0"/>
              </a:spcAft>
            </a:pPr>
            <a:r>
              <a:rPr altLang="en-US" dirty="0"/>
              <a:t>函数：cv2.getRotationMatrix2D</a:t>
            </a:r>
            <a:r>
              <a:rPr lang="en-US" altLang="zh-CN" dirty="0"/>
              <a:t>()</a:t>
            </a:r>
          </a:p>
          <a:p>
            <a:pPr>
              <a:lnSpc>
                <a:spcPct val="150000"/>
              </a:lnSpc>
              <a:spcBef>
                <a:spcPts val="400"/>
              </a:spcBef>
              <a:spcAft>
                <a:spcPts val="0"/>
              </a:spcAft>
            </a:pPr>
            <a:r>
              <a:rPr altLang="en-US" dirty="0"/>
              <a:t>功能：构造旋转矩阵，利用</a:t>
            </a:r>
            <a:r>
              <a:rPr altLang="en-US">
                <a:sym typeface="+mn-ea"/>
              </a:rPr>
              <a:t>cv2.warpAffine()函数实现图像旋转</a:t>
            </a:r>
            <a:endParaRPr altLang="en-US" dirty="0"/>
          </a:p>
          <a:p>
            <a:pPr>
              <a:lnSpc>
                <a:spcPct val="150000"/>
              </a:lnSpc>
              <a:spcBef>
                <a:spcPts val="400"/>
              </a:spcBef>
              <a:spcAft>
                <a:spcPts val="0"/>
              </a:spcAft>
            </a:pPr>
            <a:r>
              <a:rPr altLang="en-US" dirty="0"/>
              <a:t>格式：dst= cv2.getRotationMatrix2D(center, angle, scale)</a:t>
            </a:r>
          </a:p>
          <a:p>
            <a:pPr>
              <a:lnSpc>
                <a:spcPct val="150000"/>
              </a:lnSpc>
              <a:spcBef>
                <a:spcPts val="400"/>
              </a:spcBef>
              <a:spcAft>
                <a:spcPts val="0"/>
              </a:spcAft>
            </a:pPr>
            <a:r>
              <a:rPr altLang="en-US" dirty="0"/>
              <a:t>参数说明：</a:t>
            </a:r>
          </a:p>
          <a:p>
            <a:pPr marL="285750" indent="-285750">
              <a:lnSpc>
                <a:spcPct val="150000"/>
              </a:lnSpc>
              <a:spcBef>
                <a:spcPts val="400"/>
              </a:spcBef>
              <a:spcAft>
                <a:spcPts val="0"/>
              </a:spcAft>
            </a:pPr>
            <a:r>
              <a:rPr altLang="en-US">
                <a:sym typeface="+mn-ea"/>
              </a:rPr>
              <a:t>center：旋转中心。</a:t>
            </a:r>
          </a:p>
          <a:p>
            <a:pPr marL="285750" indent="-285750">
              <a:lnSpc>
                <a:spcPct val="150000"/>
              </a:lnSpc>
              <a:spcBef>
                <a:spcPts val="400"/>
              </a:spcBef>
              <a:spcAft>
                <a:spcPts val="0"/>
              </a:spcAft>
            </a:pPr>
            <a:r>
              <a:rPr altLang="en-US">
                <a:sym typeface="+mn-ea"/>
              </a:rPr>
              <a:t>angle：旋转角度。</a:t>
            </a:r>
          </a:p>
          <a:p>
            <a:pPr marL="285750" indent="-285750">
              <a:lnSpc>
                <a:spcPct val="150000"/>
              </a:lnSpc>
              <a:spcBef>
                <a:spcPts val="400"/>
              </a:spcBef>
              <a:spcAft>
                <a:spcPts val="0"/>
              </a:spcAft>
            </a:pPr>
            <a:r>
              <a:rPr altLang="en-US">
                <a:sym typeface="+mn-ea"/>
              </a:rPr>
              <a:t>scale：缩放比例。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3</a:t>
            </a:r>
            <a:r>
              <a:rPr altLang="en-US" dirty="0"/>
              <a:t>、旋转</a:t>
            </a:r>
            <a:endParaRPr lang="zh-CN" altLang="en-US" dirty="0"/>
          </a:p>
          <a:p>
            <a:pPr>
              <a:lnSpc>
                <a:spcPct val="150000"/>
              </a:lnSpc>
              <a:spcBef>
                <a:spcPts val="400"/>
              </a:spcBef>
              <a:spcAft>
                <a:spcPts val="0"/>
              </a:spcAft>
            </a:pPr>
            <a:r>
              <a:rPr altLang="en-US">
                <a:sym typeface="+mn-ea"/>
              </a:rPr>
              <a:t>应用案例</a:t>
            </a:r>
            <a:r>
              <a:rPr lang="en-US" altLang="zh-CN">
                <a:sym typeface="+mn-ea"/>
              </a:rPr>
              <a:t>2</a:t>
            </a:r>
            <a:r>
              <a:rPr altLang="en-US">
                <a:sym typeface="+mn-ea"/>
              </a:rPr>
              <a:t>：将图像相对于中心旋转90度而不进行任何缩放</a:t>
            </a:r>
          </a:p>
        </p:txBody>
      </p:sp>
      <p:pic>
        <p:nvPicPr>
          <p:cNvPr id="4" name="图片 3"/>
          <p:cNvPicPr>
            <a:picLocks noChangeAspect="1"/>
          </p:cNvPicPr>
          <p:nvPr/>
        </p:nvPicPr>
        <p:blipFill>
          <a:blip r:embed="rId2"/>
          <a:stretch>
            <a:fillRect/>
          </a:stretch>
        </p:blipFill>
        <p:spPr>
          <a:xfrm>
            <a:off x="433705" y="2548255"/>
            <a:ext cx="6210300" cy="2276475"/>
          </a:xfrm>
          <a:prstGeom prst="rect">
            <a:avLst/>
          </a:prstGeom>
        </p:spPr>
      </p:pic>
      <p:pic>
        <p:nvPicPr>
          <p:cNvPr id="5" name="图片 4"/>
          <p:cNvPicPr>
            <a:picLocks noChangeAspect="1"/>
          </p:cNvPicPr>
          <p:nvPr/>
        </p:nvPicPr>
        <p:blipFill>
          <a:blip r:embed="rId3"/>
          <a:stretch>
            <a:fillRect/>
          </a:stretch>
        </p:blipFill>
        <p:spPr>
          <a:xfrm>
            <a:off x="6924675" y="2438400"/>
            <a:ext cx="2507615" cy="2632075"/>
          </a:xfrm>
          <a:prstGeom prst="rect">
            <a:avLst/>
          </a:prstGeom>
        </p:spPr>
      </p:pic>
      <p:pic>
        <p:nvPicPr>
          <p:cNvPr id="6" name="图片 5"/>
          <p:cNvPicPr>
            <a:picLocks noChangeAspect="1"/>
          </p:cNvPicPr>
          <p:nvPr/>
        </p:nvPicPr>
        <p:blipFill>
          <a:blip r:embed="rId4"/>
          <a:stretch>
            <a:fillRect/>
          </a:stretch>
        </p:blipFill>
        <p:spPr>
          <a:xfrm>
            <a:off x="9589770" y="2402840"/>
            <a:ext cx="2555875" cy="27038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3</a:t>
            </a:r>
            <a:r>
              <a:rPr altLang="en-US" dirty="0"/>
              <a:t>、旋转</a:t>
            </a:r>
            <a:endParaRPr lang="zh-CN" altLang="en-US" dirty="0"/>
          </a:p>
          <a:p>
            <a:pPr>
              <a:lnSpc>
                <a:spcPct val="150000"/>
              </a:lnSpc>
              <a:spcBef>
                <a:spcPts val="400"/>
              </a:spcBef>
              <a:spcAft>
                <a:spcPts val="0"/>
              </a:spcAft>
            </a:pPr>
            <a:r>
              <a:rPr altLang="en-US">
                <a:sym typeface="+mn-ea"/>
              </a:rPr>
              <a:t>应用案例</a:t>
            </a:r>
            <a:r>
              <a:rPr lang="en-US" altLang="zh-CN">
                <a:sym typeface="+mn-ea"/>
              </a:rPr>
              <a:t>3</a:t>
            </a:r>
            <a:r>
              <a:rPr altLang="en-US">
                <a:sym typeface="+mn-ea"/>
              </a:rPr>
              <a:t>：将图像旋转</a:t>
            </a:r>
            <a:r>
              <a:rPr lang="en-US" altLang="zh-CN">
                <a:sym typeface="+mn-ea"/>
              </a:rPr>
              <a:t>45</a:t>
            </a:r>
            <a:r>
              <a:rPr altLang="en-US">
                <a:sym typeface="+mn-ea"/>
              </a:rPr>
              <a:t>度并缩小为原来</a:t>
            </a:r>
            <a:r>
              <a:rPr lang="en-US" altLang="zh-CN">
                <a:sym typeface="+mn-ea"/>
              </a:rPr>
              <a:t>0.7</a:t>
            </a:r>
            <a:r>
              <a:rPr altLang="en-US">
                <a:sym typeface="+mn-ea"/>
              </a:rPr>
              <a:t>倍</a:t>
            </a:r>
          </a:p>
        </p:txBody>
      </p:sp>
      <p:pic>
        <p:nvPicPr>
          <p:cNvPr id="7" name="图片 6"/>
          <p:cNvPicPr>
            <a:picLocks noChangeAspect="1"/>
          </p:cNvPicPr>
          <p:nvPr/>
        </p:nvPicPr>
        <p:blipFill>
          <a:blip r:embed="rId2"/>
          <a:stretch>
            <a:fillRect/>
          </a:stretch>
        </p:blipFill>
        <p:spPr>
          <a:xfrm>
            <a:off x="433705" y="2479040"/>
            <a:ext cx="5514975" cy="2857500"/>
          </a:xfrm>
          <a:prstGeom prst="rect">
            <a:avLst/>
          </a:prstGeom>
        </p:spPr>
      </p:pic>
      <p:pic>
        <p:nvPicPr>
          <p:cNvPr id="8" name="图片 7"/>
          <p:cNvPicPr>
            <a:picLocks noChangeAspect="1"/>
          </p:cNvPicPr>
          <p:nvPr/>
        </p:nvPicPr>
        <p:blipFill>
          <a:blip r:embed="rId3"/>
          <a:stretch>
            <a:fillRect/>
          </a:stretch>
        </p:blipFill>
        <p:spPr>
          <a:xfrm>
            <a:off x="6213475" y="2479040"/>
            <a:ext cx="2525395" cy="2660650"/>
          </a:xfrm>
          <a:prstGeom prst="rect">
            <a:avLst/>
          </a:prstGeom>
        </p:spPr>
      </p:pic>
      <p:pic>
        <p:nvPicPr>
          <p:cNvPr id="9" name="图片 8"/>
          <p:cNvPicPr>
            <a:picLocks noChangeAspect="1"/>
          </p:cNvPicPr>
          <p:nvPr/>
        </p:nvPicPr>
        <p:blipFill>
          <a:blip r:embed="rId4"/>
          <a:stretch>
            <a:fillRect/>
          </a:stretch>
        </p:blipFill>
        <p:spPr>
          <a:xfrm>
            <a:off x="9179560" y="2479040"/>
            <a:ext cx="2556510" cy="270446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3</a:t>
            </a:r>
            <a:r>
              <a:rPr altLang="en-US" dirty="0"/>
              <a:t>、仿射变换</a:t>
            </a:r>
            <a:endParaRPr lang="zh-CN" altLang="en-US" dirty="0"/>
          </a:p>
          <a:p>
            <a:pPr>
              <a:lnSpc>
                <a:spcPct val="150000"/>
              </a:lnSpc>
              <a:spcBef>
                <a:spcPts val="400"/>
              </a:spcBef>
              <a:spcAft>
                <a:spcPts val="0"/>
              </a:spcAft>
            </a:pPr>
            <a:r>
              <a:rPr altLang="en-US">
                <a:sym typeface="+mn-ea"/>
              </a:rPr>
              <a:t>仿射变换是在二维平面对图像进行线性坐标变换的方法，即对图像进行线性变换和平移，包括了图像平移、缩放、旋转、镜像等。仿射变换保留了图像中的 “平行性”和“平直性”，即仿射变换后直线和平行线仍然保持是直线和平行线。</a:t>
            </a:r>
          </a:p>
          <a:p>
            <a:pPr>
              <a:lnSpc>
                <a:spcPct val="150000"/>
              </a:lnSpc>
              <a:spcBef>
                <a:spcPts val="400"/>
              </a:spcBef>
              <a:spcAft>
                <a:spcPts val="0"/>
              </a:spcAft>
            </a:pPr>
            <a:r>
              <a:rPr altLang="en-US">
                <a:sym typeface="+mn-ea"/>
              </a:rPr>
              <a:t>平直性：变换后直线还是直线，圆弧还是圆弧</a:t>
            </a:r>
          </a:p>
          <a:p>
            <a:pPr>
              <a:lnSpc>
                <a:spcPct val="150000"/>
              </a:lnSpc>
              <a:spcBef>
                <a:spcPts val="400"/>
              </a:spcBef>
              <a:spcAft>
                <a:spcPts val="0"/>
              </a:spcAft>
            </a:pPr>
            <a:r>
              <a:rPr altLang="en-US">
                <a:sym typeface="+mn-ea"/>
              </a:rPr>
              <a:t>平行性：保持二维图形间的相对位置关系不变，平行线还是平行线，而直线上的点位置顺序不变</a:t>
            </a:r>
          </a:p>
          <a:p>
            <a:pPr>
              <a:lnSpc>
                <a:spcPct val="150000"/>
              </a:lnSpc>
              <a:spcBef>
                <a:spcPts val="400"/>
              </a:spcBef>
              <a:spcAft>
                <a:spcPts val="0"/>
              </a:spcAft>
            </a:pPr>
            <a:r>
              <a:rPr altLang="en-US">
                <a:sym typeface="+mn-ea"/>
              </a:rPr>
              <a:t>仿射变换可以通过一系列的原子变换的复合来实现包括：平移(Translation)、缩放(Scale)、翻转(Flip)、旋转(Rotation)和错切(Shear)</a:t>
            </a:r>
          </a:p>
          <a:p>
            <a:pPr>
              <a:lnSpc>
                <a:spcPct val="150000"/>
              </a:lnSpc>
              <a:spcBef>
                <a:spcPts val="400"/>
              </a:spcBef>
              <a:spcAft>
                <a:spcPts val="0"/>
              </a:spcAft>
            </a:pPr>
            <a:r>
              <a:rPr altLang="en-US">
                <a:sym typeface="+mn-ea"/>
              </a:rPr>
              <a:t>例如：二维码畸变修正示例</a:t>
            </a: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52825" y="4572635"/>
            <a:ext cx="1896110" cy="1943735"/>
          </a:xfrm>
          <a:prstGeom prst="rect">
            <a:avLst/>
          </a:prstGeom>
          <a:ln>
            <a:solidFill>
              <a:schemeClr val="tx1"/>
            </a:solidFill>
          </a:ln>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49010" y="4572635"/>
            <a:ext cx="1958975" cy="1887220"/>
          </a:xfrm>
          <a:prstGeom prst="rect">
            <a:avLst/>
          </a:prstGeom>
          <a:ln>
            <a:solidFill>
              <a:schemeClr val="tx1"/>
            </a:solidFill>
          </a:ln>
        </p:spPr>
      </p:pic>
      <p:pic>
        <p:nvPicPr>
          <p:cNvPr id="169" name="图片 56" descr="仿射变换.jpg"/>
          <p:cNvPicPr/>
          <p:nvPr/>
        </p:nvPicPr>
        <p:blipFill>
          <a:blip r:embed="rId4">
            <a:extLst>
              <a:ext uri="{28A0092B-C50C-407E-A947-70E740481C1C}">
                <a14:useLocalDpi xmlns:a14="http://schemas.microsoft.com/office/drawing/2010/main" val="0"/>
              </a:ext>
            </a:extLst>
          </a:blip>
          <a:srcRect/>
          <a:stretch>
            <a:fillRect/>
          </a:stretch>
        </p:blipFill>
        <p:spPr>
          <a:xfrm>
            <a:off x="8450580" y="4895215"/>
            <a:ext cx="3488690" cy="1413510"/>
          </a:xfrm>
          <a:prstGeom prst="rect">
            <a:avLst/>
          </a:prstGeom>
          <a:noFill/>
          <a:ln w="9525" cmpd="sng">
            <a:solidFill>
              <a:srgbClr val="000000"/>
            </a:solid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3</a:t>
            </a:r>
            <a:r>
              <a:rPr altLang="en-US" dirty="0"/>
              <a:t>、仿射变换</a:t>
            </a:r>
            <a:endParaRPr lang="zh-CN" altLang="en-US" dirty="0"/>
          </a:p>
          <a:p>
            <a:pPr>
              <a:lnSpc>
                <a:spcPct val="150000"/>
              </a:lnSpc>
              <a:spcBef>
                <a:spcPts val="400"/>
              </a:spcBef>
              <a:spcAft>
                <a:spcPts val="0"/>
              </a:spcAft>
            </a:pPr>
            <a:r>
              <a:rPr altLang="en-US">
                <a:sym typeface="+mn-ea"/>
              </a:rPr>
              <a:t>仿射变换可以写为如下形式：</a:t>
            </a:r>
          </a:p>
          <a:p>
            <a:pPr>
              <a:lnSpc>
                <a:spcPct val="150000"/>
              </a:lnSpc>
              <a:spcBef>
                <a:spcPts val="400"/>
              </a:spcBef>
              <a:spcAft>
                <a:spcPts val="0"/>
              </a:spcAft>
            </a:pPr>
            <a:endParaRPr altLang="en-US">
              <a:sym typeface="+mn-ea"/>
            </a:endParaRPr>
          </a:p>
          <a:p>
            <a:pPr>
              <a:lnSpc>
                <a:spcPct val="150000"/>
              </a:lnSpc>
              <a:spcBef>
                <a:spcPts val="400"/>
              </a:spcBef>
              <a:spcAft>
                <a:spcPts val="0"/>
              </a:spcAft>
            </a:pPr>
            <a:endParaRPr altLang="en-US">
              <a:sym typeface="+mn-ea"/>
            </a:endParaRPr>
          </a:p>
          <a:p>
            <a:pPr>
              <a:lnSpc>
                <a:spcPct val="150000"/>
              </a:lnSpc>
              <a:spcBef>
                <a:spcPts val="400"/>
              </a:spcBef>
              <a:spcAft>
                <a:spcPts val="0"/>
              </a:spcAft>
            </a:pPr>
            <a:r>
              <a:rPr altLang="en-US">
                <a:sym typeface="+mn-ea"/>
              </a:rPr>
              <a:t>仿射变换的实质是向量空间中进行一次线性变换并加上一个平移，变换为另一个向量空间的过程</a:t>
            </a:r>
          </a:p>
          <a:p>
            <a:pPr>
              <a:lnSpc>
                <a:spcPct val="150000"/>
              </a:lnSpc>
              <a:spcBef>
                <a:spcPts val="400"/>
              </a:spcBef>
              <a:spcAft>
                <a:spcPts val="0"/>
              </a:spcAft>
            </a:pPr>
            <a:r>
              <a:rPr altLang="en-US">
                <a:sym typeface="+mn-ea"/>
              </a:rPr>
              <a:t>仿射变换矩阵如下：</a:t>
            </a:r>
          </a:p>
        </p:txBody>
      </p:sp>
      <p:pic>
        <p:nvPicPr>
          <p:cNvPr id="5" name="图片 4"/>
          <p:cNvPicPr>
            <a:picLocks noChangeAspect="1"/>
          </p:cNvPicPr>
          <p:nvPr/>
        </p:nvPicPr>
        <p:blipFill>
          <a:blip r:embed="rId2"/>
          <a:stretch>
            <a:fillRect/>
          </a:stretch>
        </p:blipFill>
        <p:spPr>
          <a:xfrm>
            <a:off x="3663315" y="1562100"/>
            <a:ext cx="2476500" cy="1171575"/>
          </a:xfrm>
          <a:prstGeom prst="rect">
            <a:avLst/>
          </a:prstGeom>
        </p:spPr>
      </p:pic>
      <p:pic>
        <p:nvPicPr>
          <p:cNvPr id="6" name="图片 5"/>
          <p:cNvPicPr>
            <a:picLocks noChangeAspect="1"/>
          </p:cNvPicPr>
          <p:nvPr/>
        </p:nvPicPr>
        <p:blipFill>
          <a:blip r:embed="rId3"/>
          <a:stretch>
            <a:fillRect/>
          </a:stretch>
        </p:blipFill>
        <p:spPr>
          <a:xfrm>
            <a:off x="3878580" y="4138295"/>
            <a:ext cx="2428875" cy="15811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6448" y="203708"/>
            <a:ext cx="11119104" cy="640080"/>
          </a:xfrm>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830580"/>
            <a:ext cx="11426825" cy="5544820"/>
          </a:xfrm>
        </p:spPr>
        <p:txBody>
          <a:bodyPr/>
          <a:lstStyle/>
          <a:p>
            <a:pPr>
              <a:lnSpc>
                <a:spcPct val="150000"/>
              </a:lnSpc>
              <a:spcBef>
                <a:spcPts val="400"/>
              </a:spcBef>
              <a:spcAft>
                <a:spcPts val="0"/>
              </a:spcAft>
            </a:pPr>
            <a:r>
              <a:rPr lang="en-US" altLang="zh-CN" dirty="0"/>
              <a:t>4</a:t>
            </a:r>
            <a:r>
              <a:rPr altLang="en-US" dirty="0"/>
              <a:t>、仿射变换</a:t>
            </a:r>
            <a:endParaRPr lang="zh-CN" altLang="en-US" dirty="0"/>
          </a:p>
          <a:p>
            <a:pPr>
              <a:lnSpc>
                <a:spcPct val="150000"/>
              </a:lnSpc>
              <a:spcBef>
                <a:spcPts val="400"/>
              </a:spcBef>
              <a:spcAft>
                <a:spcPts val="0"/>
              </a:spcAft>
            </a:pPr>
            <a:r>
              <a:rPr lang="en-US" altLang="zh-CN" dirty="0"/>
              <a:t>OpenCV</a:t>
            </a:r>
            <a:r>
              <a:rPr altLang="en-US" dirty="0"/>
              <a:t>中实现图像仿射变换的方法：</a:t>
            </a:r>
          </a:p>
          <a:p>
            <a:pPr>
              <a:lnSpc>
                <a:spcPct val="150000"/>
              </a:lnSpc>
              <a:spcBef>
                <a:spcPts val="400"/>
              </a:spcBef>
              <a:spcAft>
                <a:spcPts val="0"/>
              </a:spcAft>
            </a:pPr>
            <a:r>
              <a:rPr altLang="en-US" dirty="0"/>
              <a:t>函数：cv2.warpAffine()</a:t>
            </a:r>
          </a:p>
          <a:p>
            <a:pPr>
              <a:lnSpc>
                <a:spcPct val="150000"/>
              </a:lnSpc>
              <a:spcBef>
                <a:spcPts val="400"/>
              </a:spcBef>
              <a:spcAft>
                <a:spcPts val="0"/>
              </a:spcAft>
            </a:pPr>
            <a:r>
              <a:rPr altLang="en-US" dirty="0"/>
              <a:t>格式：</a:t>
            </a:r>
            <a:r>
              <a:rPr altLang="en-US">
                <a:sym typeface="+mn-ea"/>
              </a:rPr>
              <a:t>dst=cv2.warpAffine(src,M,dsize[,dst[,flags[,borderMode[,borderValue]]]])</a:t>
            </a:r>
            <a:endParaRPr altLang="en-US" dirty="0"/>
          </a:p>
          <a:p>
            <a:pPr>
              <a:lnSpc>
                <a:spcPct val="150000"/>
              </a:lnSpc>
              <a:spcBef>
                <a:spcPts val="400"/>
              </a:spcBef>
              <a:spcAft>
                <a:spcPts val="0"/>
              </a:spcAft>
            </a:pPr>
            <a:r>
              <a:rPr altLang="en-US" dirty="0"/>
              <a:t>参数说明：</a:t>
            </a:r>
          </a:p>
          <a:p>
            <a:pPr marL="285750" indent="-285750">
              <a:lnSpc>
                <a:spcPct val="150000"/>
              </a:lnSpc>
              <a:spcBef>
                <a:spcPts val="400"/>
              </a:spcBef>
              <a:spcAft>
                <a:spcPts val="0"/>
              </a:spcAft>
            </a:pPr>
            <a:r>
              <a:rPr altLang="en-US">
                <a:sym typeface="+mn-ea"/>
              </a:rPr>
              <a:t>src：输入图像</a:t>
            </a:r>
          </a:p>
          <a:p>
            <a:pPr marL="285750" indent="-285750">
              <a:lnSpc>
                <a:spcPct val="150000"/>
              </a:lnSpc>
              <a:spcBef>
                <a:spcPts val="400"/>
              </a:spcBef>
              <a:spcAft>
                <a:spcPts val="0"/>
              </a:spcAft>
            </a:pPr>
            <a:r>
              <a:rPr altLang="en-US">
                <a:sym typeface="+mn-ea"/>
              </a:rPr>
              <a:t>dst：输出图像，其大小为dsize</a:t>
            </a:r>
          </a:p>
          <a:p>
            <a:pPr marL="285750" indent="-285750">
              <a:lnSpc>
                <a:spcPct val="150000"/>
              </a:lnSpc>
              <a:spcBef>
                <a:spcPts val="400"/>
              </a:spcBef>
              <a:spcAft>
                <a:spcPts val="0"/>
              </a:spcAft>
            </a:pPr>
            <a:r>
              <a:rPr lang="en-US" altLang="zh-CN">
                <a:sym typeface="+mn-ea"/>
              </a:rPr>
              <a:t>M</a:t>
            </a:r>
            <a:r>
              <a:rPr altLang="en-US">
                <a:sym typeface="+mn-ea"/>
              </a:rPr>
              <a:t>：一个大小为2×3的转换矩阵，使用不同的转换矩阵可实现平移、旋转等多种操作。</a:t>
            </a:r>
          </a:p>
          <a:p>
            <a:pPr marL="285750" indent="-285750">
              <a:lnSpc>
                <a:spcPct val="150000"/>
              </a:lnSpc>
              <a:spcBef>
                <a:spcPts val="400"/>
              </a:spcBef>
              <a:spcAft>
                <a:spcPts val="0"/>
              </a:spcAft>
            </a:pPr>
            <a:r>
              <a:rPr altLang="en-US">
                <a:sym typeface="+mn-ea"/>
              </a:rPr>
              <a:t>dsize：输出图像的大小。</a:t>
            </a:r>
          </a:p>
          <a:p>
            <a:pPr marL="285750" indent="-285750">
              <a:lnSpc>
                <a:spcPct val="150000"/>
              </a:lnSpc>
              <a:spcBef>
                <a:spcPts val="400"/>
              </a:spcBef>
              <a:spcAft>
                <a:spcPts val="0"/>
              </a:spcAft>
            </a:pPr>
            <a:r>
              <a:rPr altLang="en-US">
                <a:sym typeface="+mn-ea"/>
              </a:rPr>
              <a:t>borderMode:边界像素模式（int 类型）</a:t>
            </a:r>
          </a:p>
          <a:p>
            <a:pPr marL="285750" indent="-285750">
              <a:lnSpc>
                <a:spcPct val="150000"/>
              </a:lnSpc>
              <a:spcBef>
                <a:spcPts val="400"/>
              </a:spcBef>
              <a:spcAft>
                <a:spcPts val="0"/>
              </a:spcAft>
            </a:pPr>
            <a:r>
              <a:rPr altLang="en-US">
                <a:sym typeface="+mn-ea"/>
              </a:rPr>
              <a:t>borderValue:边界填充值; 默认情况下，它为0</a:t>
            </a:r>
          </a:p>
          <a:p>
            <a:pPr marL="285750" indent="-285750">
              <a:lnSpc>
                <a:spcPct val="150000"/>
              </a:lnSpc>
              <a:spcBef>
                <a:spcPts val="400"/>
              </a:spcBef>
              <a:spcAft>
                <a:spcPts val="0"/>
              </a:spcAft>
            </a:pPr>
            <a:r>
              <a:rPr altLang="en-US">
                <a:sym typeface="+mn-ea"/>
              </a:rPr>
              <a:t>flages:表示插值方式，默认为 flags=cv2.INTER_LINEAR，表示线性插值，cv2.INTER_NEAREST为最近邻插值，cv2.INTER_AREA为区域插值，cv2.INTER_CUBIC为三次样条插值，cv2.INTER_LANCAOS4为Lanczos插值</a:t>
            </a:r>
          </a:p>
          <a:p>
            <a:pPr marL="285750" indent="-285750">
              <a:lnSpc>
                <a:spcPct val="150000"/>
              </a:lnSpc>
              <a:spcBef>
                <a:spcPts val="400"/>
              </a:spcBef>
              <a:spcAft>
                <a:spcPts val="0"/>
              </a:spcAft>
            </a:pPr>
            <a:endParaRPr altLang="en-US">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433705" y="1135380"/>
            <a:ext cx="11426825" cy="5544820"/>
          </a:xfrm>
        </p:spPr>
        <p:txBody>
          <a:bodyPr/>
          <a:lstStyle/>
          <a:p>
            <a:pPr>
              <a:lnSpc>
                <a:spcPct val="150000"/>
              </a:lnSpc>
              <a:spcBef>
                <a:spcPts val="400"/>
              </a:spcBef>
              <a:spcAft>
                <a:spcPts val="0"/>
              </a:spcAft>
            </a:pPr>
            <a:r>
              <a:rPr lang="en-US" altLang="zh-CN" dirty="0"/>
              <a:t>4</a:t>
            </a:r>
            <a:r>
              <a:rPr altLang="en-US" dirty="0"/>
              <a:t>、仿射变换</a:t>
            </a:r>
            <a:endParaRPr lang="zh-CN" altLang="en-US" dirty="0"/>
          </a:p>
          <a:p>
            <a:pPr marL="285750" indent="-285750">
              <a:lnSpc>
                <a:spcPct val="150000"/>
              </a:lnSpc>
              <a:spcBef>
                <a:spcPts val="400"/>
              </a:spcBef>
              <a:spcAft>
                <a:spcPts val="0"/>
              </a:spcAft>
            </a:pPr>
            <a:r>
              <a:rPr altLang="en-US">
                <a:sym typeface="+mn-ea"/>
              </a:rPr>
              <a:t>仿射函数cv2.warpAffine，通过一个变换矩阵（映射矩阵）M，实现变换，具体为：</a:t>
            </a:r>
          </a:p>
          <a:p>
            <a:pPr marL="285750" indent="-285750">
              <a:lnSpc>
                <a:spcPct val="150000"/>
              </a:lnSpc>
              <a:spcBef>
                <a:spcPts val="400"/>
              </a:spcBef>
              <a:spcAft>
                <a:spcPts val="0"/>
              </a:spcAft>
            </a:pPr>
            <a:r>
              <a:rPr altLang="en-US">
                <a:sym typeface="+mn-ea"/>
              </a:rPr>
              <a:t>dst(x,y)=src(M11x+M12y+M13,M21x+M22y+M23)</a:t>
            </a:r>
          </a:p>
          <a:p>
            <a:pPr marL="285750" indent="-285750">
              <a:lnSpc>
                <a:spcPct val="150000"/>
              </a:lnSpc>
              <a:spcBef>
                <a:spcPts val="400"/>
              </a:spcBef>
              <a:spcAft>
                <a:spcPts val="0"/>
              </a:spcAft>
            </a:pPr>
            <a:r>
              <a:rPr altLang="en-US">
                <a:sym typeface="+mn-ea"/>
              </a:rPr>
              <a:t>进行何种形式的仿射变换完全取决于转换矩阵M</a:t>
            </a:r>
          </a:p>
          <a:p>
            <a:pPr marL="285750" indent="-285750">
              <a:lnSpc>
                <a:spcPct val="150000"/>
              </a:lnSpc>
              <a:spcBef>
                <a:spcPts val="400"/>
              </a:spcBef>
              <a:spcAft>
                <a:spcPts val="0"/>
              </a:spcAft>
            </a:pPr>
            <a:r>
              <a:rPr altLang="en-US">
                <a:sym typeface="+mn-ea"/>
              </a:rPr>
              <a:t>应用案例</a:t>
            </a:r>
            <a:r>
              <a:rPr lang="en-US" altLang="zh-CN">
                <a:sym typeface="+mn-ea"/>
              </a:rPr>
              <a:t>1</a:t>
            </a:r>
            <a:r>
              <a:rPr altLang="en-US">
                <a:sym typeface="+mn-ea"/>
              </a:rPr>
              <a:t>：将原图像水平方向向右平移100个像素，垂直方向向下平移50个像素</a:t>
            </a:r>
          </a:p>
          <a:p>
            <a:pPr marL="285750" indent="-285750">
              <a:lnSpc>
                <a:spcPct val="150000"/>
              </a:lnSpc>
              <a:spcBef>
                <a:spcPts val="400"/>
              </a:spcBef>
              <a:spcAft>
                <a:spcPts val="0"/>
              </a:spcAft>
            </a:pPr>
            <a:r>
              <a:rPr altLang="en-US">
                <a:sym typeface="+mn-ea"/>
              </a:rPr>
              <a:t>通过转换矩阵M实现将原始图像src转换为目标图像dst：</a:t>
            </a:r>
          </a:p>
          <a:p>
            <a:pPr marL="285750" indent="-285750">
              <a:lnSpc>
                <a:spcPct val="150000"/>
              </a:lnSpc>
              <a:spcBef>
                <a:spcPts val="400"/>
              </a:spcBef>
              <a:spcAft>
                <a:spcPts val="0"/>
              </a:spcAft>
            </a:pPr>
            <a:r>
              <a:rPr altLang="en-US">
                <a:sym typeface="+mn-ea"/>
              </a:rPr>
              <a:t>dst(x,y)=src(M11x+M12y+M13,M21x+M22y+M23)</a:t>
            </a:r>
          </a:p>
          <a:p>
            <a:pPr marL="285750" indent="-285750">
              <a:lnSpc>
                <a:spcPct val="150000"/>
              </a:lnSpc>
              <a:spcBef>
                <a:spcPts val="400"/>
              </a:spcBef>
              <a:spcAft>
                <a:spcPts val="0"/>
              </a:spcAft>
            </a:pPr>
            <a:r>
              <a:rPr altLang="en-US">
                <a:sym typeface="+mn-ea"/>
              </a:rPr>
              <a:t>将原始图像src向右移动100个像素，向下移动50个像素，则有对应关系：</a:t>
            </a:r>
          </a:p>
          <a:p>
            <a:pPr marL="285750" indent="-285750">
              <a:lnSpc>
                <a:spcPct val="150000"/>
              </a:lnSpc>
              <a:spcBef>
                <a:spcPts val="400"/>
              </a:spcBef>
              <a:spcAft>
                <a:spcPts val="0"/>
              </a:spcAft>
            </a:pPr>
            <a:r>
              <a:rPr altLang="en-US">
                <a:sym typeface="+mn-ea"/>
              </a:rPr>
              <a:t>dst(x,y)=src(x+100,y+50)，将上述表达式补充完整，即：</a:t>
            </a:r>
          </a:p>
          <a:p>
            <a:pPr marL="285750" indent="-285750">
              <a:lnSpc>
                <a:spcPct val="150000"/>
              </a:lnSpc>
              <a:spcBef>
                <a:spcPts val="400"/>
              </a:spcBef>
              <a:spcAft>
                <a:spcPts val="0"/>
              </a:spcAft>
            </a:pPr>
            <a:r>
              <a:rPr altLang="en-US">
                <a:sym typeface="+mn-ea"/>
              </a:rPr>
              <a:t>dst(x,y)=src(1*x+0*y+100,0*x+1*y+50),因此</a:t>
            </a:r>
          </a:p>
          <a:p>
            <a:pPr marL="285750" indent="-285750">
              <a:lnSpc>
                <a:spcPct val="150000"/>
              </a:lnSpc>
              <a:spcBef>
                <a:spcPts val="400"/>
              </a:spcBef>
              <a:spcAft>
                <a:spcPts val="0"/>
              </a:spcAft>
            </a:pPr>
            <a:endParaRPr altLang="en-US">
              <a:sym typeface="+mn-ea"/>
            </a:endParaRPr>
          </a:p>
        </p:txBody>
      </p:sp>
      <p:pic>
        <p:nvPicPr>
          <p:cNvPr id="6" name="图片 5"/>
          <p:cNvPicPr>
            <a:picLocks noChangeAspect="1"/>
          </p:cNvPicPr>
          <p:nvPr/>
        </p:nvPicPr>
        <p:blipFill>
          <a:blip r:embed="rId2"/>
          <a:stretch>
            <a:fillRect/>
          </a:stretch>
        </p:blipFill>
        <p:spPr>
          <a:xfrm>
            <a:off x="5570220" y="5530342"/>
            <a:ext cx="1885950" cy="84772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4</a:t>
            </a:r>
            <a:r>
              <a:rPr altLang="en-US" dirty="0"/>
              <a:t>、仿射变换</a:t>
            </a:r>
            <a:endParaRPr lang="zh-CN" altLang="en-US" dirty="0"/>
          </a:p>
          <a:p>
            <a:pPr marL="285750" indent="-285750">
              <a:lnSpc>
                <a:spcPct val="150000"/>
              </a:lnSpc>
              <a:spcBef>
                <a:spcPts val="400"/>
              </a:spcBef>
              <a:spcAft>
                <a:spcPts val="0"/>
              </a:spcAft>
            </a:pPr>
            <a:r>
              <a:rPr altLang="en-US">
                <a:sym typeface="+mn-ea"/>
              </a:rPr>
              <a:t>代码：</a:t>
            </a:r>
          </a:p>
        </p:txBody>
      </p:sp>
      <p:pic>
        <p:nvPicPr>
          <p:cNvPr id="4" name="图片 3"/>
          <p:cNvPicPr>
            <a:picLocks noChangeAspect="1"/>
          </p:cNvPicPr>
          <p:nvPr/>
        </p:nvPicPr>
        <p:blipFill>
          <a:blip r:embed="rId2"/>
          <a:stretch>
            <a:fillRect/>
          </a:stretch>
        </p:blipFill>
        <p:spPr>
          <a:xfrm>
            <a:off x="665480" y="2277110"/>
            <a:ext cx="4152900" cy="2743200"/>
          </a:xfrm>
          <a:prstGeom prst="rect">
            <a:avLst/>
          </a:prstGeom>
        </p:spPr>
      </p:pic>
      <p:pic>
        <p:nvPicPr>
          <p:cNvPr id="9" name="图片 8"/>
          <p:cNvPicPr>
            <a:picLocks noChangeAspect="1"/>
          </p:cNvPicPr>
          <p:nvPr/>
        </p:nvPicPr>
        <p:blipFill>
          <a:blip r:embed="rId3"/>
          <a:stretch>
            <a:fillRect/>
          </a:stretch>
        </p:blipFill>
        <p:spPr>
          <a:xfrm>
            <a:off x="6747137" y="1207008"/>
            <a:ext cx="3408291" cy="2622290"/>
          </a:xfrm>
          <a:prstGeom prst="rect">
            <a:avLst/>
          </a:prstGeom>
        </p:spPr>
      </p:pic>
      <p:pic>
        <p:nvPicPr>
          <p:cNvPr id="10" name="图片 9"/>
          <p:cNvPicPr>
            <a:picLocks noChangeAspect="1"/>
          </p:cNvPicPr>
          <p:nvPr/>
        </p:nvPicPr>
        <p:blipFill>
          <a:blip r:embed="rId4"/>
          <a:stretch>
            <a:fillRect/>
          </a:stretch>
        </p:blipFill>
        <p:spPr>
          <a:xfrm>
            <a:off x="6747137" y="4026112"/>
            <a:ext cx="3408291" cy="264591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4</a:t>
            </a:r>
            <a:r>
              <a:rPr altLang="en-US" dirty="0"/>
              <a:t>、仿射变换</a:t>
            </a:r>
            <a:endParaRPr lang="zh-CN" altLang="en-US" dirty="0"/>
          </a:p>
          <a:p>
            <a:pPr marL="285750" indent="-285750">
              <a:lnSpc>
                <a:spcPct val="150000"/>
              </a:lnSpc>
              <a:spcBef>
                <a:spcPts val="400"/>
              </a:spcBef>
              <a:spcAft>
                <a:spcPts val="0"/>
              </a:spcAft>
            </a:pPr>
            <a:r>
              <a:rPr altLang="en-US">
                <a:sym typeface="+mn-ea"/>
              </a:rPr>
              <a:t>应用案例</a:t>
            </a:r>
            <a:r>
              <a:rPr lang="en-US" altLang="zh-CN">
                <a:sym typeface="+mn-ea"/>
              </a:rPr>
              <a:t>2</a:t>
            </a:r>
            <a:r>
              <a:rPr altLang="en-US">
                <a:sym typeface="+mn-ea"/>
              </a:rPr>
              <a:t>：利用cv2.getAffineTransform</a:t>
            </a:r>
            <a:r>
              <a:rPr lang="en-US" altLang="zh-CN">
                <a:sym typeface="+mn-ea"/>
              </a:rPr>
              <a:t>()</a:t>
            </a:r>
            <a:r>
              <a:rPr altLang="en-US">
                <a:sym typeface="+mn-ea"/>
              </a:rPr>
              <a:t>函数构造仿射变换矩阵</a:t>
            </a:r>
          </a:p>
          <a:p>
            <a:pPr fontAlgn="auto">
              <a:lnSpc>
                <a:spcPct val="150000"/>
              </a:lnSpc>
              <a:spcBef>
                <a:spcPts val="400"/>
              </a:spcBef>
              <a:spcAft>
                <a:spcPts val="0"/>
              </a:spcAft>
            </a:pPr>
            <a:r>
              <a:rPr altLang="en-US">
                <a:sym typeface="+mn-ea"/>
              </a:rPr>
              <a:t>cv2.getAffineTransform</a:t>
            </a:r>
            <a:r>
              <a:rPr lang="en-US" altLang="zh-CN">
                <a:sym typeface="+mn-ea"/>
              </a:rPr>
              <a:t>()</a:t>
            </a:r>
            <a:r>
              <a:rPr altLang="en-US">
                <a:sym typeface="+mn-ea"/>
              </a:rPr>
              <a:t>：由于仿射变换较为复杂，一般很难找出这个矩阵</a:t>
            </a:r>
            <a:r>
              <a:rPr lang="en-US" altLang="zh-CN">
                <a:sym typeface="+mn-ea"/>
              </a:rPr>
              <a:t>M</a:t>
            </a:r>
            <a:r>
              <a:rPr altLang="en-US">
                <a:sym typeface="+mn-ea"/>
              </a:rPr>
              <a:t>，该函数通过找原图像中三个点的坐标和变换图像的相应三个点坐标，创建一个2X3的矩阵。</a:t>
            </a:r>
          </a:p>
          <a:p>
            <a:pPr marL="285750" indent="-285750">
              <a:lnSpc>
                <a:spcPct val="150000"/>
              </a:lnSpc>
              <a:spcBef>
                <a:spcPts val="400"/>
              </a:spcBef>
              <a:spcAft>
                <a:spcPts val="0"/>
              </a:spcAft>
            </a:pPr>
            <a:r>
              <a:rPr altLang="en-US">
                <a:sym typeface="+mn-ea"/>
              </a:rPr>
              <a:t>格式：cv2.getAffineTransform</a:t>
            </a:r>
            <a:r>
              <a:rPr lang="en-US" altLang="zh-CN">
                <a:sym typeface="+mn-ea"/>
              </a:rPr>
              <a:t>(pts1, pts2)</a:t>
            </a:r>
          </a:p>
          <a:p>
            <a:pPr marL="285750" indent="-285750">
              <a:lnSpc>
                <a:spcPct val="150000"/>
              </a:lnSpc>
              <a:spcBef>
                <a:spcPts val="400"/>
              </a:spcBef>
              <a:spcAft>
                <a:spcPts val="0"/>
              </a:spcAft>
            </a:pPr>
            <a:r>
              <a:rPr lang="en-US" altLang="zh-CN">
                <a:sym typeface="+mn-ea"/>
              </a:rPr>
              <a:t>pts1</a:t>
            </a:r>
            <a:r>
              <a:rPr altLang="en-US">
                <a:sym typeface="+mn-ea"/>
              </a:rPr>
              <a:t>：原图像三个点的坐标</a:t>
            </a:r>
          </a:p>
          <a:p>
            <a:pPr marL="285750" indent="-285750">
              <a:lnSpc>
                <a:spcPct val="150000"/>
              </a:lnSpc>
              <a:spcBef>
                <a:spcPts val="400"/>
              </a:spcBef>
              <a:spcAft>
                <a:spcPts val="0"/>
              </a:spcAft>
            </a:pPr>
            <a:r>
              <a:rPr lang="en-US" altLang="zh-CN">
                <a:sym typeface="+mn-ea"/>
              </a:rPr>
              <a:t>pts2</a:t>
            </a:r>
            <a:r>
              <a:rPr altLang="en-US">
                <a:sym typeface="+mn-ea"/>
              </a:rPr>
              <a:t>：原图像三个点在变换后的坐标</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4</a:t>
            </a:r>
            <a:r>
              <a:rPr altLang="en-US" dirty="0"/>
              <a:t>、仿射变换</a:t>
            </a:r>
            <a:endParaRPr lang="zh-CN" altLang="en-US" dirty="0"/>
          </a:p>
          <a:p>
            <a:pPr marL="285750" indent="-285750">
              <a:lnSpc>
                <a:spcPct val="150000"/>
              </a:lnSpc>
              <a:spcBef>
                <a:spcPts val="400"/>
              </a:spcBef>
              <a:spcAft>
                <a:spcPts val="0"/>
              </a:spcAft>
            </a:pPr>
            <a:r>
              <a:rPr altLang="en-US">
                <a:sym typeface="+mn-ea"/>
              </a:rPr>
              <a:t>应用案例</a:t>
            </a:r>
            <a:r>
              <a:rPr lang="en-US" altLang="zh-CN">
                <a:sym typeface="+mn-ea"/>
              </a:rPr>
              <a:t>2</a:t>
            </a:r>
            <a:r>
              <a:rPr altLang="en-US">
                <a:sym typeface="+mn-ea"/>
              </a:rPr>
              <a:t>：利用cv2.getAffineTransform</a:t>
            </a:r>
            <a:r>
              <a:rPr lang="en-US" altLang="zh-CN">
                <a:sym typeface="+mn-ea"/>
              </a:rPr>
              <a:t>()</a:t>
            </a:r>
            <a:r>
              <a:rPr altLang="en-US">
                <a:sym typeface="+mn-ea"/>
              </a:rPr>
              <a:t>函数构造仿射变换矩阵</a:t>
            </a:r>
          </a:p>
          <a:p>
            <a:pPr marL="285750" indent="-285750">
              <a:lnSpc>
                <a:spcPct val="150000"/>
              </a:lnSpc>
              <a:spcBef>
                <a:spcPts val="400"/>
              </a:spcBef>
              <a:spcAft>
                <a:spcPts val="0"/>
              </a:spcAft>
            </a:pPr>
            <a:r>
              <a:rPr altLang="en-US">
                <a:sym typeface="+mn-ea"/>
              </a:rPr>
              <a:t>代码：</a:t>
            </a:r>
          </a:p>
        </p:txBody>
      </p:sp>
      <p:pic>
        <p:nvPicPr>
          <p:cNvPr id="7" name="图片 6"/>
          <p:cNvPicPr>
            <a:picLocks noChangeAspect="1"/>
          </p:cNvPicPr>
          <p:nvPr/>
        </p:nvPicPr>
        <p:blipFill>
          <a:blip r:embed="rId2"/>
          <a:stretch>
            <a:fillRect/>
          </a:stretch>
        </p:blipFill>
        <p:spPr>
          <a:xfrm>
            <a:off x="521335" y="2616835"/>
            <a:ext cx="6896100" cy="3152775"/>
          </a:xfrm>
          <a:prstGeom prst="rect">
            <a:avLst/>
          </a:prstGeom>
        </p:spPr>
      </p:pic>
      <p:pic>
        <p:nvPicPr>
          <p:cNvPr id="8" name="图片 7"/>
          <p:cNvPicPr>
            <a:picLocks noChangeAspect="1"/>
          </p:cNvPicPr>
          <p:nvPr/>
        </p:nvPicPr>
        <p:blipFill>
          <a:blip r:embed="rId3"/>
          <a:stretch>
            <a:fillRect/>
          </a:stretch>
        </p:blipFill>
        <p:spPr>
          <a:xfrm>
            <a:off x="8354259" y="1583242"/>
            <a:ext cx="2517106" cy="1936625"/>
          </a:xfrm>
          <a:prstGeom prst="rect">
            <a:avLst/>
          </a:prstGeom>
        </p:spPr>
      </p:pic>
      <p:pic>
        <p:nvPicPr>
          <p:cNvPr id="9" name="图片 8"/>
          <p:cNvPicPr>
            <a:picLocks noChangeAspect="1"/>
          </p:cNvPicPr>
          <p:nvPr/>
        </p:nvPicPr>
        <p:blipFill>
          <a:blip r:embed="rId4"/>
          <a:stretch>
            <a:fillRect/>
          </a:stretch>
        </p:blipFill>
        <p:spPr>
          <a:xfrm>
            <a:off x="8354259" y="4322545"/>
            <a:ext cx="2571161" cy="200472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5</a:t>
            </a:r>
            <a:r>
              <a:rPr altLang="en-US" dirty="0"/>
              <a:t>、透视变换</a:t>
            </a:r>
          </a:p>
          <a:p>
            <a:pPr>
              <a:lnSpc>
                <a:spcPct val="150000"/>
              </a:lnSpc>
              <a:spcBef>
                <a:spcPts val="400"/>
              </a:spcBef>
              <a:spcAft>
                <a:spcPts val="0"/>
              </a:spcAft>
            </a:pPr>
            <a:r>
              <a:rPr altLang="en-US">
                <a:sym typeface="+mn-ea"/>
              </a:rPr>
              <a:t>透视变换(Perspective Transformation)是仿射变换的一种非线性扩展,是将图片投影到一个新的视平面(Viewing Plane)，也称作投影映射(Projective Mapping)。</a:t>
            </a:r>
          </a:p>
          <a:p>
            <a:pPr>
              <a:lnSpc>
                <a:spcPct val="150000"/>
              </a:lnSpc>
              <a:spcBef>
                <a:spcPts val="400"/>
              </a:spcBef>
              <a:spcAft>
                <a:spcPts val="0"/>
              </a:spcAft>
            </a:pPr>
            <a:r>
              <a:rPr altLang="en-US">
                <a:sym typeface="+mn-ea"/>
              </a:rPr>
              <a:t>原理：将二维的图片投影到一个三维视平面上，然后再转换到二维坐标下，所以也称为投影映射（Projective Mapping）。</a:t>
            </a:r>
          </a:p>
          <a:p>
            <a:pPr>
              <a:lnSpc>
                <a:spcPct val="150000"/>
              </a:lnSpc>
              <a:spcBef>
                <a:spcPts val="400"/>
              </a:spcBef>
              <a:spcAft>
                <a:spcPts val="0"/>
              </a:spcAft>
            </a:pPr>
            <a:r>
              <a:rPr altLang="en-US">
                <a:sym typeface="+mn-ea"/>
              </a:rPr>
              <a:t>相对仿射变换来说，改变了直线之间的平行关系</a:t>
            </a:r>
          </a:p>
          <a:p>
            <a:pPr>
              <a:lnSpc>
                <a:spcPct val="150000"/>
              </a:lnSpc>
              <a:spcBef>
                <a:spcPts val="400"/>
              </a:spcBef>
              <a:spcAft>
                <a:spcPts val="0"/>
              </a:spcAft>
            </a:pPr>
            <a:endParaRPr altLang="en-US">
              <a:sym typeface="+mn-ea"/>
            </a:endParaRPr>
          </a:p>
          <a:p>
            <a:pPr marL="285750" indent="-285750">
              <a:lnSpc>
                <a:spcPct val="150000"/>
              </a:lnSpc>
              <a:spcBef>
                <a:spcPts val="400"/>
              </a:spcBef>
              <a:spcAft>
                <a:spcPts val="0"/>
              </a:spcAft>
            </a:pPr>
            <a:endParaRPr altLang="en-US">
              <a:sym typeface="+mn-ea"/>
            </a:endParaRPr>
          </a:p>
        </p:txBody>
      </p:sp>
      <p:pic>
        <p:nvPicPr>
          <p:cNvPr id="181" name="图片 58" descr="透视变换.jpg"/>
          <p:cNvPicPr/>
          <p:nvPr/>
        </p:nvPicPr>
        <p:blipFill>
          <a:blip r:embed="rId2">
            <a:extLst>
              <a:ext uri="{28A0092B-C50C-407E-A947-70E740481C1C}">
                <a14:useLocalDpi xmlns:a14="http://schemas.microsoft.com/office/drawing/2010/main" val="0"/>
              </a:ext>
            </a:extLst>
          </a:blip>
          <a:srcRect/>
          <a:stretch>
            <a:fillRect/>
          </a:stretch>
        </p:blipFill>
        <p:spPr>
          <a:xfrm>
            <a:off x="4176078" y="4077335"/>
            <a:ext cx="4260215" cy="1913890"/>
          </a:xfrm>
          <a:prstGeom prst="rect">
            <a:avLst/>
          </a:prstGeom>
          <a:noFill/>
          <a:ln w="9525" cmpd="sng">
            <a:solidFill>
              <a:srgbClr val="000000"/>
            </a:solid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5</a:t>
            </a:r>
            <a:r>
              <a:rPr altLang="en-US" dirty="0"/>
              <a:t>、透视变换</a:t>
            </a:r>
          </a:p>
          <a:p>
            <a:pPr>
              <a:lnSpc>
                <a:spcPct val="150000"/>
              </a:lnSpc>
              <a:spcBef>
                <a:spcPts val="400"/>
              </a:spcBef>
              <a:spcAft>
                <a:spcPts val="0"/>
              </a:spcAft>
            </a:pPr>
            <a:r>
              <a:rPr altLang="en-US">
                <a:sym typeface="+mn-ea"/>
              </a:rPr>
              <a:t>二维变换成三维，透视变换公式如下：</a:t>
            </a:r>
          </a:p>
          <a:p>
            <a:pPr>
              <a:lnSpc>
                <a:spcPct val="150000"/>
              </a:lnSpc>
              <a:spcBef>
                <a:spcPts val="400"/>
              </a:spcBef>
              <a:spcAft>
                <a:spcPts val="0"/>
              </a:spcAft>
            </a:pPr>
            <a:endParaRPr altLang="en-US">
              <a:sym typeface="+mn-ea"/>
            </a:endParaRPr>
          </a:p>
          <a:p>
            <a:pPr>
              <a:lnSpc>
                <a:spcPct val="150000"/>
              </a:lnSpc>
              <a:spcBef>
                <a:spcPts val="400"/>
              </a:spcBef>
              <a:spcAft>
                <a:spcPts val="0"/>
              </a:spcAft>
            </a:pPr>
            <a:endParaRPr altLang="en-US">
              <a:sym typeface="+mn-ea"/>
            </a:endParaRPr>
          </a:p>
          <a:p>
            <a:pPr>
              <a:lnSpc>
                <a:spcPct val="150000"/>
              </a:lnSpc>
              <a:spcBef>
                <a:spcPts val="400"/>
              </a:spcBef>
              <a:spcAft>
                <a:spcPts val="0"/>
              </a:spcAft>
            </a:pPr>
            <a:r>
              <a:rPr altLang="en-US">
                <a:sym typeface="+mn-ea"/>
              </a:rPr>
              <a:t>透视变换矩阵：</a:t>
            </a:r>
          </a:p>
          <a:p>
            <a:pPr>
              <a:lnSpc>
                <a:spcPct val="150000"/>
              </a:lnSpc>
              <a:spcBef>
                <a:spcPts val="400"/>
              </a:spcBef>
              <a:spcAft>
                <a:spcPts val="0"/>
              </a:spcAft>
            </a:pPr>
            <a:endParaRPr altLang="en-US">
              <a:sym typeface="+mn-ea"/>
            </a:endParaRPr>
          </a:p>
          <a:p>
            <a:pPr>
              <a:lnSpc>
                <a:spcPct val="150000"/>
              </a:lnSpc>
              <a:spcBef>
                <a:spcPts val="400"/>
              </a:spcBef>
              <a:spcAft>
                <a:spcPts val="0"/>
              </a:spcAft>
            </a:pPr>
            <a:endParaRPr altLang="en-US">
              <a:sym typeface="+mn-ea"/>
            </a:endParaRPr>
          </a:p>
          <a:p>
            <a:pPr>
              <a:lnSpc>
                <a:spcPct val="150000"/>
              </a:lnSpc>
              <a:spcBef>
                <a:spcPts val="400"/>
              </a:spcBef>
              <a:spcAft>
                <a:spcPts val="0"/>
              </a:spcAft>
            </a:pPr>
            <a:endParaRPr altLang="en-US">
              <a:sym typeface="+mn-ea"/>
            </a:endParaRPr>
          </a:p>
          <a:p>
            <a:pPr>
              <a:lnSpc>
                <a:spcPct val="150000"/>
              </a:lnSpc>
              <a:spcBef>
                <a:spcPts val="400"/>
              </a:spcBef>
              <a:spcAft>
                <a:spcPts val="0"/>
              </a:spcAft>
            </a:pPr>
            <a:r>
              <a:rPr altLang="en-US">
                <a:sym typeface="+mn-ea"/>
              </a:rPr>
              <a:t>三维变换成二维：</a:t>
            </a:r>
          </a:p>
          <a:p>
            <a:pPr marL="285750" indent="-285750">
              <a:lnSpc>
                <a:spcPct val="150000"/>
              </a:lnSpc>
              <a:spcBef>
                <a:spcPts val="400"/>
              </a:spcBef>
              <a:spcAft>
                <a:spcPts val="0"/>
              </a:spcAft>
            </a:pPr>
            <a:endParaRPr altLang="en-US">
              <a:sym typeface="+mn-ea"/>
            </a:endParaRPr>
          </a:p>
        </p:txBody>
      </p:sp>
      <p:pic>
        <p:nvPicPr>
          <p:cNvPr id="4" name="图片 3"/>
          <p:cNvPicPr>
            <a:picLocks noChangeAspect="1"/>
          </p:cNvPicPr>
          <p:nvPr/>
        </p:nvPicPr>
        <p:blipFill>
          <a:blip r:embed="rId2"/>
          <a:stretch>
            <a:fillRect/>
          </a:stretch>
        </p:blipFill>
        <p:spPr>
          <a:xfrm>
            <a:off x="4461510" y="1391285"/>
            <a:ext cx="2867025" cy="1724025"/>
          </a:xfrm>
          <a:prstGeom prst="rect">
            <a:avLst/>
          </a:prstGeom>
        </p:spPr>
      </p:pic>
      <p:pic>
        <p:nvPicPr>
          <p:cNvPr id="5" name="图片 4"/>
          <p:cNvPicPr>
            <a:picLocks noChangeAspect="1"/>
          </p:cNvPicPr>
          <p:nvPr/>
        </p:nvPicPr>
        <p:blipFill>
          <a:blip r:embed="rId3"/>
          <a:stretch>
            <a:fillRect/>
          </a:stretch>
        </p:blipFill>
        <p:spPr>
          <a:xfrm>
            <a:off x="4542155" y="3121660"/>
            <a:ext cx="2705100" cy="1571625"/>
          </a:xfrm>
          <a:prstGeom prst="rect">
            <a:avLst/>
          </a:prstGeom>
        </p:spPr>
      </p:pic>
      <p:pic>
        <p:nvPicPr>
          <p:cNvPr id="6" name="图片 5"/>
          <p:cNvPicPr>
            <a:picLocks noChangeAspect="1"/>
          </p:cNvPicPr>
          <p:nvPr/>
        </p:nvPicPr>
        <p:blipFill>
          <a:blip r:embed="rId4"/>
          <a:stretch>
            <a:fillRect/>
          </a:stretch>
        </p:blipFill>
        <p:spPr>
          <a:xfrm>
            <a:off x="3831590" y="4870450"/>
            <a:ext cx="3914775" cy="18097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5</a:t>
            </a:r>
            <a:r>
              <a:rPr altLang="en-US" dirty="0"/>
              <a:t>、透视变换</a:t>
            </a:r>
          </a:p>
          <a:p>
            <a:pPr fontAlgn="auto">
              <a:lnSpc>
                <a:spcPct val="150000"/>
              </a:lnSpc>
              <a:spcBef>
                <a:spcPts val="400"/>
              </a:spcBef>
              <a:spcAft>
                <a:spcPts val="0"/>
              </a:spcAft>
            </a:pPr>
            <a:r>
              <a:rPr altLang="en-US">
                <a:sym typeface="+mn-ea"/>
              </a:rPr>
              <a:t>透视变换相比仿射变换更加灵活，变换后会产生一个新的四边形，但不一定是平行四边形，需要非共线的四个点才能唯一确定</a:t>
            </a:r>
          </a:p>
          <a:p>
            <a:pPr fontAlgn="auto">
              <a:lnSpc>
                <a:spcPct val="150000"/>
              </a:lnSpc>
              <a:spcBef>
                <a:spcPts val="400"/>
              </a:spcBef>
              <a:spcAft>
                <a:spcPts val="0"/>
              </a:spcAft>
            </a:pPr>
            <a:r>
              <a:rPr altLang="en-US">
                <a:sym typeface="+mn-ea"/>
              </a:rPr>
              <a:t>变换后原图中的直线变换后依然是直线</a:t>
            </a:r>
          </a:p>
          <a:p>
            <a:pPr fontAlgn="auto">
              <a:lnSpc>
                <a:spcPct val="150000"/>
              </a:lnSpc>
              <a:spcBef>
                <a:spcPts val="400"/>
              </a:spcBef>
              <a:spcAft>
                <a:spcPts val="0"/>
              </a:spcAft>
            </a:pPr>
            <a:r>
              <a:rPr altLang="en-US">
                <a:sym typeface="+mn-ea"/>
              </a:rPr>
              <a:t>四边形包括了所有的平行四边形，所以透视变换包括了所有的仿射变换</a:t>
            </a:r>
          </a:p>
          <a:p>
            <a:pPr marL="285750" indent="-285750">
              <a:lnSpc>
                <a:spcPct val="150000"/>
              </a:lnSpc>
              <a:spcBef>
                <a:spcPts val="400"/>
              </a:spcBef>
              <a:spcAft>
                <a:spcPts val="0"/>
              </a:spcAft>
            </a:pPr>
            <a:r>
              <a:rPr lang="en-US" altLang="zh-CN">
                <a:sym typeface="+mn-ea"/>
              </a:rPr>
              <a:t>openCV</a:t>
            </a:r>
            <a:r>
              <a:rPr altLang="en-US">
                <a:sym typeface="+mn-ea"/>
              </a:rPr>
              <a:t>中实现透视变换方法：</a:t>
            </a:r>
          </a:p>
          <a:p>
            <a:pPr marL="285750" indent="-285750">
              <a:lnSpc>
                <a:spcPct val="150000"/>
              </a:lnSpc>
              <a:spcBef>
                <a:spcPts val="400"/>
              </a:spcBef>
              <a:spcAft>
                <a:spcPts val="0"/>
              </a:spcAft>
            </a:pPr>
            <a:r>
              <a:rPr altLang="en-US">
                <a:sym typeface="+mn-ea"/>
              </a:rPr>
              <a:t>首先根据变换前后的四个点用cv.getPerspectiveTransform()生成3×3的变换矩阵</a:t>
            </a:r>
          </a:p>
          <a:p>
            <a:pPr marL="285750" indent="-285750">
              <a:lnSpc>
                <a:spcPct val="150000"/>
              </a:lnSpc>
              <a:spcBef>
                <a:spcPts val="400"/>
              </a:spcBef>
              <a:spcAft>
                <a:spcPts val="0"/>
              </a:spcAft>
            </a:pPr>
            <a:r>
              <a:rPr altLang="en-US">
                <a:sym typeface="+mn-ea"/>
              </a:rPr>
              <a:t>再用cv2.warpPerspective()进行透视变换</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5</a:t>
            </a:r>
            <a:r>
              <a:rPr altLang="en-US" dirty="0"/>
              <a:t>、透视变换</a:t>
            </a:r>
          </a:p>
          <a:p>
            <a:pPr fontAlgn="auto">
              <a:lnSpc>
                <a:spcPct val="150000"/>
              </a:lnSpc>
              <a:spcBef>
                <a:spcPts val="400"/>
              </a:spcBef>
              <a:spcAft>
                <a:spcPts val="0"/>
              </a:spcAft>
            </a:pPr>
            <a:r>
              <a:rPr altLang="en-US">
                <a:solidFill>
                  <a:srgbClr val="FF0000"/>
                </a:solidFill>
                <a:sym typeface="+mn-ea"/>
              </a:rPr>
              <a:t>函数cv2.warpPerspective</a:t>
            </a:r>
            <a:r>
              <a:rPr lang="en-US" altLang="zh-CN">
                <a:solidFill>
                  <a:srgbClr val="FF0000"/>
                </a:solidFill>
                <a:sym typeface="+mn-ea"/>
              </a:rPr>
              <a:t>()</a:t>
            </a:r>
          </a:p>
          <a:p>
            <a:pPr fontAlgn="auto">
              <a:lnSpc>
                <a:spcPct val="150000"/>
              </a:lnSpc>
              <a:spcBef>
                <a:spcPts val="400"/>
              </a:spcBef>
              <a:spcAft>
                <a:spcPts val="0"/>
              </a:spcAft>
            </a:pPr>
            <a:r>
              <a:rPr altLang="en-US">
                <a:sym typeface="+mn-ea"/>
              </a:rPr>
              <a:t>格式：cv2.warpPerspective(src, M, dsize[, dst[, flags[, borderMode[, borderValue]]]])</a:t>
            </a:r>
          </a:p>
          <a:p>
            <a:pPr fontAlgn="auto">
              <a:lnSpc>
                <a:spcPct val="150000"/>
              </a:lnSpc>
              <a:spcBef>
                <a:spcPts val="400"/>
              </a:spcBef>
              <a:spcAft>
                <a:spcPts val="0"/>
              </a:spcAft>
            </a:pPr>
            <a:r>
              <a:rPr lang="en-US" altLang="zh-CN">
                <a:sym typeface="+mn-ea"/>
              </a:rPr>
              <a:t>src: </a:t>
            </a:r>
            <a:r>
              <a:rPr altLang="en-US">
                <a:sym typeface="+mn-ea"/>
              </a:rPr>
              <a:t>输入图像</a:t>
            </a:r>
          </a:p>
          <a:p>
            <a:pPr fontAlgn="auto">
              <a:lnSpc>
                <a:spcPct val="150000"/>
              </a:lnSpc>
              <a:spcBef>
                <a:spcPts val="400"/>
              </a:spcBef>
              <a:spcAft>
                <a:spcPts val="0"/>
              </a:spcAft>
            </a:pPr>
            <a:r>
              <a:rPr lang="en-US" altLang="zh-CN">
                <a:sym typeface="+mn-ea"/>
              </a:rPr>
              <a:t>M</a:t>
            </a:r>
            <a:r>
              <a:rPr altLang="en-US">
                <a:sym typeface="+mn-ea"/>
              </a:rPr>
              <a:t>：大小为3×3的转换矩阵</a:t>
            </a:r>
          </a:p>
          <a:p>
            <a:pPr fontAlgn="auto">
              <a:lnSpc>
                <a:spcPct val="150000"/>
              </a:lnSpc>
              <a:spcBef>
                <a:spcPts val="400"/>
              </a:spcBef>
              <a:spcAft>
                <a:spcPts val="0"/>
              </a:spcAft>
            </a:pPr>
            <a:r>
              <a:rPr altLang="en-US">
                <a:sym typeface="+mn-ea"/>
              </a:rPr>
              <a:t>其他参数含义与cv2.warpAffine()函数中的一致</a:t>
            </a:r>
          </a:p>
          <a:p>
            <a:pPr fontAlgn="auto">
              <a:lnSpc>
                <a:spcPct val="150000"/>
              </a:lnSpc>
              <a:spcBef>
                <a:spcPts val="400"/>
              </a:spcBef>
              <a:spcAft>
                <a:spcPts val="0"/>
              </a:spcAft>
            </a:pPr>
            <a:r>
              <a:rPr altLang="en-US">
                <a:solidFill>
                  <a:srgbClr val="FF0000"/>
                </a:solidFill>
                <a:sym typeface="+mn-ea"/>
              </a:rPr>
              <a:t>函数cv2.getPerspectiveTransform()</a:t>
            </a:r>
          </a:p>
          <a:p>
            <a:pPr algn="l" fontAlgn="auto">
              <a:lnSpc>
                <a:spcPct val="150000"/>
              </a:lnSpc>
              <a:spcBef>
                <a:spcPts val="400"/>
              </a:spcBef>
              <a:spcAft>
                <a:spcPts val="0"/>
              </a:spcAft>
              <a:buClrTx/>
              <a:buSzTx/>
            </a:pPr>
            <a:r>
              <a:rPr altLang="en-US">
                <a:sym typeface="+mn-ea"/>
              </a:rPr>
              <a:t>格式：M=cv2.getPerspectiveTransform(src,dst)</a:t>
            </a:r>
          </a:p>
          <a:p>
            <a:pPr algn="l" fontAlgn="auto">
              <a:lnSpc>
                <a:spcPct val="150000"/>
              </a:lnSpc>
              <a:spcBef>
                <a:spcPts val="400"/>
              </a:spcBef>
              <a:spcAft>
                <a:spcPts val="0"/>
              </a:spcAft>
              <a:buClrTx/>
              <a:buSzTx/>
            </a:pPr>
            <a:r>
              <a:rPr altLang="en-US">
                <a:sym typeface="+mn-ea"/>
              </a:rPr>
              <a:t>src：原图像中4个点的坐标</a:t>
            </a:r>
          </a:p>
          <a:p>
            <a:pPr algn="l" fontAlgn="auto">
              <a:lnSpc>
                <a:spcPct val="150000"/>
              </a:lnSpc>
              <a:spcBef>
                <a:spcPts val="400"/>
              </a:spcBef>
              <a:spcAft>
                <a:spcPts val="0"/>
              </a:spcAft>
              <a:buClrTx/>
              <a:buSzTx/>
            </a:pPr>
            <a:r>
              <a:rPr altLang="en-US">
                <a:sym typeface="+mn-ea"/>
              </a:rPr>
              <a:t>dst：原图像中4个点在转换后的目标图像中的对应坐标</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5</a:t>
            </a:r>
            <a:r>
              <a:rPr altLang="en-US" dirty="0"/>
              <a:t>、透视变换</a:t>
            </a:r>
          </a:p>
          <a:p>
            <a:pPr fontAlgn="auto">
              <a:lnSpc>
                <a:spcPct val="150000"/>
              </a:lnSpc>
              <a:spcBef>
                <a:spcPts val="400"/>
              </a:spcBef>
              <a:spcAft>
                <a:spcPts val="0"/>
              </a:spcAft>
            </a:pPr>
            <a:r>
              <a:rPr altLang="en-US">
                <a:sym typeface="+mn-ea"/>
              </a:rPr>
              <a:t>应用案例</a:t>
            </a:r>
            <a:r>
              <a:rPr lang="en-US" altLang="zh-CN">
                <a:sym typeface="+mn-ea"/>
              </a:rPr>
              <a:t>1</a:t>
            </a:r>
            <a:r>
              <a:rPr altLang="en-US">
                <a:sym typeface="+mn-ea"/>
              </a:rPr>
              <a:t>：图像透视变换效果</a:t>
            </a:r>
          </a:p>
        </p:txBody>
      </p:sp>
      <p:pic>
        <p:nvPicPr>
          <p:cNvPr id="4" name="图片 3"/>
          <p:cNvPicPr>
            <a:picLocks noChangeAspect="1"/>
          </p:cNvPicPr>
          <p:nvPr/>
        </p:nvPicPr>
        <p:blipFill>
          <a:blip r:embed="rId2"/>
          <a:stretch>
            <a:fillRect/>
          </a:stretch>
        </p:blipFill>
        <p:spPr>
          <a:xfrm>
            <a:off x="205740" y="2167890"/>
            <a:ext cx="8298815" cy="2933700"/>
          </a:xfrm>
          <a:prstGeom prst="rect">
            <a:avLst/>
          </a:prstGeom>
        </p:spPr>
      </p:pic>
      <p:pic>
        <p:nvPicPr>
          <p:cNvPr id="5" name="图片 4"/>
          <p:cNvPicPr>
            <a:picLocks noChangeAspect="1"/>
          </p:cNvPicPr>
          <p:nvPr/>
        </p:nvPicPr>
        <p:blipFill>
          <a:blip r:embed="rId3"/>
          <a:stretch>
            <a:fillRect/>
          </a:stretch>
        </p:blipFill>
        <p:spPr>
          <a:xfrm>
            <a:off x="8801735" y="673100"/>
            <a:ext cx="3110230" cy="2397125"/>
          </a:xfrm>
          <a:prstGeom prst="rect">
            <a:avLst/>
          </a:prstGeom>
        </p:spPr>
      </p:pic>
      <p:pic>
        <p:nvPicPr>
          <p:cNvPr id="6" name="图片 5"/>
          <p:cNvPicPr>
            <a:picLocks noChangeAspect="1"/>
          </p:cNvPicPr>
          <p:nvPr/>
        </p:nvPicPr>
        <p:blipFill>
          <a:blip r:embed="rId4"/>
          <a:stretch>
            <a:fillRect/>
          </a:stretch>
        </p:blipFill>
        <p:spPr>
          <a:xfrm>
            <a:off x="8801704" y="3681949"/>
            <a:ext cx="3243187" cy="251338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几何变换</a:t>
            </a:r>
          </a:p>
        </p:txBody>
      </p:sp>
      <p:sp>
        <p:nvSpPr>
          <p:cNvPr id="3" name="内容占位符 2"/>
          <p:cNvSpPr>
            <a:spLocks noGrp="1"/>
          </p:cNvSpPr>
          <p:nvPr>
            <p:ph sz="quarter" idx="15"/>
          </p:nvPr>
        </p:nvSpPr>
        <p:spPr>
          <a:xfrm>
            <a:off x="382905" y="1135380"/>
            <a:ext cx="11426825" cy="5544820"/>
          </a:xfrm>
        </p:spPr>
        <p:txBody>
          <a:bodyPr/>
          <a:lstStyle/>
          <a:p>
            <a:pPr>
              <a:lnSpc>
                <a:spcPct val="150000"/>
              </a:lnSpc>
              <a:spcBef>
                <a:spcPts val="400"/>
              </a:spcBef>
              <a:spcAft>
                <a:spcPts val="0"/>
              </a:spcAft>
            </a:pPr>
            <a:r>
              <a:rPr lang="en-US" altLang="zh-CN" dirty="0"/>
              <a:t>5</a:t>
            </a:r>
            <a:r>
              <a:rPr altLang="en-US" dirty="0"/>
              <a:t>、透视变换</a:t>
            </a:r>
          </a:p>
          <a:p>
            <a:pPr fontAlgn="auto">
              <a:lnSpc>
                <a:spcPct val="150000"/>
              </a:lnSpc>
              <a:spcBef>
                <a:spcPts val="400"/>
              </a:spcBef>
              <a:spcAft>
                <a:spcPts val="0"/>
              </a:spcAft>
            </a:pPr>
            <a:r>
              <a:rPr altLang="en-US">
                <a:sym typeface="+mn-ea"/>
              </a:rPr>
              <a:t>应用案例</a:t>
            </a:r>
            <a:r>
              <a:rPr lang="en-US" altLang="zh-CN">
                <a:sym typeface="+mn-ea"/>
              </a:rPr>
              <a:t>2</a:t>
            </a:r>
            <a:r>
              <a:rPr altLang="en-US">
                <a:sym typeface="+mn-ea"/>
              </a:rPr>
              <a:t>：图像透视变换效果</a:t>
            </a:r>
          </a:p>
        </p:txBody>
      </p:sp>
      <p:pic>
        <p:nvPicPr>
          <p:cNvPr id="7" name="图片 6"/>
          <p:cNvPicPr>
            <a:picLocks noChangeAspect="1"/>
          </p:cNvPicPr>
          <p:nvPr/>
        </p:nvPicPr>
        <p:blipFill>
          <a:blip r:embed="rId2"/>
          <a:stretch>
            <a:fillRect/>
          </a:stretch>
        </p:blipFill>
        <p:spPr>
          <a:xfrm>
            <a:off x="228600" y="2288540"/>
            <a:ext cx="7931785" cy="2847975"/>
          </a:xfrm>
          <a:prstGeom prst="rect">
            <a:avLst/>
          </a:prstGeom>
        </p:spPr>
      </p:pic>
      <p:pic>
        <p:nvPicPr>
          <p:cNvPr id="8" name="图片 7"/>
          <p:cNvPicPr>
            <a:picLocks noChangeAspect="1"/>
          </p:cNvPicPr>
          <p:nvPr/>
        </p:nvPicPr>
        <p:blipFill>
          <a:blip r:embed="rId3"/>
          <a:stretch>
            <a:fillRect/>
          </a:stretch>
        </p:blipFill>
        <p:spPr>
          <a:xfrm>
            <a:off x="8840470" y="901700"/>
            <a:ext cx="2554605" cy="2707005"/>
          </a:xfrm>
          <a:prstGeom prst="rect">
            <a:avLst/>
          </a:prstGeom>
        </p:spPr>
      </p:pic>
      <p:pic>
        <p:nvPicPr>
          <p:cNvPr id="9" name="图片 8"/>
          <p:cNvPicPr>
            <a:picLocks noChangeAspect="1"/>
          </p:cNvPicPr>
          <p:nvPr/>
        </p:nvPicPr>
        <p:blipFill>
          <a:blip r:embed="rId4"/>
          <a:stretch>
            <a:fillRect/>
          </a:stretch>
        </p:blipFill>
        <p:spPr>
          <a:xfrm>
            <a:off x="8840470" y="3742690"/>
            <a:ext cx="2640330" cy="27940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a583b14b-345c-4839-a802-098bf9285fa7}"/>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3664,&quot;width&quot;:468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00f4050e-51d8-4c9d-9760-67588bc0ddb9}"/>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d7e1a8ba-16a2-4652-81e9-5eff93a53a19}"/>
</p:tagLst>
</file>

<file path=ppt/theme/theme1.xml><?xml version="1.0" encoding="utf-8"?>
<a:theme xmlns:a="http://schemas.openxmlformats.org/drawingml/2006/main" name="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8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0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1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2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3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4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5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6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7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8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29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0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1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2_powerpoint 教程">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25">
      <a:majorFont>
        <a:latin typeface="Microsoft YaHei UI"/>
        <a:ea typeface="Microsoft YaHei UI"/>
        <a:cs typeface=""/>
      </a:majorFont>
      <a:minorFont>
        <a:latin typeface="Microsoft YaHei UI"/>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3170</Words>
  <Application>Microsoft Office PowerPoint</Application>
  <PresentationFormat>宽屏</PresentationFormat>
  <Paragraphs>388</Paragraphs>
  <Slides>52</Slides>
  <Notes>5</Notes>
  <HiddenSlides>0</HiddenSlides>
  <MMClips>0</MMClips>
  <ScaleCrop>false</ScaleCrop>
  <HeadingPairs>
    <vt:vector size="6" baseType="variant">
      <vt:variant>
        <vt:lpstr>已用的字体</vt:lpstr>
      </vt:variant>
      <vt:variant>
        <vt:i4>5</vt:i4>
      </vt:variant>
      <vt:variant>
        <vt:lpstr>主题</vt:lpstr>
      </vt:variant>
      <vt:variant>
        <vt:i4>33</vt:i4>
      </vt:variant>
      <vt:variant>
        <vt:lpstr>幻灯片标题</vt:lpstr>
      </vt:variant>
      <vt:variant>
        <vt:i4>52</vt:i4>
      </vt:variant>
    </vt:vector>
  </HeadingPairs>
  <TitlesOfParts>
    <vt:vector size="90" baseType="lpstr">
      <vt:lpstr>Microsoft YaHei UI</vt:lpstr>
      <vt:lpstr>等线</vt:lpstr>
      <vt:lpstr>Arial</vt:lpstr>
      <vt:lpstr>Times New Roman</vt:lpstr>
      <vt:lpstr>Wingdings</vt:lpstr>
      <vt:lpstr>powerpoint 教程</vt:lpstr>
      <vt:lpstr>1_powerpoint 教程</vt:lpstr>
      <vt:lpstr>2_powerpoint 教程</vt:lpstr>
      <vt:lpstr>3_powerpoint 教程</vt:lpstr>
      <vt:lpstr>4_powerpoint 教程</vt:lpstr>
      <vt:lpstr>5_powerpoint 教程</vt:lpstr>
      <vt:lpstr>6_powerpoint 教程</vt:lpstr>
      <vt:lpstr>7_powerpoint 教程</vt:lpstr>
      <vt:lpstr>8_powerpoint 教程</vt:lpstr>
      <vt:lpstr>9_powerpoint 教程</vt:lpstr>
      <vt:lpstr>10_powerpoint 教程</vt:lpstr>
      <vt:lpstr>11_powerpoint 教程</vt:lpstr>
      <vt:lpstr>12_powerpoint 教程</vt:lpstr>
      <vt:lpstr>13_powerpoint 教程</vt:lpstr>
      <vt:lpstr>14_powerpoint 教程</vt:lpstr>
      <vt:lpstr>15_powerpoint 教程</vt:lpstr>
      <vt:lpstr>16_powerpoint 教程</vt:lpstr>
      <vt:lpstr>17_powerpoint 教程</vt:lpstr>
      <vt:lpstr>18_powerpoint 教程</vt:lpstr>
      <vt:lpstr>19_powerpoint 教程</vt:lpstr>
      <vt:lpstr>20_powerpoint 教程</vt:lpstr>
      <vt:lpstr>21_powerpoint 教程</vt:lpstr>
      <vt:lpstr>22_powerpoint 教程</vt:lpstr>
      <vt:lpstr>23_powerpoint 教程</vt:lpstr>
      <vt:lpstr>24_powerpoint 教程</vt:lpstr>
      <vt:lpstr>25_powerpoint 教程</vt:lpstr>
      <vt:lpstr>26_powerpoint 教程</vt:lpstr>
      <vt:lpstr>27_powerpoint 教程</vt:lpstr>
      <vt:lpstr>28_powerpoint 教程</vt:lpstr>
      <vt:lpstr>29_powerpoint 教程</vt:lpstr>
      <vt:lpstr>30_powerpoint 教程</vt:lpstr>
      <vt:lpstr>31_powerpoint 教程</vt:lpstr>
      <vt:lpstr>32_powerpoint 教程</vt:lpstr>
      <vt:lpstr>第四章 图像变换</vt:lpstr>
      <vt:lpstr>第四章 图像变换</vt:lpstr>
      <vt:lpstr>4.1 色彩空间变换</vt:lpstr>
      <vt:lpstr>4.1 色彩空间变换</vt:lpstr>
      <vt:lpstr>4.1 色彩空间变换</vt:lpstr>
      <vt:lpstr>4.1 色彩空间变换</vt:lpstr>
      <vt:lpstr>4.1 色彩空间变换</vt:lpstr>
      <vt:lpstr>4.1 色彩空间变换</vt:lpstr>
      <vt:lpstr>4.1 色彩空间变换</vt:lpstr>
      <vt:lpstr>4.1 色彩空间变换</vt:lpstr>
      <vt:lpstr>4.1 色彩空间变换</vt:lpstr>
      <vt:lpstr>4.1 色彩空间变换</vt:lpstr>
      <vt:lpstr>4.1 色彩空间变换</vt:lpstr>
      <vt:lpstr>4.1 色彩空间变换</vt:lpstr>
      <vt:lpstr>4.1 色彩空间变换</vt:lpstr>
      <vt:lpstr>4.1 色彩空间变换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lpstr>4.2 几何变换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图像变换</dc:title>
  <dc:creator>xu cy</dc:creator>
  <cp:lastModifiedBy>lin guo</cp:lastModifiedBy>
  <cp:revision>31</cp:revision>
  <dcterms:created xsi:type="dcterms:W3CDTF">2023-03-12T02:12:00Z</dcterms:created>
  <dcterms:modified xsi:type="dcterms:W3CDTF">2023-10-07T02:48:32Z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